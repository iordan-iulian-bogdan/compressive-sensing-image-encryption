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71" r:id="rId5"/>
    <p:sldId id="259" r:id="rId6"/>
    <p:sldId id="260" r:id="rId7"/>
    <p:sldId id="272" r:id="rId8"/>
    <p:sldId id="261" r:id="rId9"/>
    <p:sldId id="262" r:id="rId10"/>
    <p:sldId id="273" r:id="rId11"/>
    <p:sldId id="263" r:id="rId12"/>
    <p:sldId id="269" r:id="rId13"/>
    <p:sldId id="264" r:id="rId14"/>
    <p:sldId id="270" r:id="rId15"/>
    <p:sldId id="265" r:id="rId16"/>
    <p:sldId id="266" r:id="rId17"/>
    <p:sldId id="267" r:id="rId18"/>
    <p:sldId id="268"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AF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74137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aproximativ 35 de secunde. Articolul propune schimbarea modului în care senzorul comprimă video-ul, astfel încât reconstrucția ulterioară să primească informație mai utilă. Voi începe cu noțiunea de eșantionare compresivă și voi ajunge la schema propusă, apoi la rezultatele experimentale.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55 de secunde. Senzorii de telefon pot avea aproximativ 200 de megapixeli, dar rezoluția obișnuită pentru filmare este mult mai mică. Binningul adună charge din grupuri de pixeli și ajută atât sensibilitatea, cât și lățimea de bandă. Dacă însă am însumat aceiași pixeli în fiecare cadru, informația spațială fină eliminată nu mai apare în date. Ideea este să proiectăm compresia împreună cu reconstrucția.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75 de secunde. Compressive sensing, sau eșantionarea compresivă, este ideea de a face măsurări liniare mai puține decât numărul de valori din semnal, și totuși de a-l reconstrui aproximativ dacă are structură, de exemplu este rar într-un dicționar. Litera Phi reprezintă modul în care măsurăm. Contează nu doar cât măsurăm, ci și câtă informație independentă aduc măsurările. În acest articol reconstrucția este învățată de o rețea de super-rezoluție video; nu se rezolvă explicit un program clasic de minimizare L1.</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60 de secunde. În teoria clasică luăm diverse proiecții ale aceluiași obiect. Camera trebuie însă să livreze cadre la ritmul ei, nu să citească același cadru de multe ori. Autorii înlocuiesc citirile repetate cu măsurări în cadre succesive, folosind asemănarea temporală. Nu este o identitate exactă pentru scene care se schimbă rapid; este o aproximație exploatată de modelul VSR. Acest lucru este deosebit de util pentru zone statice, unde mișcarea nu furnizează singură decalări sub-pixel.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65 de secunde. Imaginea de înaltă rezoluție este împărțită în blocuri de patru pe patru pixeli. Senzorul face sume selective în fiecare bloc. Pentru fiecare cadru avem una sau două măsurări per bloc și obținem imagini cu dimensiunile spațiale de patru ori mai mici. Apoi aceste imagini joacă rolul intrării într-un sistem standard de video super-resolution. Avantajul este că datele comprimate se pot reprezenta tot ca imagini și pot fi prelucrate de infrastructura VSR.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70 de secunde. În cazul unei singure măsurări, binningul standard 16Sum însumează toți cei 16 pixeli din bloc. O mască aleatoare folosește doar opt, iar configurația sa se schimbă între cadre. Ambele dau o valoare per bloc per cadru: raportul de măsurări este o șaisprezecime. Masca aleatoare furnizează diversitate pentru reconstrucție, dar la nivelul unui cadru renunță la jumătate din pixeli. Fill-factor redus înseamnă sensibilitate și SNR potențial mai slabe, deci autorii propun și soluția complementară.</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70 de secunde. Fiecare pixel participă la exact una dintre cele două măsurări. Prima sumă folosește masca A, a doua folosește complementul său B; împreună reproduc 16Sum. Astfel păstrăm tot semnalul colectat, adică fill-factor sută la sută, iar perechea conține mai multe informații pentru rețea decât suma finală unică. Avem două măsurări pentru 16 pixeli, deci raportul este o optime și fluxul de date se dublează față de varianta 1 pe 16. Implementarea hardware cere suplimentar elemente de citire și conversie.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60 de secunde. Configurația 8Sum fix corespunde unei împărțiri regulate; autorii o folosesc drept reper. Apoi alternează grupările pe coloane și rânduri. Măștile aleatoare oferă diversitate temporală. Tetromino folosește grupări în formă de T: sunt tipare cu pixeli adiacenți; în versiunea extinsă cresc posibilitățile între cadre. Testul compară nu doar neregularitatea spațială, ci și caracterul static ori dinamic al măștii.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75 de secunde. Pentru o măsurare pe cadru, se pot folosi direct arhitecturi consacrate precum BasicVSR, RVRT și IART, cu instruire adecvată datelor de intrare. Pentru două măsurări, două imagini RGB sunt concatenate pe canale: în loc de trei sunt șase canale. BasicVSR este adaptat la intrare și ieșire; o convoluție punctuală reduce ieșirea la RGB. Secvența nu devine de două ori mai lungă. Autorii arată în ablațiile din materialul suplimentar că interpolarea biliniară inițială este suficientă.</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70 de secunde. Aceste numere sunt PSNR, în decibeli, pe setul Vimeo-90K-T. La același raport de măsurări de o șaisprezecime, Random este mai bun decât 16Sum cu aproximativ 1,18 până la 1,62 dB, în funcție de model. Rezultatul se repetă și pe Vid4 și în ceilalți indicatori raportați, SSIM și LPIPS. Important: beneficiul reconstrucției este observat într-o simulare comparativă, însă măștile Random folosesc doar jumătate din pixeli pe cadru. Pentru păstrarea sensibilității trecem la două măsurări complementare.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75 de secunde. Aici comparăm numai variante cu două măsurări, deci același raport, o optime, și aceeași rețea BasicVSR. 8Sum fix obține 39,22 dB pe Vimeo-90K-T, alternarea simplă ajunge la 40,79, Random dinamic la 41,04, iar Tetromino extins la 41,57 dB: un câștig de 2,35 decibeli față de 8Sum fix. Pe Vid4 avem 31,86 versus 28,98 decibeli. Tabelul arată și că Tetromino static sau Random static sunt sub versiunile dinamice, semn că variația între cadre contează.</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70 de secunde. Rezultatele susțin ipoteza că modul de achiziție contează. Metoda are măsurări reprezentabile ca imagini și varianta complementară valorifică toți pixelii. Totuși, lucrarea evaluează experimental pe seturi de date video, nu raportează un senzor fizic complet demonstrat; măștile schimbate de la cadru la cadru cer adaptarea electronicii. Două măsurări per bloc înseamnă mai mult trafic decât una și componente de citire suplimentare. Ca orice metodă VSR, depinde de relația dintre cadre și de condițiile în care modelul a fost antrenat.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45 de secunde. Concluzia este că nu trebuie tratată achiziția ca un pas fix și reconstrucția ca singura problemă de optimizat. Eșantionarea dinamică poate păstra informație complementară de la un cadru la altul, inclusiv acolo unde mișcarea scenei nu ajută mult. Varianta cu două măști complementare elimină pierderea sensibilității asociată măștilor parțiale, în schimbul unui volum de măsurări mai mare și al unor cerințe suplimentare pentru senzor. Mulțumesc.</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41184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A20C6FA-7C80-405B-76D6-90D1CE2975AF}"/>
              </a:ext>
            </a:extLst>
          </p:cNvPr>
          <p:cNvSpPr txBox="1"/>
          <p:nvPr/>
        </p:nvSpPr>
        <p:spPr>
          <a:xfrm>
            <a:off x="685800" y="546100"/>
            <a:ext cx="10820400" cy="276999"/>
          </a:xfrm>
          <a:prstGeom prst="rect">
            <a:avLst/>
          </a:prstGeom>
          <a:noFill/>
        </p:spPr>
        <p:txBody>
          <a:bodyPr vert="horz" wrap="square" lIns="0" tIns="0" rIns="0" bIns="0" rtlCol="0">
            <a:noAutofit/>
          </a:bodyPr>
          <a:lstStyle/>
          <a:p>
            <a:r>
              <a:rPr lang="ro-RO" sz="3600" b="1">
                <a:solidFill>
                  <a:srgbClr val="F4F7FB"/>
                </a:solidFill>
                <a:latin typeface="Aptos" panose="020B0004020202020204" pitchFamily="34" charset="0"/>
              </a:rPr>
              <a:t>Compressive sensing pentru</a:t>
            </a:r>
          </a:p>
          <a:p>
            <a:r>
              <a:rPr lang="ro-RO" sz="3600" b="1">
                <a:solidFill>
                  <a:srgbClr val="F4F7FB"/>
                </a:solidFill>
                <a:latin typeface="Aptos" panose="020B0004020202020204" pitchFamily="34" charset="0"/>
              </a:rPr>
              <a:t>super-rezoluție video</a:t>
            </a:r>
            <a:endParaRPr lang="ro-RO" sz="3600" b="1" dirty="0">
              <a:solidFill>
                <a:srgbClr val="F4F7FB"/>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43F722A3-AEAC-F908-ED46-38005D217F60}"/>
              </a:ext>
            </a:extLst>
          </p:cNvPr>
          <p:cNvCxnSpPr/>
          <p:nvPr/>
        </p:nvCxnSpPr>
        <p:spPr>
          <a:xfrm>
            <a:off x="685800" y="2070100"/>
            <a:ext cx="10820400" cy="0"/>
          </a:xfrm>
          <a:prstGeom prst="line">
            <a:avLst/>
          </a:prstGeom>
          <a:ln>
            <a:solidFill>
              <a:srgbClr val="34475D"/>
            </a:solidFill>
          </a:ln>
        </p:spPr>
        <p:style>
          <a:lnRef idx="1">
            <a:schemeClr val="accent1"/>
          </a:lnRef>
          <a:fillRef idx="0">
            <a:schemeClr val="accent1"/>
          </a:fillRef>
          <a:effectRef idx="0">
            <a:schemeClr val="accent1"/>
          </a:effectRef>
          <a:fontRef idx="minor">
            <a:schemeClr val="tx1"/>
          </a:fontRef>
        </p:style>
      </p:cxnSp>
      <p:sp>
        <p:nvSpPr>
          <p:cNvPr id="6" name="Paper goal heading">
            <a:extLst>
              <a:ext uri="{FF2B5EF4-FFF2-40B4-BE49-F238E27FC236}">
                <a16:creationId xmlns:a16="http://schemas.microsoft.com/office/drawing/2014/main" id="{7CA4C25C-084D-098A-9082-E3E7D8B3B2DE}"/>
              </a:ext>
            </a:extLst>
          </p:cNvPr>
          <p:cNvSpPr txBox="1"/>
          <p:nvPr/>
        </p:nvSpPr>
        <p:spPr>
          <a:xfrm>
            <a:off x="685800" y="2362200"/>
            <a:ext cx="10820400" cy="276999"/>
          </a:xfrm>
          <a:prstGeom prst="rect">
            <a:avLst/>
          </a:prstGeom>
          <a:noFill/>
        </p:spPr>
        <p:txBody>
          <a:bodyPr vert="horz" wrap="square" lIns="0" tIns="0" rIns="0" bIns="0" rtlCol="0">
            <a:noAutofit/>
          </a:bodyPr>
          <a:lstStyle/>
          <a:p>
            <a:r>
              <a:rPr lang="ro-RO" sz="1500" b="1">
                <a:solidFill>
                  <a:srgbClr val="52D6D3"/>
                </a:solidFill>
                <a:latin typeface="Aptos" panose="020B0004020202020204" pitchFamily="34" charset="0"/>
              </a:rPr>
              <a:t>DESPRE CE ESTE ARTICOLUL?</a:t>
            </a:r>
            <a:endParaRPr lang="ro-RO" sz="1500" b="1" dirty="0">
              <a:solidFill>
                <a:srgbClr val="52D6D3"/>
              </a:solidFill>
              <a:latin typeface="Aptos" panose="020B0004020202020204" pitchFamily="34" charset="0"/>
            </a:endParaRPr>
          </a:p>
        </p:txBody>
      </p:sp>
      <p:sp>
        <p:nvSpPr>
          <p:cNvPr id="8" name="Paper goal">
            <a:extLst>
              <a:ext uri="{FF2B5EF4-FFF2-40B4-BE49-F238E27FC236}">
                <a16:creationId xmlns:a16="http://schemas.microsoft.com/office/drawing/2014/main" id="{09A64CF6-6B26-8407-BF24-D8829C5FADEB}"/>
              </a:ext>
            </a:extLst>
          </p:cNvPr>
          <p:cNvSpPr txBox="1"/>
          <p:nvPr/>
        </p:nvSpPr>
        <p:spPr>
          <a:xfrm>
            <a:off x="685800" y="2806700"/>
            <a:ext cx="10820400" cy="276999"/>
          </a:xfrm>
          <a:prstGeom prst="rect">
            <a:avLst/>
          </a:prstGeom>
          <a:noFill/>
        </p:spPr>
        <p:txBody>
          <a:bodyPr vert="horz" wrap="square" lIns="0" tIns="0" rIns="0" bIns="0" rtlCol="0">
            <a:noAutofit/>
          </a:bodyPr>
          <a:lstStyle/>
          <a:p>
            <a:r>
              <a:rPr lang="ro-RO" sz="1900">
                <a:solidFill>
                  <a:srgbClr val="F4F7FB"/>
                </a:solidFill>
                <a:latin typeface="Aptos" panose="020B0004020202020204" pitchFamily="34" charset="0"/>
              </a:rPr>
              <a:t>Articolul propune comprimarea cadrelor video la nivel de achiziție, prin măști binare pe blocuri de pixeli. O rețea de super-rezoluție video (VSR) reconstruiește apoi detaliile folosind informația din mai multe cadre.</a:t>
            </a:r>
            <a:endParaRPr lang="ro-RO" sz="1900" dirty="0">
              <a:solidFill>
                <a:srgbClr val="F4F7FB"/>
              </a:solidFill>
              <a:latin typeface="Aptos" panose="020B0004020202020204" pitchFamily="34" charset="0"/>
            </a:endParaRPr>
          </a:p>
        </p:txBody>
      </p:sp>
      <p:sp>
        <p:nvSpPr>
          <p:cNvPr id="12" name="Experiments heading">
            <a:extLst>
              <a:ext uri="{FF2B5EF4-FFF2-40B4-BE49-F238E27FC236}">
                <a16:creationId xmlns:a16="http://schemas.microsoft.com/office/drawing/2014/main" id="{FD24D725-F94D-76F2-1A3B-5977D9CF68CA}"/>
              </a:ext>
            </a:extLst>
          </p:cNvPr>
          <p:cNvSpPr txBox="1"/>
          <p:nvPr/>
        </p:nvSpPr>
        <p:spPr>
          <a:xfrm>
            <a:off x="685800" y="3987800"/>
            <a:ext cx="10820400" cy="276999"/>
          </a:xfrm>
          <a:prstGeom prst="rect">
            <a:avLst/>
          </a:prstGeom>
          <a:noFill/>
        </p:spPr>
        <p:txBody>
          <a:bodyPr vert="horz" wrap="square" lIns="0" tIns="0" rIns="0" bIns="0" rtlCol="0">
            <a:noAutofit/>
          </a:bodyPr>
          <a:lstStyle/>
          <a:p>
            <a:r>
              <a:rPr lang="ro-RO" sz="1500" b="1">
                <a:solidFill>
                  <a:srgbClr val="FFC870"/>
                </a:solidFill>
                <a:latin typeface="Aptos" panose="020B0004020202020204" pitchFamily="34" charset="0"/>
              </a:rPr>
              <a:t>CE SE TESTEAZĂ?</a:t>
            </a:r>
            <a:endParaRPr lang="ro-RO" sz="1500" b="1" dirty="0">
              <a:solidFill>
                <a:srgbClr val="FFC870"/>
              </a:solidFill>
              <a:latin typeface="Aptos" panose="020B0004020202020204" pitchFamily="34" charset="0"/>
            </a:endParaRPr>
          </a:p>
        </p:txBody>
      </p:sp>
      <p:sp>
        <p:nvSpPr>
          <p:cNvPr id="13" name="Experiments summary">
            <a:extLst>
              <a:ext uri="{FF2B5EF4-FFF2-40B4-BE49-F238E27FC236}">
                <a16:creationId xmlns:a16="http://schemas.microsoft.com/office/drawing/2014/main" id="{9D3204BC-5F36-85BE-DC26-3CEDBE953587}"/>
              </a:ext>
            </a:extLst>
          </p:cNvPr>
          <p:cNvSpPr txBox="1"/>
          <p:nvPr/>
        </p:nvSpPr>
        <p:spPr>
          <a:xfrm>
            <a:off x="685800" y="4432300"/>
            <a:ext cx="10820400" cy="276999"/>
          </a:xfrm>
          <a:prstGeom prst="rect">
            <a:avLst/>
          </a:prstGeom>
          <a:noFill/>
        </p:spPr>
        <p:txBody>
          <a:bodyPr vert="horz" wrap="square" lIns="0" tIns="0" rIns="0" bIns="0" rtlCol="0">
            <a:noAutofit/>
          </a:bodyPr>
          <a:lstStyle/>
          <a:p>
            <a:r>
              <a:rPr lang="ro-RO" sz="1900">
                <a:solidFill>
                  <a:srgbClr val="F4F7FB"/>
                </a:solidFill>
                <a:latin typeface="Aptos" panose="020B0004020202020204" pitchFamily="34" charset="0"/>
              </a:rPr>
              <a:t>Se compară metode de eșantionare: Bicubic, 16Sum și Random pentru o măsurare pe cadru, apoi 8Sum, Random și Tetromino pentru două măsurări complementare. Se verifică efectul formei și al variației măștilor în timp asupra reconstrucției VSR ×4.</a:t>
            </a:r>
            <a:endParaRPr lang="ro-RO" sz="1900" dirty="0">
              <a:solidFill>
                <a:srgbClr val="F4F7FB"/>
              </a:solidFill>
              <a:latin typeface="Aptos" panose="020B0004020202020204" pitchFamily="34" charset="0"/>
            </a:endParaRPr>
          </a:p>
        </p:txBody>
      </p:sp>
      <p:sp>
        <p:nvSpPr>
          <p:cNvPr id="14" name="Authors">
            <a:extLst>
              <a:ext uri="{FF2B5EF4-FFF2-40B4-BE49-F238E27FC236}">
                <a16:creationId xmlns:a16="http://schemas.microsoft.com/office/drawing/2014/main" id="{BF17424F-3D58-8644-5630-655C06B438FF}"/>
              </a:ext>
            </a:extLst>
          </p:cNvPr>
          <p:cNvSpPr txBox="1"/>
          <p:nvPr/>
        </p:nvSpPr>
        <p:spPr>
          <a:xfrm>
            <a:off x="685800" y="5765800"/>
            <a:ext cx="10820400" cy="276999"/>
          </a:xfrm>
          <a:prstGeom prst="rect">
            <a:avLst/>
          </a:prstGeom>
          <a:noFill/>
        </p:spPr>
        <p:txBody>
          <a:bodyPr vert="horz" wrap="square" lIns="0" tIns="0" rIns="0" bIns="0" rtlCol="0">
            <a:noAutofit/>
          </a:bodyPr>
          <a:lstStyle/>
          <a:p>
            <a:r>
              <a:rPr lang="ro-RO" sz="1300">
                <a:solidFill>
                  <a:srgbClr val="B9C9DB"/>
                </a:solidFill>
                <a:latin typeface="Aptos" panose="020B0004020202020204" pitchFamily="34" charset="0"/>
              </a:rPr>
              <a:t>Ruthy Katz, Adi Teitel, Moran Mordechay, Adi Falik, Eli Bery, Maya Mayberg</a:t>
            </a:r>
            <a:endParaRPr lang="ro-RO" sz="1300" dirty="0">
              <a:solidFill>
                <a:srgbClr val="B9C9DB"/>
              </a:solidFill>
              <a:latin typeface="Aptos" panose="020B0004020202020204" pitchFamily="34" charset="0"/>
            </a:endParaRPr>
          </a:p>
        </p:txBody>
      </p:sp>
      <p:sp>
        <p:nvSpPr>
          <p:cNvPr id="15" name="Paper reference">
            <a:extLst>
              <a:ext uri="{FF2B5EF4-FFF2-40B4-BE49-F238E27FC236}">
                <a16:creationId xmlns:a16="http://schemas.microsoft.com/office/drawing/2014/main" id="{F60C719B-19F9-D697-BD8A-02B17693EAA4}"/>
              </a:ext>
            </a:extLst>
          </p:cNvPr>
          <p:cNvSpPr txBox="1"/>
          <p:nvPr/>
        </p:nvSpPr>
        <p:spPr>
          <a:xfrm>
            <a:off x="685800" y="6108700"/>
            <a:ext cx="10820400" cy="276999"/>
          </a:xfrm>
          <a:prstGeom prst="rect">
            <a:avLst/>
          </a:prstGeom>
          <a:noFill/>
        </p:spPr>
        <p:txBody>
          <a:bodyPr vert="horz" wrap="square" lIns="0" tIns="0" rIns="0" bIns="0" rtlCol="0">
            <a:noAutofit/>
          </a:bodyPr>
          <a:lstStyle/>
          <a:p>
            <a:r>
              <a:rPr lang="ro-RO" sz="1100">
                <a:solidFill>
                  <a:srgbClr val="B9C9DB"/>
                </a:solidFill>
                <a:latin typeface="Aptos" panose="020B0004020202020204" pitchFamily="34" charset="0"/>
              </a:rPr>
              <a:t>„Rethinking Compressive Sensing: A Compression Framework for Video Super-Resolution” • CVPRW 2025</a:t>
            </a:r>
            <a:endParaRPr lang="ro-RO" sz="1100" dirty="0">
              <a:solidFill>
                <a:srgbClr val="B9C9DB"/>
              </a:solidFill>
              <a:latin typeface="Aptos" panose="020B0004020202020204" pitchFamily="34" charset="0"/>
            </a:endParaRPr>
          </a:p>
        </p:txBody>
      </p:sp>
      <p:sp>
        <p:nvSpPr>
          <p:cNvPr id="16" name="Page">
            <a:extLst>
              <a:ext uri="{FF2B5EF4-FFF2-40B4-BE49-F238E27FC236}">
                <a16:creationId xmlns:a16="http://schemas.microsoft.com/office/drawing/2014/main" id="{60ECF210-6E27-893E-9B47-C42D3F8763D6}"/>
              </a:ext>
            </a:extLst>
          </p:cNvPr>
          <p:cNvSpPr txBox="1"/>
          <p:nvPr/>
        </p:nvSpPr>
        <p:spPr>
          <a:xfrm>
            <a:off x="11252200" y="6489700"/>
            <a:ext cx="381000" cy="276999"/>
          </a:xfrm>
          <a:prstGeom prst="rect">
            <a:avLst/>
          </a:prstGeom>
          <a:noFill/>
        </p:spPr>
        <p:txBody>
          <a:bodyPr vert="horz" wrap="square" lIns="0" tIns="0" rIns="0" bIns="0" rtlCol="0">
            <a:noAutofit/>
          </a:bodyPr>
          <a:lstStyle/>
          <a:p>
            <a:r>
              <a:rPr lang="ro-RO" sz="1000" b="1">
                <a:solidFill>
                  <a:srgbClr val="52D6D3"/>
                </a:solidFill>
                <a:latin typeface="Aptos" panose="020B0004020202020204" pitchFamily="34" charset="0"/>
              </a:rPr>
              <a:t>01</a:t>
            </a:r>
            <a:endParaRPr lang="ro-RO" sz="1000" b="1" dirty="0">
              <a:solidFill>
                <a:srgbClr val="52D6D3"/>
              </a:solidFill>
              <a:latin typeface="Aptos" panose="020B0004020202020204" pitchFamily="34" charset="0"/>
            </a:endParaRPr>
          </a:p>
        </p:txBody>
      </p:sp>
      <p:sp xmlns:p="http://schemas.openxmlformats.org/presentationml/2006/main">
        <p:nvSpPr>
          <p:cNvPr id="17" name="Slide number"/>
          <p:cNvSpPr/>
          <p:nvPr/>
        </p:nvSpPr>
        <p:spPr>
          <a:xfrm xmlns:a="http://schemas.openxmlformats.org/drawingml/2006/main">
            <a:off x="11009376" y="6492240"/>
            <a:ext cx="475488" cy="228600"/>
          </a:xfrm>
          <a:prstGeom xmlns:a="http://schemas.openxmlformats.org/drawingml/2006/main" prst="rect">
            <a:avLst/>
          </a:prstGeom>
          <a:noFill xmlns:a="http://schemas.openxmlformats.org/drawingml/2006/main"/>
          <a:ln xmlns:a="http://schemas.openxmlformats.org/drawingml/2006/main"/>
        </p:spPr>
        <p:txBody>
          <a:bodyPr xmlns:a="http://schemas.openxmlformats.org/drawingml/2006/main" wrap="square" lIns="0" tIns="0" rIns="0" bIns="0" rtlCol="0" anchor="ctr"/>
          <a:lstStyle xmlns:a="http://schemas.openxmlformats.org/drawingml/2006/main"/>
          <a:p xmlns:a="http://schemas.openxmlformats.org/drawingml/2006/main">
            <a:pPr marL="0" indent="0" algn="r">
              <a:buNone/>
            </a:pPr>
            <a:r>
              <a:rPr lang="ro-RO" sz="1000" b="1">
                <a:solidFill>
                  <a:srgbClr val="52D6D3"/>
                </a:solidFill>
                <a:latin typeface="Aptos" pitchFamily="34" charset="0"/>
                <a:ea typeface="Aptos" pitchFamily="34" charset="-122"/>
                <a:cs typeface="Aptos" pitchFamily="34" charset="-120"/>
              </a:rPr>
              <a:t>01</a:t>
            </a:r>
            <a:endParaRPr lang="ro-RO"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763524" y="402338"/>
            <a:ext cx="10972800" cy="896110"/>
          </a:xfrm>
          <a:prstGeom prst="rect">
            <a:avLst/>
          </a:prstGeom>
          <a:noFill/>
          <a:ln/>
        </p:spPr>
        <p:txBody>
          <a:bodyPr wrap="square" lIns="0" tIns="0" rIns="0" bIns="0" rtlCol="0" anchor="ctr"/>
          <a:lstStyle/>
          <a:p>
            <a:r>
              <a:rPr lang="ro-RO" sz="3200" b="1">
                <a:solidFill>
                  <a:schemeClr val="bg1"/>
                </a:solidFill>
                <a:latin typeface="Aptos" pitchFamily="34" charset="0"/>
                <a:ea typeface="Aptos" pitchFamily="34" charset="-122"/>
                <a:cs typeface="Aptos" pitchFamily="34" charset="-120"/>
              </a:rPr>
              <a:t>Motivație: mai mulți pixeli nu înseamnă neapărat o calitate mai bună</a:t>
            </a:r>
            <a:endParaRPr lang="ro-RO"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endParaRPr lang="en-US" sz="13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ro-RO" sz="1000" b="1">
                <a:solidFill>
                  <a:srgbClr val="52D6D3"/>
                </a:solidFill>
                <a:latin typeface="Aptos" pitchFamily="34" charset="0"/>
                <a:ea typeface="Aptos" pitchFamily="34" charset="-122"/>
                <a:cs typeface="Aptos" pitchFamily="34" charset="-120"/>
              </a:rPr>
              <a:t>02</a:t>
            </a:r>
            <a:endParaRPr lang="ro-RO" sz="1000" dirty="0"/>
          </a:p>
        </p:txBody>
      </p:sp>
      <p:sp>
        <p:nvSpPr>
          <p:cNvPr id="7" name="Shape 5"/>
          <p:cNvSpPr/>
          <p:nvPr/>
        </p:nvSpPr>
        <p:spPr>
          <a:xfrm>
            <a:off x="749808" y="1627631"/>
            <a:ext cx="3447288" cy="3337560"/>
          </a:xfrm>
          <a:prstGeom prst="roundRect">
            <a:avLst>
              <a:gd name="adj" fmla="val 4384"/>
            </a:avLst>
          </a:prstGeom>
          <a:solidFill>
            <a:srgbClr val="17253B"/>
          </a:solidFill>
          <a:ln w="10160">
            <a:solidFill>
              <a:srgbClr val="17253B"/>
            </a:solidFill>
            <a:prstDash val="solid"/>
          </a:ln>
        </p:spPr>
        <p:txBody>
          <a:bodyPr/>
          <a:lstStyle/>
          <a:p>
            <a:endParaRPr lang="en-US"/>
          </a:p>
        </p:txBody>
      </p:sp>
      <p:sp>
        <p:nvSpPr>
          <p:cNvPr id="8" name="Shape 6"/>
          <p:cNvSpPr/>
          <p:nvPr/>
        </p:nvSpPr>
        <p:spPr>
          <a:xfrm>
            <a:off x="713232" y="1673352"/>
            <a:ext cx="50292" cy="3337560"/>
          </a:xfrm>
          <a:prstGeom prst="roundRect">
            <a:avLst>
              <a:gd name="adj" fmla="val 290909"/>
            </a:avLst>
          </a:prstGeom>
          <a:solidFill>
            <a:srgbClr val="52D6D3"/>
          </a:solidFill>
          <a:ln w="10160">
            <a:solidFill>
              <a:srgbClr val="52D6D3"/>
            </a:solidFill>
            <a:prstDash val="solid"/>
          </a:ln>
        </p:spPr>
        <p:txBody>
          <a:bodyPr/>
          <a:lstStyle/>
          <a:p>
            <a:endParaRPr lang="en-US"/>
          </a:p>
        </p:txBody>
      </p:sp>
      <p:sp>
        <p:nvSpPr>
          <p:cNvPr id="9" name="Text 7"/>
          <p:cNvSpPr/>
          <p:nvPr/>
        </p:nvSpPr>
        <p:spPr>
          <a:xfrm>
            <a:off x="914400" y="1828800"/>
            <a:ext cx="3063240" cy="402336"/>
          </a:xfrm>
          <a:prstGeom prst="rect">
            <a:avLst/>
          </a:prstGeom>
          <a:noFill/>
          <a:ln/>
        </p:spPr>
        <p:txBody>
          <a:bodyPr wrap="square" lIns="0" tIns="0" rIns="0" bIns="0" rtlCol="0" anchor="ctr"/>
          <a:lstStyle/>
          <a:p>
            <a:pPr marL="0" indent="0">
              <a:buNone/>
            </a:pPr>
            <a:r>
              <a:rPr lang="ro-RO" sz="2000" b="1">
                <a:solidFill>
                  <a:srgbClr val="52D6D3"/>
                </a:solidFill>
                <a:latin typeface="Aptos" pitchFamily="34" charset="0"/>
                <a:ea typeface="Aptos" pitchFamily="34" charset="-122"/>
                <a:cs typeface="Aptos" pitchFamily="34" charset="-120"/>
              </a:rPr>
              <a:t>Senzor</a:t>
            </a:r>
            <a:endParaRPr lang="ro-RO" sz="2000" dirty="0"/>
          </a:p>
        </p:txBody>
      </p:sp>
      <p:sp>
        <p:nvSpPr>
          <p:cNvPr id="10" name="Text 8"/>
          <p:cNvSpPr/>
          <p:nvPr/>
        </p:nvSpPr>
        <p:spPr>
          <a:xfrm>
            <a:off x="914400" y="2350008"/>
            <a:ext cx="3044952" cy="2560320"/>
          </a:xfrm>
          <a:prstGeom prst="rect">
            <a:avLst/>
          </a:prstGeom>
          <a:noFill/>
          <a:ln/>
        </p:spPr>
        <p:txBody>
          <a:bodyPr wrap="square" lIns="0" tIns="0" rIns="0" bIns="0" rtlCol="0" anchor="ctr"/>
          <a:lstStyle/>
          <a:p>
            <a:pPr marL="0" indent="0">
              <a:buNone/>
            </a:pPr>
            <a:r>
              <a:rPr lang="ro-RO" sz="1600">
                <a:solidFill>
                  <a:srgbClr val="F4F7FB"/>
                </a:solidFill>
                <a:latin typeface="Aptos" pitchFamily="34" charset="0"/>
                <a:ea typeface="Aptos" pitchFamily="34" charset="-122"/>
                <a:cs typeface="Aptos" pitchFamily="34" charset="-120"/>
              </a:rPr>
              <a:t>Senzori de până la ~200 MP în telefoanele moderne; volum potențial enorm de date la nivel de achiziție.</a:t>
            </a:r>
            <a:endParaRPr lang="ro-RO" sz="1600" dirty="0"/>
          </a:p>
        </p:txBody>
      </p:sp>
      <p:sp>
        <p:nvSpPr>
          <p:cNvPr id="11" name="Shape 9"/>
          <p:cNvSpPr/>
          <p:nvPr/>
        </p:nvSpPr>
        <p:spPr>
          <a:xfrm>
            <a:off x="4379976" y="1673352"/>
            <a:ext cx="3438144" cy="3337560"/>
          </a:xfrm>
          <a:prstGeom prst="roundRect">
            <a:avLst>
              <a:gd name="adj" fmla="val 4384"/>
            </a:avLst>
          </a:prstGeom>
          <a:solidFill>
            <a:srgbClr val="17253B"/>
          </a:solidFill>
          <a:ln w="10160">
            <a:solidFill>
              <a:srgbClr val="17253B"/>
            </a:solidFill>
            <a:prstDash val="solid"/>
          </a:ln>
        </p:spPr>
        <p:txBody>
          <a:bodyPr/>
          <a:lstStyle/>
          <a:p>
            <a:endParaRPr lang="en-US"/>
          </a:p>
        </p:txBody>
      </p:sp>
      <p:sp>
        <p:nvSpPr>
          <p:cNvPr id="12" name="Shape 10"/>
          <p:cNvSpPr/>
          <p:nvPr/>
        </p:nvSpPr>
        <p:spPr>
          <a:xfrm>
            <a:off x="4379976" y="1673352"/>
            <a:ext cx="50292" cy="3337560"/>
          </a:xfrm>
          <a:prstGeom prst="roundRect">
            <a:avLst>
              <a:gd name="adj" fmla="val 290909"/>
            </a:avLst>
          </a:prstGeom>
          <a:solidFill>
            <a:srgbClr val="FFC870"/>
          </a:solidFill>
          <a:ln w="10160">
            <a:solidFill>
              <a:srgbClr val="FFC870"/>
            </a:solidFill>
            <a:prstDash val="solid"/>
          </a:ln>
        </p:spPr>
        <p:txBody>
          <a:bodyPr/>
          <a:lstStyle/>
          <a:p>
            <a:endParaRPr lang="en-US"/>
          </a:p>
        </p:txBody>
      </p:sp>
      <p:sp>
        <p:nvSpPr>
          <p:cNvPr id="13" name="Text 11"/>
          <p:cNvSpPr/>
          <p:nvPr/>
        </p:nvSpPr>
        <p:spPr>
          <a:xfrm>
            <a:off x="4581144" y="1828800"/>
            <a:ext cx="3054096" cy="402336"/>
          </a:xfrm>
          <a:prstGeom prst="rect">
            <a:avLst/>
          </a:prstGeom>
          <a:noFill/>
          <a:ln/>
        </p:spPr>
        <p:txBody>
          <a:bodyPr wrap="square" lIns="0" tIns="0" rIns="0" bIns="0" rtlCol="0" anchor="ctr"/>
          <a:lstStyle/>
          <a:p>
            <a:pPr marL="0" indent="0">
              <a:buNone/>
            </a:pPr>
            <a:r>
              <a:rPr lang="ro-RO" sz="2000" b="1">
                <a:solidFill>
                  <a:srgbClr val="FFC870"/>
                </a:solidFill>
                <a:latin typeface="Aptos" pitchFamily="34" charset="0"/>
                <a:ea typeface="Aptos" pitchFamily="34" charset="-122"/>
                <a:cs typeface="Aptos" pitchFamily="34" charset="-120"/>
              </a:rPr>
              <a:t>Compresie pe senzor</a:t>
            </a:r>
            <a:endParaRPr lang="ro-RO" sz="2000" dirty="0"/>
          </a:p>
        </p:txBody>
      </p:sp>
      <p:sp>
        <p:nvSpPr>
          <p:cNvPr id="14" name="Text 12"/>
          <p:cNvSpPr/>
          <p:nvPr/>
        </p:nvSpPr>
        <p:spPr>
          <a:xfrm>
            <a:off x="4581144" y="2350008"/>
            <a:ext cx="3035808" cy="2560320"/>
          </a:xfrm>
          <a:prstGeom prst="rect">
            <a:avLst/>
          </a:prstGeom>
          <a:noFill/>
          <a:ln/>
        </p:spPr>
        <p:txBody>
          <a:bodyPr wrap="square" lIns="0" tIns="0" rIns="0" bIns="0" rtlCol="0" anchor="ctr"/>
          <a:lstStyle/>
          <a:p>
            <a:pPr marL="0" indent="0">
              <a:buNone/>
            </a:pPr>
            <a:r>
              <a:rPr lang="ro-RO" sz="1600">
                <a:solidFill>
                  <a:srgbClr val="F4F7FB"/>
                </a:solidFill>
                <a:latin typeface="Aptos" pitchFamily="34" charset="0"/>
                <a:ea typeface="Aptos" pitchFamily="34" charset="-122"/>
                <a:cs typeface="Aptos" pitchFamily="34" charset="-120"/>
              </a:rPr>
              <a:t>Dacă deja avem un senzor de 200 MP, care este rolul compresiei la achiziția datelor și cum ne-ar ajuta?</a:t>
            </a:r>
          </a:p>
          <a:p>
            <a:pPr marL="0" indent="0">
              <a:buNone/>
            </a:pPr>
            <a:endParaRPr lang="ro-RO" sz="1600">
              <a:solidFill>
                <a:srgbClr val="F4F7FB"/>
              </a:solidFill>
              <a:latin typeface="Aptos" pitchFamily="34" charset="0"/>
              <a:ea typeface="Aptos" pitchFamily="34" charset="-122"/>
              <a:cs typeface="Aptos" pitchFamily="34" charset="-120"/>
            </a:endParaRPr>
          </a:p>
          <a:p>
            <a:pPr marL="0" indent="0">
              <a:buNone/>
            </a:pPr>
            <a:r>
              <a:rPr lang="ro-RO" sz="1600">
                <a:solidFill>
                  <a:srgbClr val="F4F7FB"/>
                </a:solidFill>
                <a:latin typeface="Aptos" pitchFamily="34" charset="0"/>
                <a:ea typeface="Aptos" pitchFamily="34" charset="-122"/>
                <a:cs typeface="Aptos" pitchFamily="34" charset="-120"/>
              </a:rPr>
              <a:t>Pixel binning: combinarea mai multor pixeli într-unul singur îmbunătățește SNR și performanța în condiții de lumină slabă.</a:t>
            </a:r>
            <a:endParaRPr lang="ro-RO" sz="1600" dirty="0"/>
          </a:p>
        </p:txBody>
      </p:sp>
      <p:sp>
        <p:nvSpPr>
          <p:cNvPr id="15" name="Shape 13"/>
          <p:cNvSpPr/>
          <p:nvPr/>
        </p:nvSpPr>
        <p:spPr>
          <a:xfrm>
            <a:off x="8046720" y="1673352"/>
            <a:ext cx="3429000" cy="3337560"/>
          </a:xfrm>
          <a:prstGeom prst="roundRect">
            <a:avLst>
              <a:gd name="adj" fmla="val 4384"/>
            </a:avLst>
          </a:prstGeom>
          <a:solidFill>
            <a:srgbClr val="17253B"/>
          </a:solidFill>
          <a:ln w="10160">
            <a:solidFill>
              <a:srgbClr val="17253B"/>
            </a:solidFill>
            <a:prstDash val="solid"/>
          </a:ln>
        </p:spPr>
        <p:txBody>
          <a:bodyPr/>
          <a:lstStyle/>
          <a:p>
            <a:endParaRPr lang="en-US"/>
          </a:p>
        </p:txBody>
      </p:sp>
      <p:sp>
        <p:nvSpPr>
          <p:cNvPr id="16" name="Shape 14"/>
          <p:cNvSpPr/>
          <p:nvPr/>
        </p:nvSpPr>
        <p:spPr>
          <a:xfrm>
            <a:off x="8046720" y="1673352"/>
            <a:ext cx="50292" cy="3337560"/>
          </a:xfrm>
          <a:prstGeom prst="roundRect">
            <a:avLst>
              <a:gd name="adj" fmla="val 290909"/>
            </a:avLst>
          </a:prstGeom>
          <a:solidFill>
            <a:srgbClr val="80E2B0"/>
          </a:solidFill>
          <a:ln w="10160">
            <a:solidFill>
              <a:srgbClr val="80E2B0"/>
            </a:solidFill>
            <a:prstDash val="solid"/>
          </a:ln>
        </p:spPr>
        <p:txBody>
          <a:bodyPr/>
          <a:lstStyle/>
          <a:p>
            <a:endParaRPr lang="en-US"/>
          </a:p>
        </p:txBody>
      </p:sp>
      <p:sp>
        <p:nvSpPr>
          <p:cNvPr id="17" name="Text 15"/>
          <p:cNvSpPr/>
          <p:nvPr/>
        </p:nvSpPr>
        <p:spPr>
          <a:xfrm>
            <a:off x="8247888" y="1828800"/>
            <a:ext cx="3044952" cy="402336"/>
          </a:xfrm>
          <a:prstGeom prst="rect">
            <a:avLst/>
          </a:prstGeom>
          <a:noFill/>
          <a:ln/>
        </p:spPr>
        <p:txBody>
          <a:bodyPr wrap="square" lIns="0" tIns="0" rIns="0" bIns="0" rtlCol="0" anchor="ctr"/>
          <a:lstStyle/>
          <a:p>
            <a:pPr marL="0" indent="0">
              <a:buNone/>
            </a:pPr>
            <a:r>
              <a:rPr lang="ro-RO" sz="2000" b="1">
                <a:solidFill>
                  <a:srgbClr val="80E2B0"/>
                </a:solidFill>
                <a:latin typeface="Aptos" pitchFamily="34" charset="0"/>
                <a:ea typeface="Aptos" pitchFamily="34" charset="-122"/>
                <a:cs typeface="Aptos" pitchFamily="34" charset="-120"/>
              </a:rPr>
              <a:t>Video rezultat</a:t>
            </a:r>
            <a:endParaRPr lang="ro-RO" sz="2000" dirty="0"/>
          </a:p>
        </p:txBody>
      </p:sp>
      <p:sp>
        <p:nvSpPr>
          <p:cNvPr id="18" name="Text 16"/>
          <p:cNvSpPr/>
          <p:nvPr/>
        </p:nvSpPr>
        <p:spPr>
          <a:xfrm>
            <a:off x="8247888" y="2350008"/>
            <a:ext cx="3026664" cy="2560320"/>
          </a:xfrm>
          <a:prstGeom prst="rect">
            <a:avLst/>
          </a:prstGeom>
          <a:noFill/>
          <a:ln/>
        </p:spPr>
        <p:txBody>
          <a:bodyPr wrap="square" lIns="0" tIns="0" rIns="0" bIns="0" rtlCol="0" anchor="ctr"/>
          <a:lstStyle/>
          <a:p>
            <a:pPr marL="0" indent="0">
              <a:buNone/>
            </a:pPr>
            <a:r>
              <a:rPr lang="ro-RO" sz="1600">
                <a:solidFill>
                  <a:srgbClr val="F4F7FB"/>
                </a:solidFill>
                <a:latin typeface="Aptos" pitchFamily="34" charset="0"/>
                <a:ea typeface="Aptos" pitchFamily="34" charset="-122"/>
                <a:cs typeface="Aptos" pitchFamily="34" charset="-120"/>
              </a:rPr>
              <a:t>Încercăm să recuperăm un semnal deja comprimat printr-un algoritm de super-rezoluție.</a:t>
            </a:r>
          </a:p>
          <a:p>
            <a:pPr marL="0" indent="0">
              <a:buNone/>
            </a:pPr>
            <a:endParaRPr lang="ro-RO" sz="1600">
              <a:solidFill>
                <a:srgbClr val="F4F7FB"/>
              </a:solidFill>
              <a:latin typeface="Aptos" pitchFamily="34" charset="0"/>
              <a:ea typeface="Aptos" pitchFamily="34" charset="-122"/>
              <a:cs typeface="Aptos" pitchFamily="34" charset="-120"/>
            </a:endParaRPr>
          </a:p>
          <a:p>
            <a:pPr marL="0" indent="0">
              <a:buNone/>
            </a:pPr>
            <a:r>
              <a:rPr lang="ro-RO" sz="1600">
                <a:solidFill>
                  <a:srgbClr val="F4F7FB"/>
                </a:solidFill>
                <a:latin typeface="Aptos" pitchFamily="34" charset="0"/>
                <a:ea typeface="Aptos" pitchFamily="34" charset="-122"/>
                <a:cs typeface="Aptos" pitchFamily="34" charset="-120"/>
              </a:rPr>
              <a:t>Dificultăți: prin intermediul binningului se poate pierde ireversibil informație.</a:t>
            </a:r>
            <a:endParaRPr lang="ro-RO" sz="1600" dirty="0"/>
          </a:p>
        </p:txBody>
      </p:sp>
      <p:sp>
        <p:nvSpPr>
          <p:cNvPr id="19" name="Text 17"/>
          <p:cNvSpPr/>
          <p:nvPr/>
        </p:nvSpPr>
        <p:spPr>
          <a:xfrm>
            <a:off x="923544" y="5440680"/>
            <a:ext cx="10424160" cy="502920"/>
          </a:xfrm>
          <a:prstGeom prst="rect">
            <a:avLst/>
          </a:prstGeom>
          <a:noFill/>
          <a:ln/>
        </p:spPr>
        <p:txBody>
          <a:bodyPr wrap="square" lIns="0" tIns="0" rIns="0" bIns="0" rtlCol="0" anchor="ctr"/>
          <a:lstStyle/>
          <a:p>
            <a:pPr marL="0" indent="0" algn="ctr">
              <a:buNone/>
            </a:pPr>
            <a:r>
              <a:rPr lang="ro-RO" sz="2200" b="1">
                <a:solidFill>
                  <a:srgbClr val="F4F7FB"/>
                </a:solidFill>
                <a:latin typeface="Aptos" pitchFamily="34" charset="0"/>
                <a:ea typeface="Aptos" pitchFamily="34" charset="-122"/>
                <a:cs typeface="Aptos" pitchFamily="34" charset="-120"/>
              </a:rPr>
              <a:t>Întrebarea articolului: putem comprima mai inteligent, fără a crește rezoluția fluxului video?</a:t>
            </a:r>
            <a:endParaRPr lang="ro-RO"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ro-RO" sz="3000" b="1">
                <a:solidFill>
                  <a:srgbClr val="F4F7FB"/>
                </a:solidFill>
                <a:latin typeface="Aptos" pitchFamily="34" charset="0"/>
                <a:ea typeface="Aptos" pitchFamily="34" charset="-122"/>
                <a:cs typeface="Aptos" pitchFamily="34" charset="-120"/>
              </a:rPr>
              <a:t>Introducere în compressive sensing</a:t>
            </a:r>
            <a:endParaRPr lang="ro-RO" sz="30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ro-RO" sz="1000" b="1">
                <a:solidFill>
                  <a:srgbClr val="52D6D3"/>
                </a:solidFill>
                <a:latin typeface="Aptos" pitchFamily="34" charset="0"/>
                <a:ea typeface="Aptos" pitchFamily="34" charset="-122"/>
                <a:cs typeface="Aptos" pitchFamily="34" charset="-120"/>
              </a:rPr>
              <a:t>03</a:t>
            </a:r>
            <a:endParaRPr lang="ro-RO" sz="1000" dirty="0"/>
          </a:p>
        </p:txBody>
      </p:sp>
      <p:sp>
        <p:nvSpPr>
          <p:cNvPr id="7" name="Shape 5"/>
          <p:cNvSpPr/>
          <p:nvPr/>
        </p:nvSpPr>
        <p:spPr>
          <a:xfrm>
            <a:off x="667512" y="1712214"/>
            <a:ext cx="10671048" cy="1257299"/>
          </a:xfrm>
          <a:prstGeom prst="roundRect">
            <a:avLst>
              <a:gd name="adj" fmla="val 14286"/>
            </a:avLst>
          </a:prstGeom>
          <a:solidFill>
            <a:srgbClr val="1C304A"/>
          </a:solidFill>
          <a:ln w="10160">
            <a:solidFill>
              <a:srgbClr val="1C304A"/>
            </a:solidFill>
            <a:prstDash val="solid"/>
          </a:ln>
        </p:spPr>
        <p:txBody>
          <a:bodyPr/>
          <a:lstStyle/>
          <a:p>
            <a:endParaRPr lang="en-US" dirty="0"/>
          </a:p>
        </p:txBody>
      </p:sp>
      <p:sp>
        <p:nvSpPr>
          <p:cNvPr id="8" name="Text 6"/>
          <p:cNvSpPr/>
          <p:nvPr/>
        </p:nvSpPr>
        <p:spPr>
          <a:xfrm>
            <a:off x="1051560" y="1929384"/>
            <a:ext cx="3566160" cy="965200"/>
          </a:xfrm>
          <a:prstGeom prst="rect">
            <a:avLst/>
          </a:prstGeom>
          <a:noFill/>
          <a:ln/>
        </p:spPr>
        <p:txBody>
          <a:bodyPr wrap="square" lIns="0" tIns="0" rIns="0" bIns="0" rtlCol="0" anchor="ctr"/>
          <a:lstStyle/>
          <a:p>
            <a:r>
              <a:rPr lang="ro-RO" sz="2800" b="1">
                <a:solidFill>
                  <a:srgbClr val="52D6D3"/>
                </a:solidFill>
                <a:latin typeface="Aptos" pitchFamily="34" charset="0"/>
                <a:ea typeface="Aptos" pitchFamily="34" charset="-122"/>
                <a:cs typeface="Aptos" pitchFamily="34" charset="-120"/>
              </a:rPr>
              <a:t>y = θx = θΨα</a:t>
            </a:r>
          </a:p>
          <a:p>
            <a:pPr marL="0" indent="0">
              <a:buNone/>
            </a:pPr>
            <a:r>
              <a:rPr lang="ro-RO" sz="2800" b="1">
                <a:solidFill>
                  <a:srgbClr val="52D6D3"/>
                </a:solidFill>
                <a:latin typeface="Aptos" pitchFamily="34" charset="0"/>
                <a:ea typeface="Aptos" pitchFamily="34" charset="-122"/>
                <a:cs typeface="Aptos" pitchFamily="34" charset="-120"/>
              </a:rPr>
              <a:t>A = θΨ</a:t>
            </a:r>
            <a:endParaRPr lang="ro-RO" sz="2800" dirty="0">
              <a:solidFill>
                <a:srgbClr val="52D6D3"/>
              </a:solidFill>
            </a:endParaRPr>
          </a:p>
        </p:txBody>
      </p:sp>
      <p:sp>
        <p:nvSpPr>
          <p:cNvPr id="9" name="Text 7"/>
          <p:cNvSpPr/>
          <p:nvPr/>
        </p:nvSpPr>
        <p:spPr>
          <a:xfrm>
            <a:off x="3493697" y="1712214"/>
            <a:ext cx="6818363" cy="965199"/>
          </a:xfrm>
          <a:prstGeom prst="rect">
            <a:avLst/>
          </a:prstGeom>
          <a:noFill/>
          <a:ln/>
        </p:spPr>
        <p:txBody>
          <a:bodyPr wrap="square" lIns="0" tIns="0" rIns="0" bIns="0" rtlCol="0" anchor="ctr"/>
          <a:lstStyle/>
          <a:p>
            <a:r>
              <a:rPr lang="ro-RO" sz="1600">
                <a:solidFill>
                  <a:srgbClr val="F4F7FB"/>
                </a:solidFill>
                <a:latin typeface="Aptos" pitchFamily="34" charset="0"/>
                <a:ea typeface="Aptos" pitchFamily="34" charset="-122"/>
                <a:cs typeface="Aptos" pitchFamily="34" charset="-120"/>
              </a:rPr>
              <a:t>x: semnalul original • y: măsurători • </a:t>
            </a:r>
            <a:r>
              <a:rPr lang="ro-RO" sz="1600" b="1">
                <a:solidFill>
                  <a:schemeClr val="bg1"/>
                </a:solidFill>
                <a:latin typeface="Aptos" pitchFamily="34" charset="0"/>
                <a:ea typeface="Aptos" pitchFamily="34" charset="-122"/>
                <a:cs typeface="Aptos" pitchFamily="34" charset="-120"/>
              </a:rPr>
              <a:t>θ</a:t>
            </a:r>
            <a:r>
              <a:rPr lang="ro-RO" sz="1600">
                <a:solidFill>
                  <a:srgbClr val="F4F7FB"/>
                </a:solidFill>
                <a:latin typeface="Aptos" pitchFamily="34" charset="0"/>
                <a:ea typeface="Aptos" pitchFamily="34" charset="-122"/>
                <a:cs typeface="Aptos" pitchFamily="34" charset="-120"/>
              </a:rPr>
              <a:t>: dic</a:t>
            </a:r>
            <a:r>
              <a:rPr lang="ro-RO" sz="1600">
                <a:solidFill>
                  <a:srgbClr val="F4F7FA"/>
                </a:solidFill>
                <a:latin typeface="Aptos" panose="020B0004020202020204" pitchFamily="34" charset="0"/>
              </a:rPr>
              <a:t>ț</a:t>
            </a:r>
            <a:r>
              <a:rPr lang="ro-RO" sz="1600">
                <a:solidFill>
                  <a:srgbClr val="F4F7FB"/>
                </a:solidFill>
                <a:latin typeface="Aptos" pitchFamily="34" charset="0"/>
                <a:ea typeface="Aptos" pitchFamily="34" charset="-122"/>
                <a:cs typeface="Aptos" pitchFamily="34" charset="-120"/>
              </a:rPr>
              <a:t>ionar</a:t>
            </a:r>
            <a:endParaRPr lang="ro-RO" sz="1600" dirty="0">
              <a:solidFill>
                <a:srgbClr val="F4F7FB"/>
              </a:solidFill>
            </a:endParaRPr>
          </a:p>
        </p:txBody>
      </p:sp>
      <p:sp>
        <p:nvSpPr>
          <p:cNvPr id="10" name="Shape 8"/>
          <p:cNvSpPr/>
          <p:nvPr/>
        </p:nvSpPr>
        <p:spPr>
          <a:xfrm>
            <a:off x="1005840" y="3465576"/>
            <a:ext cx="82296" cy="82296"/>
          </a:xfrm>
          <a:prstGeom prst="roundRect">
            <a:avLst>
              <a:gd name="adj" fmla="val 177778"/>
            </a:avLst>
          </a:prstGeom>
          <a:solidFill>
            <a:srgbClr val="52D6D3"/>
          </a:solidFill>
          <a:ln w="10160">
            <a:solidFill>
              <a:srgbClr val="52D6D3"/>
            </a:solidFill>
            <a:prstDash val="solid"/>
          </a:ln>
        </p:spPr>
        <p:txBody>
          <a:bodyPr/>
          <a:lstStyle/>
          <a:p>
            <a:endParaRPr lang="en-US"/>
          </a:p>
        </p:txBody>
      </p:sp>
      <p:sp>
        <p:nvSpPr>
          <p:cNvPr id="11" name="Text 9"/>
          <p:cNvSpPr/>
          <p:nvPr/>
        </p:nvSpPr>
        <p:spPr>
          <a:xfrm>
            <a:off x="1234440" y="3104388"/>
            <a:ext cx="10012680" cy="804672"/>
          </a:xfrm>
          <a:prstGeom prst="rect">
            <a:avLst/>
          </a:prstGeom>
          <a:noFill/>
          <a:ln/>
        </p:spPr>
        <p:txBody>
          <a:bodyPr wrap="square" lIns="0" tIns="0" rIns="0" bIns="0" rtlCol="0" anchor="ctr"/>
          <a:lstStyle/>
          <a:p>
            <a:pPr marL="0" indent="0">
              <a:buNone/>
            </a:pPr>
            <a:r>
              <a:rPr lang="ro-RO" sz="2100">
                <a:solidFill>
                  <a:srgbClr val="F4F7FB"/>
                </a:solidFill>
                <a:latin typeface="Aptos" pitchFamily="34" charset="0"/>
                <a:ea typeface="Aptos" pitchFamily="34" charset="-122"/>
                <a:cs typeface="Aptos" pitchFamily="34" charset="-120"/>
              </a:rPr>
              <a:t>Dacă x este rar sau compresibil într-o bază Ψ, îl putem aproxima din M &lt; N măsurători.</a:t>
            </a:r>
            <a:endParaRPr lang="ro-RO" sz="2100" dirty="0"/>
          </a:p>
        </p:txBody>
      </p:sp>
      <p:sp>
        <p:nvSpPr>
          <p:cNvPr id="12" name="Shape 10"/>
          <p:cNvSpPr/>
          <p:nvPr/>
        </p:nvSpPr>
        <p:spPr>
          <a:xfrm>
            <a:off x="1005840" y="4206238"/>
            <a:ext cx="82296" cy="82296"/>
          </a:xfrm>
          <a:prstGeom prst="roundRect">
            <a:avLst>
              <a:gd name="adj" fmla="val 177778"/>
            </a:avLst>
          </a:prstGeom>
          <a:solidFill>
            <a:srgbClr val="52D6D3"/>
          </a:solidFill>
          <a:ln w="10160">
            <a:solidFill>
              <a:srgbClr val="52D6D3"/>
            </a:solidFill>
            <a:prstDash val="solid"/>
          </a:ln>
        </p:spPr>
        <p:txBody>
          <a:bodyPr/>
          <a:lstStyle/>
          <a:p>
            <a:endParaRPr lang="en-US"/>
          </a:p>
        </p:txBody>
      </p:sp>
      <p:sp>
        <p:nvSpPr>
          <p:cNvPr id="13" name="Text 11"/>
          <p:cNvSpPr/>
          <p:nvPr/>
        </p:nvSpPr>
        <p:spPr>
          <a:xfrm>
            <a:off x="1234440" y="3995928"/>
            <a:ext cx="10012680" cy="804672"/>
          </a:xfrm>
          <a:prstGeom prst="rect">
            <a:avLst/>
          </a:prstGeom>
          <a:noFill/>
          <a:ln/>
        </p:spPr>
        <p:txBody>
          <a:bodyPr wrap="square" lIns="0" tIns="0" rIns="0" bIns="0" rtlCol="0" anchor="ctr"/>
          <a:lstStyle/>
          <a:p>
            <a:pPr marL="0" indent="0">
              <a:buNone/>
            </a:pPr>
            <a:r>
              <a:rPr lang="ro-RO" sz="2100">
                <a:solidFill>
                  <a:srgbClr val="F4F7FB"/>
                </a:solidFill>
                <a:latin typeface="Aptos" pitchFamily="34" charset="0"/>
                <a:ea typeface="Aptos" pitchFamily="34" charset="-122"/>
                <a:cs typeface="Aptos" pitchFamily="34" charset="-120"/>
              </a:rPr>
              <a:t>Eșantioanele măsurate trebuie să ofere informații diverse; apoi, un algoritm reconstruiește o aproximație a lui x.</a:t>
            </a:r>
            <a:endParaRPr lang="ro-RO" sz="2100" dirty="0"/>
          </a:p>
        </p:txBody>
      </p:sp>
      <p:sp>
        <p:nvSpPr>
          <p:cNvPr id="14" name="Shape 12"/>
          <p:cNvSpPr/>
          <p:nvPr/>
        </p:nvSpPr>
        <p:spPr>
          <a:xfrm>
            <a:off x="1010412" y="5070351"/>
            <a:ext cx="82296" cy="82296"/>
          </a:xfrm>
          <a:prstGeom prst="roundRect">
            <a:avLst>
              <a:gd name="adj" fmla="val 177778"/>
            </a:avLst>
          </a:prstGeom>
          <a:solidFill>
            <a:srgbClr val="52D6D3"/>
          </a:solidFill>
          <a:ln w="10160">
            <a:solidFill>
              <a:srgbClr val="52D6D3"/>
            </a:solidFill>
            <a:prstDash val="solid"/>
          </a:ln>
        </p:spPr>
        <p:txBody>
          <a:bodyPr/>
          <a:lstStyle/>
          <a:p>
            <a:endParaRPr lang="en-US"/>
          </a:p>
        </p:txBody>
      </p:sp>
      <p:sp>
        <p:nvSpPr>
          <p:cNvPr id="15" name="Text 13"/>
          <p:cNvSpPr/>
          <p:nvPr/>
        </p:nvSpPr>
        <p:spPr>
          <a:xfrm>
            <a:off x="1234440" y="4855464"/>
            <a:ext cx="10012680" cy="804672"/>
          </a:xfrm>
          <a:prstGeom prst="rect">
            <a:avLst/>
          </a:prstGeom>
          <a:noFill/>
          <a:ln/>
        </p:spPr>
        <p:txBody>
          <a:bodyPr wrap="square" lIns="0" tIns="0" rIns="0" bIns="0" rtlCol="0" anchor="ctr"/>
          <a:lstStyle/>
          <a:p>
            <a:r>
              <a:rPr lang="ro-RO" sz="2100">
                <a:solidFill>
                  <a:srgbClr val="F4F7FB"/>
                </a:solidFill>
                <a:ea typeface="Aptos" pitchFamily="34" charset="-122"/>
                <a:cs typeface="Aptos" pitchFamily="34" charset="-120"/>
              </a:rPr>
              <a:t>Sistem de ecuații subdeterminat: o infinitate de soluții. Căutăm un număr minim de coeficienți nenuli în α (∥α∥₀), compatibili cu măsurările din y.</a:t>
            </a:r>
            <a:endParaRPr lang="ro-RO" sz="2100" dirty="0"/>
          </a:p>
        </p:txBody>
      </p:sp>
      <p:sp>
        <p:nvSpPr>
          <p:cNvPr id="4" name="TextBox 3">
            <a:extLst>
              <a:ext uri="{FF2B5EF4-FFF2-40B4-BE49-F238E27FC236}">
                <a16:creationId xmlns:a16="http://schemas.microsoft.com/office/drawing/2014/main" id="{F0B6935A-54C2-A47B-6D5E-BA6364E185E3}"/>
              </a:ext>
            </a:extLst>
          </p:cNvPr>
          <p:cNvSpPr txBox="1"/>
          <p:nvPr/>
        </p:nvSpPr>
        <p:spPr>
          <a:xfrm>
            <a:off x="3493697" y="2506791"/>
            <a:ext cx="10086836" cy="246221"/>
          </a:xfrm>
          <a:prstGeom prst="rect">
            <a:avLst/>
          </a:prstGeom>
          <a:noFill/>
        </p:spPr>
        <p:txBody>
          <a:bodyPr vert="horz" wrap="square" lIns="0" tIns="0" rIns="0" bIns="0" rtlCol="0">
            <a:spAutoFit/>
          </a:bodyPr>
          <a:lstStyle/>
          <a:p>
            <a:r>
              <a:rPr lang="ro-RO" sz="1600">
                <a:solidFill>
                  <a:srgbClr val="F4F7FA"/>
                </a:solidFill>
                <a:latin typeface="Aptos" panose="020B0004020202020204" pitchFamily="34" charset="0"/>
              </a:rPr>
              <a:t>θ: matrice de măsurare • Ψ: bază DCT/wavelet • α: coeficienți rari; x = Ψα</a:t>
            </a:r>
            <a:endParaRPr lang="ro-RO" sz="1600" dirty="0">
              <a:solidFill>
                <a:srgbClr val="F4F7FA"/>
              </a:solidFill>
              <a:latin typeface="Aptos" panose="020B00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019D1-F15D-16B3-4643-4979EFE02424}"/>
              </a:ext>
            </a:extLst>
          </p:cNvPr>
          <p:cNvSpPr txBox="1"/>
          <p:nvPr/>
        </p:nvSpPr>
        <p:spPr>
          <a:xfrm>
            <a:off x="660400" y="393700"/>
            <a:ext cx="10393679" cy="430887"/>
          </a:xfrm>
          <a:prstGeom prst="rect">
            <a:avLst/>
          </a:prstGeom>
          <a:noFill/>
        </p:spPr>
        <p:txBody>
          <a:bodyPr vert="horz" wrap="none" lIns="0" tIns="0" rIns="0" bIns="0" rtlCol="0">
            <a:spAutoFit/>
          </a:bodyPr>
          <a:lstStyle/>
          <a:p>
            <a:r>
              <a:rPr lang="ro-RO" sz="2800" b="1">
                <a:solidFill>
                  <a:srgbClr val="F4F7FB"/>
                </a:solidFill>
                <a:latin typeface="Aptos Display" panose="020F0502020204030204" pitchFamily="34" charset="0"/>
              </a:rPr>
              <a:t>Vizualizarea reprezentării rare a unui semnal în compressive sensing</a:t>
            </a:r>
            <a:endParaRPr lang="ro-RO" sz="2800" b="1" dirty="0">
              <a:solidFill>
                <a:srgbClr val="F4F7FB"/>
              </a:solidFill>
              <a:latin typeface="Aptos Display" panose="020F0502020204030204" pitchFamily="34" charset="0"/>
            </a:endParaRPr>
          </a:p>
        </p:txBody>
      </p:sp>
      <p:sp>
        <p:nvSpPr>
          <p:cNvPr id="4" name="Rectangle 3">
            <a:extLst>
              <a:ext uri="{FF2B5EF4-FFF2-40B4-BE49-F238E27FC236}">
                <a16:creationId xmlns:a16="http://schemas.microsoft.com/office/drawing/2014/main" id="{C3784692-E2F4-FF09-3719-C933B87CC226}"/>
              </a:ext>
            </a:extLst>
          </p:cNvPr>
          <p:cNvSpPr/>
          <p:nvPr/>
        </p:nvSpPr>
        <p:spPr>
          <a:xfrm>
            <a:off x="660400" y="1384300"/>
            <a:ext cx="10871200" cy="12700"/>
          </a:xfrm>
          <a:prstGeom prst="rect">
            <a:avLst/>
          </a:prstGeom>
          <a:solidFill>
            <a:srgbClr val="3447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D1383CC-632B-EA3B-A672-0C6A0A03E825}"/>
              </a:ext>
            </a:extLst>
          </p:cNvPr>
          <p:cNvSpPr txBox="1"/>
          <p:nvPr/>
        </p:nvSpPr>
        <p:spPr>
          <a:xfrm>
            <a:off x="3230990" y="1511300"/>
            <a:ext cx="2958438" cy="569387"/>
          </a:xfrm>
          <a:prstGeom prst="rect">
            <a:avLst/>
          </a:prstGeom>
          <a:noFill/>
        </p:spPr>
        <p:txBody>
          <a:bodyPr vert="horz" wrap="none" lIns="0" tIns="0" rIns="0" bIns="0" rtlCol="0">
            <a:spAutoFit/>
          </a:bodyPr>
          <a:lstStyle/>
          <a:p>
            <a:pPr algn="ctr"/>
            <a:r>
              <a:rPr lang="ro-RO" sz="3700">
                <a:solidFill>
                  <a:srgbClr val="F4F7FB"/>
                </a:solidFill>
                <a:latin typeface="Cambria Math" panose="02040503050406030204" pitchFamily="18" charset="0"/>
              </a:rPr>
              <a:t>y = Φx = ΦΨα</a:t>
            </a:r>
            <a:endParaRPr lang="ro-RO" sz="3700" dirty="0">
              <a:solidFill>
                <a:srgbClr val="F4F7FB"/>
              </a:solidFill>
              <a:latin typeface="Cambria Math" panose="02040503050406030204" pitchFamily="18" charset="0"/>
            </a:endParaRPr>
          </a:p>
        </p:txBody>
      </p:sp>
      <p:sp>
        <p:nvSpPr>
          <p:cNvPr id="6" name="TextBox 5">
            <a:extLst>
              <a:ext uri="{FF2B5EF4-FFF2-40B4-BE49-F238E27FC236}">
                <a16:creationId xmlns:a16="http://schemas.microsoft.com/office/drawing/2014/main" id="{ABE133D9-63FD-2AF1-1A6A-E5B6487C5E7F}"/>
              </a:ext>
            </a:extLst>
          </p:cNvPr>
          <p:cNvSpPr txBox="1"/>
          <p:nvPr/>
        </p:nvSpPr>
        <p:spPr>
          <a:xfrm>
            <a:off x="1360498" y="2400300"/>
            <a:ext cx="161904" cy="384721"/>
          </a:xfrm>
          <a:prstGeom prst="rect">
            <a:avLst/>
          </a:prstGeom>
          <a:noFill/>
        </p:spPr>
        <p:txBody>
          <a:bodyPr vert="horz" wrap="none" lIns="0" tIns="0" rIns="0" bIns="0" rtlCol="0">
            <a:spAutoFit/>
          </a:bodyPr>
          <a:lstStyle/>
          <a:p>
            <a:pPr algn="ctr"/>
            <a:r>
              <a:rPr lang="ro-RO" sz="2500" b="1">
                <a:solidFill>
                  <a:srgbClr val="52D6D3"/>
                </a:solidFill>
                <a:latin typeface="Cambria Math" panose="02040503050406030204" pitchFamily="18" charset="0"/>
              </a:rPr>
              <a:t>y</a:t>
            </a:r>
            <a:endParaRPr lang="ro-RO" sz="2500" b="1" dirty="0">
              <a:solidFill>
                <a:srgbClr val="52D6D3"/>
              </a:solidFill>
              <a:latin typeface="Cambria Math" panose="02040503050406030204" pitchFamily="18" charset="0"/>
            </a:endParaRPr>
          </a:p>
        </p:txBody>
      </p:sp>
      <p:sp>
        <p:nvSpPr>
          <p:cNvPr id="7" name="TextBox 6">
            <a:extLst>
              <a:ext uri="{FF2B5EF4-FFF2-40B4-BE49-F238E27FC236}">
                <a16:creationId xmlns:a16="http://schemas.microsoft.com/office/drawing/2014/main" id="{44E9D8B2-F9DE-48CA-6BB7-F9C41B27E3CC}"/>
              </a:ext>
            </a:extLst>
          </p:cNvPr>
          <p:cNvSpPr txBox="1"/>
          <p:nvPr/>
        </p:nvSpPr>
        <p:spPr>
          <a:xfrm>
            <a:off x="4027064" y="2400300"/>
            <a:ext cx="251672" cy="384721"/>
          </a:xfrm>
          <a:prstGeom prst="rect">
            <a:avLst/>
          </a:prstGeom>
          <a:noFill/>
        </p:spPr>
        <p:txBody>
          <a:bodyPr vert="horz" wrap="none" lIns="0" tIns="0" rIns="0" bIns="0" rtlCol="0">
            <a:spAutoFit/>
          </a:bodyPr>
          <a:lstStyle/>
          <a:p>
            <a:pPr algn="ctr"/>
            <a:r>
              <a:rPr lang="ro-RO" sz="2500" b="1">
                <a:solidFill>
                  <a:srgbClr val="FFC870"/>
                </a:solidFill>
                <a:latin typeface="Cambria Math" panose="02040503050406030204" pitchFamily="18" charset="0"/>
              </a:rPr>
              <a:t>Φ</a:t>
            </a:r>
            <a:endParaRPr lang="ro-RO" sz="2500" b="1" dirty="0">
              <a:solidFill>
                <a:srgbClr val="FFC870"/>
              </a:solidFill>
              <a:latin typeface="Cambria Math" panose="02040503050406030204" pitchFamily="18" charset="0"/>
            </a:endParaRPr>
          </a:p>
        </p:txBody>
      </p:sp>
      <p:sp>
        <p:nvSpPr>
          <p:cNvPr id="8" name="TextBox 7">
            <a:extLst>
              <a:ext uri="{FF2B5EF4-FFF2-40B4-BE49-F238E27FC236}">
                <a16:creationId xmlns:a16="http://schemas.microsoft.com/office/drawing/2014/main" id="{08373E36-45F6-7ABE-A330-C7B6816DC9F5}"/>
              </a:ext>
            </a:extLst>
          </p:cNvPr>
          <p:cNvSpPr txBox="1"/>
          <p:nvPr/>
        </p:nvSpPr>
        <p:spPr>
          <a:xfrm>
            <a:off x="7240164" y="2400300"/>
            <a:ext cx="251672" cy="384721"/>
          </a:xfrm>
          <a:prstGeom prst="rect">
            <a:avLst/>
          </a:prstGeom>
          <a:noFill/>
        </p:spPr>
        <p:txBody>
          <a:bodyPr vert="horz" wrap="none" lIns="0" tIns="0" rIns="0" bIns="0" rtlCol="0">
            <a:spAutoFit/>
          </a:bodyPr>
          <a:lstStyle/>
          <a:p>
            <a:pPr algn="ctr"/>
            <a:r>
              <a:rPr lang="ro-RO" sz="2500" b="1">
                <a:solidFill>
                  <a:srgbClr val="80E2B0"/>
                </a:solidFill>
                <a:latin typeface="Cambria Math" panose="02040503050406030204" pitchFamily="18" charset="0"/>
              </a:rPr>
              <a:t>Ψ</a:t>
            </a:r>
            <a:endParaRPr lang="ro-RO" sz="2500" b="1" dirty="0">
              <a:solidFill>
                <a:srgbClr val="80E2B0"/>
              </a:solidFill>
              <a:latin typeface="Cambria Math" panose="02040503050406030204" pitchFamily="18" charset="0"/>
            </a:endParaRPr>
          </a:p>
        </p:txBody>
      </p:sp>
      <p:sp>
        <p:nvSpPr>
          <p:cNvPr id="9" name="TextBox 8">
            <a:extLst>
              <a:ext uri="{FF2B5EF4-FFF2-40B4-BE49-F238E27FC236}">
                <a16:creationId xmlns:a16="http://schemas.microsoft.com/office/drawing/2014/main" id="{7AEAD064-E1D5-666B-F602-2F85FADEC818}"/>
              </a:ext>
            </a:extLst>
          </p:cNvPr>
          <p:cNvSpPr txBox="1"/>
          <p:nvPr/>
        </p:nvSpPr>
        <p:spPr>
          <a:xfrm>
            <a:off x="10264677" y="2400300"/>
            <a:ext cx="184346" cy="384721"/>
          </a:xfrm>
          <a:prstGeom prst="rect">
            <a:avLst/>
          </a:prstGeom>
          <a:noFill/>
        </p:spPr>
        <p:txBody>
          <a:bodyPr vert="horz" wrap="none" lIns="0" tIns="0" rIns="0" bIns="0" rtlCol="0">
            <a:spAutoFit/>
          </a:bodyPr>
          <a:lstStyle/>
          <a:p>
            <a:pPr algn="ctr"/>
            <a:r>
              <a:rPr lang="ro-RO" sz="2500" b="1">
                <a:solidFill>
                  <a:srgbClr val="52D6D3"/>
                </a:solidFill>
                <a:latin typeface="Cambria Math" panose="02040503050406030204" pitchFamily="18" charset="0"/>
              </a:rPr>
              <a:t>α</a:t>
            </a:r>
            <a:endParaRPr lang="ro-RO" sz="2500" b="1" dirty="0">
              <a:solidFill>
                <a:srgbClr val="52D6D3"/>
              </a:solidFill>
              <a:latin typeface="Cambria Math" panose="02040503050406030204" pitchFamily="18" charset="0"/>
            </a:endParaRPr>
          </a:p>
        </p:txBody>
      </p:sp>
      <p:sp>
        <p:nvSpPr>
          <p:cNvPr id="10" name="Rectangle: Rounded Corners 9">
            <a:extLst>
              <a:ext uri="{FF2B5EF4-FFF2-40B4-BE49-F238E27FC236}">
                <a16:creationId xmlns:a16="http://schemas.microsoft.com/office/drawing/2014/main" id="{6AB2C1F3-3385-D39F-785C-6FB39AFB5894}"/>
              </a:ext>
            </a:extLst>
          </p:cNvPr>
          <p:cNvSpPr/>
          <p:nvPr/>
        </p:nvSpPr>
        <p:spPr>
          <a:xfrm>
            <a:off x="1181819" y="2819400"/>
            <a:ext cx="497120" cy="2298700"/>
          </a:xfrm>
          <a:prstGeom prst="roundRect">
            <a:avLst/>
          </a:prstGeom>
          <a:solidFill>
            <a:srgbClr val="17253B"/>
          </a:solidFill>
          <a:ln w="10160">
            <a:solidFill>
              <a:srgbClr val="3447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CC6E9CF6-DF0D-02DB-FABC-BD9E3ECEC5CA}"/>
              </a:ext>
            </a:extLst>
          </p:cNvPr>
          <p:cNvSpPr/>
          <p:nvPr/>
        </p:nvSpPr>
        <p:spPr>
          <a:xfrm>
            <a:off x="3048000" y="3080384"/>
            <a:ext cx="2209800" cy="1767841"/>
          </a:xfrm>
          <a:prstGeom prst="roundRect">
            <a:avLst/>
          </a:prstGeom>
          <a:solidFill>
            <a:srgbClr val="17253B"/>
          </a:solidFill>
          <a:ln w="10160">
            <a:solidFill>
              <a:srgbClr val="3447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81F0C883-81C8-35B5-B48A-E599E4930707}"/>
              </a:ext>
            </a:extLst>
          </p:cNvPr>
          <p:cNvSpPr/>
          <p:nvPr/>
        </p:nvSpPr>
        <p:spPr>
          <a:xfrm>
            <a:off x="6261100" y="2785021"/>
            <a:ext cx="2209800" cy="2358479"/>
          </a:xfrm>
          <a:prstGeom prst="roundRect">
            <a:avLst/>
          </a:prstGeom>
          <a:solidFill>
            <a:srgbClr val="17253B"/>
          </a:solidFill>
          <a:ln w="10160">
            <a:solidFill>
              <a:srgbClr val="3447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15976706-14B6-8613-E18C-7484C22C3B5A}"/>
              </a:ext>
            </a:extLst>
          </p:cNvPr>
          <p:cNvSpPr/>
          <p:nvPr/>
        </p:nvSpPr>
        <p:spPr>
          <a:xfrm>
            <a:off x="10127410" y="2819400"/>
            <a:ext cx="439947" cy="2298700"/>
          </a:xfrm>
          <a:prstGeom prst="roundRect">
            <a:avLst/>
          </a:prstGeom>
          <a:solidFill>
            <a:srgbClr val="17253B"/>
          </a:solidFill>
          <a:ln w="10160">
            <a:solidFill>
              <a:srgbClr val="3447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47BD12-8B9D-325D-0DD4-04C8570A0014}"/>
              </a:ext>
            </a:extLst>
          </p:cNvPr>
          <p:cNvSpPr/>
          <p:nvPr/>
        </p:nvSpPr>
        <p:spPr>
          <a:xfrm>
            <a:off x="1376680" y="3086735"/>
            <a:ext cx="129540" cy="12954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C2FEA2C-14F4-0445-B0FE-94B0B5C3C597}"/>
              </a:ext>
            </a:extLst>
          </p:cNvPr>
          <p:cNvSpPr/>
          <p:nvPr/>
        </p:nvSpPr>
        <p:spPr>
          <a:xfrm>
            <a:off x="1376680" y="3235325"/>
            <a:ext cx="129540" cy="12954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4D6CE7E-9ED2-D454-EF59-A6A305FDB55C}"/>
              </a:ext>
            </a:extLst>
          </p:cNvPr>
          <p:cNvSpPr/>
          <p:nvPr/>
        </p:nvSpPr>
        <p:spPr>
          <a:xfrm>
            <a:off x="1376680" y="3383915"/>
            <a:ext cx="129540" cy="12954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9CA1C8F-C6C7-F074-8456-4D9105F8F444}"/>
              </a:ext>
            </a:extLst>
          </p:cNvPr>
          <p:cNvSpPr/>
          <p:nvPr/>
        </p:nvSpPr>
        <p:spPr>
          <a:xfrm>
            <a:off x="1376680" y="3532505"/>
            <a:ext cx="129540" cy="12954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6F25E8E-0B04-0E8E-8446-A071C103265A}"/>
              </a:ext>
            </a:extLst>
          </p:cNvPr>
          <p:cNvSpPr/>
          <p:nvPr/>
        </p:nvSpPr>
        <p:spPr>
          <a:xfrm>
            <a:off x="1376680" y="3681095"/>
            <a:ext cx="129540" cy="12954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A7687CF-DED1-FF2A-6F16-E7E90864728F}"/>
              </a:ext>
            </a:extLst>
          </p:cNvPr>
          <p:cNvSpPr/>
          <p:nvPr/>
        </p:nvSpPr>
        <p:spPr>
          <a:xfrm>
            <a:off x="1376680" y="3829685"/>
            <a:ext cx="129540" cy="12954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818A69E-4673-80C8-187F-775AD59DC25F}"/>
              </a:ext>
            </a:extLst>
          </p:cNvPr>
          <p:cNvSpPr/>
          <p:nvPr/>
        </p:nvSpPr>
        <p:spPr>
          <a:xfrm>
            <a:off x="1376680" y="3978275"/>
            <a:ext cx="129540" cy="12954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C2893BC-202F-8E68-0C07-1637C32E0322}"/>
              </a:ext>
            </a:extLst>
          </p:cNvPr>
          <p:cNvSpPr/>
          <p:nvPr/>
        </p:nvSpPr>
        <p:spPr>
          <a:xfrm>
            <a:off x="1376680" y="4126865"/>
            <a:ext cx="129540" cy="12954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F754958-9D95-15BA-58F0-B0D4C583066E}"/>
              </a:ext>
            </a:extLst>
          </p:cNvPr>
          <p:cNvSpPr/>
          <p:nvPr/>
        </p:nvSpPr>
        <p:spPr>
          <a:xfrm>
            <a:off x="1376680" y="4275455"/>
            <a:ext cx="129540" cy="12954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ACADB1A-A04F-BC47-38ED-A067925175A9}"/>
              </a:ext>
            </a:extLst>
          </p:cNvPr>
          <p:cNvSpPr/>
          <p:nvPr/>
        </p:nvSpPr>
        <p:spPr>
          <a:xfrm>
            <a:off x="1376680" y="4424045"/>
            <a:ext cx="129540" cy="12954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5081D51-5560-0D7C-DA21-1AAD09890F5E}"/>
              </a:ext>
            </a:extLst>
          </p:cNvPr>
          <p:cNvSpPr/>
          <p:nvPr/>
        </p:nvSpPr>
        <p:spPr>
          <a:xfrm>
            <a:off x="1376680" y="4572635"/>
            <a:ext cx="129540" cy="12954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19A7A3E-6BA3-53B7-B31A-7986EB118A81}"/>
              </a:ext>
            </a:extLst>
          </p:cNvPr>
          <p:cNvSpPr/>
          <p:nvPr/>
        </p:nvSpPr>
        <p:spPr>
          <a:xfrm>
            <a:off x="1376680" y="4721225"/>
            <a:ext cx="129540" cy="12954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46198FB-1F20-F98A-A84D-7F77AB602FF8}"/>
              </a:ext>
            </a:extLst>
          </p:cNvPr>
          <p:cNvSpPr/>
          <p:nvPr/>
        </p:nvSpPr>
        <p:spPr>
          <a:xfrm>
            <a:off x="3136265" y="320865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D060ACE-B17D-F4F5-5111-7AE16F2C3FDA}"/>
              </a:ext>
            </a:extLst>
          </p:cNvPr>
          <p:cNvSpPr/>
          <p:nvPr/>
        </p:nvSpPr>
        <p:spPr>
          <a:xfrm>
            <a:off x="3264535" y="320865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39BC7582-536D-0AAD-2DB2-FD43A9BBC415}"/>
              </a:ext>
            </a:extLst>
          </p:cNvPr>
          <p:cNvSpPr/>
          <p:nvPr/>
        </p:nvSpPr>
        <p:spPr>
          <a:xfrm>
            <a:off x="3392805" y="320865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E70B52F0-EC6D-A0BD-5ECF-3D9436F409E6}"/>
              </a:ext>
            </a:extLst>
          </p:cNvPr>
          <p:cNvSpPr/>
          <p:nvPr/>
        </p:nvSpPr>
        <p:spPr>
          <a:xfrm>
            <a:off x="3521075" y="320865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995267F-4333-2F2E-E661-85615F6F3EB3}"/>
              </a:ext>
            </a:extLst>
          </p:cNvPr>
          <p:cNvSpPr/>
          <p:nvPr/>
        </p:nvSpPr>
        <p:spPr>
          <a:xfrm>
            <a:off x="3649345" y="320865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034518D-15D6-076B-1305-629A5B56A506}"/>
              </a:ext>
            </a:extLst>
          </p:cNvPr>
          <p:cNvSpPr/>
          <p:nvPr/>
        </p:nvSpPr>
        <p:spPr>
          <a:xfrm>
            <a:off x="3777615" y="320865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7B5E708E-B6DA-348B-402C-DEC82636C434}"/>
              </a:ext>
            </a:extLst>
          </p:cNvPr>
          <p:cNvSpPr/>
          <p:nvPr/>
        </p:nvSpPr>
        <p:spPr>
          <a:xfrm>
            <a:off x="3905885" y="320865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33419300-088D-AD8B-3C13-1DA50E37B631}"/>
              </a:ext>
            </a:extLst>
          </p:cNvPr>
          <p:cNvSpPr/>
          <p:nvPr/>
        </p:nvSpPr>
        <p:spPr>
          <a:xfrm>
            <a:off x="4034155" y="320865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EFC787D4-A9CF-ACBF-8AB1-64943AC419DE}"/>
              </a:ext>
            </a:extLst>
          </p:cNvPr>
          <p:cNvSpPr/>
          <p:nvPr/>
        </p:nvSpPr>
        <p:spPr>
          <a:xfrm>
            <a:off x="4162425" y="320865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9BFDB651-23D5-A73E-8C3B-F03C0B3ABB74}"/>
              </a:ext>
            </a:extLst>
          </p:cNvPr>
          <p:cNvSpPr/>
          <p:nvPr/>
        </p:nvSpPr>
        <p:spPr>
          <a:xfrm>
            <a:off x="4290695" y="320865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E7FBC409-BC1E-61E0-8007-AB8F51FC9CC8}"/>
              </a:ext>
            </a:extLst>
          </p:cNvPr>
          <p:cNvSpPr/>
          <p:nvPr/>
        </p:nvSpPr>
        <p:spPr>
          <a:xfrm>
            <a:off x="4418965" y="320865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4F0A9C9C-3D50-9A89-75F7-93341460C0F0}"/>
              </a:ext>
            </a:extLst>
          </p:cNvPr>
          <p:cNvSpPr/>
          <p:nvPr/>
        </p:nvSpPr>
        <p:spPr>
          <a:xfrm>
            <a:off x="4547235" y="320865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4BBE4CD2-1866-D8D9-A9A3-AF56D7710CE8}"/>
              </a:ext>
            </a:extLst>
          </p:cNvPr>
          <p:cNvSpPr/>
          <p:nvPr/>
        </p:nvSpPr>
        <p:spPr>
          <a:xfrm>
            <a:off x="4675505" y="320865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B372FE4B-54AA-5939-CD90-A6078D180467}"/>
              </a:ext>
            </a:extLst>
          </p:cNvPr>
          <p:cNvSpPr/>
          <p:nvPr/>
        </p:nvSpPr>
        <p:spPr>
          <a:xfrm>
            <a:off x="4803775" y="320865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F23E82C-EF65-7281-5738-ABED6D713561}"/>
              </a:ext>
            </a:extLst>
          </p:cNvPr>
          <p:cNvSpPr/>
          <p:nvPr/>
        </p:nvSpPr>
        <p:spPr>
          <a:xfrm>
            <a:off x="4932045" y="320865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DA80B44-0745-1EAF-852C-E731E23FE99D}"/>
              </a:ext>
            </a:extLst>
          </p:cNvPr>
          <p:cNvSpPr/>
          <p:nvPr/>
        </p:nvSpPr>
        <p:spPr>
          <a:xfrm>
            <a:off x="5060315" y="320865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2DDA9DE3-881C-3AD3-ED42-D9B96C9AA424}"/>
              </a:ext>
            </a:extLst>
          </p:cNvPr>
          <p:cNvSpPr/>
          <p:nvPr/>
        </p:nvSpPr>
        <p:spPr>
          <a:xfrm>
            <a:off x="3136265" y="333692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34659279-2409-5423-9782-BD47ADAEF690}"/>
              </a:ext>
            </a:extLst>
          </p:cNvPr>
          <p:cNvSpPr/>
          <p:nvPr/>
        </p:nvSpPr>
        <p:spPr>
          <a:xfrm>
            <a:off x="3264535" y="333692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4FDB6FC7-5B3D-12E0-F6DA-D61299B22746}"/>
              </a:ext>
            </a:extLst>
          </p:cNvPr>
          <p:cNvSpPr/>
          <p:nvPr/>
        </p:nvSpPr>
        <p:spPr>
          <a:xfrm>
            <a:off x="3392805" y="333692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37AD266E-CEAF-BDA4-5EA6-03DCC0FF8295}"/>
              </a:ext>
            </a:extLst>
          </p:cNvPr>
          <p:cNvSpPr/>
          <p:nvPr/>
        </p:nvSpPr>
        <p:spPr>
          <a:xfrm>
            <a:off x="3521075" y="333692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C1D35A1-0A56-670A-AE6A-4CE9279962FC}"/>
              </a:ext>
            </a:extLst>
          </p:cNvPr>
          <p:cNvSpPr/>
          <p:nvPr/>
        </p:nvSpPr>
        <p:spPr>
          <a:xfrm>
            <a:off x="3649345" y="333692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A10481C8-A700-0689-EE23-D4372AE24556}"/>
              </a:ext>
            </a:extLst>
          </p:cNvPr>
          <p:cNvSpPr/>
          <p:nvPr/>
        </p:nvSpPr>
        <p:spPr>
          <a:xfrm>
            <a:off x="3777615" y="333692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FB62D093-5951-1D21-E38F-F4D22D300C82}"/>
              </a:ext>
            </a:extLst>
          </p:cNvPr>
          <p:cNvSpPr/>
          <p:nvPr/>
        </p:nvSpPr>
        <p:spPr>
          <a:xfrm>
            <a:off x="3905885" y="333692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80CD1A56-C0DA-6463-2453-8B24731FDEFA}"/>
              </a:ext>
            </a:extLst>
          </p:cNvPr>
          <p:cNvSpPr/>
          <p:nvPr/>
        </p:nvSpPr>
        <p:spPr>
          <a:xfrm>
            <a:off x="4034155" y="333692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BAF9C0BD-6BDE-F618-624A-41CB42545A76}"/>
              </a:ext>
            </a:extLst>
          </p:cNvPr>
          <p:cNvSpPr/>
          <p:nvPr/>
        </p:nvSpPr>
        <p:spPr>
          <a:xfrm>
            <a:off x="4162425" y="333692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9EBCE02F-85DE-7A2C-2C28-A3AF0DED96F8}"/>
              </a:ext>
            </a:extLst>
          </p:cNvPr>
          <p:cNvSpPr/>
          <p:nvPr/>
        </p:nvSpPr>
        <p:spPr>
          <a:xfrm>
            <a:off x="4290695" y="333692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70863B2D-27C9-E0C2-14AB-9E42613BD16C}"/>
              </a:ext>
            </a:extLst>
          </p:cNvPr>
          <p:cNvSpPr/>
          <p:nvPr/>
        </p:nvSpPr>
        <p:spPr>
          <a:xfrm>
            <a:off x="4418965" y="333692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1170A804-CF75-C54F-62D8-8FDB9F50CBEC}"/>
              </a:ext>
            </a:extLst>
          </p:cNvPr>
          <p:cNvSpPr/>
          <p:nvPr/>
        </p:nvSpPr>
        <p:spPr>
          <a:xfrm>
            <a:off x="4547235" y="333692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EFCDED7E-D330-32C5-443B-E34DED7CBABA}"/>
              </a:ext>
            </a:extLst>
          </p:cNvPr>
          <p:cNvSpPr/>
          <p:nvPr/>
        </p:nvSpPr>
        <p:spPr>
          <a:xfrm>
            <a:off x="4675505" y="333692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39CD9583-BDF8-8AF8-4F0B-68F0FC473620}"/>
              </a:ext>
            </a:extLst>
          </p:cNvPr>
          <p:cNvSpPr/>
          <p:nvPr/>
        </p:nvSpPr>
        <p:spPr>
          <a:xfrm>
            <a:off x="4803775" y="333692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329BDF7C-14FD-5CA8-BA94-27527CF9C3BE}"/>
              </a:ext>
            </a:extLst>
          </p:cNvPr>
          <p:cNvSpPr/>
          <p:nvPr/>
        </p:nvSpPr>
        <p:spPr>
          <a:xfrm>
            <a:off x="4932045" y="333692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60B3AACB-1526-43FF-C130-578CB6C0F03A}"/>
              </a:ext>
            </a:extLst>
          </p:cNvPr>
          <p:cNvSpPr/>
          <p:nvPr/>
        </p:nvSpPr>
        <p:spPr>
          <a:xfrm>
            <a:off x="5060315" y="333692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F5E2B981-98CB-8F47-AF7D-BE9B79BED12D}"/>
              </a:ext>
            </a:extLst>
          </p:cNvPr>
          <p:cNvSpPr/>
          <p:nvPr/>
        </p:nvSpPr>
        <p:spPr>
          <a:xfrm>
            <a:off x="3136265" y="346519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6E99B9F0-FF93-AAE3-F4C4-6839521FEFDF}"/>
              </a:ext>
            </a:extLst>
          </p:cNvPr>
          <p:cNvSpPr/>
          <p:nvPr/>
        </p:nvSpPr>
        <p:spPr>
          <a:xfrm>
            <a:off x="3264535" y="346519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2418AFDC-333C-36D4-B218-EC9941EC51D3}"/>
              </a:ext>
            </a:extLst>
          </p:cNvPr>
          <p:cNvSpPr/>
          <p:nvPr/>
        </p:nvSpPr>
        <p:spPr>
          <a:xfrm>
            <a:off x="3392805" y="346519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CB421ABA-5C98-11EA-98FE-679B1D9A0C6B}"/>
              </a:ext>
            </a:extLst>
          </p:cNvPr>
          <p:cNvSpPr/>
          <p:nvPr/>
        </p:nvSpPr>
        <p:spPr>
          <a:xfrm>
            <a:off x="3521075" y="346519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097D554F-B374-0C61-84EB-A0233FF0C4B1}"/>
              </a:ext>
            </a:extLst>
          </p:cNvPr>
          <p:cNvSpPr/>
          <p:nvPr/>
        </p:nvSpPr>
        <p:spPr>
          <a:xfrm>
            <a:off x="3649345" y="346519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CCE4CBCB-E1E5-3D26-BBFA-F5B41C145321}"/>
              </a:ext>
            </a:extLst>
          </p:cNvPr>
          <p:cNvSpPr/>
          <p:nvPr/>
        </p:nvSpPr>
        <p:spPr>
          <a:xfrm>
            <a:off x="3777615" y="346519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71321301-F847-32DC-FA41-891F1F244D0E}"/>
              </a:ext>
            </a:extLst>
          </p:cNvPr>
          <p:cNvSpPr/>
          <p:nvPr/>
        </p:nvSpPr>
        <p:spPr>
          <a:xfrm>
            <a:off x="3905885" y="346519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9F47844B-DB0B-5249-D43E-966F9AD1BDCA}"/>
              </a:ext>
            </a:extLst>
          </p:cNvPr>
          <p:cNvSpPr/>
          <p:nvPr/>
        </p:nvSpPr>
        <p:spPr>
          <a:xfrm>
            <a:off x="4034155" y="346519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1B21A394-CE65-6DB3-714D-395548954BC7}"/>
              </a:ext>
            </a:extLst>
          </p:cNvPr>
          <p:cNvSpPr/>
          <p:nvPr/>
        </p:nvSpPr>
        <p:spPr>
          <a:xfrm>
            <a:off x="4162425" y="346519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08472D53-BC92-604A-B5F8-DDDE584F2130}"/>
              </a:ext>
            </a:extLst>
          </p:cNvPr>
          <p:cNvSpPr/>
          <p:nvPr/>
        </p:nvSpPr>
        <p:spPr>
          <a:xfrm>
            <a:off x="4290695" y="346519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4339B96B-34EC-5662-6428-291C6D2E3F76}"/>
              </a:ext>
            </a:extLst>
          </p:cNvPr>
          <p:cNvSpPr/>
          <p:nvPr/>
        </p:nvSpPr>
        <p:spPr>
          <a:xfrm>
            <a:off x="4418965" y="346519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F4A24AAF-E70A-AE3B-0014-3651B225BBB5}"/>
              </a:ext>
            </a:extLst>
          </p:cNvPr>
          <p:cNvSpPr/>
          <p:nvPr/>
        </p:nvSpPr>
        <p:spPr>
          <a:xfrm>
            <a:off x="4547235" y="346519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FBD75D34-7DF1-DA0E-3337-DE30FDF6C2F8}"/>
              </a:ext>
            </a:extLst>
          </p:cNvPr>
          <p:cNvSpPr/>
          <p:nvPr/>
        </p:nvSpPr>
        <p:spPr>
          <a:xfrm>
            <a:off x="4675505" y="346519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613837E8-9FB6-BD61-E41D-09DA99E920EC}"/>
              </a:ext>
            </a:extLst>
          </p:cNvPr>
          <p:cNvSpPr/>
          <p:nvPr/>
        </p:nvSpPr>
        <p:spPr>
          <a:xfrm>
            <a:off x="4803775" y="346519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744EB3B2-AE86-831E-85ED-942A2BBAD552}"/>
              </a:ext>
            </a:extLst>
          </p:cNvPr>
          <p:cNvSpPr/>
          <p:nvPr/>
        </p:nvSpPr>
        <p:spPr>
          <a:xfrm>
            <a:off x="4932045" y="346519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FF87A168-CBDA-0A89-9289-33136B568858}"/>
              </a:ext>
            </a:extLst>
          </p:cNvPr>
          <p:cNvSpPr/>
          <p:nvPr/>
        </p:nvSpPr>
        <p:spPr>
          <a:xfrm>
            <a:off x="5060315" y="346519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8117F96C-69CB-21D0-E858-DDAF7377C64D}"/>
              </a:ext>
            </a:extLst>
          </p:cNvPr>
          <p:cNvSpPr/>
          <p:nvPr/>
        </p:nvSpPr>
        <p:spPr>
          <a:xfrm>
            <a:off x="3136265" y="359346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199B6CA2-11D7-E4D7-606B-60C65A8C168A}"/>
              </a:ext>
            </a:extLst>
          </p:cNvPr>
          <p:cNvSpPr/>
          <p:nvPr/>
        </p:nvSpPr>
        <p:spPr>
          <a:xfrm>
            <a:off x="3264535" y="359346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7C6363B4-4F93-A4A2-73E5-CA7FF2329BCE}"/>
              </a:ext>
            </a:extLst>
          </p:cNvPr>
          <p:cNvSpPr/>
          <p:nvPr/>
        </p:nvSpPr>
        <p:spPr>
          <a:xfrm>
            <a:off x="3392805" y="359346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88F0E0F5-D772-7969-487C-786475623FAD}"/>
              </a:ext>
            </a:extLst>
          </p:cNvPr>
          <p:cNvSpPr/>
          <p:nvPr/>
        </p:nvSpPr>
        <p:spPr>
          <a:xfrm>
            <a:off x="3521075" y="359346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87ADD0E5-EC5D-596E-D780-0299C8938D8A}"/>
              </a:ext>
            </a:extLst>
          </p:cNvPr>
          <p:cNvSpPr/>
          <p:nvPr/>
        </p:nvSpPr>
        <p:spPr>
          <a:xfrm>
            <a:off x="3649345" y="359346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CF0E7E86-909F-B8FB-0EAF-7191DE7F5870}"/>
              </a:ext>
            </a:extLst>
          </p:cNvPr>
          <p:cNvSpPr/>
          <p:nvPr/>
        </p:nvSpPr>
        <p:spPr>
          <a:xfrm>
            <a:off x="3777615" y="359346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D769BC78-2934-B2EF-9BB9-AB372AF53B63}"/>
              </a:ext>
            </a:extLst>
          </p:cNvPr>
          <p:cNvSpPr/>
          <p:nvPr/>
        </p:nvSpPr>
        <p:spPr>
          <a:xfrm>
            <a:off x="3905885" y="359346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0B2F4A30-4634-ACE4-18EB-F708F902105F}"/>
              </a:ext>
            </a:extLst>
          </p:cNvPr>
          <p:cNvSpPr/>
          <p:nvPr/>
        </p:nvSpPr>
        <p:spPr>
          <a:xfrm>
            <a:off x="4034155" y="359346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604E3A00-3EEE-DC11-A8C2-6507D17B00B0}"/>
              </a:ext>
            </a:extLst>
          </p:cNvPr>
          <p:cNvSpPr/>
          <p:nvPr/>
        </p:nvSpPr>
        <p:spPr>
          <a:xfrm>
            <a:off x="4162425" y="359346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2B441AA3-EFD9-39EA-DFD7-F577B137291E}"/>
              </a:ext>
            </a:extLst>
          </p:cNvPr>
          <p:cNvSpPr/>
          <p:nvPr/>
        </p:nvSpPr>
        <p:spPr>
          <a:xfrm>
            <a:off x="4290695" y="359346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CC99F2B0-9E91-4421-FAC0-BE2D5F451F90}"/>
              </a:ext>
            </a:extLst>
          </p:cNvPr>
          <p:cNvSpPr/>
          <p:nvPr/>
        </p:nvSpPr>
        <p:spPr>
          <a:xfrm>
            <a:off x="4418965" y="359346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A7AA377A-96E5-DBDF-1268-6D816843600D}"/>
              </a:ext>
            </a:extLst>
          </p:cNvPr>
          <p:cNvSpPr/>
          <p:nvPr/>
        </p:nvSpPr>
        <p:spPr>
          <a:xfrm>
            <a:off x="4547235" y="359346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3F547ECD-31C4-99BE-45E8-F7455F6ABD1C}"/>
              </a:ext>
            </a:extLst>
          </p:cNvPr>
          <p:cNvSpPr/>
          <p:nvPr/>
        </p:nvSpPr>
        <p:spPr>
          <a:xfrm>
            <a:off x="4675505" y="359346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94B0E737-4D91-55E0-4584-17CB1539CBD2}"/>
              </a:ext>
            </a:extLst>
          </p:cNvPr>
          <p:cNvSpPr/>
          <p:nvPr/>
        </p:nvSpPr>
        <p:spPr>
          <a:xfrm>
            <a:off x="4803775" y="359346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60318DBF-853A-8041-E0D5-07062912A4F8}"/>
              </a:ext>
            </a:extLst>
          </p:cNvPr>
          <p:cNvSpPr/>
          <p:nvPr/>
        </p:nvSpPr>
        <p:spPr>
          <a:xfrm>
            <a:off x="4932045" y="359346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FF887F24-1793-0987-3CB1-D29A38CA3A58}"/>
              </a:ext>
            </a:extLst>
          </p:cNvPr>
          <p:cNvSpPr/>
          <p:nvPr/>
        </p:nvSpPr>
        <p:spPr>
          <a:xfrm>
            <a:off x="5060315" y="359346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B72FF157-E75B-8EA1-4DF7-7A839ACC8D83}"/>
              </a:ext>
            </a:extLst>
          </p:cNvPr>
          <p:cNvSpPr/>
          <p:nvPr/>
        </p:nvSpPr>
        <p:spPr>
          <a:xfrm>
            <a:off x="3136265" y="372173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F88EDEEE-D661-9525-78C4-64CC84CDD205}"/>
              </a:ext>
            </a:extLst>
          </p:cNvPr>
          <p:cNvSpPr/>
          <p:nvPr/>
        </p:nvSpPr>
        <p:spPr>
          <a:xfrm>
            <a:off x="3264535" y="372173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7299C94C-901C-9358-672B-7EC61B5C69E4}"/>
              </a:ext>
            </a:extLst>
          </p:cNvPr>
          <p:cNvSpPr/>
          <p:nvPr/>
        </p:nvSpPr>
        <p:spPr>
          <a:xfrm>
            <a:off x="3392805" y="372173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4D543A73-DDBA-436D-FD3F-F8B394AE1C38}"/>
              </a:ext>
            </a:extLst>
          </p:cNvPr>
          <p:cNvSpPr/>
          <p:nvPr/>
        </p:nvSpPr>
        <p:spPr>
          <a:xfrm>
            <a:off x="3521075" y="372173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B071412B-3911-2510-C327-BF764243A6F1}"/>
              </a:ext>
            </a:extLst>
          </p:cNvPr>
          <p:cNvSpPr/>
          <p:nvPr/>
        </p:nvSpPr>
        <p:spPr>
          <a:xfrm>
            <a:off x="3649345" y="372173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2527A967-5235-6FE2-77A8-C595CFBD0BAF}"/>
              </a:ext>
            </a:extLst>
          </p:cNvPr>
          <p:cNvSpPr/>
          <p:nvPr/>
        </p:nvSpPr>
        <p:spPr>
          <a:xfrm>
            <a:off x="3777615" y="372173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F6B3BCF2-E344-E202-8BDA-5B8B1F234E81}"/>
              </a:ext>
            </a:extLst>
          </p:cNvPr>
          <p:cNvSpPr/>
          <p:nvPr/>
        </p:nvSpPr>
        <p:spPr>
          <a:xfrm>
            <a:off x="3905885" y="372173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D5CC4EB8-6306-F5B7-9062-1A2816B66AC2}"/>
              </a:ext>
            </a:extLst>
          </p:cNvPr>
          <p:cNvSpPr/>
          <p:nvPr/>
        </p:nvSpPr>
        <p:spPr>
          <a:xfrm>
            <a:off x="4034155" y="372173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926E8DA5-82F4-5E59-A836-2921D4CC1931}"/>
              </a:ext>
            </a:extLst>
          </p:cNvPr>
          <p:cNvSpPr/>
          <p:nvPr/>
        </p:nvSpPr>
        <p:spPr>
          <a:xfrm>
            <a:off x="4162425" y="372173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03643493-C3B8-9387-3B48-1BAD8726630B}"/>
              </a:ext>
            </a:extLst>
          </p:cNvPr>
          <p:cNvSpPr/>
          <p:nvPr/>
        </p:nvSpPr>
        <p:spPr>
          <a:xfrm>
            <a:off x="4290695" y="372173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DD3847B6-382A-285E-8AA7-F18961BE9EAF}"/>
              </a:ext>
            </a:extLst>
          </p:cNvPr>
          <p:cNvSpPr/>
          <p:nvPr/>
        </p:nvSpPr>
        <p:spPr>
          <a:xfrm>
            <a:off x="4418965" y="372173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68BFE47B-2E5A-5529-8DBF-2A8CEEF15185}"/>
              </a:ext>
            </a:extLst>
          </p:cNvPr>
          <p:cNvSpPr/>
          <p:nvPr/>
        </p:nvSpPr>
        <p:spPr>
          <a:xfrm>
            <a:off x="4547235" y="372173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CE129BD5-3F7A-4A1B-BFBA-7EF6085E9BE4}"/>
              </a:ext>
            </a:extLst>
          </p:cNvPr>
          <p:cNvSpPr/>
          <p:nvPr/>
        </p:nvSpPr>
        <p:spPr>
          <a:xfrm>
            <a:off x="4675505" y="372173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1775FB71-743A-2CB4-277F-DF96AB1CCAFB}"/>
              </a:ext>
            </a:extLst>
          </p:cNvPr>
          <p:cNvSpPr/>
          <p:nvPr/>
        </p:nvSpPr>
        <p:spPr>
          <a:xfrm>
            <a:off x="4803775" y="372173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4F7F287E-BF4F-9EBF-6844-5E6A4FA88928}"/>
              </a:ext>
            </a:extLst>
          </p:cNvPr>
          <p:cNvSpPr/>
          <p:nvPr/>
        </p:nvSpPr>
        <p:spPr>
          <a:xfrm>
            <a:off x="4932045" y="372173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CD5014F2-9D07-CADD-3739-4B7636FCF24D}"/>
              </a:ext>
            </a:extLst>
          </p:cNvPr>
          <p:cNvSpPr/>
          <p:nvPr/>
        </p:nvSpPr>
        <p:spPr>
          <a:xfrm>
            <a:off x="5060315" y="372173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D0B984AD-7691-14A9-9122-395895809451}"/>
              </a:ext>
            </a:extLst>
          </p:cNvPr>
          <p:cNvSpPr/>
          <p:nvPr/>
        </p:nvSpPr>
        <p:spPr>
          <a:xfrm>
            <a:off x="3136265" y="385000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F96081DE-FD7D-628D-B1CE-E2288DFB1D3C}"/>
              </a:ext>
            </a:extLst>
          </p:cNvPr>
          <p:cNvSpPr/>
          <p:nvPr/>
        </p:nvSpPr>
        <p:spPr>
          <a:xfrm>
            <a:off x="3264535" y="385000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A23F5913-2799-11B2-A004-037F64E27635}"/>
              </a:ext>
            </a:extLst>
          </p:cNvPr>
          <p:cNvSpPr/>
          <p:nvPr/>
        </p:nvSpPr>
        <p:spPr>
          <a:xfrm>
            <a:off x="3392805" y="385000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B4296DF3-DD7C-C582-E23A-6E190572A755}"/>
              </a:ext>
            </a:extLst>
          </p:cNvPr>
          <p:cNvSpPr/>
          <p:nvPr/>
        </p:nvSpPr>
        <p:spPr>
          <a:xfrm>
            <a:off x="3521075" y="385000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E3D86D6C-BA96-E327-BF85-CBEFD9A20A68}"/>
              </a:ext>
            </a:extLst>
          </p:cNvPr>
          <p:cNvSpPr/>
          <p:nvPr/>
        </p:nvSpPr>
        <p:spPr>
          <a:xfrm>
            <a:off x="3649345" y="385000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FCE7D3B0-CAC2-38BF-3DDA-183FCB204AFC}"/>
              </a:ext>
            </a:extLst>
          </p:cNvPr>
          <p:cNvSpPr/>
          <p:nvPr/>
        </p:nvSpPr>
        <p:spPr>
          <a:xfrm>
            <a:off x="3777615" y="385000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1740512F-AE0F-08C7-4486-EFDCB8EBA76D}"/>
              </a:ext>
            </a:extLst>
          </p:cNvPr>
          <p:cNvSpPr/>
          <p:nvPr/>
        </p:nvSpPr>
        <p:spPr>
          <a:xfrm>
            <a:off x="3905885" y="385000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9B2BE005-FEFF-6A19-2200-2E14213BF90A}"/>
              </a:ext>
            </a:extLst>
          </p:cNvPr>
          <p:cNvSpPr/>
          <p:nvPr/>
        </p:nvSpPr>
        <p:spPr>
          <a:xfrm>
            <a:off x="4034155" y="385000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24DD6988-205B-92D5-021A-99FFA894687D}"/>
              </a:ext>
            </a:extLst>
          </p:cNvPr>
          <p:cNvSpPr/>
          <p:nvPr/>
        </p:nvSpPr>
        <p:spPr>
          <a:xfrm>
            <a:off x="4162425" y="385000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7E48ECBA-A0D3-4E3F-9D9E-65DF49AE3C47}"/>
              </a:ext>
            </a:extLst>
          </p:cNvPr>
          <p:cNvSpPr/>
          <p:nvPr/>
        </p:nvSpPr>
        <p:spPr>
          <a:xfrm>
            <a:off x="4290695" y="385000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a:extLst>
              <a:ext uri="{FF2B5EF4-FFF2-40B4-BE49-F238E27FC236}">
                <a16:creationId xmlns:a16="http://schemas.microsoft.com/office/drawing/2014/main" id="{B84958BF-F594-5BE6-BDE9-C9C2188C8BBA}"/>
              </a:ext>
            </a:extLst>
          </p:cNvPr>
          <p:cNvSpPr/>
          <p:nvPr/>
        </p:nvSpPr>
        <p:spPr>
          <a:xfrm>
            <a:off x="4418965" y="385000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99E6C98F-7E07-A39E-E25E-F07385D2613B}"/>
              </a:ext>
            </a:extLst>
          </p:cNvPr>
          <p:cNvSpPr/>
          <p:nvPr/>
        </p:nvSpPr>
        <p:spPr>
          <a:xfrm>
            <a:off x="4547235" y="385000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132A7151-5E93-8BD7-1D95-6A7F2667CCF6}"/>
              </a:ext>
            </a:extLst>
          </p:cNvPr>
          <p:cNvSpPr/>
          <p:nvPr/>
        </p:nvSpPr>
        <p:spPr>
          <a:xfrm>
            <a:off x="4675505" y="385000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9355C9B5-6872-0D82-E7D9-2C68EEE90F4D}"/>
              </a:ext>
            </a:extLst>
          </p:cNvPr>
          <p:cNvSpPr/>
          <p:nvPr/>
        </p:nvSpPr>
        <p:spPr>
          <a:xfrm>
            <a:off x="4803775" y="385000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51C75978-6B17-C9E7-15BE-CA9A9017C28D}"/>
              </a:ext>
            </a:extLst>
          </p:cNvPr>
          <p:cNvSpPr/>
          <p:nvPr/>
        </p:nvSpPr>
        <p:spPr>
          <a:xfrm>
            <a:off x="4932045" y="385000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D22B1F51-7D31-F7AF-332A-88755080870B}"/>
              </a:ext>
            </a:extLst>
          </p:cNvPr>
          <p:cNvSpPr/>
          <p:nvPr/>
        </p:nvSpPr>
        <p:spPr>
          <a:xfrm>
            <a:off x="5060315" y="385000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20EC13EB-2117-70B8-AD0A-04D848BDFE60}"/>
              </a:ext>
            </a:extLst>
          </p:cNvPr>
          <p:cNvSpPr/>
          <p:nvPr/>
        </p:nvSpPr>
        <p:spPr>
          <a:xfrm>
            <a:off x="3136265" y="397827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8F0A0D6F-BC90-1C1C-D846-BB0949550208}"/>
              </a:ext>
            </a:extLst>
          </p:cNvPr>
          <p:cNvSpPr/>
          <p:nvPr/>
        </p:nvSpPr>
        <p:spPr>
          <a:xfrm>
            <a:off x="3264535" y="397827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24BB2FFB-33C9-B2E4-4F2E-B92B9FFDAA9E}"/>
              </a:ext>
            </a:extLst>
          </p:cNvPr>
          <p:cNvSpPr/>
          <p:nvPr/>
        </p:nvSpPr>
        <p:spPr>
          <a:xfrm>
            <a:off x="3392805" y="397827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a:extLst>
              <a:ext uri="{FF2B5EF4-FFF2-40B4-BE49-F238E27FC236}">
                <a16:creationId xmlns:a16="http://schemas.microsoft.com/office/drawing/2014/main" id="{D2952D0E-77D1-051D-BDD2-2D1648C4B7BC}"/>
              </a:ext>
            </a:extLst>
          </p:cNvPr>
          <p:cNvSpPr/>
          <p:nvPr/>
        </p:nvSpPr>
        <p:spPr>
          <a:xfrm>
            <a:off x="3521075" y="397827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C2BEFC59-B60F-D865-D046-5C244C2F570A}"/>
              </a:ext>
            </a:extLst>
          </p:cNvPr>
          <p:cNvSpPr/>
          <p:nvPr/>
        </p:nvSpPr>
        <p:spPr>
          <a:xfrm>
            <a:off x="3649345" y="397827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a:extLst>
              <a:ext uri="{FF2B5EF4-FFF2-40B4-BE49-F238E27FC236}">
                <a16:creationId xmlns:a16="http://schemas.microsoft.com/office/drawing/2014/main" id="{E5FC19A7-7825-FB8F-C2AF-9D65195177F2}"/>
              </a:ext>
            </a:extLst>
          </p:cNvPr>
          <p:cNvSpPr/>
          <p:nvPr/>
        </p:nvSpPr>
        <p:spPr>
          <a:xfrm>
            <a:off x="3777615" y="397827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615BB2EA-9EBD-7146-D417-B37F3FAA623D}"/>
              </a:ext>
            </a:extLst>
          </p:cNvPr>
          <p:cNvSpPr/>
          <p:nvPr/>
        </p:nvSpPr>
        <p:spPr>
          <a:xfrm>
            <a:off x="3905885" y="397827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09CCE53C-8467-6C3F-6D5D-37BEEBB21246}"/>
              </a:ext>
            </a:extLst>
          </p:cNvPr>
          <p:cNvSpPr/>
          <p:nvPr/>
        </p:nvSpPr>
        <p:spPr>
          <a:xfrm>
            <a:off x="4034155" y="397827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00300F91-FCB5-7675-DE8E-BFF9C09D1050}"/>
              </a:ext>
            </a:extLst>
          </p:cNvPr>
          <p:cNvSpPr/>
          <p:nvPr/>
        </p:nvSpPr>
        <p:spPr>
          <a:xfrm>
            <a:off x="4162425" y="397827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BC5AF266-270B-C057-F04E-BEAA6008EAB9}"/>
              </a:ext>
            </a:extLst>
          </p:cNvPr>
          <p:cNvSpPr/>
          <p:nvPr/>
        </p:nvSpPr>
        <p:spPr>
          <a:xfrm>
            <a:off x="4290695" y="397827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1B46B493-424C-7F02-CDBC-6D950F25967A}"/>
              </a:ext>
            </a:extLst>
          </p:cNvPr>
          <p:cNvSpPr/>
          <p:nvPr/>
        </p:nvSpPr>
        <p:spPr>
          <a:xfrm>
            <a:off x="4418965" y="397827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1523205A-9B33-2D32-EBC5-943711C42930}"/>
              </a:ext>
            </a:extLst>
          </p:cNvPr>
          <p:cNvSpPr/>
          <p:nvPr/>
        </p:nvSpPr>
        <p:spPr>
          <a:xfrm>
            <a:off x="4547235" y="397827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C7CF6235-DB36-DB2A-A062-7E8505486494}"/>
              </a:ext>
            </a:extLst>
          </p:cNvPr>
          <p:cNvSpPr/>
          <p:nvPr/>
        </p:nvSpPr>
        <p:spPr>
          <a:xfrm>
            <a:off x="4675505" y="397827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EDB9F090-09A1-AC74-ADBB-C88D2B8F00FB}"/>
              </a:ext>
            </a:extLst>
          </p:cNvPr>
          <p:cNvSpPr/>
          <p:nvPr/>
        </p:nvSpPr>
        <p:spPr>
          <a:xfrm>
            <a:off x="4803775" y="397827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962E7226-43AC-D7CE-9BE1-D54F99FD87FE}"/>
              </a:ext>
            </a:extLst>
          </p:cNvPr>
          <p:cNvSpPr/>
          <p:nvPr/>
        </p:nvSpPr>
        <p:spPr>
          <a:xfrm>
            <a:off x="4932045" y="397827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A7844E1C-6305-B69B-91CE-1631DF4939C1}"/>
              </a:ext>
            </a:extLst>
          </p:cNvPr>
          <p:cNvSpPr/>
          <p:nvPr/>
        </p:nvSpPr>
        <p:spPr>
          <a:xfrm>
            <a:off x="5060315" y="397827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C1107193-344B-D124-1F03-0705430039BA}"/>
              </a:ext>
            </a:extLst>
          </p:cNvPr>
          <p:cNvSpPr/>
          <p:nvPr/>
        </p:nvSpPr>
        <p:spPr>
          <a:xfrm>
            <a:off x="3136265" y="410654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64E40E23-2A4F-BB25-2F16-E34E3541965D}"/>
              </a:ext>
            </a:extLst>
          </p:cNvPr>
          <p:cNvSpPr/>
          <p:nvPr/>
        </p:nvSpPr>
        <p:spPr>
          <a:xfrm>
            <a:off x="3264535" y="410654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C479CCE5-05C8-3E01-4191-D697D71AB00B}"/>
              </a:ext>
            </a:extLst>
          </p:cNvPr>
          <p:cNvSpPr/>
          <p:nvPr/>
        </p:nvSpPr>
        <p:spPr>
          <a:xfrm>
            <a:off x="3392805" y="410654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806C4EF7-462C-74BA-4880-B1FB7879AC58}"/>
              </a:ext>
            </a:extLst>
          </p:cNvPr>
          <p:cNvSpPr/>
          <p:nvPr/>
        </p:nvSpPr>
        <p:spPr>
          <a:xfrm>
            <a:off x="3521075" y="410654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AC4444F9-41FA-137D-1083-A72837260861}"/>
              </a:ext>
            </a:extLst>
          </p:cNvPr>
          <p:cNvSpPr/>
          <p:nvPr/>
        </p:nvSpPr>
        <p:spPr>
          <a:xfrm>
            <a:off x="3649345" y="410654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9BD9ECC6-CD25-BD9F-5FB1-D3DC7C8254FC}"/>
              </a:ext>
            </a:extLst>
          </p:cNvPr>
          <p:cNvSpPr/>
          <p:nvPr/>
        </p:nvSpPr>
        <p:spPr>
          <a:xfrm>
            <a:off x="3777615" y="410654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9AA687A2-7564-7558-1ED7-B64E4E767581}"/>
              </a:ext>
            </a:extLst>
          </p:cNvPr>
          <p:cNvSpPr/>
          <p:nvPr/>
        </p:nvSpPr>
        <p:spPr>
          <a:xfrm>
            <a:off x="3905885" y="410654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580D07E5-1EB4-86CF-ACD7-55386AA6C625}"/>
              </a:ext>
            </a:extLst>
          </p:cNvPr>
          <p:cNvSpPr/>
          <p:nvPr/>
        </p:nvSpPr>
        <p:spPr>
          <a:xfrm>
            <a:off x="4034155" y="410654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B7486C37-E624-DB1C-2A2C-34286FAC3B9C}"/>
              </a:ext>
            </a:extLst>
          </p:cNvPr>
          <p:cNvSpPr/>
          <p:nvPr/>
        </p:nvSpPr>
        <p:spPr>
          <a:xfrm>
            <a:off x="4162425" y="410654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94A1D690-CF72-3CFD-47CE-9A907BB6623B}"/>
              </a:ext>
            </a:extLst>
          </p:cNvPr>
          <p:cNvSpPr/>
          <p:nvPr/>
        </p:nvSpPr>
        <p:spPr>
          <a:xfrm>
            <a:off x="4290695" y="410654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12C702BB-50DB-DD9C-1CAB-4C9C889CDA84}"/>
              </a:ext>
            </a:extLst>
          </p:cNvPr>
          <p:cNvSpPr/>
          <p:nvPr/>
        </p:nvSpPr>
        <p:spPr>
          <a:xfrm>
            <a:off x="4418965" y="410654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B8DF7C6C-4A5D-84A6-A89D-467A0B11A592}"/>
              </a:ext>
            </a:extLst>
          </p:cNvPr>
          <p:cNvSpPr/>
          <p:nvPr/>
        </p:nvSpPr>
        <p:spPr>
          <a:xfrm>
            <a:off x="4547235" y="410654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3F62ADBD-25E1-E4A8-74C6-2C139889BADE}"/>
              </a:ext>
            </a:extLst>
          </p:cNvPr>
          <p:cNvSpPr/>
          <p:nvPr/>
        </p:nvSpPr>
        <p:spPr>
          <a:xfrm>
            <a:off x="4675505" y="410654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EB180FE2-3EB8-F546-7640-F4CF2DBD556F}"/>
              </a:ext>
            </a:extLst>
          </p:cNvPr>
          <p:cNvSpPr/>
          <p:nvPr/>
        </p:nvSpPr>
        <p:spPr>
          <a:xfrm>
            <a:off x="4803775" y="410654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7AB9C7D3-1061-439C-EF7E-FF83E3ACF6C1}"/>
              </a:ext>
            </a:extLst>
          </p:cNvPr>
          <p:cNvSpPr/>
          <p:nvPr/>
        </p:nvSpPr>
        <p:spPr>
          <a:xfrm>
            <a:off x="4932045" y="410654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067C2CE0-9BDA-0333-3A8D-A51CA5CD2C35}"/>
              </a:ext>
            </a:extLst>
          </p:cNvPr>
          <p:cNvSpPr/>
          <p:nvPr/>
        </p:nvSpPr>
        <p:spPr>
          <a:xfrm>
            <a:off x="5060315" y="410654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6D6020B4-893B-5398-6946-D6D34E477A8F}"/>
              </a:ext>
            </a:extLst>
          </p:cNvPr>
          <p:cNvSpPr/>
          <p:nvPr/>
        </p:nvSpPr>
        <p:spPr>
          <a:xfrm>
            <a:off x="3136265" y="423481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245846F0-85A7-C21F-5D9F-B0A02A5E64AD}"/>
              </a:ext>
            </a:extLst>
          </p:cNvPr>
          <p:cNvSpPr/>
          <p:nvPr/>
        </p:nvSpPr>
        <p:spPr>
          <a:xfrm>
            <a:off x="3264535" y="423481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954DA341-005F-B47E-2075-5D7727664F99}"/>
              </a:ext>
            </a:extLst>
          </p:cNvPr>
          <p:cNvSpPr/>
          <p:nvPr/>
        </p:nvSpPr>
        <p:spPr>
          <a:xfrm>
            <a:off x="3392805" y="423481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6BBE1C37-E0F0-28ED-BFAA-7A6A49C24422}"/>
              </a:ext>
            </a:extLst>
          </p:cNvPr>
          <p:cNvSpPr/>
          <p:nvPr/>
        </p:nvSpPr>
        <p:spPr>
          <a:xfrm>
            <a:off x="3521075" y="423481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54D6008A-FEE6-E1C9-5AA1-6FB6FD65469F}"/>
              </a:ext>
            </a:extLst>
          </p:cNvPr>
          <p:cNvSpPr/>
          <p:nvPr/>
        </p:nvSpPr>
        <p:spPr>
          <a:xfrm>
            <a:off x="3649345" y="423481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FF972430-9FEA-7676-23CB-4C9D8FA4501D}"/>
              </a:ext>
            </a:extLst>
          </p:cNvPr>
          <p:cNvSpPr/>
          <p:nvPr/>
        </p:nvSpPr>
        <p:spPr>
          <a:xfrm>
            <a:off x="3777615" y="423481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FC02B3C7-8525-C128-3CAE-5F16C2B91A2E}"/>
              </a:ext>
            </a:extLst>
          </p:cNvPr>
          <p:cNvSpPr/>
          <p:nvPr/>
        </p:nvSpPr>
        <p:spPr>
          <a:xfrm>
            <a:off x="3905885" y="423481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9BD1F7A8-63A3-C36A-C2F0-F1A925A350EB}"/>
              </a:ext>
            </a:extLst>
          </p:cNvPr>
          <p:cNvSpPr/>
          <p:nvPr/>
        </p:nvSpPr>
        <p:spPr>
          <a:xfrm>
            <a:off x="4034155" y="423481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AC744A99-DD35-0F3C-058D-DD6C4F8A7DDC}"/>
              </a:ext>
            </a:extLst>
          </p:cNvPr>
          <p:cNvSpPr/>
          <p:nvPr/>
        </p:nvSpPr>
        <p:spPr>
          <a:xfrm>
            <a:off x="4162425" y="423481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9F353A99-45EC-2262-6283-1F4B380E8546}"/>
              </a:ext>
            </a:extLst>
          </p:cNvPr>
          <p:cNvSpPr/>
          <p:nvPr/>
        </p:nvSpPr>
        <p:spPr>
          <a:xfrm>
            <a:off x="4290695" y="423481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CB473744-BE50-ABF8-B230-D01434EB3EF5}"/>
              </a:ext>
            </a:extLst>
          </p:cNvPr>
          <p:cNvSpPr/>
          <p:nvPr/>
        </p:nvSpPr>
        <p:spPr>
          <a:xfrm>
            <a:off x="4418965" y="423481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a:extLst>
              <a:ext uri="{FF2B5EF4-FFF2-40B4-BE49-F238E27FC236}">
                <a16:creationId xmlns:a16="http://schemas.microsoft.com/office/drawing/2014/main" id="{A7A9AC16-A8AD-D546-D710-80F7177480EA}"/>
              </a:ext>
            </a:extLst>
          </p:cNvPr>
          <p:cNvSpPr/>
          <p:nvPr/>
        </p:nvSpPr>
        <p:spPr>
          <a:xfrm>
            <a:off x="4547235" y="423481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81240E0A-0E7B-B282-B5FB-3C8E6DD6452C}"/>
              </a:ext>
            </a:extLst>
          </p:cNvPr>
          <p:cNvSpPr/>
          <p:nvPr/>
        </p:nvSpPr>
        <p:spPr>
          <a:xfrm>
            <a:off x="4675505" y="423481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310F7E01-EB45-665A-0AE9-93847C945EAD}"/>
              </a:ext>
            </a:extLst>
          </p:cNvPr>
          <p:cNvSpPr/>
          <p:nvPr/>
        </p:nvSpPr>
        <p:spPr>
          <a:xfrm>
            <a:off x="4803775" y="423481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A6F56633-AB17-FEFF-2432-90C7B320439B}"/>
              </a:ext>
            </a:extLst>
          </p:cNvPr>
          <p:cNvSpPr/>
          <p:nvPr/>
        </p:nvSpPr>
        <p:spPr>
          <a:xfrm>
            <a:off x="4932045" y="423481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46F2EB97-3491-7246-C5B0-84F94AA27FC1}"/>
              </a:ext>
            </a:extLst>
          </p:cNvPr>
          <p:cNvSpPr/>
          <p:nvPr/>
        </p:nvSpPr>
        <p:spPr>
          <a:xfrm>
            <a:off x="5060315" y="423481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028F5E44-7668-6196-A88C-635B0970A4AA}"/>
              </a:ext>
            </a:extLst>
          </p:cNvPr>
          <p:cNvSpPr/>
          <p:nvPr/>
        </p:nvSpPr>
        <p:spPr>
          <a:xfrm>
            <a:off x="3136265" y="436308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BF1000F3-ACB6-8823-0F84-0D6D6066E252}"/>
              </a:ext>
            </a:extLst>
          </p:cNvPr>
          <p:cNvSpPr/>
          <p:nvPr/>
        </p:nvSpPr>
        <p:spPr>
          <a:xfrm>
            <a:off x="3264535" y="436308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5ED98FBF-F36B-844C-EBBF-177E1A5FD381}"/>
              </a:ext>
            </a:extLst>
          </p:cNvPr>
          <p:cNvSpPr/>
          <p:nvPr/>
        </p:nvSpPr>
        <p:spPr>
          <a:xfrm>
            <a:off x="3392805" y="436308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373F6005-CC43-06A0-E34E-F4165E046513}"/>
              </a:ext>
            </a:extLst>
          </p:cNvPr>
          <p:cNvSpPr/>
          <p:nvPr/>
        </p:nvSpPr>
        <p:spPr>
          <a:xfrm>
            <a:off x="3521075" y="436308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918F2713-53E0-5AC0-F44D-12846504E81A}"/>
              </a:ext>
            </a:extLst>
          </p:cNvPr>
          <p:cNvSpPr/>
          <p:nvPr/>
        </p:nvSpPr>
        <p:spPr>
          <a:xfrm>
            <a:off x="3649345" y="436308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DE402A2E-E0B0-BB52-ECDE-552178A010C1}"/>
              </a:ext>
            </a:extLst>
          </p:cNvPr>
          <p:cNvSpPr/>
          <p:nvPr/>
        </p:nvSpPr>
        <p:spPr>
          <a:xfrm>
            <a:off x="3777615" y="436308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3FADAC5A-0B45-4306-2E2B-A91B8B5A0E4D}"/>
              </a:ext>
            </a:extLst>
          </p:cNvPr>
          <p:cNvSpPr/>
          <p:nvPr/>
        </p:nvSpPr>
        <p:spPr>
          <a:xfrm>
            <a:off x="3905885" y="436308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21CE84F2-08EC-2ABA-7167-9FC1C73C8BD0}"/>
              </a:ext>
            </a:extLst>
          </p:cNvPr>
          <p:cNvSpPr/>
          <p:nvPr/>
        </p:nvSpPr>
        <p:spPr>
          <a:xfrm>
            <a:off x="4034155" y="436308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5BE9E564-4C15-BFBB-3F70-08E95CF1590E}"/>
              </a:ext>
            </a:extLst>
          </p:cNvPr>
          <p:cNvSpPr/>
          <p:nvPr/>
        </p:nvSpPr>
        <p:spPr>
          <a:xfrm>
            <a:off x="4162425" y="436308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8523E652-1560-71F2-D2EE-163F6C3557C1}"/>
              </a:ext>
            </a:extLst>
          </p:cNvPr>
          <p:cNvSpPr/>
          <p:nvPr/>
        </p:nvSpPr>
        <p:spPr>
          <a:xfrm>
            <a:off x="4290695" y="436308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2C948582-795E-49D4-B853-04AAA03A4F8D}"/>
              </a:ext>
            </a:extLst>
          </p:cNvPr>
          <p:cNvSpPr/>
          <p:nvPr/>
        </p:nvSpPr>
        <p:spPr>
          <a:xfrm>
            <a:off x="4418965" y="436308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B65D477C-FB26-B02E-9C25-0E6347B05645}"/>
              </a:ext>
            </a:extLst>
          </p:cNvPr>
          <p:cNvSpPr/>
          <p:nvPr/>
        </p:nvSpPr>
        <p:spPr>
          <a:xfrm>
            <a:off x="4547235" y="436308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A64BE909-6A89-B6D5-A25E-AEA6443930F8}"/>
              </a:ext>
            </a:extLst>
          </p:cNvPr>
          <p:cNvSpPr/>
          <p:nvPr/>
        </p:nvSpPr>
        <p:spPr>
          <a:xfrm>
            <a:off x="4675505" y="436308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48AA2A7A-012C-6FF3-F314-EBCE8A5D39B6}"/>
              </a:ext>
            </a:extLst>
          </p:cNvPr>
          <p:cNvSpPr/>
          <p:nvPr/>
        </p:nvSpPr>
        <p:spPr>
          <a:xfrm>
            <a:off x="4803775" y="436308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D7C931FF-C0E0-03DA-49EA-98200A4F0F42}"/>
              </a:ext>
            </a:extLst>
          </p:cNvPr>
          <p:cNvSpPr/>
          <p:nvPr/>
        </p:nvSpPr>
        <p:spPr>
          <a:xfrm>
            <a:off x="4932045" y="436308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A3DB4FAF-735A-63EA-D856-5ECE934E123B}"/>
              </a:ext>
            </a:extLst>
          </p:cNvPr>
          <p:cNvSpPr/>
          <p:nvPr/>
        </p:nvSpPr>
        <p:spPr>
          <a:xfrm>
            <a:off x="5060315" y="436308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273BAE22-31B0-7BB9-BC31-95F44E954E09}"/>
              </a:ext>
            </a:extLst>
          </p:cNvPr>
          <p:cNvSpPr/>
          <p:nvPr/>
        </p:nvSpPr>
        <p:spPr>
          <a:xfrm>
            <a:off x="3136265" y="449135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82F3784D-E47F-B6C4-C423-40241CC10298}"/>
              </a:ext>
            </a:extLst>
          </p:cNvPr>
          <p:cNvSpPr/>
          <p:nvPr/>
        </p:nvSpPr>
        <p:spPr>
          <a:xfrm>
            <a:off x="3264535" y="449135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92DA7CFF-8E00-A395-841A-1E42515DE54B}"/>
              </a:ext>
            </a:extLst>
          </p:cNvPr>
          <p:cNvSpPr/>
          <p:nvPr/>
        </p:nvSpPr>
        <p:spPr>
          <a:xfrm>
            <a:off x="3392805" y="4491355"/>
            <a:ext cx="109220" cy="109220"/>
          </a:xfrm>
          <a:prstGeom prst="rect">
            <a:avLst/>
          </a:prstGeom>
          <a:solidFill>
            <a:srgbClr val="F58F4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F34AA21E-BE6E-48DF-6DDA-B6E928EDE469}"/>
              </a:ext>
            </a:extLst>
          </p:cNvPr>
          <p:cNvSpPr/>
          <p:nvPr/>
        </p:nvSpPr>
        <p:spPr>
          <a:xfrm>
            <a:off x="3521075" y="449135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189">
            <a:extLst>
              <a:ext uri="{FF2B5EF4-FFF2-40B4-BE49-F238E27FC236}">
                <a16:creationId xmlns:a16="http://schemas.microsoft.com/office/drawing/2014/main" id="{F0C96983-E909-01A9-0272-E8B13E0B6AD4}"/>
              </a:ext>
            </a:extLst>
          </p:cNvPr>
          <p:cNvSpPr/>
          <p:nvPr/>
        </p:nvSpPr>
        <p:spPr>
          <a:xfrm>
            <a:off x="3649345" y="449135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91F871D7-0D4E-7B63-D9E4-762A379DADAC}"/>
              </a:ext>
            </a:extLst>
          </p:cNvPr>
          <p:cNvSpPr/>
          <p:nvPr/>
        </p:nvSpPr>
        <p:spPr>
          <a:xfrm>
            <a:off x="3777615" y="449135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FA1BB3C5-938B-AABE-581E-69AE2916DB84}"/>
              </a:ext>
            </a:extLst>
          </p:cNvPr>
          <p:cNvSpPr/>
          <p:nvPr/>
        </p:nvSpPr>
        <p:spPr>
          <a:xfrm>
            <a:off x="3905885" y="449135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187D773A-A7BE-DA38-923C-A2F77610B57F}"/>
              </a:ext>
            </a:extLst>
          </p:cNvPr>
          <p:cNvSpPr/>
          <p:nvPr/>
        </p:nvSpPr>
        <p:spPr>
          <a:xfrm>
            <a:off x="4034155" y="449135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7D8AD5C1-770D-75B4-C2F9-72968A1194AD}"/>
              </a:ext>
            </a:extLst>
          </p:cNvPr>
          <p:cNvSpPr/>
          <p:nvPr/>
        </p:nvSpPr>
        <p:spPr>
          <a:xfrm>
            <a:off x="4162425" y="449135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3D68D0AD-A131-4871-040D-2B68D3FDA68C}"/>
              </a:ext>
            </a:extLst>
          </p:cNvPr>
          <p:cNvSpPr/>
          <p:nvPr/>
        </p:nvSpPr>
        <p:spPr>
          <a:xfrm>
            <a:off x="4290695" y="449135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B02080CC-DEBB-B7AB-E951-1ADDA5A4759E}"/>
              </a:ext>
            </a:extLst>
          </p:cNvPr>
          <p:cNvSpPr/>
          <p:nvPr/>
        </p:nvSpPr>
        <p:spPr>
          <a:xfrm>
            <a:off x="4418965" y="449135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46C02965-A465-97BC-CC09-ACCA0B4FB6B5}"/>
              </a:ext>
            </a:extLst>
          </p:cNvPr>
          <p:cNvSpPr/>
          <p:nvPr/>
        </p:nvSpPr>
        <p:spPr>
          <a:xfrm>
            <a:off x="4547235" y="449135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56BCA3E9-A6DB-6FB0-D000-70FE19298A8D}"/>
              </a:ext>
            </a:extLst>
          </p:cNvPr>
          <p:cNvSpPr/>
          <p:nvPr/>
        </p:nvSpPr>
        <p:spPr>
          <a:xfrm>
            <a:off x="4675505" y="449135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a:extLst>
              <a:ext uri="{FF2B5EF4-FFF2-40B4-BE49-F238E27FC236}">
                <a16:creationId xmlns:a16="http://schemas.microsoft.com/office/drawing/2014/main" id="{B2F2840E-27E6-8E36-B5A1-451B039C84E7}"/>
              </a:ext>
            </a:extLst>
          </p:cNvPr>
          <p:cNvSpPr/>
          <p:nvPr/>
        </p:nvSpPr>
        <p:spPr>
          <a:xfrm>
            <a:off x="4803775" y="449135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a:extLst>
              <a:ext uri="{FF2B5EF4-FFF2-40B4-BE49-F238E27FC236}">
                <a16:creationId xmlns:a16="http://schemas.microsoft.com/office/drawing/2014/main" id="{CCA02871-EF89-1D8D-80A4-F5197B570136}"/>
              </a:ext>
            </a:extLst>
          </p:cNvPr>
          <p:cNvSpPr/>
          <p:nvPr/>
        </p:nvSpPr>
        <p:spPr>
          <a:xfrm>
            <a:off x="4932045" y="449135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F0D759D1-F2FA-5F48-9335-D0813B7DC621}"/>
              </a:ext>
            </a:extLst>
          </p:cNvPr>
          <p:cNvSpPr/>
          <p:nvPr/>
        </p:nvSpPr>
        <p:spPr>
          <a:xfrm>
            <a:off x="5060315" y="449135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5C23B6FA-228B-6E9D-1889-D65CDC261C08}"/>
              </a:ext>
            </a:extLst>
          </p:cNvPr>
          <p:cNvSpPr/>
          <p:nvPr/>
        </p:nvSpPr>
        <p:spPr>
          <a:xfrm>
            <a:off x="3136265" y="461962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CEF9052B-DD40-B51B-B5E9-808D4C3F86D7}"/>
              </a:ext>
            </a:extLst>
          </p:cNvPr>
          <p:cNvSpPr/>
          <p:nvPr/>
        </p:nvSpPr>
        <p:spPr>
          <a:xfrm>
            <a:off x="3264535" y="461962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a:extLst>
              <a:ext uri="{FF2B5EF4-FFF2-40B4-BE49-F238E27FC236}">
                <a16:creationId xmlns:a16="http://schemas.microsoft.com/office/drawing/2014/main" id="{2F1C3946-6B15-6821-9A5F-0D5E10BD1ABE}"/>
              </a:ext>
            </a:extLst>
          </p:cNvPr>
          <p:cNvSpPr/>
          <p:nvPr/>
        </p:nvSpPr>
        <p:spPr>
          <a:xfrm>
            <a:off x="3392805" y="461962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6B6D1A1C-1A10-1FC2-E677-CC90C3F7403C}"/>
              </a:ext>
            </a:extLst>
          </p:cNvPr>
          <p:cNvSpPr/>
          <p:nvPr/>
        </p:nvSpPr>
        <p:spPr>
          <a:xfrm>
            <a:off x="3521075" y="461962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D345C9B1-CEEA-6DD2-00BC-98B543DCCFAF}"/>
              </a:ext>
            </a:extLst>
          </p:cNvPr>
          <p:cNvSpPr/>
          <p:nvPr/>
        </p:nvSpPr>
        <p:spPr>
          <a:xfrm>
            <a:off x="3649345" y="461962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F61BAA19-DF08-3082-548D-C78DE1C18E27}"/>
              </a:ext>
            </a:extLst>
          </p:cNvPr>
          <p:cNvSpPr/>
          <p:nvPr/>
        </p:nvSpPr>
        <p:spPr>
          <a:xfrm>
            <a:off x="3777615" y="4619625"/>
            <a:ext cx="109220" cy="109220"/>
          </a:xfrm>
          <a:prstGeom prst="rect">
            <a:avLst/>
          </a:prstGeom>
          <a:solidFill>
            <a:srgbClr val="EFC95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A11AAB0B-880B-8319-D68E-2DCE73277878}"/>
              </a:ext>
            </a:extLst>
          </p:cNvPr>
          <p:cNvSpPr/>
          <p:nvPr/>
        </p:nvSpPr>
        <p:spPr>
          <a:xfrm>
            <a:off x="3905885" y="4619625"/>
            <a:ext cx="109220" cy="109220"/>
          </a:xfrm>
          <a:prstGeom prst="rect">
            <a:avLst/>
          </a:prstGeom>
          <a:solidFill>
            <a:srgbClr val="357B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9F74C7D8-86EE-D9A1-56D6-5E4A3EFAB883}"/>
              </a:ext>
            </a:extLst>
          </p:cNvPr>
          <p:cNvSpPr/>
          <p:nvPr/>
        </p:nvSpPr>
        <p:spPr>
          <a:xfrm>
            <a:off x="4034155" y="461962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E2B8F57E-DC9E-315C-E69F-26657E6AF5E3}"/>
              </a:ext>
            </a:extLst>
          </p:cNvPr>
          <p:cNvSpPr/>
          <p:nvPr/>
        </p:nvSpPr>
        <p:spPr>
          <a:xfrm>
            <a:off x="4162425" y="4619625"/>
            <a:ext cx="109220" cy="109220"/>
          </a:xfrm>
          <a:prstGeom prst="rect">
            <a:avLst/>
          </a:prstGeom>
          <a:solidFill>
            <a:srgbClr val="244E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37A6993A-D96D-5622-8EE0-B3A508FEE4F3}"/>
              </a:ext>
            </a:extLst>
          </p:cNvPr>
          <p:cNvSpPr/>
          <p:nvPr/>
        </p:nvSpPr>
        <p:spPr>
          <a:xfrm>
            <a:off x="4290695" y="461962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Rectangle 211">
            <a:extLst>
              <a:ext uri="{FF2B5EF4-FFF2-40B4-BE49-F238E27FC236}">
                <a16:creationId xmlns:a16="http://schemas.microsoft.com/office/drawing/2014/main" id="{705C13EA-D705-9550-CDA7-A92CB7412D07}"/>
              </a:ext>
            </a:extLst>
          </p:cNvPr>
          <p:cNvSpPr/>
          <p:nvPr/>
        </p:nvSpPr>
        <p:spPr>
          <a:xfrm>
            <a:off x="4418965" y="4619625"/>
            <a:ext cx="109220" cy="109220"/>
          </a:xfrm>
          <a:prstGeom prst="rect">
            <a:avLst/>
          </a:prstGeom>
          <a:solidFill>
            <a:srgbClr val="925EC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ectangle 212">
            <a:extLst>
              <a:ext uri="{FF2B5EF4-FFF2-40B4-BE49-F238E27FC236}">
                <a16:creationId xmlns:a16="http://schemas.microsoft.com/office/drawing/2014/main" id="{2773DB3E-55D4-20AF-DF08-D36342BDA86C}"/>
              </a:ext>
            </a:extLst>
          </p:cNvPr>
          <p:cNvSpPr/>
          <p:nvPr/>
        </p:nvSpPr>
        <p:spPr>
          <a:xfrm>
            <a:off x="4547235" y="4619625"/>
            <a:ext cx="109220" cy="109220"/>
          </a:xfrm>
          <a:prstGeom prst="rect">
            <a:avLst/>
          </a:prstGeom>
          <a:solidFill>
            <a:srgbClr val="DF5B7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Rectangle 213">
            <a:extLst>
              <a:ext uri="{FF2B5EF4-FFF2-40B4-BE49-F238E27FC236}">
                <a16:creationId xmlns:a16="http://schemas.microsoft.com/office/drawing/2014/main" id="{DC425953-4101-16CB-4BE7-CE635698BF5B}"/>
              </a:ext>
            </a:extLst>
          </p:cNvPr>
          <p:cNvSpPr/>
          <p:nvPr/>
        </p:nvSpPr>
        <p:spPr>
          <a:xfrm>
            <a:off x="4675505" y="461962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a:extLst>
              <a:ext uri="{FF2B5EF4-FFF2-40B4-BE49-F238E27FC236}">
                <a16:creationId xmlns:a16="http://schemas.microsoft.com/office/drawing/2014/main" id="{16C9744A-1CD3-99C9-D96D-C678FCEF9373}"/>
              </a:ext>
            </a:extLst>
          </p:cNvPr>
          <p:cNvSpPr/>
          <p:nvPr/>
        </p:nvSpPr>
        <p:spPr>
          <a:xfrm>
            <a:off x="4803775" y="4619625"/>
            <a:ext cx="109220" cy="109220"/>
          </a:xfrm>
          <a:prstGeom prst="rect">
            <a:avLst/>
          </a:prstGeom>
          <a:solidFill>
            <a:srgbClr val="48BED6"/>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Rectangle 215">
            <a:extLst>
              <a:ext uri="{FF2B5EF4-FFF2-40B4-BE49-F238E27FC236}">
                <a16:creationId xmlns:a16="http://schemas.microsoft.com/office/drawing/2014/main" id="{1926A874-69C8-AEC4-BD86-D22695650622}"/>
              </a:ext>
            </a:extLst>
          </p:cNvPr>
          <p:cNvSpPr/>
          <p:nvPr/>
        </p:nvSpPr>
        <p:spPr>
          <a:xfrm>
            <a:off x="4932045" y="461962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Rectangle 216">
            <a:extLst>
              <a:ext uri="{FF2B5EF4-FFF2-40B4-BE49-F238E27FC236}">
                <a16:creationId xmlns:a16="http://schemas.microsoft.com/office/drawing/2014/main" id="{8345FFCA-E5F8-B9D8-24EA-D07CEF96AF32}"/>
              </a:ext>
            </a:extLst>
          </p:cNvPr>
          <p:cNvSpPr/>
          <p:nvPr/>
        </p:nvSpPr>
        <p:spPr>
          <a:xfrm>
            <a:off x="5060315" y="4619625"/>
            <a:ext cx="109220" cy="109220"/>
          </a:xfrm>
          <a:prstGeom prst="rect">
            <a:avLst/>
          </a:prstGeom>
          <a:solidFill>
            <a:srgbClr val="66D8A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Rectangle 217">
            <a:extLst>
              <a:ext uri="{FF2B5EF4-FFF2-40B4-BE49-F238E27FC236}">
                <a16:creationId xmlns:a16="http://schemas.microsoft.com/office/drawing/2014/main" id="{BB33DE41-77EF-2B0C-383B-43F573A51500}"/>
              </a:ext>
            </a:extLst>
          </p:cNvPr>
          <p:cNvSpPr/>
          <p:nvPr/>
        </p:nvSpPr>
        <p:spPr>
          <a:xfrm>
            <a:off x="6349365" y="295211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F506A055-C5D0-507F-69A5-E4EAEE9FE414}"/>
              </a:ext>
            </a:extLst>
          </p:cNvPr>
          <p:cNvSpPr/>
          <p:nvPr/>
        </p:nvSpPr>
        <p:spPr>
          <a:xfrm>
            <a:off x="6477635" y="2952115"/>
            <a:ext cx="109219"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219">
            <a:extLst>
              <a:ext uri="{FF2B5EF4-FFF2-40B4-BE49-F238E27FC236}">
                <a16:creationId xmlns:a16="http://schemas.microsoft.com/office/drawing/2014/main" id="{B5C9D7FB-3AB7-96E1-C24F-7823D1044D5F}"/>
              </a:ext>
            </a:extLst>
          </p:cNvPr>
          <p:cNvSpPr/>
          <p:nvPr/>
        </p:nvSpPr>
        <p:spPr>
          <a:xfrm>
            <a:off x="6605905" y="295211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778571A5-7593-7E98-00D6-DAC02765083A}"/>
              </a:ext>
            </a:extLst>
          </p:cNvPr>
          <p:cNvSpPr/>
          <p:nvPr/>
        </p:nvSpPr>
        <p:spPr>
          <a:xfrm>
            <a:off x="6734175" y="295211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C77CE60C-6818-C6B4-2233-F72FF3144407}"/>
              </a:ext>
            </a:extLst>
          </p:cNvPr>
          <p:cNvSpPr/>
          <p:nvPr/>
        </p:nvSpPr>
        <p:spPr>
          <a:xfrm>
            <a:off x="6862445" y="295211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11BD8516-7F00-7853-690A-1A1C0A6070F0}"/>
              </a:ext>
            </a:extLst>
          </p:cNvPr>
          <p:cNvSpPr/>
          <p:nvPr/>
        </p:nvSpPr>
        <p:spPr>
          <a:xfrm>
            <a:off x="6990715" y="295211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a:extLst>
              <a:ext uri="{FF2B5EF4-FFF2-40B4-BE49-F238E27FC236}">
                <a16:creationId xmlns:a16="http://schemas.microsoft.com/office/drawing/2014/main" id="{3A0E6013-DC40-0FFC-8043-DB1BD3411E96}"/>
              </a:ext>
            </a:extLst>
          </p:cNvPr>
          <p:cNvSpPr/>
          <p:nvPr/>
        </p:nvSpPr>
        <p:spPr>
          <a:xfrm>
            <a:off x="7118985" y="2952115"/>
            <a:ext cx="109219"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8822E427-FD9F-1C7D-5294-D1285A33BC8B}"/>
              </a:ext>
            </a:extLst>
          </p:cNvPr>
          <p:cNvSpPr/>
          <p:nvPr/>
        </p:nvSpPr>
        <p:spPr>
          <a:xfrm>
            <a:off x="7247255" y="295211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4E397A6E-09F4-3AD9-42A1-4577B62D3E09}"/>
              </a:ext>
            </a:extLst>
          </p:cNvPr>
          <p:cNvSpPr/>
          <p:nvPr/>
        </p:nvSpPr>
        <p:spPr>
          <a:xfrm>
            <a:off x="7375525" y="295211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D01A91AE-6A98-3B5D-6EEC-835F8DC5BD61}"/>
              </a:ext>
            </a:extLst>
          </p:cNvPr>
          <p:cNvSpPr/>
          <p:nvPr/>
        </p:nvSpPr>
        <p:spPr>
          <a:xfrm>
            <a:off x="7503795" y="295211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Rectangle 227">
            <a:extLst>
              <a:ext uri="{FF2B5EF4-FFF2-40B4-BE49-F238E27FC236}">
                <a16:creationId xmlns:a16="http://schemas.microsoft.com/office/drawing/2014/main" id="{F2CE1537-72E6-0D79-69FE-395347E3B210}"/>
              </a:ext>
            </a:extLst>
          </p:cNvPr>
          <p:cNvSpPr/>
          <p:nvPr/>
        </p:nvSpPr>
        <p:spPr>
          <a:xfrm>
            <a:off x="7632065" y="295211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Rectangle 228">
            <a:extLst>
              <a:ext uri="{FF2B5EF4-FFF2-40B4-BE49-F238E27FC236}">
                <a16:creationId xmlns:a16="http://schemas.microsoft.com/office/drawing/2014/main" id="{7E60579D-622A-D700-CA8E-E000697F8549}"/>
              </a:ext>
            </a:extLst>
          </p:cNvPr>
          <p:cNvSpPr/>
          <p:nvPr/>
        </p:nvSpPr>
        <p:spPr>
          <a:xfrm>
            <a:off x="7760335" y="2952115"/>
            <a:ext cx="109219"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Rectangle 229">
            <a:extLst>
              <a:ext uri="{FF2B5EF4-FFF2-40B4-BE49-F238E27FC236}">
                <a16:creationId xmlns:a16="http://schemas.microsoft.com/office/drawing/2014/main" id="{C18102BC-784C-AF90-05E8-631F3D465717}"/>
              </a:ext>
            </a:extLst>
          </p:cNvPr>
          <p:cNvSpPr/>
          <p:nvPr/>
        </p:nvSpPr>
        <p:spPr>
          <a:xfrm>
            <a:off x="7888605" y="295211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Rectangle 230">
            <a:extLst>
              <a:ext uri="{FF2B5EF4-FFF2-40B4-BE49-F238E27FC236}">
                <a16:creationId xmlns:a16="http://schemas.microsoft.com/office/drawing/2014/main" id="{6133171A-70D8-8EE0-623A-1D07A1163171}"/>
              </a:ext>
            </a:extLst>
          </p:cNvPr>
          <p:cNvSpPr/>
          <p:nvPr/>
        </p:nvSpPr>
        <p:spPr>
          <a:xfrm>
            <a:off x="8016875" y="295211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Rectangle 231">
            <a:extLst>
              <a:ext uri="{FF2B5EF4-FFF2-40B4-BE49-F238E27FC236}">
                <a16:creationId xmlns:a16="http://schemas.microsoft.com/office/drawing/2014/main" id="{6E5FC7EE-7BC4-4D22-AE51-469B8F962371}"/>
              </a:ext>
            </a:extLst>
          </p:cNvPr>
          <p:cNvSpPr/>
          <p:nvPr/>
        </p:nvSpPr>
        <p:spPr>
          <a:xfrm>
            <a:off x="8145145" y="295211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a:extLst>
              <a:ext uri="{FF2B5EF4-FFF2-40B4-BE49-F238E27FC236}">
                <a16:creationId xmlns:a16="http://schemas.microsoft.com/office/drawing/2014/main" id="{EDEAEE09-3517-EDE5-3F1B-36F0F01C967A}"/>
              </a:ext>
            </a:extLst>
          </p:cNvPr>
          <p:cNvSpPr/>
          <p:nvPr/>
        </p:nvSpPr>
        <p:spPr>
          <a:xfrm>
            <a:off x="8273415" y="2952115"/>
            <a:ext cx="109220"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a:extLst>
              <a:ext uri="{FF2B5EF4-FFF2-40B4-BE49-F238E27FC236}">
                <a16:creationId xmlns:a16="http://schemas.microsoft.com/office/drawing/2014/main" id="{8E06451F-D74D-02F2-C0FA-D4F421FFF4B4}"/>
              </a:ext>
            </a:extLst>
          </p:cNvPr>
          <p:cNvSpPr/>
          <p:nvPr/>
        </p:nvSpPr>
        <p:spPr>
          <a:xfrm>
            <a:off x="6349365" y="308038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a:extLst>
              <a:ext uri="{FF2B5EF4-FFF2-40B4-BE49-F238E27FC236}">
                <a16:creationId xmlns:a16="http://schemas.microsoft.com/office/drawing/2014/main" id="{93E2FF0E-8293-9C3B-0F73-7CDBB907CEC5}"/>
              </a:ext>
            </a:extLst>
          </p:cNvPr>
          <p:cNvSpPr/>
          <p:nvPr/>
        </p:nvSpPr>
        <p:spPr>
          <a:xfrm>
            <a:off x="6477635" y="3080385"/>
            <a:ext cx="109219"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3C1FB332-9F44-B573-7466-76A9BD2049B0}"/>
              </a:ext>
            </a:extLst>
          </p:cNvPr>
          <p:cNvSpPr/>
          <p:nvPr/>
        </p:nvSpPr>
        <p:spPr>
          <a:xfrm>
            <a:off x="6605905" y="308038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73DE2EC6-7322-E76D-5094-33B0450459A9}"/>
              </a:ext>
            </a:extLst>
          </p:cNvPr>
          <p:cNvSpPr/>
          <p:nvPr/>
        </p:nvSpPr>
        <p:spPr>
          <a:xfrm>
            <a:off x="6734175" y="308038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Rectangle 237">
            <a:extLst>
              <a:ext uri="{FF2B5EF4-FFF2-40B4-BE49-F238E27FC236}">
                <a16:creationId xmlns:a16="http://schemas.microsoft.com/office/drawing/2014/main" id="{18202149-D2A7-4152-D394-E3D1A04DDD58}"/>
              </a:ext>
            </a:extLst>
          </p:cNvPr>
          <p:cNvSpPr/>
          <p:nvPr/>
        </p:nvSpPr>
        <p:spPr>
          <a:xfrm>
            <a:off x="6862445" y="308038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238">
            <a:extLst>
              <a:ext uri="{FF2B5EF4-FFF2-40B4-BE49-F238E27FC236}">
                <a16:creationId xmlns:a16="http://schemas.microsoft.com/office/drawing/2014/main" id="{2720F93E-3A33-756F-804F-5AB6684D7CFD}"/>
              </a:ext>
            </a:extLst>
          </p:cNvPr>
          <p:cNvSpPr/>
          <p:nvPr/>
        </p:nvSpPr>
        <p:spPr>
          <a:xfrm>
            <a:off x="6990715" y="3080385"/>
            <a:ext cx="109220"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Rectangle 239">
            <a:extLst>
              <a:ext uri="{FF2B5EF4-FFF2-40B4-BE49-F238E27FC236}">
                <a16:creationId xmlns:a16="http://schemas.microsoft.com/office/drawing/2014/main" id="{CF625C32-D29D-13A3-7DA8-C99E7CD34C94}"/>
              </a:ext>
            </a:extLst>
          </p:cNvPr>
          <p:cNvSpPr/>
          <p:nvPr/>
        </p:nvSpPr>
        <p:spPr>
          <a:xfrm>
            <a:off x="7118985" y="3080385"/>
            <a:ext cx="109219"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DA17609B-B80E-67CA-ECED-8040A7FDF9DE}"/>
              </a:ext>
            </a:extLst>
          </p:cNvPr>
          <p:cNvSpPr/>
          <p:nvPr/>
        </p:nvSpPr>
        <p:spPr>
          <a:xfrm>
            <a:off x="7247255" y="308038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Rectangle 241">
            <a:extLst>
              <a:ext uri="{FF2B5EF4-FFF2-40B4-BE49-F238E27FC236}">
                <a16:creationId xmlns:a16="http://schemas.microsoft.com/office/drawing/2014/main" id="{0AA749C1-AE2F-3991-385A-864008C5F11F}"/>
              </a:ext>
            </a:extLst>
          </p:cNvPr>
          <p:cNvSpPr/>
          <p:nvPr/>
        </p:nvSpPr>
        <p:spPr>
          <a:xfrm>
            <a:off x="7375525" y="308038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Rectangle 242">
            <a:extLst>
              <a:ext uri="{FF2B5EF4-FFF2-40B4-BE49-F238E27FC236}">
                <a16:creationId xmlns:a16="http://schemas.microsoft.com/office/drawing/2014/main" id="{3564883E-1DAD-BF77-3715-958F32698845}"/>
              </a:ext>
            </a:extLst>
          </p:cNvPr>
          <p:cNvSpPr/>
          <p:nvPr/>
        </p:nvSpPr>
        <p:spPr>
          <a:xfrm>
            <a:off x="7503795" y="308038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Rectangle 243">
            <a:extLst>
              <a:ext uri="{FF2B5EF4-FFF2-40B4-BE49-F238E27FC236}">
                <a16:creationId xmlns:a16="http://schemas.microsoft.com/office/drawing/2014/main" id="{7D2C436A-3F9E-25AA-FDAA-3B05D6015A1F}"/>
              </a:ext>
            </a:extLst>
          </p:cNvPr>
          <p:cNvSpPr/>
          <p:nvPr/>
        </p:nvSpPr>
        <p:spPr>
          <a:xfrm>
            <a:off x="7632065" y="308038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Rectangle 244">
            <a:extLst>
              <a:ext uri="{FF2B5EF4-FFF2-40B4-BE49-F238E27FC236}">
                <a16:creationId xmlns:a16="http://schemas.microsoft.com/office/drawing/2014/main" id="{E1D0446C-D032-EC73-43CE-BEB692D84CDA}"/>
              </a:ext>
            </a:extLst>
          </p:cNvPr>
          <p:cNvSpPr/>
          <p:nvPr/>
        </p:nvSpPr>
        <p:spPr>
          <a:xfrm>
            <a:off x="7760335" y="3080385"/>
            <a:ext cx="109219"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Rectangle 245">
            <a:extLst>
              <a:ext uri="{FF2B5EF4-FFF2-40B4-BE49-F238E27FC236}">
                <a16:creationId xmlns:a16="http://schemas.microsoft.com/office/drawing/2014/main" id="{C157F956-07DF-5B9D-2E15-FEF083639C60}"/>
              </a:ext>
            </a:extLst>
          </p:cNvPr>
          <p:cNvSpPr/>
          <p:nvPr/>
        </p:nvSpPr>
        <p:spPr>
          <a:xfrm>
            <a:off x="7888605" y="308038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Rectangle 246">
            <a:extLst>
              <a:ext uri="{FF2B5EF4-FFF2-40B4-BE49-F238E27FC236}">
                <a16:creationId xmlns:a16="http://schemas.microsoft.com/office/drawing/2014/main" id="{6CBCBA1D-EB2F-6B1F-4F04-ED4C0104CA9A}"/>
              </a:ext>
            </a:extLst>
          </p:cNvPr>
          <p:cNvSpPr/>
          <p:nvPr/>
        </p:nvSpPr>
        <p:spPr>
          <a:xfrm>
            <a:off x="8016875" y="308038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Rectangle 247">
            <a:extLst>
              <a:ext uri="{FF2B5EF4-FFF2-40B4-BE49-F238E27FC236}">
                <a16:creationId xmlns:a16="http://schemas.microsoft.com/office/drawing/2014/main" id="{DE9F6EC2-89C1-FB51-E8F7-59F7FEE1225D}"/>
              </a:ext>
            </a:extLst>
          </p:cNvPr>
          <p:cNvSpPr/>
          <p:nvPr/>
        </p:nvSpPr>
        <p:spPr>
          <a:xfrm>
            <a:off x="8145145" y="308038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Rectangle 248">
            <a:extLst>
              <a:ext uri="{FF2B5EF4-FFF2-40B4-BE49-F238E27FC236}">
                <a16:creationId xmlns:a16="http://schemas.microsoft.com/office/drawing/2014/main" id="{E6BD2BF8-901B-049B-946D-17804588A367}"/>
              </a:ext>
            </a:extLst>
          </p:cNvPr>
          <p:cNvSpPr/>
          <p:nvPr/>
        </p:nvSpPr>
        <p:spPr>
          <a:xfrm>
            <a:off x="8273415" y="308038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Rectangle 249">
            <a:extLst>
              <a:ext uri="{FF2B5EF4-FFF2-40B4-BE49-F238E27FC236}">
                <a16:creationId xmlns:a16="http://schemas.microsoft.com/office/drawing/2014/main" id="{43A66E59-0E28-F92D-9174-44CA53DE71D0}"/>
              </a:ext>
            </a:extLst>
          </p:cNvPr>
          <p:cNvSpPr/>
          <p:nvPr/>
        </p:nvSpPr>
        <p:spPr>
          <a:xfrm>
            <a:off x="6349365" y="320865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Rectangle 250">
            <a:extLst>
              <a:ext uri="{FF2B5EF4-FFF2-40B4-BE49-F238E27FC236}">
                <a16:creationId xmlns:a16="http://schemas.microsoft.com/office/drawing/2014/main" id="{31199443-5F09-725D-0684-5D997919E7C4}"/>
              </a:ext>
            </a:extLst>
          </p:cNvPr>
          <p:cNvSpPr/>
          <p:nvPr/>
        </p:nvSpPr>
        <p:spPr>
          <a:xfrm>
            <a:off x="6477635" y="3208655"/>
            <a:ext cx="109219"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Rectangle 251">
            <a:extLst>
              <a:ext uri="{FF2B5EF4-FFF2-40B4-BE49-F238E27FC236}">
                <a16:creationId xmlns:a16="http://schemas.microsoft.com/office/drawing/2014/main" id="{22E472D4-1832-8063-0E10-24AEFFEE5739}"/>
              </a:ext>
            </a:extLst>
          </p:cNvPr>
          <p:cNvSpPr/>
          <p:nvPr/>
        </p:nvSpPr>
        <p:spPr>
          <a:xfrm>
            <a:off x="6605905" y="320865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Rectangle 252">
            <a:extLst>
              <a:ext uri="{FF2B5EF4-FFF2-40B4-BE49-F238E27FC236}">
                <a16:creationId xmlns:a16="http://schemas.microsoft.com/office/drawing/2014/main" id="{142EF6C1-895C-3128-932D-15EEF8313BBC}"/>
              </a:ext>
            </a:extLst>
          </p:cNvPr>
          <p:cNvSpPr/>
          <p:nvPr/>
        </p:nvSpPr>
        <p:spPr>
          <a:xfrm>
            <a:off x="6734175" y="3208655"/>
            <a:ext cx="109220"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Rectangle 253">
            <a:extLst>
              <a:ext uri="{FF2B5EF4-FFF2-40B4-BE49-F238E27FC236}">
                <a16:creationId xmlns:a16="http://schemas.microsoft.com/office/drawing/2014/main" id="{C2AF25F5-9128-B540-49D9-8B462C8AC212}"/>
              </a:ext>
            </a:extLst>
          </p:cNvPr>
          <p:cNvSpPr/>
          <p:nvPr/>
        </p:nvSpPr>
        <p:spPr>
          <a:xfrm>
            <a:off x="6862445" y="320865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Rectangle 254">
            <a:extLst>
              <a:ext uri="{FF2B5EF4-FFF2-40B4-BE49-F238E27FC236}">
                <a16:creationId xmlns:a16="http://schemas.microsoft.com/office/drawing/2014/main" id="{6B7245DE-8775-261B-9509-DFD05FCC4116}"/>
              </a:ext>
            </a:extLst>
          </p:cNvPr>
          <p:cNvSpPr/>
          <p:nvPr/>
        </p:nvSpPr>
        <p:spPr>
          <a:xfrm>
            <a:off x="6990715" y="320865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Rectangle 255">
            <a:extLst>
              <a:ext uri="{FF2B5EF4-FFF2-40B4-BE49-F238E27FC236}">
                <a16:creationId xmlns:a16="http://schemas.microsoft.com/office/drawing/2014/main" id="{C438DFBC-4393-50FC-5303-D4B0A008E89D}"/>
              </a:ext>
            </a:extLst>
          </p:cNvPr>
          <p:cNvSpPr/>
          <p:nvPr/>
        </p:nvSpPr>
        <p:spPr>
          <a:xfrm>
            <a:off x="7118985" y="3208655"/>
            <a:ext cx="109219"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Rectangle 256">
            <a:extLst>
              <a:ext uri="{FF2B5EF4-FFF2-40B4-BE49-F238E27FC236}">
                <a16:creationId xmlns:a16="http://schemas.microsoft.com/office/drawing/2014/main" id="{B821F679-FA6C-FB3B-10B8-3F27DD9901C1}"/>
              </a:ext>
            </a:extLst>
          </p:cNvPr>
          <p:cNvSpPr/>
          <p:nvPr/>
        </p:nvSpPr>
        <p:spPr>
          <a:xfrm>
            <a:off x="7247255" y="320865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Rectangle 257">
            <a:extLst>
              <a:ext uri="{FF2B5EF4-FFF2-40B4-BE49-F238E27FC236}">
                <a16:creationId xmlns:a16="http://schemas.microsoft.com/office/drawing/2014/main" id="{F4FCBB25-86EF-7F19-12D1-550F707EF175}"/>
              </a:ext>
            </a:extLst>
          </p:cNvPr>
          <p:cNvSpPr/>
          <p:nvPr/>
        </p:nvSpPr>
        <p:spPr>
          <a:xfrm>
            <a:off x="7375525" y="320865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Rectangle 258">
            <a:extLst>
              <a:ext uri="{FF2B5EF4-FFF2-40B4-BE49-F238E27FC236}">
                <a16:creationId xmlns:a16="http://schemas.microsoft.com/office/drawing/2014/main" id="{3C2D1239-28FA-AC9C-5A27-D4D488AD2060}"/>
              </a:ext>
            </a:extLst>
          </p:cNvPr>
          <p:cNvSpPr/>
          <p:nvPr/>
        </p:nvSpPr>
        <p:spPr>
          <a:xfrm>
            <a:off x="7503795" y="320865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259">
            <a:extLst>
              <a:ext uri="{FF2B5EF4-FFF2-40B4-BE49-F238E27FC236}">
                <a16:creationId xmlns:a16="http://schemas.microsoft.com/office/drawing/2014/main" id="{4F374D21-6001-12DD-1CE4-55D5E024A833}"/>
              </a:ext>
            </a:extLst>
          </p:cNvPr>
          <p:cNvSpPr/>
          <p:nvPr/>
        </p:nvSpPr>
        <p:spPr>
          <a:xfrm>
            <a:off x="7632065" y="320865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Rectangle 260">
            <a:extLst>
              <a:ext uri="{FF2B5EF4-FFF2-40B4-BE49-F238E27FC236}">
                <a16:creationId xmlns:a16="http://schemas.microsoft.com/office/drawing/2014/main" id="{A2F12D74-82E6-7A26-6DBE-64BA39FDAEF7}"/>
              </a:ext>
            </a:extLst>
          </p:cNvPr>
          <p:cNvSpPr/>
          <p:nvPr/>
        </p:nvSpPr>
        <p:spPr>
          <a:xfrm>
            <a:off x="7760335" y="3208655"/>
            <a:ext cx="109219"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Rectangle 261">
            <a:extLst>
              <a:ext uri="{FF2B5EF4-FFF2-40B4-BE49-F238E27FC236}">
                <a16:creationId xmlns:a16="http://schemas.microsoft.com/office/drawing/2014/main" id="{CB842BB2-2548-5B35-43BF-C0CDAF83FFFA}"/>
              </a:ext>
            </a:extLst>
          </p:cNvPr>
          <p:cNvSpPr/>
          <p:nvPr/>
        </p:nvSpPr>
        <p:spPr>
          <a:xfrm>
            <a:off x="7888605" y="320865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Rectangle 262">
            <a:extLst>
              <a:ext uri="{FF2B5EF4-FFF2-40B4-BE49-F238E27FC236}">
                <a16:creationId xmlns:a16="http://schemas.microsoft.com/office/drawing/2014/main" id="{FF20CB6B-E605-077D-7338-8AF5A4742E4D}"/>
              </a:ext>
            </a:extLst>
          </p:cNvPr>
          <p:cNvSpPr/>
          <p:nvPr/>
        </p:nvSpPr>
        <p:spPr>
          <a:xfrm>
            <a:off x="8016875" y="320865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ectangle 263">
            <a:extLst>
              <a:ext uri="{FF2B5EF4-FFF2-40B4-BE49-F238E27FC236}">
                <a16:creationId xmlns:a16="http://schemas.microsoft.com/office/drawing/2014/main" id="{6B57A9F0-1BF4-152B-20BC-42C97551E519}"/>
              </a:ext>
            </a:extLst>
          </p:cNvPr>
          <p:cNvSpPr/>
          <p:nvPr/>
        </p:nvSpPr>
        <p:spPr>
          <a:xfrm>
            <a:off x="8145145" y="320865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ectangle 264">
            <a:extLst>
              <a:ext uri="{FF2B5EF4-FFF2-40B4-BE49-F238E27FC236}">
                <a16:creationId xmlns:a16="http://schemas.microsoft.com/office/drawing/2014/main" id="{F981EE0E-7011-930A-3A44-17B347809D5D}"/>
              </a:ext>
            </a:extLst>
          </p:cNvPr>
          <p:cNvSpPr/>
          <p:nvPr/>
        </p:nvSpPr>
        <p:spPr>
          <a:xfrm>
            <a:off x="8273415" y="320865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a:extLst>
              <a:ext uri="{FF2B5EF4-FFF2-40B4-BE49-F238E27FC236}">
                <a16:creationId xmlns:a16="http://schemas.microsoft.com/office/drawing/2014/main" id="{1079BD88-038A-36A9-52DE-0712FF560BCD}"/>
              </a:ext>
            </a:extLst>
          </p:cNvPr>
          <p:cNvSpPr/>
          <p:nvPr/>
        </p:nvSpPr>
        <p:spPr>
          <a:xfrm>
            <a:off x="6349365" y="333692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a:extLst>
              <a:ext uri="{FF2B5EF4-FFF2-40B4-BE49-F238E27FC236}">
                <a16:creationId xmlns:a16="http://schemas.microsoft.com/office/drawing/2014/main" id="{E699A805-7A1B-B1A3-0CC1-AC7DC5A5EDFB}"/>
              </a:ext>
            </a:extLst>
          </p:cNvPr>
          <p:cNvSpPr/>
          <p:nvPr/>
        </p:nvSpPr>
        <p:spPr>
          <a:xfrm>
            <a:off x="6477635" y="3336925"/>
            <a:ext cx="109219"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ectangle 267">
            <a:extLst>
              <a:ext uri="{FF2B5EF4-FFF2-40B4-BE49-F238E27FC236}">
                <a16:creationId xmlns:a16="http://schemas.microsoft.com/office/drawing/2014/main" id="{00A1CF87-F375-350A-47CE-212FE33F7A56}"/>
              </a:ext>
            </a:extLst>
          </p:cNvPr>
          <p:cNvSpPr/>
          <p:nvPr/>
        </p:nvSpPr>
        <p:spPr>
          <a:xfrm>
            <a:off x="6605905" y="333692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C372EA12-CEB7-C855-004E-53672AD4BCD5}"/>
              </a:ext>
            </a:extLst>
          </p:cNvPr>
          <p:cNvSpPr/>
          <p:nvPr/>
        </p:nvSpPr>
        <p:spPr>
          <a:xfrm>
            <a:off x="6734175" y="333692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7C1A265E-B709-99B9-898A-295C928AADB0}"/>
              </a:ext>
            </a:extLst>
          </p:cNvPr>
          <p:cNvSpPr/>
          <p:nvPr/>
        </p:nvSpPr>
        <p:spPr>
          <a:xfrm>
            <a:off x="6862445" y="333692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E33E5325-8187-F204-790E-FC45F812B485}"/>
              </a:ext>
            </a:extLst>
          </p:cNvPr>
          <p:cNvSpPr/>
          <p:nvPr/>
        </p:nvSpPr>
        <p:spPr>
          <a:xfrm>
            <a:off x="6990715" y="333692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a:extLst>
              <a:ext uri="{FF2B5EF4-FFF2-40B4-BE49-F238E27FC236}">
                <a16:creationId xmlns:a16="http://schemas.microsoft.com/office/drawing/2014/main" id="{8BF9273E-8B57-B46B-2198-D5FB567A0898}"/>
              </a:ext>
            </a:extLst>
          </p:cNvPr>
          <p:cNvSpPr/>
          <p:nvPr/>
        </p:nvSpPr>
        <p:spPr>
          <a:xfrm>
            <a:off x="7118985" y="3336925"/>
            <a:ext cx="109219"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a:extLst>
              <a:ext uri="{FF2B5EF4-FFF2-40B4-BE49-F238E27FC236}">
                <a16:creationId xmlns:a16="http://schemas.microsoft.com/office/drawing/2014/main" id="{A8A0A329-BDE6-955B-37D0-AC3614883977}"/>
              </a:ext>
            </a:extLst>
          </p:cNvPr>
          <p:cNvSpPr/>
          <p:nvPr/>
        </p:nvSpPr>
        <p:spPr>
          <a:xfrm>
            <a:off x="7247255" y="3336925"/>
            <a:ext cx="109220"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Rectangle 273">
            <a:extLst>
              <a:ext uri="{FF2B5EF4-FFF2-40B4-BE49-F238E27FC236}">
                <a16:creationId xmlns:a16="http://schemas.microsoft.com/office/drawing/2014/main" id="{99E919B8-0591-5289-297A-21E8C14835CA}"/>
              </a:ext>
            </a:extLst>
          </p:cNvPr>
          <p:cNvSpPr/>
          <p:nvPr/>
        </p:nvSpPr>
        <p:spPr>
          <a:xfrm>
            <a:off x="7375525" y="333692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a:extLst>
              <a:ext uri="{FF2B5EF4-FFF2-40B4-BE49-F238E27FC236}">
                <a16:creationId xmlns:a16="http://schemas.microsoft.com/office/drawing/2014/main" id="{2EDE0B75-2F8A-1E99-A6CA-189C7CFA477D}"/>
              </a:ext>
            </a:extLst>
          </p:cNvPr>
          <p:cNvSpPr/>
          <p:nvPr/>
        </p:nvSpPr>
        <p:spPr>
          <a:xfrm>
            <a:off x="7503795" y="333692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Rectangle 275">
            <a:extLst>
              <a:ext uri="{FF2B5EF4-FFF2-40B4-BE49-F238E27FC236}">
                <a16:creationId xmlns:a16="http://schemas.microsoft.com/office/drawing/2014/main" id="{797ED257-DFA0-C228-029C-38BFA306D429}"/>
              </a:ext>
            </a:extLst>
          </p:cNvPr>
          <p:cNvSpPr/>
          <p:nvPr/>
        </p:nvSpPr>
        <p:spPr>
          <a:xfrm>
            <a:off x="7632065" y="333692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Rectangle 276">
            <a:extLst>
              <a:ext uri="{FF2B5EF4-FFF2-40B4-BE49-F238E27FC236}">
                <a16:creationId xmlns:a16="http://schemas.microsoft.com/office/drawing/2014/main" id="{294A677E-DC0F-C468-C6A1-C2066602F5FE}"/>
              </a:ext>
            </a:extLst>
          </p:cNvPr>
          <p:cNvSpPr/>
          <p:nvPr/>
        </p:nvSpPr>
        <p:spPr>
          <a:xfrm>
            <a:off x="7760335" y="3336925"/>
            <a:ext cx="109219"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Rectangle 277">
            <a:extLst>
              <a:ext uri="{FF2B5EF4-FFF2-40B4-BE49-F238E27FC236}">
                <a16:creationId xmlns:a16="http://schemas.microsoft.com/office/drawing/2014/main" id="{81A4EEFB-9933-E12B-E09C-2E1526FC1D40}"/>
              </a:ext>
            </a:extLst>
          </p:cNvPr>
          <p:cNvSpPr/>
          <p:nvPr/>
        </p:nvSpPr>
        <p:spPr>
          <a:xfrm>
            <a:off x="7888605" y="333692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Rectangle 278">
            <a:extLst>
              <a:ext uri="{FF2B5EF4-FFF2-40B4-BE49-F238E27FC236}">
                <a16:creationId xmlns:a16="http://schemas.microsoft.com/office/drawing/2014/main" id="{D2211A29-831B-2685-631E-78345E5C8965}"/>
              </a:ext>
            </a:extLst>
          </p:cNvPr>
          <p:cNvSpPr/>
          <p:nvPr/>
        </p:nvSpPr>
        <p:spPr>
          <a:xfrm>
            <a:off x="8016875" y="333692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Rectangle 279">
            <a:extLst>
              <a:ext uri="{FF2B5EF4-FFF2-40B4-BE49-F238E27FC236}">
                <a16:creationId xmlns:a16="http://schemas.microsoft.com/office/drawing/2014/main" id="{A591AD34-6EB3-7266-70B4-65905B0767D7}"/>
              </a:ext>
            </a:extLst>
          </p:cNvPr>
          <p:cNvSpPr/>
          <p:nvPr/>
        </p:nvSpPr>
        <p:spPr>
          <a:xfrm>
            <a:off x="8145145" y="333692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Rectangle 280">
            <a:extLst>
              <a:ext uri="{FF2B5EF4-FFF2-40B4-BE49-F238E27FC236}">
                <a16:creationId xmlns:a16="http://schemas.microsoft.com/office/drawing/2014/main" id="{81655E77-31EB-ED6B-ECA1-2D29DB233AC6}"/>
              </a:ext>
            </a:extLst>
          </p:cNvPr>
          <p:cNvSpPr/>
          <p:nvPr/>
        </p:nvSpPr>
        <p:spPr>
          <a:xfrm>
            <a:off x="8273415" y="333692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Rectangle 281">
            <a:extLst>
              <a:ext uri="{FF2B5EF4-FFF2-40B4-BE49-F238E27FC236}">
                <a16:creationId xmlns:a16="http://schemas.microsoft.com/office/drawing/2014/main" id="{FE8974B0-6240-2E1F-48E2-32836414DDED}"/>
              </a:ext>
            </a:extLst>
          </p:cNvPr>
          <p:cNvSpPr/>
          <p:nvPr/>
        </p:nvSpPr>
        <p:spPr>
          <a:xfrm>
            <a:off x="6349365" y="346519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1F420132-6318-E434-EDC9-220218F73637}"/>
              </a:ext>
            </a:extLst>
          </p:cNvPr>
          <p:cNvSpPr/>
          <p:nvPr/>
        </p:nvSpPr>
        <p:spPr>
          <a:xfrm>
            <a:off x="6477635" y="3465195"/>
            <a:ext cx="109219"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Rectangle 283">
            <a:extLst>
              <a:ext uri="{FF2B5EF4-FFF2-40B4-BE49-F238E27FC236}">
                <a16:creationId xmlns:a16="http://schemas.microsoft.com/office/drawing/2014/main" id="{C13964CB-CA9B-29BC-3A0A-B51C80473752}"/>
              </a:ext>
            </a:extLst>
          </p:cNvPr>
          <p:cNvSpPr/>
          <p:nvPr/>
        </p:nvSpPr>
        <p:spPr>
          <a:xfrm>
            <a:off x="6605905" y="346519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2BB360C3-8138-82D1-F836-2A8F80381281}"/>
              </a:ext>
            </a:extLst>
          </p:cNvPr>
          <p:cNvSpPr/>
          <p:nvPr/>
        </p:nvSpPr>
        <p:spPr>
          <a:xfrm>
            <a:off x="6734175" y="346519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Rectangle 285">
            <a:extLst>
              <a:ext uri="{FF2B5EF4-FFF2-40B4-BE49-F238E27FC236}">
                <a16:creationId xmlns:a16="http://schemas.microsoft.com/office/drawing/2014/main" id="{1E0A6CBB-8C2F-67D3-49F1-4F31F841D9AE}"/>
              </a:ext>
            </a:extLst>
          </p:cNvPr>
          <p:cNvSpPr/>
          <p:nvPr/>
        </p:nvSpPr>
        <p:spPr>
          <a:xfrm>
            <a:off x="6862445" y="346519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Rectangle 286">
            <a:extLst>
              <a:ext uri="{FF2B5EF4-FFF2-40B4-BE49-F238E27FC236}">
                <a16:creationId xmlns:a16="http://schemas.microsoft.com/office/drawing/2014/main" id="{D5ADF38F-2472-ED7B-635D-6A3CE46E554E}"/>
              </a:ext>
            </a:extLst>
          </p:cNvPr>
          <p:cNvSpPr/>
          <p:nvPr/>
        </p:nvSpPr>
        <p:spPr>
          <a:xfrm>
            <a:off x="6990715" y="346519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Rectangle 287">
            <a:extLst>
              <a:ext uri="{FF2B5EF4-FFF2-40B4-BE49-F238E27FC236}">
                <a16:creationId xmlns:a16="http://schemas.microsoft.com/office/drawing/2014/main" id="{F65F8837-5B8C-21C4-0416-D3EBB981730B}"/>
              </a:ext>
            </a:extLst>
          </p:cNvPr>
          <p:cNvSpPr/>
          <p:nvPr/>
        </p:nvSpPr>
        <p:spPr>
          <a:xfrm>
            <a:off x="7118985" y="3465195"/>
            <a:ext cx="109219"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Rectangle 288">
            <a:extLst>
              <a:ext uri="{FF2B5EF4-FFF2-40B4-BE49-F238E27FC236}">
                <a16:creationId xmlns:a16="http://schemas.microsoft.com/office/drawing/2014/main" id="{7D7B659B-57F9-7500-3C76-4C2D15AF90B2}"/>
              </a:ext>
            </a:extLst>
          </p:cNvPr>
          <p:cNvSpPr/>
          <p:nvPr/>
        </p:nvSpPr>
        <p:spPr>
          <a:xfrm>
            <a:off x="7247255" y="346519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a:extLst>
              <a:ext uri="{FF2B5EF4-FFF2-40B4-BE49-F238E27FC236}">
                <a16:creationId xmlns:a16="http://schemas.microsoft.com/office/drawing/2014/main" id="{A55C4715-D232-8790-41D6-FDB37B8D1044}"/>
              </a:ext>
            </a:extLst>
          </p:cNvPr>
          <p:cNvSpPr/>
          <p:nvPr/>
        </p:nvSpPr>
        <p:spPr>
          <a:xfrm>
            <a:off x="7375525" y="346519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Rectangle 290">
            <a:extLst>
              <a:ext uri="{FF2B5EF4-FFF2-40B4-BE49-F238E27FC236}">
                <a16:creationId xmlns:a16="http://schemas.microsoft.com/office/drawing/2014/main" id="{37CF91EE-511A-E8ED-9B5F-786ECC736C68}"/>
              </a:ext>
            </a:extLst>
          </p:cNvPr>
          <p:cNvSpPr/>
          <p:nvPr/>
        </p:nvSpPr>
        <p:spPr>
          <a:xfrm>
            <a:off x="7503795" y="3465195"/>
            <a:ext cx="109220"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Rectangle 291">
            <a:extLst>
              <a:ext uri="{FF2B5EF4-FFF2-40B4-BE49-F238E27FC236}">
                <a16:creationId xmlns:a16="http://schemas.microsoft.com/office/drawing/2014/main" id="{F42EA10F-6763-7416-315D-68F6E124C3AA}"/>
              </a:ext>
            </a:extLst>
          </p:cNvPr>
          <p:cNvSpPr/>
          <p:nvPr/>
        </p:nvSpPr>
        <p:spPr>
          <a:xfrm>
            <a:off x="7632065" y="346519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Rectangle 292">
            <a:extLst>
              <a:ext uri="{FF2B5EF4-FFF2-40B4-BE49-F238E27FC236}">
                <a16:creationId xmlns:a16="http://schemas.microsoft.com/office/drawing/2014/main" id="{0B177EB6-4B01-5E93-5C61-1AD0B1C02203}"/>
              </a:ext>
            </a:extLst>
          </p:cNvPr>
          <p:cNvSpPr/>
          <p:nvPr/>
        </p:nvSpPr>
        <p:spPr>
          <a:xfrm>
            <a:off x="7760335" y="3465195"/>
            <a:ext cx="109219"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a:extLst>
              <a:ext uri="{FF2B5EF4-FFF2-40B4-BE49-F238E27FC236}">
                <a16:creationId xmlns:a16="http://schemas.microsoft.com/office/drawing/2014/main" id="{D746BA24-4110-A00F-0C29-9F6BA3CE693B}"/>
              </a:ext>
            </a:extLst>
          </p:cNvPr>
          <p:cNvSpPr/>
          <p:nvPr/>
        </p:nvSpPr>
        <p:spPr>
          <a:xfrm>
            <a:off x="7888605" y="346519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Rectangle 294">
            <a:extLst>
              <a:ext uri="{FF2B5EF4-FFF2-40B4-BE49-F238E27FC236}">
                <a16:creationId xmlns:a16="http://schemas.microsoft.com/office/drawing/2014/main" id="{28520A91-DA58-69D8-F697-A351DD61E881}"/>
              </a:ext>
            </a:extLst>
          </p:cNvPr>
          <p:cNvSpPr/>
          <p:nvPr/>
        </p:nvSpPr>
        <p:spPr>
          <a:xfrm>
            <a:off x="8016875" y="346519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Rectangle 295">
            <a:extLst>
              <a:ext uri="{FF2B5EF4-FFF2-40B4-BE49-F238E27FC236}">
                <a16:creationId xmlns:a16="http://schemas.microsoft.com/office/drawing/2014/main" id="{8E39A762-F6BE-A084-C2BE-A16906133023}"/>
              </a:ext>
            </a:extLst>
          </p:cNvPr>
          <p:cNvSpPr/>
          <p:nvPr/>
        </p:nvSpPr>
        <p:spPr>
          <a:xfrm>
            <a:off x="8145145" y="346519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Rectangle 296">
            <a:extLst>
              <a:ext uri="{FF2B5EF4-FFF2-40B4-BE49-F238E27FC236}">
                <a16:creationId xmlns:a16="http://schemas.microsoft.com/office/drawing/2014/main" id="{C0864C06-48B9-168D-1165-87EDF38AE648}"/>
              </a:ext>
            </a:extLst>
          </p:cNvPr>
          <p:cNvSpPr/>
          <p:nvPr/>
        </p:nvSpPr>
        <p:spPr>
          <a:xfrm>
            <a:off x="8273415" y="346519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Rectangle 297">
            <a:extLst>
              <a:ext uri="{FF2B5EF4-FFF2-40B4-BE49-F238E27FC236}">
                <a16:creationId xmlns:a16="http://schemas.microsoft.com/office/drawing/2014/main" id="{65E2FA02-4786-E0DF-F0EB-BDA091E33822}"/>
              </a:ext>
            </a:extLst>
          </p:cNvPr>
          <p:cNvSpPr/>
          <p:nvPr/>
        </p:nvSpPr>
        <p:spPr>
          <a:xfrm>
            <a:off x="6349365" y="359346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24C3EA91-3957-EA3C-8C51-4916EE916AF1}"/>
              </a:ext>
            </a:extLst>
          </p:cNvPr>
          <p:cNvSpPr/>
          <p:nvPr/>
        </p:nvSpPr>
        <p:spPr>
          <a:xfrm>
            <a:off x="6477635" y="3593465"/>
            <a:ext cx="109219"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Rectangle 299">
            <a:extLst>
              <a:ext uri="{FF2B5EF4-FFF2-40B4-BE49-F238E27FC236}">
                <a16:creationId xmlns:a16="http://schemas.microsoft.com/office/drawing/2014/main" id="{ED16ACD3-6146-9A36-10C6-2BF58C32B29C}"/>
              </a:ext>
            </a:extLst>
          </p:cNvPr>
          <p:cNvSpPr/>
          <p:nvPr/>
        </p:nvSpPr>
        <p:spPr>
          <a:xfrm>
            <a:off x="6605905" y="359346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Rectangle 300">
            <a:extLst>
              <a:ext uri="{FF2B5EF4-FFF2-40B4-BE49-F238E27FC236}">
                <a16:creationId xmlns:a16="http://schemas.microsoft.com/office/drawing/2014/main" id="{9F1B6205-CFEF-43D0-C83B-06F24ABA7843}"/>
              </a:ext>
            </a:extLst>
          </p:cNvPr>
          <p:cNvSpPr/>
          <p:nvPr/>
        </p:nvSpPr>
        <p:spPr>
          <a:xfrm>
            <a:off x="6734175" y="359346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Rectangle 301">
            <a:extLst>
              <a:ext uri="{FF2B5EF4-FFF2-40B4-BE49-F238E27FC236}">
                <a16:creationId xmlns:a16="http://schemas.microsoft.com/office/drawing/2014/main" id="{2E895834-ECF5-D973-1F85-A8F0427FF5AA}"/>
              </a:ext>
            </a:extLst>
          </p:cNvPr>
          <p:cNvSpPr/>
          <p:nvPr/>
        </p:nvSpPr>
        <p:spPr>
          <a:xfrm>
            <a:off x="6862445" y="359346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Rectangle 302">
            <a:extLst>
              <a:ext uri="{FF2B5EF4-FFF2-40B4-BE49-F238E27FC236}">
                <a16:creationId xmlns:a16="http://schemas.microsoft.com/office/drawing/2014/main" id="{E9C71316-7956-F322-6E1D-50F1E6BBCBC7}"/>
              </a:ext>
            </a:extLst>
          </p:cNvPr>
          <p:cNvSpPr/>
          <p:nvPr/>
        </p:nvSpPr>
        <p:spPr>
          <a:xfrm>
            <a:off x="6990715" y="359346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Rectangle 303">
            <a:extLst>
              <a:ext uri="{FF2B5EF4-FFF2-40B4-BE49-F238E27FC236}">
                <a16:creationId xmlns:a16="http://schemas.microsoft.com/office/drawing/2014/main" id="{449E9A1C-B863-431C-DA36-AAAADEF5C0B1}"/>
              </a:ext>
            </a:extLst>
          </p:cNvPr>
          <p:cNvSpPr/>
          <p:nvPr/>
        </p:nvSpPr>
        <p:spPr>
          <a:xfrm>
            <a:off x="7118985" y="3593465"/>
            <a:ext cx="109219"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Rectangle 304">
            <a:extLst>
              <a:ext uri="{FF2B5EF4-FFF2-40B4-BE49-F238E27FC236}">
                <a16:creationId xmlns:a16="http://schemas.microsoft.com/office/drawing/2014/main" id="{26E16531-5425-61C1-FE02-973BEEA70936}"/>
              </a:ext>
            </a:extLst>
          </p:cNvPr>
          <p:cNvSpPr/>
          <p:nvPr/>
        </p:nvSpPr>
        <p:spPr>
          <a:xfrm>
            <a:off x="7247255" y="359346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Rectangle 305">
            <a:extLst>
              <a:ext uri="{FF2B5EF4-FFF2-40B4-BE49-F238E27FC236}">
                <a16:creationId xmlns:a16="http://schemas.microsoft.com/office/drawing/2014/main" id="{BEA741BD-474E-3319-FC08-ECDA676BA33D}"/>
              </a:ext>
            </a:extLst>
          </p:cNvPr>
          <p:cNvSpPr/>
          <p:nvPr/>
        </p:nvSpPr>
        <p:spPr>
          <a:xfrm>
            <a:off x="7375525" y="359346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Rectangle 306">
            <a:extLst>
              <a:ext uri="{FF2B5EF4-FFF2-40B4-BE49-F238E27FC236}">
                <a16:creationId xmlns:a16="http://schemas.microsoft.com/office/drawing/2014/main" id="{8A2F7E45-1F83-0B25-CFC9-573F20C8EB19}"/>
              </a:ext>
            </a:extLst>
          </p:cNvPr>
          <p:cNvSpPr/>
          <p:nvPr/>
        </p:nvSpPr>
        <p:spPr>
          <a:xfrm>
            <a:off x="7503795" y="359346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Rectangle 307">
            <a:extLst>
              <a:ext uri="{FF2B5EF4-FFF2-40B4-BE49-F238E27FC236}">
                <a16:creationId xmlns:a16="http://schemas.microsoft.com/office/drawing/2014/main" id="{1EA45F2E-2D49-180B-6701-F7D18F1CE101}"/>
              </a:ext>
            </a:extLst>
          </p:cNvPr>
          <p:cNvSpPr/>
          <p:nvPr/>
        </p:nvSpPr>
        <p:spPr>
          <a:xfrm>
            <a:off x="7632065" y="359346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Rectangle 308">
            <a:extLst>
              <a:ext uri="{FF2B5EF4-FFF2-40B4-BE49-F238E27FC236}">
                <a16:creationId xmlns:a16="http://schemas.microsoft.com/office/drawing/2014/main" id="{03290AD6-3536-F822-8E82-05ED98CA5B6B}"/>
              </a:ext>
            </a:extLst>
          </p:cNvPr>
          <p:cNvSpPr/>
          <p:nvPr/>
        </p:nvSpPr>
        <p:spPr>
          <a:xfrm>
            <a:off x="7760335" y="3593465"/>
            <a:ext cx="109219"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Rectangle 309">
            <a:extLst>
              <a:ext uri="{FF2B5EF4-FFF2-40B4-BE49-F238E27FC236}">
                <a16:creationId xmlns:a16="http://schemas.microsoft.com/office/drawing/2014/main" id="{51B2CA39-1D54-7AC3-1AA1-5865DEF61427}"/>
              </a:ext>
            </a:extLst>
          </p:cNvPr>
          <p:cNvSpPr/>
          <p:nvPr/>
        </p:nvSpPr>
        <p:spPr>
          <a:xfrm>
            <a:off x="7888605" y="359346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Rectangle 310">
            <a:extLst>
              <a:ext uri="{FF2B5EF4-FFF2-40B4-BE49-F238E27FC236}">
                <a16:creationId xmlns:a16="http://schemas.microsoft.com/office/drawing/2014/main" id="{0F4A62C3-88FB-E7B4-F88C-15FD51E875B5}"/>
              </a:ext>
            </a:extLst>
          </p:cNvPr>
          <p:cNvSpPr/>
          <p:nvPr/>
        </p:nvSpPr>
        <p:spPr>
          <a:xfrm>
            <a:off x="8016875" y="3593465"/>
            <a:ext cx="109220"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Rectangle 311">
            <a:extLst>
              <a:ext uri="{FF2B5EF4-FFF2-40B4-BE49-F238E27FC236}">
                <a16:creationId xmlns:a16="http://schemas.microsoft.com/office/drawing/2014/main" id="{EEF69C68-5ADB-A06A-2F00-3F3A380C9F89}"/>
              </a:ext>
            </a:extLst>
          </p:cNvPr>
          <p:cNvSpPr/>
          <p:nvPr/>
        </p:nvSpPr>
        <p:spPr>
          <a:xfrm>
            <a:off x="8145145" y="359346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Rectangle 312">
            <a:extLst>
              <a:ext uri="{FF2B5EF4-FFF2-40B4-BE49-F238E27FC236}">
                <a16:creationId xmlns:a16="http://schemas.microsoft.com/office/drawing/2014/main" id="{7941F3F5-8D27-F28C-7D2D-1091C2669928}"/>
              </a:ext>
            </a:extLst>
          </p:cNvPr>
          <p:cNvSpPr/>
          <p:nvPr/>
        </p:nvSpPr>
        <p:spPr>
          <a:xfrm>
            <a:off x="8273415" y="359346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Rectangle 313">
            <a:extLst>
              <a:ext uri="{FF2B5EF4-FFF2-40B4-BE49-F238E27FC236}">
                <a16:creationId xmlns:a16="http://schemas.microsoft.com/office/drawing/2014/main" id="{A4248DAC-FCF5-AD95-5B8C-73CE598D235E}"/>
              </a:ext>
            </a:extLst>
          </p:cNvPr>
          <p:cNvSpPr/>
          <p:nvPr/>
        </p:nvSpPr>
        <p:spPr>
          <a:xfrm>
            <a:off x="6349365" y="372173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Rectangle 314">
            <a:extLst>
              <a:ext uri="{FF2B5EF4-FFF2-40B4-BE49-F238E27FC236}">
                <a16:creationId xmlns:a16="http://schemas.microsoft.com/office/drawing/2014/main" id="{53F8AD18-90BF-898E-20A3-CB62D4A18854}"/>
              </a:ext>
            </a:extLst>
          </p:cNvPr>
          <p:cNvSpPr/>
          <p:nvPr/>
        </p:nvSpPr>
        <p:spPr>
          <a:xfrm>
            <a:off x="6477635" y="3721735"/>
            <a:ext cx="109219"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a:extLst>
              <a:ext uri="{FF2B5EF4-FFF2-40B4-BE49-F238E27FC236}">
                <a16:creationId xmlns:a16="http://schemas.microsoft.com/office/drawing/2014/main" id="{443B4A0D-7ACB-FD12-570D-3442644E45BA}"/>
              </a:ext>
            </a:extLst>
          </p:cNvPr>
          <p:cNvSpPr/>
          <p:nvPr/>
        </p:nvSpPr>
        <p:spPr>
          <a:xfrm>
            <a:off x="6605905" y="372173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Rectangle 316">
            <a:extLst>
              <a:ext uri="{FF2B5EF4-FFF2-40B4-BE49-F238E27FC236}">
                <a16:creationId xmlns:a16="http://schemas.microsoft.com/office/drawing/2014/main" id="{EB07601E-B79C-0A53-F8D2-253B5B590276}"/>
              </a:ext>
            </a:extLst>
          </p:cNvPr>
          <p:cNvSpPr/>
          <p:nvPr/>
        </p:nvSpPr>
        <p:spPr>
          <a:xfrm>
            <a:off x="6734175" y="372173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 name="Rectangle 317">
            <a:extLst>
              <a:ext uri="{FF2B5EF4-FFF2-40B4-BE49-F238E27FC236}">
                <a16:creationId xmlns:a16="http://schemas.microsoft.com/office/drawing/2014/main" id="{383C074B-D981-EE20-259C-5B3F1B5F43F8}"/>
              </a:ext>
            </a:extLst>
          </p:cNvPr>
          <p:cNvSpPr/>
          <p:nvPr/>
        </p:nvSpPr>
        <p:spPr>
          <a:xfrm>
            <a:off x="6862445" y="372173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Rectangle 318">
            <a:extLst>
              <a:ext uri="{FF2B5EF4-FFF2-40B4-BE49-F238E27FC236}">
                <a16:creationId xmlns:a16="http://schemas.microsoft.com/office/drawing/2014/main" id="{8AEAFF30-2DB1-FD7D-5EAE-7478A5702FF6}"/>
              </a:ext>
            </a:extLst>
          </p:cNvPr>
          <p:cNvSpPr/>
          <p:nvPr/>
        </p:nvSpPr>
        <p:spPr>
          <a:xfrm>
            <a:off x="6990715" y="372173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 name="Rectangle 319">
            <a:extLst>
              <a:ext uri="{FF2B5EF4-FFF2-40B4-BE49-F238E27FC236}">
                <a16:creationId xmlns:a16="http://schemas.microsoft.com/office/drawing/2014/main" id="{D83DD0EB-F2DD-F593-B657-E7EE0222A5C8}"/>
              </a:ext>
            </a:extLst>
          </p:cNvPr>
          <p:cNvSpPr/>
          <p:nvPr/>
        </p:nvSpPr>
        <p:spPr>
          <a:xfrm>
            <a:off x="7118985" y="3721735"/>
            <a:ext cx="109219"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Rectangle 320">
            <a:extLst>
              <a:ext uri="{FF2B5EF4-FFF2-40B4-BE49-F238E27FC236}">
                <a16:creationId xmlns:a16="http://schemas.microsoft.com/office/drawing/2014/main" id="{BF0551B8-8C32-75C5-2FBF-F72FFFC1C8AB}"/>
              </a:ext>
            </a:extLst>
          </p:cNvPr>
          <p:cNvSpPr/>
          <p:nvPr/>
        </p:nvSpPr>
        <p:spPr>
          <a:xfrm>
            <a:off x="7247255" y="372173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Rectangle 321">
            <a:extLst>
              <a:ext uri="{FF2B5EF4-FFF2-40B4-BE49-F238E27FC236}">
                <a16:creationId xmlns:a16="http://schemas.microsoft.com/office/drawing/2014/main" id="{4C4AFC41-954B-F673-7921-5F743EC08E97}"/>
              </a:ext>
            </a:extLst>
          </p:cNvPr>
          <p:cNvSpPr/>
          <p:nvPr/>
        </p:nvSpPr>
        <p:spPr>
          <a:xfrm>
            <a:off x="7375525" y="372173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Rectangle 322">
            <a:extLst>
              <a:ext uri="{FF2B5EF4-FFF2-40B4-BE49-F238E27FC236}">
                <a16:creationId xmlns:a16="http://schemas.microsoft.com/office/drawing/2014/main" id="{8FB36639-E41E-67BA-1E94-AEC7E8435A9E}"/>
              </a:ext>
            </a:extLst>
          </p:cNvPr>
          <p:cNvSpPr/>
          <p:nvPr/>
        </p:nvSpPr>
        <p:spPr>
          <a:xfrm>
            <a:off x="7503795" y="372173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Rectangle 323">
            <a:extLst>
              <a:ext uri="{FF2B5EF4-FFF2-40B4-BE49-F238E27FC236}">
                <a16:creationId xmlns:a16="http://schemas.microsoft.com/office/drawing/2014/main" id="{3F73FB5B-A290-4654-45D0-A4AB8DFE271C}"/>
              </a:ext>
            </a:extLst>
          </p:cNvPr>
          <p:cNvSpPr/>
          <p:nvPr/>
        </p:nvSpPr>
        <p:spPr>
          <a:xfrm>
            <a:off x="7632065" y="372173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Rectangle 324">
            <a:extLst>
              <a:ext uri="{FF2B5EF4-FFF2-40B4-BE49-F238E27FC236}">
                <a16:creationId xmlns:a16="http://schemas.microsoft.com/office/drawing/2014/main" id="{3F572DFD-4962-A373-2501-9C0398F046ED}"/>
              </a:ext>
            </a:extLst>
          </p:cNvPr>
          <p:cNvSpPr/>
          <p:nvPr/>
        </p:nvSpPr>
        <p:spPr>
          <a:xfrm>
            <a:off x="7760335" y="3721735"/>
            <a:ext cx="109219"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Rectangle 325">
            <a:extLst>
              <a:ext uri="{FF2B5EF4-FFF2-40B4-BE49-F238E27FC236}">
                <a16:creationId xmlns:a16="http://schemas.microsoft.com/office/drawing/2014/main" id="{450C5473-C7BB-2D81-558E-89A923524614}"/>
              </a:ext>
            </a:extLst>
          </p:cNvPr>
          <p:cNvSpPr/>
          <p:nvPr/>
        </p:nvSpPr>
        <p:spPr>
          <a:xfrm>
            <a:off x="7888605" y="372173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Rectangle 326">
            <a:extLst>
              <a:ext uri="{FF2B5EF4-FFF2-40B4-BE49-F238E27FC236}">
                <a16:creationId xmlns:a16="http://schemas.microsoft.com/office/drawing/2014/main" id="{BC50C6F8-D6D2-61DA-1E88-65D79AF37763}"/>
              </a:ext>
            </a:extLst>
          </p:cNvPr>
          <p:cNvSpPr/>
          <p:nvPr/>
        </p:nvSpPr>
        <p:spPr>
          <a:xfrm>
            <a:off x="8016875" y="372173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Rectangle 327">
            <a:extLst>
              <a:ext uri="{FF2B5EF4-FFF2-40B4-BE49-F238E27FC236}">
                <a16:creationId xmlns:a16="http://schemas.microsoft.com/office/drawing/2014/main" id="{51701420-FB04-263D-CEE0-3FEDB6D483D8}"/>
              </a:ext>
            </a:extLst>
          </p:cNvPr>
          <p:cNvSpPr/>
          <p:nvPr/>
        </p:nvSpPr>
        <p:spPr>
          <a:xfrm>
            <a:off x="8145145" y="372173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 name="Rectangle 328">
            <a:extLst>
              <a:ext uri="{FF2B5EF4-FFF2-40B4-BE49-F238E27FC236}">
                <a16:creationId xmlns:a16="http://schemas.microsoft.com/office/drawing/2014/main" id="{334F91B4-6C73-AB65-E634-5AD76286045E}"/>
              </a:ext>
            </a:extLst>
          </p:cNvPr>
          <p:cNvSpPr/>
          <p:nvPr/>
        </p:nvSpPr>
        <p:spPr>
          <a:xfrm>
            <a:off x="8273415" y="372173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 name="Rectangle 329">
            <a:extLst>
              <a:ext uri="{FF2B5EF4-FFF2-40B4-BE49-F238E27FC236}">
                <a16:creationId xmlns:a16="http://schemas.microsoft.com/office/drawing/2014/main" id="{EA2B9F1B-C2E1-604C-9EBB-AE2870A62802}"/>
              </a:ext>
            </a:extLst>
          </p:cNvPr>
          <p:cNvSpPr/>
          <p:nvPr/>
        </p:nvSpPr>
        <p:spPr>
          <a:xfrm>
            <a:off x="6349365" y="385000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Rectangle 330">
            <a:extLst>
              <a:ext uri="{FF2B5EF4-FFF2-40B4-BE49-F238E27FC236}">
                <a16:creationId xmlns:a16="http://schemas.microsoft.com/office/drawing/2014/main" id="{34359E5E-375D-5FCB-D415-6C7F3E05B21B}"/>
              </a:ext>
            </a:extLst>
          </p:cNvPr>
          <p:cNvSpPr/>
          <p:nvPr/>
        </p:nvSpPr>
        <p:spPr>
          <a:xfrm>
            <a:off x="6477635" y="3850005"/>
            <a:ext cx="109219"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 name="Rectangle 331">
            <a:extLst>
              <a:ext uri="{FF2B5EF4-FFF2-40B4-BE49-F238E27FC236}">
                <a16:creationId xmlns:a16="http://schemas.microsoft.com/office/drawing/2014/main" id="{953CE4B0-CA1F-816A-EB3F-4755066C644C}"/>
              </a:ext>
            </a:extLst>
          </p:cNvPr>
          <p:cNvSpPr/>
          <p:nvPr/>
        </p:nvSpPr>
        <p:spPr>
          <a:xfrm>
            <a:off x="6605905" y="385000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 name="Rectangle 332">
            <a:extLst>
              <a:ext uri="{FF2B5EF4-FFF2-40B4-BE49-F238E27FC236}">
                <a16:creationId xmlns:a16="http://schemas.microsoft.com/office/drawing/2014/main" id="{3AAF2EC0-8BE6-05A8-7CC0-93CB97F7C93B}"/>
              </a:ext>
            </a:extLst>
          </p:cNvPr>
          <p:cNvSpPr/>
          <p:nvPr/>
        </p:nvSpPr>
        <p:spPr>
          <a:xfrm>
            <a:off x="6734175" y="385000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Rectangle 333">
            <a:extLst>
              <a:ext uri="{FF2B5EF4-FFF2-40B4-BE49-F238E27FC236}">
                <a16:creationId xmlns:a16="http://schemas.microsoft.com/office/drawing/2014/main" id="{4C9E7AE0-FB00-E70B-ACFA-D92F7A3ED7A6}"/>
              </a:ext>
            </a:extLst>
          </p:cNvPr>
          <p:cNvSpPr/>
          <p:nvPr/>
        </p:nvSpPr>
        <p:spPr>
          <a:xfrm>
            <a:off x="6862445" y="385000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Rectangle 334">
            <a:extLst>
              <a:ext uri="{FF2B5EF4-FFF2-40B4-BE49-F238E27FC236}">
                <a16:creationId xmlns:a16="http://schemas.microsoft.com/office/drawing/2014/main" id="{D1D3926D-5DD4-47CD-744D-A06FEB161F60}"/>
              </a:ext>
            </a:extLst>
          </p:cNvPr>
          <p:cNvSpPr/>
          <p:nvPr/>
        </p:nvSpPr>
        <p:spPr>
          <a:xfrm>
            <a:off x="6990715" y="385000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Rectangle 335">
            <a:extLst>
              <a:ext uri="{FF2B5EF4-FFF2-40B4-BE49-F238E27FC236}">
                <a16:creationId xmlns:a16="http://schemas.microsoft.com/office/drawing/2014/main" id="{F2CFA15D-DBCB-B106-F7D5-97B46E0FFFED}"/>
              </a:ext>
            </a:extLst>
          </p:cNvPr>
          <p:cNvSpPr/>
          <p:nvPr/>
        </p:nvSpPr>
        <p:spPr>
          <a:xfrm>
            <a:off x="7118985" y="3850005"/>
            <a:ext cx="109219"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Rectangle 336">
            <a:extLst>
              <a:ext uri="{FF2B5EF4-FFF2-40B4-BE49-F238E27FC236}">
                <a16:creationId xmlns:a16="http://schemas.microsoft.com/office/drawing/2014/main" id="{5E21C082-4168-D4B5-C32E-663BA14D8D11}"/>
              </a:ext>
            </a:extLst>
          </p:cNvPr>
          <p:cNvSpPr/>
          <p:nvPr/>
        </p:nvSpPr>
        <p:spPr>
          <a:xfrm>
            <a:off x="7247255" y="385000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Rectangle 337">
            <a:extLst>
              <a:ext uri="{FF2B5EF4-FFF2-40B4-BE49-F238E27FC236}">
                <a16:creationId xmlns:a16="http://schemas.microsoft.com/office/drawing/2014/main" id="{458DFAF4-35D2-AF44-6C75-6308BB63B859}"/>
              </a:ext>
            </a:extLst>
          </p:cNvPr>
          <p:cNvSpPr/>
          <p:nvPr/>
        </p:nvSpPr>
        <p:spPr>
          <a:xfrm>
            <a:off x="7375525" y="385000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Rectangle 338">
            <a:extLst>
              <a:ext uri="{FF2B5EF4-FFF2-40B4-BE49-F238E27FC236}">
                <a16:creationId xmlns:a16="http://schemas.microsoft.com/office/drawing/2014/main" id="{0CD579D0-7CD4-18CB-F0DA-4A40E19BF980}"/>
              </a:ext>
            </a:extLst>
          </p:cNvPr>
          <p:cNvSpPr/>
          <p:nvPr/>
        </p:nvSpPr>
        <p:spPr>
          <a:xfrm>
            <a:off x="7503795" y="385000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Rectangle 339">
            <a:extLst>
              <a:ext uri="{FF2B5EF4-FFF2-40B4-BE49-F238E27FC236}">
                <a16:creationId xmlns:a16="http://schemas.microsoft.com/office/drawing/2014/main" id="{2C8BF021-F509-3FC5-0209-0667CECEA799}"/>
              </a:ext>
            </a:extLst>
          </p:cNvPr>
          <p:cNvSpPr/>
          <p:nvPr/>
        </p:nvSpPr>
        <p:spPr>
          <a:xfrm>
            <a:off x="7632065" y="385000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Rectangle 340">
            <a:extLst>
              <a:ext uri="{FF2B5EF4-FFF2-40B4-BE49-F238E27FC236}">
                <a16:creationId xmlns:a16="http://schemas.microsoft.com/office/drawing/2014/main" id="{0DC13B36-2D70-6194-1F34-4617750DEFCD}"/>
              </a:ext>
            </a:extLst>
          </p:cNvPr>
          <p:cNvSpPr/>
          <p:nvPr/>
        </p:nvSpPr>
        <p:spPr>
          <a:xfrm>
            <a:off x="7760335" y="3850005"/>
            <a:ext cx="109219"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Rectangle 341">
            <a:extLst>
              <a:ext uri="{FF2B5EF4-FFF2-40B4-BE49-F238E27FC236}">
                <a16:creationId xmlns:a16="http://schemas.microsoft.com/office/drawing/2014/main" id="{D561F818-362B-76E7-D80B-1FD639F55A79}"/>
              </a:ext>
            </a:extLst>
          </p:cNvPr>
          <p:cNvSpPr/>
          <p:nvPr/>
        </p:nvSpPr>
        <p:spPr>
          <a:xfrm>
            <a:off x="7888605" y="385000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Rectangle 342">
            <a:extLst>
              <a:ext uri="{FF2B5EF4-FFF2-40B4-BE49-F238E27FC236}">
                <a16:creationId xmlns:a16="http://schemas.microsoft.com/office/drawing/2014/main" id="{3BE66BA2-6B5C-6521-6424-77B94795EFDB}"/>
              </a:ext>
            </a:extLst>
          </p:cNvPr>
          <p:cNvSpPr/>
          <p:nvPr/>
        </p:nvSpPr>
        <p:spPr>
          <a:xfrm>
            <a:off x="8016875" y="385000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 name="Rectangle 343">
            <a:extLst>
              <a:ext uri="{FF2B5EF4-FFF2-40B4-BE49-F238E27FC236}">
                <a16:creationId xmlns:a16="http://schemas.microsoft.com/office/drawing/2014/main" id="{8A79660A-FDD8-9180-50D6-D46104A9E818}"/>
              </a:ext>
            </a:extLst>
          </p:cNvPr>
          <p:cNvSpPr/>
          <p:nvPr/>
        </p:nvSpPr>
        <p:spPr>
          <a:xfrm>
            <a:off x="8145145" y="385000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Rectangle 344">
            <a:extLst>
              <a:ext uri="{FF2B5EF4-FFF2-40B4-BE49-F238E27FC236}">
                <a16:creationId xmlns:a16="http://schemas.microsoft.com/office/drawing/2014/main" id="{F57D38DC-E68C-D18A-FC7F-6AABB7E29137}"/>
              </a:ext>
            </a:extLst>
          </p:cNvPr>
          <p:cNvSpPr/>
          <p:nvPr/>
        </p:nvSpPr>
        <p:spPr>
          <a:xfrm>
            <a:off x="8273415" y="385000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Rectangle 345">
            <a:extLst>
              <a:ext uri="{FF2B5EF4-FFF2-40B4-BE49-F238E27FC236}">
                <a16:creationId xmlns:a16="http://schemas.microsoft.com/office/drawing/2014/main" id="{25121694-0306-E756-52B2-9CF45F088E77}"/>
              </a:ext>
            </a:extLst>
          </p:cNvPr>
          <p:cNvSpPr/>
          <p:nvPr/>
        </p:nvSpPr>
        <p:spPr>
          <a:xfrm>
            <a:off x="6349365" y="397827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Rectangle 346">
            <a:extLst>
              <a:ext uri="{FF2B5EF4-FFF2-40B4-BE49-F238E27FC236}">
                <a16:creationId xmlns:a16="http://schemas.microsoft.com/office/drawing/2014/main" id="{3DADEDA9-0D03-199E-B17B-4E890CB950C0}"/>
              </a:ext>
            </a:extLst>
          </p:cNvPr>
          <p:cNvSpPr/>
          <p:nvPr/>
        </p:nvSpPr>
        <p:spPr>
          <a:xfrm>
            <a:off x="6477635" y="3978275"/>
            <a:ext cx="109219"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Rectangle 347">
            <a:extLst>
              <a:ext uri="{FF2B5EF4-FFF2-40B4-BE49-F238E27FC236}">
                <a16:creationId xmlns:a16="http://schemas.microsoft.com/office/drawing/2014/main" id="{6D338DEE-599D-0424-F984-4E51BAED7488}"/>
              </a:ext>
            </a:extLst>
          </p:cNvPr>
          <p:cNvSpPr/>
          <p:nvPr/>
        </p:nvSpPr>
        <p:spPr>
          <a:xfrm>
            <a:off x="6605905" y="397827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Rectangle 348">
            <a:extLst>
              <a:ext uri="{FF2B5EF4-FFF2-40B4-BE49-F238E27FC236}">
                <a16:creationId xmlns:a16="http://schemas.microsoft.com/office/drawing/2014/main" id="{BA137D1D-AACA-D9ED-2475-68DFCF72320E}"/>
              </a:ext>
            </a:extLst>
          </p:cNvPr>
          <p:cNvSpPr/>
          <p:nvPr/>
        </p:nvSpPr>
        <p:spPr>
          <a:xfrm>
            <a:off x="6734175" y="397827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 name="Rectangle 349">
            <a:extLst>
              <a:ext uri="{FF2B5EF4-FFF2-40B4-BE49-F238E27FC236}">
                <a16:creationId xmlns:a16="http://schemas.microsoft.com/office/drawing/2014/main" id="{E9D7FE05-A567-B6E8-6D48-B92D16D8EDF8}"/>
              </a:ext>
            </a:extLst>
          </p:cNvPr>
          <p:cNvSpPr/>
          <p:nvPr/>
        </p:nvSpPr>
        <p:spPr>
          <a:xfrm>
            <a:off x="6862445" y="397827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 name="Rectangle 350">
            <a:extLst>
              <a:ext uri="{FF2B5EF4-FFF2-40B4-BE49-F238E27FC236}">
                <a16:creationId xmlns:a16="http://schemas.microsoft.com/office/drawing/2014/main" id="{A6AA4812-48A9-5E46-9C6B-6C2CFA64D848}"/>
              </a:ext>
            </a:extLst>
          </p:cNvPr>
          <p:cNvSpPr/>
          <p:nvPr/>
        </p:nvSpPr>
        <p:spPr>
          <a:xfrm>
            <a:off x="6990715" y="397827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 name="Rectangle 351">
            <a:extLst>
              <a:ext uri="{FF2B5EF4-FFF2-40B4-BE49-F238E27FC236}">
                <a16:creationId xmlns:a16="http://schemas.microsoft.com/office/drawing/2014/main" id="{664A9CFD-1A00-171D-7FDF-CDDD36F8F9F1}"/>
              </a:ext>
            </a:extLst>
          </p:cNvPr>
          <p:cNvSpPr/>
          <p:nvPr/>
        </p:nvSpPr>
        <p:spPr>
          <a:xfrm>
            <a:off x="7118985" y="3978275"/>
            <a:ext cx="109219"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 name="Rectangle 352">
            <a:extLst>
              <a:ext uri="{FF2B5EF4-FFF2-40B4-BE49-F238E27FC236}">
                <a16:creationId xmlns:a16="http://schemas.microsoft.com/office/drawing/2014/main" id="{1EE7ECCA-8631-0371-D0F4-C945D80A385E}"/>
              </a:ext>
            </a:extLst>
          </p:cNvPr>
          <p:cNvSpPr/>
          <p:nvPr/>
        </p:nvSpPr>
        <p:spPr>
          <a:xfrm>
            <a:off x="7247255" y="397827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Rectangle 353">
            <a:extLst>
              <a:ext uri="{FF2B5EF4-FFF2-40B4-BE49-F238E27FC236}">
                <a16:creationId xmlns:a16="http://schemas.microsoft.com/office/drawing/2014/main" id="{EEB1647E-366D-9533-4ADF-6FDE6833C26A}"/>
              </a:ext>
            </a:extLst>
          </p:cNvPr>
          <p:cNvSpPr/>
          <p:nvPr/>
        </p:nvSpPr>
        <p:spPr>
          <a:xfrm>
            <a:off x="7375525" y="397827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Rectangle 354">
            <a:extLst>
              <a:ext uri="{FF2B5EF4-FFF2-40B4-BE49-F238E27FC236}">
                <a16:creationId xmlns:a16="http://schemas.microsoft.com/office/drawing/2014/main" id="{6A6EECC6-EFA9-EEBD-7450-47779DF4B26D}"/>
              </a:ext>
            </a:extLst>
          </p:cNvPr>
          <p:cNvSpPr/>
          <p:nvPr/>
        </p:nvSpPr>
        <p:spPr>
          <a:xfrm>
            <a:off x="7503795" y="397827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Rectangle 355">
            <a:extLst>
              <a:ext uri="{FF2B5EF4-FFF2-40B4-BE49-F238E27FC236}">
                <a16:creationId xmlns:a16="http://schemas.microsoft.com/office/drawing/2014/main" id="{304D9D76-4435-7D03-CB94-C125E2492125}"/>
              </a:ext>
            </a:extLst>
          </p:cNvPr>
          <p:cNvSpPr/>
          <p:nvPr/>
        </p:nvSpPr>
        <p:spPr>
          <a:xfrm>
            <a:off x="7632065" y="397827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 name="Rectangle 356">
            <a:extLst>
              <a:ext uri="{FF2B5EF4-FFF2-40B4-BE49-F238E27FC236}">
                <a16:creationId xmlns:a16="http://schemas.microsoft.com/office/drawing/2014/main" id="{472F6968-6C1B-BEAE-4985-6E6174F91562}"/>
              </a:ext>
            </a:extLst>
          </p:cNvPr>
          <p:cNvSpPr/>
          <p:nvPr/>
        </p:nvSpPr>
        <p:spPr>
          <a:xfrm>
            <a:off x="7760335" y="3978275"/>
            <a:ext cx="109219"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 name="Rectangle 357">
            <a:extLst>
              <a:ext uri="{FF2B5EF4-FFF2-40B4-BE49-F238E27FC236}">
                <a16:creationId xmlns:a16="http://schemas.microsoft.com/office/drawing/2014/main" id="{9E59010E-9CAC-374A-C5BC-C5382AFD26BC}"/>
              </a:ext>
            </a:extLst>
          </p:cNvPr>
          <p:cNvSpPr/>
          <p:nvPr/>
        </p:nvSpPr>
        <p:spPr>
          <a:xfrm>
            <a:off x="7888605" y="397827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Rectangle 358">
            <a:extLst>
              <a:ext uri="{FF2B5EF4-FFF2-40B4-BE49-F238E27FC236}">
                <a16:creationId xmlns:a16="http://schemas.microsoft.com/office/drawing/2014/main" id="{002673B2-0707-2E7B-50B4-06004A067B94}"/>
              </a:ext>
            </a:extLst>
          </p:cNvPr>
          <p:cNvSpPr/>
          <p:nvPr/>
        </p:nvSpPr>
        <p:spPr>
          <a:xfrm>
            <a:off x="8016875" y="397827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Rectangle 359">
            <a:extLst>
              <a:ext uri="{FF2B5EF4-FFF2-40B4-BE49-F238E27FC236}">
                <a16:creationId xmlns:a16="http://schemas.microsoft.com/office/drawing/2014/main" id="{CCF82362-202B-1BE3-C2E3-74C2F82B68F7}"/>
              </a:ext>
            </a:extLst>
          </p:cNvPr>
          <p:cNvSpPr/>
          <p:nvPr/>
        </p:nvSpPr>
        <p:spPr>
          <a:xfrm>
            <a:off x="8145145" y="397827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Rectangle 360">
            <a:extLst>
              <a:ext uri="{FF2B5EF4-FFF2-40B4-BE49-F238E27FC236}">
                <a16:creationId xmlns:a16="http://schemas.microsoft.com/office/drawing/2014/main" id="{4D1F556D-14C9-BFB2-9FF9-4EA31A1E1C5B}"/>
              </a:ext>
            </a:extLst>
          </p:cNvPr>
          <p:cNvSpPr/>
          <p:nvPr/>
        </p:nvSpPr>
        <p:spPr>
          <a:xfrm>
            <a:off x="8273415" y="397827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 name="Rectangle 361">
            <a:extLst>
              <a:ext uri="{FF2B5EF4-FFF2-40B4-BE49-F238E27FC236}">
                <a16:creationId xmlns:a16="http://schemas.microsoft.com/office/drawing/2014/main" id="{A6B3CC10-1EA0-2773-D36B-29E734B2EA0E}"/>
              </a:ext>
            </a:extLst>
          </p:cNvPr>
          <p:cNvSpPr/>
          <p:nvPr/>
        </p:nvSpPr>
        <p:spPr>
          <a:xfrm>
            <a:off x="6349365" y="410654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 name="Rectangle 362">
            <a:extLst>
              <a:ext uri="{FF2B5EF4-FFF2-40B4-BE49-F238E27FC236}">
                <a16:creationId xmlns:a16="http://schemas.microsoft.com/office/drawing/2014/main" id="{BE675C15-D515-FDB6-FF2B-976822EF0357}"/>
              </a:ext>
            </a:extLst>
          </p:cNvPr>
          <p:cNvSpPr/>
          <p:nvPr/>
        </p:nvSpPr>
        <p:spPr>
          <a:xfrm>
            <a:off x="6477635" y="4106545"/>
            <a:ext cx="109219"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 name="Rectangle 363">
            <a:extLst>
              <a:ext uri="{FF2B5EF4-FFF2-40B4-BE49-F238E27FC236}">
                <a16:creationId xmlns:a16="http://schemas.microsoft.com/office/drawing/2014/main" id="{E946B400-E7D1-5AFE-0BBD-25CB39E9D3B6}"/>
              </a:ext>
            </a:extLst>
          </p:cNvPr>
          <p:cNvSpPr/>
          <p:nvPr/>
        </p:nvSpPr>
        <p:spPr>
          <a:xfrm>
            <a:off x="6605905" y="410654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Rectangle 364">
            <a:extLst>
              <a:ext uri="{FF2B5EF4-FFF2-40B4-BE49-F238E27FC236}">
                <a16:creationId xmlns:a16="http://schemas.microsoft.com/office/drawing/2014/main" id="{F5753EE0-7A54-CD18-68EC-26443C1AB65B}"/>
              </a:ext>
            </a:extLst>
          </p:cNvPr>
          <p:cNvSpPr/>
          <p:nvPr/>
        </p:nvSpPr>
        <p:spPr>
          <a:xfrm>
            <a:off x="6734175" y="410654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 name="Rectangle 365">
            <a:extLst>
              <a:ext uri="{FF2B5EF4-FFF2-40B4-BE49-F238E27FC236}">
                <a16:creationId xmlns:a16="http://schemas.microsoft.com/office/drawing/2014/main" id="{0D1F9D29-BB64-6632-5F89-452B0AEDFA10}"/>
              </a:ext>
            </a:extLst>
          </p:cNvPr>
          <p:cNvSpPr/>
          <p:nvPr/>
        </p:nvSpPr>
        <p:spPr>
          <a:xfrm>
            <a:off x="6862445" y="410654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 name="Rectangle 366">
            <a:extLst>
              <a:ext uri="{FF2B5EF4-FFF2-40B4-BE49-F238E27FC236}">
                <a16:creationId xmlns:a16="http://schemas.microsoft.com/office/drawing/2014/main" id="{B1F9B0C0-F07B-59FA-554F-959E68E05FB7}"/>
              </a:ext>
            </a:extLst>
          </p:cNvPr>
          <p:cNvSpPr/>
          <p:nvPr/>
        </p:nvSpPr>
        <p:spPr>
          <a:xfrm>
            <a:off x="6990715" y="410654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Rectangle 367">
            <a:extLst>
              <a:ext uri="{FF2B5EF4-FFF2-40B4-BE49-F238E27FC236}">
                <a16:creationId xmlns:a16="http://schemas.microsoft.com/office/drawing/2014/main" id="{C5071E38-C402-7775-440E-4B8418D59BFB}"/>
              </a:ext>
            </a:extLst>
          </p:cNvPr>
          <p:cNvSpPr/>
          <p:nvPr/>
        </p:nvSpPr>
        <p:spPr>
          <a:xfrm>
            <a:off x="7118985" y="4106545"/>
            <a:ext cx="109219"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 name="Rectangle 368">
            <a:extLst>
              <a:ext uri="{FF2B5EF4-FFF2-40B4-BE49-F238E27FC236}">
                <a16:creationId xmlns:a16="http://schemas.microsoft.com/office/drawing/2014/main" id="{5F78E260-0FBE-187E-0F42-2A49CBBED015}"/>
              </a:ext>
            </a:extLst>
          </p:cNvPr>
          <p:cNvSpPr/>
          <p:nvPr/>
        </p:nvSpPr>
        <p:spPr>
          <a:xfrm>
            <a:off x="7247255" y="410654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 name="Rectangle 369">
            <a:extLst>
              <a:ext uri="{FF2B5EF4-FFF2-40B4-BE49-F238E27FC236}">
                <a16:creationId xmlns:a16="http://schemas.microsoft.com/office/drawing/2014/main" id="{4CD0FB3F-9EDE-1A11-554D-A9E3EE1376D4}"/>
              </a:ext>
            </a:extLst>
          </p:cNvPr>
          <p:cNvSpPr/>
          <p:nvPr/>
        </p:nvSpPr>
        <p:spPr>
          <a:xfrm>
            <a:off x="7375525" y="410654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 name="Rectangle 370">
            <a:extLst>
              <a:ext uri="{FF2B5EF4-FFF2-40B4-BE49-F238E27FC236}">
                <a16:creationId xmlns:a16="http://schemas.microsoft.com/office/drawing/2014/main" id="{B21FCA42-1613-D750-2554-B44F7DCCF9D4}"/>
              </a:ext>
            </a:extLst>
          </p:cNvPr>
          <p:cNvSpPr/>
          <p:nvPr/>
        </p:nvSpPr>
        <p:spPr>
          <a:xfrm>
            <a:off x="7503795" y="410654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Rectangle 371">
            <a:extLst>
              <a:ext uri="{FF2B5EF4-FFF2-40B4-BE49-F238E27FC236}">
                <a16:creationId xmlns:a16="http://schemas.microsoft.com/office/drawing/2014/main" id="{97FAE035-F8B4-69E3-F6AA-97E9DE8882D3}"/>
              </a:ext>
            </a:extLst>
          </p:cNvPr>
          <p:cNvSpPr/>
          <p:nvPr/>
        </p:nvSpPr>
        <p:spPr>
          <a:xfrm>
            <a:off x="7632065" y="410654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Rectangle 372">
            <a:extLst>
              <a:ext uri="{FF2B5EF4-FFF2-40B4-BE49-F238E27FC236}">
                <a16:creationId xmlns:a16="http://schemas.microsoft.com/office/drawing/2014/main" id="{651DCFAC-8E2D-8C40-197C-F6F8BCACA170}"/>
              </a:ext>
            </a:extLst>
          </p:cNvPr>
          <p:cNvSpPr/>
          <p:nvPr/>
        </p:nvSpPr>
        <p:spPr>
          <a:xfrm>
            <a:off x="7760335" y="4106545"/>
            <a:ext cx="109219"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 name="Rectangle 373">
            <a:extLst>
              <a:ext uri="{FF2B5EF4-FFF2-40B4-BE49-F238E27FC236}">
                <a16:creationId xmlns:a16="http://schemas.microsoft.com/office/drawing/2014/main" id="{9E2FC288-7139-AE1A-BD36-717C3A5CC4D4}"/>
              </a:ext>
            </a:extLst>
          </p:cNvPr>
          <p:cNvSpPr/>
          <p:nvPr/>
        </p:nvSpPr>
        <p:spPr>
          <a:xfrm>
            <a:off x="7888605" y="410654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 name="Rectangle 374">
            <a:extLst>
              <a:ext uri="{FF2B5EF4-FFF2-40B4-BE49-F238E27FC236}">
                <a16:creationId xmlns:a16="http://schemas.microsoft.com/office/drawing/2014/main" id="{85FD61AA-F88A-4901-9D3F-3583EEAB6500}"/>
              </a:ext>
            </a:extLst>
          </p:cNvPr>
          <p:cNvSpPr/>
          <p:nvPr/>
        </p:nvSpPr>
        <p:spPr>
          <a:xfrm>
            <a:off x="8016875" y="410654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6" name="Rectangle 375">
            <a:extLst>
              <a:ext uri="{FF2B5EF4-FFF2-40B4-BE49-F238E27FC236}">
                <a16:creationId xmlns:a16="http://schemas.microsoft.com/office/drawing/2014/main" id="{E7C26886-F1BD-3C28-E5CE-EE1BDC02F677}"/>
              </a:ext>
            </a:extLst>
          </p:cNvPr>
          <p:cNvSpPr/>
          <p:nvPr/>
        </p:nvSpPr>
        <p:spPr>
          <a:xfrm>
            <a:off x="8145145" y="410654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7" name="Rectangle 376">
            <a:extLst>
              <a:ext uri="{FF2B5EF4-FFF2-40B4-BE49-F238E27FC236}">
                <a16:creationId xmlns:a16="http://schemas.microsoft.com/office/drawing/2014/main" id="{02EA8464-D837-B9C5-66A7-45D69085F9BB}"/>
              </a:ext>
            </a:extLst>
          </p:cNvPr>
          <p:cNvSpPr/>
          <p:nvPr/>
        </p:nvSpPr>
        <p:spPr>
          <a:xfrm>
            <a:off x="8273415" y="410654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 name="Rectangle 377">
            <a:extLst>
              <a:ext uri="{FF2B5EF4-FFF2-40B4-BE49-F238E27FC236}">
                <a16:creationId xmlns:a16="http://schemas.microsoft.com/office/drawing/2014/main" id="{0D92AF44-4AD0-D724-C086-23E247A3D473}"/>
              </a:ext>
            </a:extLst>
          </p:cNvPr>
          <p:cNvSpPr/>
          <p:nvPr/>
        </p:nvSpPr>
        <p:spPr>
          <a:xfrm>
            <a:off x="6349365" y="423481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9" name="Rectangle 378">
            <a:extLst>
              <a:ext uri="{FF2B5EF4-FFF2-40B4-BE49-F238E27FC236}">
                <a16:creationId xmlns:a16="http://schemas.microsoft.com/office/drawing/2014/main" id="{0F3DEA07-363F-8D13-3169-B3DA25EC5047}"/>
              </a:ext>
            </a:extLst>
          </p:cNvPr>
          <p:cNvSpPr/>
          <p:nvPr/>
        </p:nvSpPr>
        <p:spPr>
          <a:xfrm>
            <a:off x="6477635" y="4234815"/>
            <a:ext cx="109219"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0" name="Rectangle 379">
            <a:extLst>
              <a:ext uri="{FF2B5EF4-FFF2-40B4-BE49-F238E27FC236}">
                <a16:creationId xmlns:a16="http://schemas.microsoft.com/office/drawing/2014/main" id="{3A4C94C6-9CD3-5DFA-E815-3362C492BD16}"/>
              </a:ext>
            </a:extLst>
          </p:cNvPr>
          <p:cNvSpPr/>
          <p:nvPr/>
        </p:nvSpPr>
        <p:spPr>
          <a:xfrm>
            <a:off x="6605905" y="423481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1" name="Rectangle 380">
            <a:extLst>
              <a:ext uri="{FF2B5EF4-FFF2-40B4-BE49-F238E27FC236}">
                <a16:creationId xmlns:a16="http://schemas.microsoft.com/office/drawing/2014/main" id="{343D66AD-163D-F3A9-24A1-869545F05E68}"/>
              </a:ext>
            </a:extLst>
          </p:cNvPr>
          <p:cNvSpPr/>
          <p:nvPr/>
        </p:nvSpPr>
        <p:spPr>
          <a:xfrm>
            <a:off x="6734175" y="423481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2" name="Rectangle 381">
            <a:extLst>
              <a:ext uri="{FF2B5EF4-FFF2-40B4-BE49-F238E27FC236}">
                <a16:creationId xmlns:a16="http://schemas.microsoft.com/office/drawing/2014/main" id="{6CE1AD04-F6BC-2B68-09C3-B7BD93AA4863}"/>
              </a:ext>
            </a:extLst>
          </p:cNvPr>
          <p:cNvSpPr/>
          <p:nvPr/>
        </p:nvSpPr>
        <p:spPr>
          <a:xfrm>
            <a:off x="6862445" y="423481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3" name="Rectangle 382">
            <a:extLst>
              <a:ext uri="{FF2B5EF4-FFF2-40B4-BE49-F238E27FC236}">
                <a16:creationId xmlns:a16="http://schemas.microsoft.com/office/drawing/2014/main" id="{B3DE6E85-FE47-1908-FFBC-9F00289EE3FF}"/>
              </a:ext>
            </a:extLst>
          </p:cNvPr>
          <p:cNvSpPr/>
          <p:nvPr/>
        </p:nvSpPr>
        <p:spPr>
          <a:xfrm>
            <a:off x="6990715" y="423481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4" name="Rectangle 383">
            <a:extLst>
              <a:ext uri="{FF2B5EF4-FFF2-40B4-BE49-F238E27FC236}">
                <a16:creationId xmlns:a16="http://schemas.microsoft.com/office/drawing/2014/main" id="{D210C877-C6B1-2861-7115-140493C4AA9B}"/>
              </a:ext>
            </a:extLst>
          </p:cNvPr>
          <p:cNvSpPr/>
          <p:nvPr/>
        </p:nvSpPr>
        <p:spPr>
          <a:xfrm>
            <a:off x="7118985" y="4234815"/>
            <a:ext cx="109219"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 name="Rectangle 384">
            <a:extLst>
              <a:ext uri="{FF2B5EF4-FFF2-40B4-BE49-F238E27FC236}">
                <a16:creationId xmlns:a16="http://schemas.microsoft.com/office/drawing/2014/main" id="{83F9553D-E82A-5409-5671-E4EB69CAB3FB}"/>
              </a:ext>
            </a:extLst>
          </p:cNvPr>
          <p:cNvSpPr/>
          <p:nvPr/>
        </p:nvSpPr>
        <p:spPr>
          <a:xfrm>
            <a:off x="7247255" y="423481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 name="Rectangle 385">
            <a:extLst>
              <a:ext uri="{FF2B5EF4-FFF2-40B4-BE49-F238E27FC236}">
                <a16:creationId xmlns:a16="http://schemas.microsoft.com/office/drawing/2014/main" id="{CA66D804-060B-8FA1-2B59-728D659638AB}"/>
              </a:ext>
            </a:extLst>
          </p:cNvPr>
          <p:cNvSpPr/>
          <p:nvPr/>
        </p:nvSpPr>
        <p:spPr>
          <a:xfrm>
            <a:off x="7375525" y="423481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7" name="Rectangle 386">
            <a:extLst>
              <a:ext uri="{FF2B5EF4-FFF2-40B4-BE49-F238E27FC236}">
                <a16:creationId xmlns:a16="http://schemas.microsoft.com/office/drawing/2014/main" id="{4961ECBF-09D2-A454-2F5B-ADB75AD67D1F}"/>
              </a:ext>
            </a:extLst>
          </p:cNvPr>
          <p:cNvSpPr/>
          <p:nvPr/>
        </p:nvSpPr>
        <p:spPr>
          <a:xfrm>
            <a:off x="7503795" y="423481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8" name="Rectangle 387">
            <a:extLst>
              <a:ext uri="{FF2B5EF4-FFF2-40B4-BE49-F238E27FC236}">
                <a16:creationId xmlns:a16="http://schemas.microsoft.com/office/drawing/2014/main" id="{0E5FBB98-6A84-C5B6-BE5B-4D19A0C3B2E8}"/>
              </a:ext>
            </a:extLst>
          </p:cNvPr>
          <p:cNvSpPr/>
          <p:nvPr/>
        </p:nvSpPr>
        <p:spPr>
          <a:xfrm>
            <a:off x="7632065" y="423481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 name="Rectangle 388">
            <a:extLst>
              <a:ext uri="{FF2B5EF4-FFF2-40B4-BE49-F238E27FC236}">
                <a16:creationId xmlns:a16="http://schemas.microsoft.com/office/drawing/2014/main" id="{BC0148B4-52D9-E250-91C1-BC0991B866AB}"/>
              </a:ext>
            </a:extLst>
          </p:cNvPr>
          <p:cNvSpPr/>
          <p:nvPr/>
        </p:nvSpPr>
        <p:spPr>
          <a:xfrm>
            <a:off x="7760335" y="4234815"/>
            <a:ext cx="109219"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 name="Rectangle 389">
            <a:extLst>
              <a:ext uri="{FF2B5EF4-FFF2-40B4-BE49-F238E27FC236}">
                <a16:creationId xmlns:a16="http://schemas.microsoft.com/office/drawing/2014/main" id="{0D0D7755-1622-F6F5-9CB5-C4997D2CDCDB}"/>
              </a:ext>
            </a:extLst>
          </p:cNvPr>
          <p:cNvSpPr/>
          <p:nvPr/>
        </p:nvSpPr>
        <p:spPr>
          <a:xfrm>
            <a:off x="7888605" y="423481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 name="Rectangle 390">
            <a:extLst>
              <a:ext uri="{FF2B5EF4-FFF2-40B4-BE49-F238E27FC236}">
                <a16:creationId xmlns:a16="http://schemas.microsoft.com/office/drawing/2014/main" id="{F100E497-E2A5-24AA-0C41-59436CEC3003}"/>
              </a:ext>
            </a:extLst>
          </p:cNvPr>
          <p:cNvSpPr/>
          <p:nvPr/>
        </p:nvSpPr>
        <p:spPr>
          <a:xfrm>
            <a:off x="8016875" y="4234815"/>
            <a:ext cx="109220"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 name="Rectangle 391">
            <a:extLst>
              <a:ext uri="{FF2B5EF4-FFF2-40B4-BE49-F238E27FC236}">
                <a16:creationId xmlns:a16="http://schemas.microsoft.com/office/drawing/2014/main" id="{E082E583-F1EB-39A1-5B11-ACF1278CA589}"/>
              </a:ext>
            </a:extLst>
          </p:cNvPr>
          <p:cNvSpPr/>
          <p:nvPr/>
        </p:nvSpPr>
        <p:spPr>
          <a:xfrm>
            <a:off x="8145145" y="423481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 name="Rectangle 392">
            <a:extLst>
              <a:ext uri="{FF2B5EF4-FFF2-40B4-BE49-F238E27FC236}">
                <a16:creationId xmlns:a16="http://schemas.microsoft.com/office/drawing/2014/main" id="{7DDBD523-39A2-A659-3182-6E8A8557D07B}"/>
              </a:ext>
            </a:extLst>
          </p:cNvPr>
          <p:cNvSpPr/>
          <p:nvPr/>
        </p:nvSpPr>
        <p:spPr>
          <a:xfrm>
            <a:off x="8273415" y="423481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 name="Rectangle 393">
            <a:extLst>
              <a:ext uri="{FF2B5EF4-FFF2-40B4-BE49-F238E27FC236}">
                <a16:creationId xmlns:a16="http://schemas.microsoft.com/office/drawing/2014/main" id="{D946B1DD-4C27-EFD1-E618-EFC379259253}"/>
              </a:ext>
            </a:extLst>
          </p:cNvPr>
          <p:cNvSpPr/>
          <p:nvPr/>
        </p:nvSpPr>
        <p:spPr>
          <a:xfrm>
            <a:off x="6349365" y="436308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Rectangle 394">
            <a:extLst>
              <a:ext uri="{FF2B5EF4-FFF2-40B4-BE49-F238E27FC236}">
                <a16:creationId xmlns:a16="http://schemas.microsoft.com/office/drawing/2014/main" id="{EAEBF9B5-16C7-7667-F30F-A7E1A9A8453F}"/>
              </a:ext>
            </a:extLst>
          </p:cNvPr>
          <p:cNvSpPr/>
          <p:nvPr/>
        </p:nvSpPr>
        <p:spPr>
          <a:xfrm>
            <a:off x="6477635" y="4363085"/>
            <a:ext cx="109219"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 name="Rectangle 395">
            <a:extLst>
              <a:ext uri="{FF2B5EF4-FFF2-40B4-BE49-F238E27FC236}">
                <a16:creationId xmlns:a16="http://schemas.microsoft.com/office/drawing/2014/main" id="{90335F03-2FDC-BFA4-7005-AF6C44DB8033}"/>
              </a:ext>
            </a:extLst>
          </p:cNvPr>
          <p:cNvSpPr/>
          <p:nvPr/>
        </p:nvSpPr>
        <p:spPr>
          <a:xfrm>
            <a:off x="6605905" y="436308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 name="Rectangle 396">
            <a:extLst>
              <a:ext uri="{FF2B5EF4-FFF2-40B4-BE49-F238E27FC236}">
                <a16:creationId xmlns:a16="http://schemas.microsoft.com/office/drawing/2014/main" id="{964691FA-25D8-67E7-ECF8-3B62E201F5F8}"/>
              </a:ext>
            </a:extLst>
          </p:cNvPr>
          <p:cNvSpPr/>
          <p:nvPr/>
        </p:nvSpPr>
        <p:spPr>
          <a:xfrm>
            <a:off x="6734175" y="436308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 name="Rectangle 397">
            <a:extLst>
              <a:ext uri="{FF2B5EF4-FFF2-40B4-BE49-F238E27FC236}">
                <a16:creationId xmlns:a16="http://schemas.microsoft.com/office/drawing/2014/main" id="{1134E7AC-4C43-8DEC-B48D-30EFBC84A133}"/>
              </a:ext>
            </a:extLst>
          </p:cNvPr>
          <p:cNvSpPr/>
          <p:nvPr/>
        </p:nvSpPr>
        <p:spPr>
          <a:xfrm>
            <a:off x="6862445" y="436308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 name="Rectangle 398">
            <a:extLst>
              <a:ext uri="{FF2B5EF4-FFF2-40B4-BE49-F238E27FC236}">
                <a16:creationId xmlns:a16="http://schemas.microsoft.com/office/drawing/2014/main" id="{F403B6A8-6774-AAC3-A15D-3B9BF0DCB776}"/>
              </a:ext>
            </a:extLst>
          </p:cNvPr>
          <p:cNvSpPr/>
          <p:nvPr/>
        </p:nvSpPr>
        <p:spPr>
          <a:xfrm>
            <a:off x="6990715" y="436308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 name="Rectangle 399">
            <a:extLst>
              <a:ext uri="{FF2B5EF4-FFF2-40B4-BE49-F238E27FC236}">
                <a16:creationId xmlns:a16="http://schemas.microsoft.com/office/drawing/2014/main" id="{70A42650-A500-F2DB-E869-07246D7C1D49}"/>
              </a:ext>
            </a:extLst>
          </p:cNvPr>
          <p:cNvSpPr/>
          <p:nvPr/>
        </p:nvSpPr>
        <p:spPr>
          <a:xfrm>
            <a:off x="7118985" y="4363085"/>
            <a:ext cx="109219"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 name="Rectangle 400">
            <a:extLst>
              <a:ext uri="{FF2B5EF4-FFF2-40B4-BE49-F238E27FC236}">
                <a16:creationId xmlns:a16="http://schemas.microsoft.com/office/drawing/2014/main" id="{3AAD909D-CF7C-2522-C516-F5B023727AFB}"/>
              </a:ext>
            </a:extLst>
          </p:cNvPr>
          <p:cNvSpPr/>
          <p:nvPr/>
        </p:nvSpPr>
        <p:spPr>
          <a:xfrm>
            <a:off x="7247255" y="436308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2" name="Rectangle 401">
            <a:extLst>
              <a:ext uri="{FF2B5EF4-FFF2-40B4-BE49-F238E27FC236}">
                <a16:creationId xmlns:a16="http://schemas.microsoft.com/office/drawing/2014/main" id="{BBBF1A93-E11C-7955-EC43-0DED2F0969A3}"/>
              </a:ext>
            </a:extLst>
          </p:cNvPr>
          <p:cNvSpPr/>
          <p:nvPr/>
        </p:nvSpPr>
        <p:spPr>
          <a:xfrm>
            <a:off x="7375525" y="436308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3" name="Rectangle 402">
            <a:extLst>
              <a:ext uri="{FF2B5EF4-FFF2-40B4-BE49-F238E27FC236}">
                <a16:creationId xmlns:a16="http://schemas.microsoft.com/office/drawing/2014/main" id="{9C81672D-0222-80FB-3F35-03AED1E3D3F6}"/>
              </a:ext>
            </a:extLst>
          </p:cNvPr>
          <p:cNvSpPr/>
          <p:nvPr/>
        </p:nvSpPr>
        <p:spPr>
          <a:xfrm>
            <a:off x="7503795" y="4363085"/>
            <a:ext cx="109220"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4" name="Rectangle 403">
            <a:extLst>
              <a:ext uri="{FF2B5EF4-FFF2-40B4-BE49-F238E27FC236}">
                <a16:creationId xmlns:a16="http://schemas.microsoft.com/office/drawing/2014/main" id="{385B068F-CD55-1EF2-EB6F-1DC9D41A32D6}"/>
              </a:ext>
            </a:extLst>
          </p:cNvPr>
          <p:cNvSpPr/>
          <p:nvPr/>
        </p:nvSpPr>
        <p:spPr>
          <a:xfrm>
            <a:off x="7632065" y="436308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5" name="Rectangle 404">
            <a:extLst>
              <a:ext uri="{FF2B5EF4-FFF2-40B4-BE49-F238E27FC236}">
                <a16:creationId xmlns:a16="http://schemas.microsoft.com/office/drawing/2014/main" id="{011E221D-C750-BB1C-02EA-7BD91A58AF63}"/>
              </a:ext>
            </a:extLst>
          </p:cNvPr>
          <p:cNvSpPr/>
          <p:nvPr/>
        </p:nvSpPr>
        <p:spPr>
          <a:xfrm>
            <a:off x="7760335" y="4363085"/>
            <a:ext cx="109219"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6" name="Rectangle 405">
            <a:extLst>
              <a:ext uri="{FF2B5EF4-FFF2-40B4-BE49-F238E27FC236}">
                <a16:creationId xmlns:a16="http://schemas.microsoft.com/office/drawing/2014/main" id="{701B6FF8-36E2-4309-9812-8162E485506A}"/>
              </a:ext>
            </a:extLst>
          </p:cNvPr>
          <p:cNvSpPr/>
          <p:nvPr/>
        </p:nvSpPr>
        <p:spPr>
          <a:xfrm>
            <a:off x="7888605" y="436308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7" name="Rectangle 406">
            <a:extLst>
              <a:ext uri="{FF2B5EF4-FFF2-40B4-BE49-F238E27FC236}">
                <a16:creationId xmlns:a16="http://schemas.microsoft.com/office/drawing/2014/main" id="{90BAE2FE-4617-834B-505D-526A19F356CF}"/>
              </a:ext>
            </a:extLst>
          </p:cNvPr>
          <p:cNvSpPr/>
          <p:nvPr/>
        </p:nvSpPr>
        <p:spPr>
          <a:xfrm>
            <a:off x="8016875" y="436308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8" name="Rectangle 407">
            <a:extLst>
              <a:ext uri="{FF2B5EF4-FFF2-40B4-BE49-F238E27FC236}">
                <a16:creationId xmlns:a16="http://schemas.microsoft.com/office/drawing/2014/main" id="{9AD573EA-B4BB-2756-1544-B960A4DE00A7}"/>
              </a:ext>
            </a:extLst>
          </p:cNvPr>
          <p:cNvSpPr/>
          <p:nvPr/>
        </p:nvSpPr>
        <p:spPr>
          <a:xfrm>
            <a:off x="8145145" y="436308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Rectangle 408">
            <a:extLst>
              <a:ext uri="{FF2B5EF4-FFF2-40B4-BE49-F238E27FC236}">
                <a16:creationId xmlns:a16="http://schemas.microsoft.com/office/drawing/2014/main" id="{A6552014-79B8-9AF1-622F-9FF43AA04921}"/>
              </a:ext>
            </a:extLst>
          </p:cNvPr>
          <p:cNvSpPr/>
          <p:nvPr/>
        </p:nvSpPr>
        <p:spPr>
          <a:xfrm>
            <a:off x="8273415" y="436308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 name="Rectangle 409">
            <a:extLst>
              <a:ext uri="{FF2B5EF4-FFF2-40B4-BE49-F238E27FC236}">
                <a16:creationId xmlns:a16="http://schemas.microsoft.com/office/drawing/2014/main" id="{F754D35C-AC4D-F7E5-406E-3A2F6B54A1FE}"/>
              </a:ext>
            </a:extLst>
          </p:cNvPr>
          <p:cNvSpPr/>
          <p:nvPr/>
        </p:nvSpPr>
        <p:spPr>
          <a:xfrm>
            <a:off x="6349365" y="449135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 name="Rectangle 410">
            <a:extLst>
              <a:ext uri="{FF2B5EF4-FFF2-40B4-BE49-F238E27FC236}">
                <a16:creationId xmlns:a16="http://schemas.microsoft.com/office/drawing/2014/main" id="{493C305D-29D9-D47E-3BE5-61E338502B33}"/>
              </a:ext>
            </a:extLst>
          </p:cNvPr>
          <p:cNvSpPr/>
          <p:nvPr/>
        </p:nvSpPr>
        <p:spPr>
          <a:xfrm>
            <a:off x="6477635" y="4491355"/>
            <a:ext cx="109219"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 name="Rectangle 411">
            <a:extLst>
              <a:ext uri="{FF2B5EF4-FFF2-40B4-BE49-F238E27FC236}">
                <a16:creationId xmlns:a16="http://schemas.microsoft.com/office/drawing/2014/main" id="{C2EF2FE6-F3C0-0981-B80A-B60EACBEC3C5}"/>
              </a:ext>
            </a:extLst>
          </p:cNvPr>
          <p:cNvSpPr/>
          <p:nvPr/>
        </p:nvSpPr>
        <p:spPr>
          <a:xfrm>
            <a:off x="6605905" y="449135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 name="Rectangle 412">
            <a:extLst>
              <a:ext uri="{FF2B5EF4-FFF2-40B4-BE49-F238E27FC236}">
                <a16:creationId xmlns:a16="http://schemas.microsoft.com/office/drawing/2014/main" id="{E61F1A75-0C34-0315-D54A-E9C70EB69F62}"/>
              </a:ext>
            </a:extLst>
          </p:cNvPr>
          <p:cNvSpPr/>
          <p:nvPr/>
        </p:nvSpPr>
        <p:spPr>
          <a:xfrm>
            <a:off x="6734175" y="449135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 name="Rectangle 413">
            <a:extLst>
              <a:ext uri="{FF2B5EF4-FFF2-40B4-BE49-F238E27FC236}">
                <a16:creationId xmlns:a16="http://schemas.microsoft.com/office/drawing/2014/main" id="{B1C3203A-255E-0B3E-1B2E-2AC1B1598C0F}"/>
              </a:ext>
            </a:extLst>
          </p:cNvPr>
          <p:cNvSpPr/>
          <p:nvPr/>
        </p:nvSpPr>
        <p:spPr>
          <a:xfrm>
            <a:off x="6862445" y="449135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5" name="Rectangle 414">
            <a:extLst>
              <a:ext uri="{FF2B5EF4-FFF2-40B4-BE49-F238E27FC236}">
                <a16:creationId xmlns:a16="http://schemas.microsoft.com/office/drawing/2014/main" id="{C0B5BBB9-B2F8-525C-F692-ED24213C17F0}"/>
              </a:ext>
            </a:extLst>
          </p:cNvPr>
          <p:cNvSpPr/>
          <p:nvPr/>
        </p:nvSpPr>
        <p:spPr>
          <a:xfrm>
            <a:off x="6990715" y="449135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 name="Rectangle 415">
            <a:extLst>
              <a:ext uri="{FF2B5EF4-FFF2-40B4-BE49-F238E27FC236}">
                <a16:creationId xmlns:a16="http://schemas.microsoft.com/office/drawing/2014/main" id="{2AA38D15-DC2B-B712-168E-4C7DE5F9AB82}"/>
              </a:ext>
            </a:extLst>
          </p:cNvPr>
          <p:cNvSpPr/>
          <p:nvPr/>
        </p:nvSpPr>
        <p:spPr>
          <a:xfrm>
            <a:off x="7118985" y="4491355"/>
            <a:ext cx="109219"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Rectangle 416">
            <a:extLst>
              <a:ext uri="{FF2B5EF4-FFF2-40B4-BE49-F238E27FC236}">
                <a16:creationId xmlns:a16="http://schemas.microsoft.com/office/drawing/2014/main" id="{F0EDAEAC-3114-008A-00BE-91C895C1DA41}"/>
              </a:ext>
            </a:extLst>
          </p:cNvPr>
          <p:cNvSpPr/>
          <p:nvPr/>
        </p:nvSpPr>
        <p:spPr>
          <a:xfrm>
            <a:off x="7247255" y="4491355"/>
            <a:ext cx="109220"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 name="Rectangle 417">
            <a:extLst>
              <a:ext uri="{FF2B5EF4-FFF2-40B4-BE49-F238E27FC236}">
                <a16:creationId xmlns:a16="http://schemas.microsoft.com/office/drawing/2014/main" id="{7CEC3A8E-E318-3F22-253B-D62C37878967}"/>
              </a:ext>
            </a:extLst>
          </p:cNvPr>
          <p:cNvSpPr/>
          <p:nvPr/>
        </p:nvSpPr>
        <p:spPr>
          <a:xfrm>
            <a:off x="7375525" y="449135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Rectangle 418">
            <a:extLst>
              <a:ext uri="{FF2B5EF4-FFF2-40B4-BE49-F238E27FC236}">
                <a16:creationId xmlns:a16="http://schemas.microsoft.com/office/drawing/2014/main" id="{04AE9DC7-536E-4A35-2D41-2798A8120ACD}"/>
              </a:ext>
            </a:extLst>
          </p:cNvPr>
          <p:cNvSpPr/>
          <p:nvPr/>
        </p:nvSpPr>
        <p:spPr>
          <a:xfrm>
            <a:off x="7503795" y="449135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Rectangle 419">
            <a:extLst>
              <a:ext uri="{FF2B5EF4-FFF2-40B4-BE49-F238E27FC236}">
                <a16:creationId xmlns:a16="http://schemas.microsoft.com/office/drawing/2014/main" id="{0E6FD44F-A7CA-51B6-6B7E-654321BE9FD9}"/>
              </a:ext>
            </a:extLst>
          </p:cNvPr>
          <p:cNvSpPr/>
          <p:nvPr/>
        </p:nvSpPr>
        <p:spPr>
          <a:xfrm>
            <a:off x="7632065" y="449135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Rectangle 420">
            <a:extLst>
              <a:ext uri="{FF2B5EF4-FFF2-40B4-BE49-F238E27FC236}">
                <a16:creationId xmlns:a16="http://schemas.microsoft.com/office/drawing/2014/main" id="{62360525-CDB2-0E06-8112-15718445699B}"/>
              </a:ext>
            </a:extLst>
          </p:cNvPr>
          <p:cNvSpPr/>
          <p:nvPr/>
        </p:nvSpPr>
        <p:spPr>
          <a:xfrm>
            <a:off x="7760335" y="4491355"/>
            <a:ext cx="109219"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Rectangle 421">
            <a:extLst>
              <a:ext uri="{FF2B5EF4-FFF2-40B4-BE49-F238E27FC236}">
                <a16:creationId xmlns:a16="http://schemas.microsoft.com/office/drawing/2014/main" id="{66EA1E41-23C9-861F-4C12-7ED82FDE6AC1}"/>
              </a:ext>
            </a:extLst>
          </p:cNvPr>
          <p:cNvSpPr/>
          <p:nvPr/>
        </p:nvSpPr>
        <p:spPr>
          <a:xfrm>
            <a:off x="7888605" y="449135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 name="Rectangle 422">
            <a:extLst>
              <a:ext uri="{FF2B5EF4-FFF2-40B4-BE49-F238E27FC236}">
                <a16:creationId xmlns:a16="http://schemas.microsoft.com/office/drawing/2014/main" id="{9FB27DC1-46EA-6942-8318-F9FE896A8AAC}"/>
              </a:ext>
            </a:extLst>
          </p:cNvPr>
          <p:cNvSpPr/>
          <p:nvPr/>
        </p:nvSpPr>
        <p:spPr>
          <a:xfrm>
            <a:off x="8016875" y="449135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 name="Rectangle 423">
            <a:extLst>
              <a:ext uri="{FF2B5EF4-FFF2-40B4-BE49-F238E27FC236}">
                <a16:creationId xmlns:a16="http://schemas.microsoft.com/office/drawing/2014/main" id="{52471A4A-5E62-BFE4-C070-3EB5F80C872D}"/>
              </a:ext>
            </a:extLst>
          </p:cNvPr>
          <p:cNvSpPr/>
          <p:nvPr/>
        </p:nvSpPr>
        <p:spPr>
          <a:xfrm>
            <a:off x="8145145" y="449135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 name="Rectangle 424">
            <a:extLst>
              <a:ext uri="{FF2B5EF4-FFF2-40B4-BE49-F238E27FC236}">
                <a16:creationId xmlns:a16="http://schemas.microsoft.com/office/drawing/2014/main" id="{C6933984-F4C0-0197-1283-3B4DAAC26E01}"/>
              </a:ext>
            </a:extLst>
          </p:cNvPr>
          <p:cNvSpPr/>
          <p:nvPr/>
        </p:nvSpPr>
        <p:spPr>
          <a:xfrm>
            <a:off x="8273415" y="449135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 name="Rectangle 425">
            <a:extLst>
              <a:ext uri="{FF2B5EF4-FFF2-40B4-BE49-F238E27FC236}">
                <a16:creationId xmlns:a16="http://schemas.microsoft.com/office/drawing/2014/main" id="{FAE462A8-BC37-ED14-743E-53F6465CDC8E}"/>
              </a:ext>
            </a:extLst>
          </p:cNvPr>
          <p:cNvSpPr/>
          <p:nvPr/>
        </p:nvSpPr>
        <p:spPr>
          <a:xfrm>
            <a:off x="6349365" y="461962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 name="Rectangle 426">
            <a:extLst>
              <a:ext uri="{FF2B5EF4-FFF2-40B4-BE49-F238E27FC236}">
                <a16:creationId xmlns:a16="http://schemas.microsoft.com/office/drawing/2014/main" id="{D57E9022-0A62-5A5B-4911-AA647C787E78}"/>
              </a:ext>
            </a:extLst>
          </p:cNvPr>
          <p:cNvSpPr/>
          <p:nvPr/>
        </p:nvSpPr>
        <p:spPr>
          <a:xfrm>
            <a:off x="6477635" y="4619625"/>
            <a:ext cx="109219"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Rectangle 427">
            <a:extLst>
              <a:ext uri="{FF2B5EF4-FFF2-40B4-BE49-F238E27FC236}">
                <a16:creationId xmlns:a16="http://schemas.microsoft.com/office/drawing/2014/main" id="{45C79901-ACCD-4B6D-B618-2D8D6B7703DE}"/>
              </a:ext>
            </a:extLst>
          </p:cNvPr>
          <p:cNvSpPr/>
          <p:nvPr/>
        </p:nvSpPr>
        <p:spPr>
          <a:xfrm>
            <a:off x="6605905" y="461962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Rectangle 428">
            <a:extLst>
              <a:ext uri="{FF2B5EF4-FFF2-40B4-BE49-F238E27FC236}">
                <a16:creationId xmlns:a16="http://schemas.microsoft.com/office/drawing/2014/main" id="{CBA8EDE2-A32B-D579-035E-039CBEAAB21D}"/>
              </a:ext>
            </a:extLst>
          </p:cNvPr>
          <p:cNvSpPr/>
          <p:nvPr/>
        </p:nvSpPr>
        <p:spPr>
          <a:xfrm>
            <a:off x="6734175" y="4619625"/>
            <a:ext cx="109220"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Rectangle 429">
            <a:extLst>
              <a:ext uri="{FF2B5EF4-FFF2-40B4-BE49-F238E27FC236}">
                <a16:creationId xmlns:a16="http://schemas.microsoft.com/office/drawing/2014/main" id="{897C1013-0D12-0F44-3189-9EEC680112E8}"/>
              </a:ext>
            </a:extLst>
          </p:cNvPr>
          <p:cNvSpPr/>
          <p:nvPr/>
        </p:nvSpPr>
        <p:spPr>
          <a:xfrm>
            <a:off x="6862445" y="461962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1" name="Rectangle 430">
            <a:extLst>
              <a:ext uri="{FF2B5EF4-FFF2-40B4-BE49-F238E27FC236}">
                <a16:creationId xmlns:a16="http://schemas.microsoft.com/office/drawing/2014/main" id="{780F859C-1F1A-17BB-8D21-9C5548B12A14}"/>
              </a:ext>
            </a:extLst>
          </p:cNvPr>
          <p:cNvSpPr/>
          <p:nvPr/>
        </p:nvSpPr>
        <p:spPr>
          <a:xfrm>
            <a:off x="6990715" y="461962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2" name="Rectangle 431">
            <a:extLst>
              <a:ext uri="{FF2B5EF4-FFF2-40B4-BE49-F238E27FC236}">
                <a16:creationId xmlns:a16="http://schemas.microsoft.com/office/drawing/2014/main" id="{72242769-05BD-CC1A-6A62-D00F7A9D0B83}"/>
              </a:ext>
            </a:extLst>
          </p:cNvPr>
          <p:cNvSpPr/>
          <p:nvPr/>
        </p:nvSpPr>
        <p:spPr>
          <a:xfrm>
            <a:off x="7118985" y="4619625"/>
            <a:ext cx="109219"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3" name="Rectangle 432">
            <a:extLst>
              <a:ext uri="{FF2B5EF4-FFF2-40B4-BE49-F238E27FC236}">
                <a16:creationId xmlns:a16="http://schemas.microsoft.com/office/drawing/2014/main" id="{9F84E405-A223-B8BF-9F95-CB1226D2CBE1}"/>
              </a:ext>
            </a:extLst>
          </p:cNvPr>
          <p:cNvSpPr/>
          <p:nvPr/>
        </p:nvSpPr>
        <p:spPr>
          <a:xfrm>
            <a:off x="7247255" y="461962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4" name="Rectangle 433">
            <a:extLst>
              <a:ext uri="{FF2B5EF4-FFF2-40B4-BE49-F238E27FC236}">
                <a16:creationId xmlns:a16="http://schemas.microsoft.com/office/drawing/2014/main" id="{5D6F7A65-E02A-AE66-4DA2-1AB133073DDB}"/>
              </a:ext>
            </a:extLst>
          </p:cNvPr>
          <p:cNvSpPr/>
          <p:nvPr/>
        </p:nvSpPr>
        <p:spPr>
          <a:xfrm>
            <a:off x="7375525" y="461962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Rectangle 434">
            <a:extLst>
              <a:ext uri="{FF2B5EF4-FFF2-40B4-BE49-F238E27FC236}">
                <a16:creationId xmlns:a16="http://schemas.microsoft.com/office/drawing/2014/main" id="{8DBD1515-73ED-B7D4-D34B-E4075750A260}"/>
              </a:ext>
            </a:extLst>
          </p:cNvPr>
          <p:cNvSpPr/>
          <p:nvPr/>
        </p:nvSpPr>
        <p:spPr>
          <a:xfrm>
            <a:off x="7503795" y="461962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Rectangle 435">
            <a:extLst>
              <a:ext uri="{FF2B5EF4-FFF2-40B4-BE49-F238E27FC236}">
                <a16:creationId xmlns:a16="http://schemas.microsoft.com/office/drawing/2014/main" id="{0B03E7AA-5206-EB1E-9D74-517CDB29D86C}"/>
              </a:ext>
            </a:extLst>
          </p:cNvPr>
          <p:cNvSpPr/>
          <p:nvPr/>
        </p:nvSpPr>
        <p:spPr>
          <a:xfrm>
            <a:off x="7632065" y="461962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Rectangle 436">
            <a:extLst>
              <a:ext uri="{FF2B5EF4-FFF2-40B4-BE49-F238E27FC236}">
                <a16:creationId xmlns:a16="http://schemas.microsoft.com/office/drawing/2014/main" id="{2F9699F9-5232-BF59-BE91-D83891E0AEFB}"/>
              </a:ext>
            </a:extLst>
          </p:cNvPr>
          <p:cNvSpPr/>
          <p:nvPr/>
        </p:nvSpPr>
        <p:spPr>
          <a:xfrm>
            <a:off x="7760335" y="4619625"/>
            <a:ext cx="109219"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Rectangle 437">
            <a:extLst>
              <a:ext uri="{FF2B5EF4-FFF2-40B4-BE49-F238E27FC236}">
                <a16:creationId xmlns:a16="http://schemas.microsoft.com/office/drawing/2014/main" id="{86F4FB5D-83BB-AAB1-C240-65CA6602D374}"/>
              </a:ext>
            </a:extLst>
          </p:cNvPr>
          <p:cNvSpPr/>
          <p:nvPr/>
        </p:nvSpPr>
        <p:spPr>
          <a:xfrm>
            <a:off x="7888605" y="461962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Rectangle 438">
            <a:extLst>
              <a:ext uri="{FF2B5EF4-FFF2-40B4-BE49-F238E27FC236}">
                <a16:creationId xmlns:a16="http://schemas.microsoft.com/office/drawing/2014/main" id="{5B9CE500-BB44-F065-79ED-B4018D1290E9}"/>
              </a:ext>
            </a:extLst>
          </p:cNvPr>
          <p:cNvSpPr/>
          <p:nvPr/>
        </p:nvSpPr>
        <p:spPr>
          <a:xfrm>
            <a:off x="8016875" y="461962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 name="Rectangle 439">
            <a:extLst>
              <a:ext uri="{FF2B5EF4-FFF2-40B4-BE49-F238E27FC236}">
                <a16:creationId xmlns:a16="http://schemas.microsoft.com/office/drawing/2014/main" id="{71DF152C-5912-6B3A-F164-E713E76A0BFC}"/>
              </a:ext>
            </a:extLst>
          </p:cNvPr>
          <p:cNvSpPr/>
          <p:nvPr/>
        </p:nvSpPr>
        <p:spPr>
          <a:xfrm>
            <a:off x="8145145" y="461962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 name="Rectangle 440">
            <a:extLst>
              <a:ext uri="{FF2B5EF4-FFF2-40B4-BE49-F238E27FC236}">
                <a16:creationId xmlns:a16="http://schemas.microsoft.com/office/drawing/2014/main" id="{F931F2E5-7C4A-0DA9-DAAD-480038C78EC9}"/>
              </a:ext>
            </a:extLst>
          </p:cNvPr>
          <p:cNvSpPr/>
          <p:nvPr/>
        </p:nvSpPr>
        <p:spPr>
          <a:xfrm>
            <a:off x="8273415" y="461962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Rectangle 441">
            <a:extLst>
              <a:ext uri="{FF2B5EF4-FFF2-40B4-BE49-F238E27FC236}">
                <a16:creationId xmlns:a16="http://schemas.microsoft.com/office/drawing/2014/main" id="{36B95AD7-9C8D-FCDB-7038-064FEC5C87CC}"/>
              </a:ext>
            </a:extLst>
          </p:cNvPr>
          <p:cNvSpPr/>
          <p:nvPr/>
        </p:nvSpPr>
        <p:spPr>
          <a:xfrm>
            <a:off x="6349365" y="474789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 name="Rectangle 442">
            <a:extLst>
              <a:ext uri="{FF2B5EF4-FFF2-40B4-BE49-F238E27FC236}">
                <a16:creationId xmlns:a16="http://schemas.microsoft.com/office/drawing/2014/main" id="{760D33EC-77E9-984B-9203-A7BB525A18A2}"/>
              </a:ext>
            </a:extLst>
          </p:cNvPr>
          <p:cNvSpPr/>
          <p:nvPr/>
        </p:nvSpPr>
        <p:spPr>
          <a:xfrm>
            <a:off x="6477635" y="4747895"/>
            <a:ext cx="109219"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 name="Rectangle 443">
            <a:extLst>
              <a:ext uri="{FF2B5EF4-FFF2-40B4-BE49-F238E27FC236}">
                <a16:creationId xmlns:a16="http://schemas.microsoft.com/office/drawing/2014/main" id="{EF7B09DC-8949-6ECA-BA5C-67F07688F2D9}"/>
              </a:ext>
            </a:extLst>
          </p:cNvPr>
          <p:cNvSpPr/>
          <p:nvPr/>
        </p:nvSpPr>
        <p:spPr>
          <a:xfrm>
            <a:off x="6605905" y="474789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Rectangle 444">
            <a:extLst>
              <a:ext uri="{FF2B5EF4-FFF2-40B4-BE49-F238E27FC236}">
                <a16:creationId xmlns:a16="http://schemas.microsoft.com/office/drawing/2014/main" id="{5840F5F7-D82A-34AF-718D-B54D7D92D6BD}"/>
              </a:ext>
            </a:extLst>
          </p:cNvPr>
          <p:cNvSpPr/>
          <p:nvPr/>
        </p:nvSpPr>
        <p:spPr>
          <a:xfrm>
            <a:off x="6734175" y="474789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 name="Rectangle 445">
            <a:extLst>
              <a:ext uri="{FF2B5EF4-FFF2-40B4-BE49-F238E27FC236}">
                <a16:creationId xmlns:a16="http://schemas.microsoft.com/office/drawing/2014/main" id="{CF6E1604-2E93-3C8F-1467-766C4A2E73C5}"/>
              </a:ext>
            </a:extLst>
          </p:cNvPr>
          <p:cNvSpPr/>
          <p:nvPr/>
        </p:nvSpPr>
        <p:spPr>
          <a:xfrm>
            <a:off x="6862445" y="474789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 name="Rectangle 446">
            <a:extLst>
              <a:ext uri="{FF2B5EF4-FFF2-40B4-BE49-F238E27FC236}">
                <a16:creationId xmlns:a16="http://schemas.microsoft.com/office/drawing/2014/main" id="{DC4A06AD-227D-29CB-53BD-78A5B6F4117C}"/>
              </a:ext>
            </a:extLst>
          </p:cNvPr>
          <p:cNvSpPr/>
          <p:nvPr/>
        </p:nvSpPr>
        <p:spPr>
          <a:xfrm>
            <a:off x="6990715" y="4747895"/>
            <a:ext cx="109220"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 name="Rectangle 447">
            <a:extLst>
              <a:ext uri="{FF2B5EF4-FFF2-40B4-BE49-F238E27FC236}">
                <a16:creationId xmlns:a16="http://schemas.microsoft.com/office/drawing/2014/main" id="{5F1D4D84-786C-35C7-9246-24F10E9BAFD6}"/>
              </a:ext>
            </a:extLst>
          </p:cNvPr>
          <p:cNvSpPr/>
          <p:nvPr/>
        </p:nvSpPr>
        <p:spPr>
          <a:xfrm>
            <a:off x="7118985" y="4747895"/>
            <a:ext cx="109219"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Rectangle 448">
            <a:extLst>
              <a:ext uri="{FF2B5EF4-FFF2-40B4-BE49-F238E27FC236}">
                <a16:creationId xmlns:a16="http://schemas.microsoft.com/office/drawing/2014/main" id="{9CBDCD97-CFEF-B362-FC0C-C3907C7EE434}"/>
              </a:ext>
            </a:extLst>
          </p:cNvPr>
          <p:cNvSpPr/>
          <p:nvPr/>
        </p:nvSpPr>
        <p:spPr>
          <a:xfrm>
            <a:off x="7247255" y="474789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 name="Rectangle 449">
            <a:extLst>
              <a:ext uri="{FF2B5EF4-FFF2-40B4-BE49-F238E27FC236}">
                <a16:creationId xmlns:a16="http://schemas.microsoft.com/office/drawing/2014/main" id="{A1E4F416-2D37-C9E7-8BCD-59E58C293583}"/>
              </a:ext>
            </a:extLst>
          </p:cNvPr>
          <p:cNvSpPr/>
          <p:nvPr/>
        </p:nvSpPr>
        <p:spPr>
          <a:xfrm>
            <a:off x="7375525" y="474789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Rectangle 450">
            <a:extLst>
              <a:ext uri="{FF2B5EF4-FFF2-40B4-BE49-F238E27FC236}">
                <a16:creationId xmlns:a16="http://schemas.microsoft.com/office/drawing/2014/main" id="{43F9E0AC-4E9D-1C2C-85A1-2C692E0B8435}"/>
              </a:ext>
            </a:extLst>
          </p:cNvPr>
          <p:cNvSpPr/>
          <p:nvPr/>
        </p:nvSpPr>
        <p:spPr>
          <a:xfrm>
            <a:off x="7503795" y="474789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Rectangle 451">
            <a:extLst>
              <a:ext uri="{FF2B5EF4-FFF2-40B4-BE49-F238E27FC236}">
                <a16:creationId xmlns:a16="http://schemas.microsoft.com/office/drawing/2014/main" id="{DA1BC7D9-947A-C317-7634-BB27707321AD}"/>
              </a:ext>
            </a:extLst>
          </p:cNvPr>
          <p:cNvSpPr/>
          <p:nvPr/>
        </p:nvSpPr>
        <p:spPr>
          <a:xfrm>
            <a:off x="7632065" y="474789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 name="Rectangle 452">
            <a:extLst>
              <a:ext uri="{FF2B5EF4-FFF2-40B4-BE49-F238E27FC236}">
                <a16:creationId xmlns:a16="http://schemas.microsoft.com/office/drawing/2014/main" id="{1FCD0566-9C36-408A-D421-C96426A5D1D3}"/>
              </a:ext>
            </a:extLst>
          </p:cNvPr>
          <p:cNvSpPr/>
          <p:nvPr/>
        </p:nvSpPr>
        <p:spPr>
          <a:xfrm>
            <a:off x="7760335" y="4747895"/>
            <a:ext cx="109219"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4" name="Rectangle 453">
            <a:extLst>
              <a:ext uri="{FF2B5EF4-FFF2-40B4-BE49-F238E27FC236}">
                <a16:creationId xmlns:a16="http://schemas.microsoft.com/office/drawing/2014/main" id="{510CF69D-C3DE-57F3-4C81-2939134C6696}"/>
              </a:ext>
            </a:extLst>
          </p:cNvPr>
          <p:cNvSpPr/>
          <p:nvPr/>
        </p:nvSpPr>
        <p:spPr>
          <a:xfrm>
            <a:off x="7888605" y="474789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5" name="Rectangle 454">
            <a:extLst>
              <a:ext uri="{FF2B5EF4-FFF2-40B4-BE49-F238E27FC236}">
                <a16:creationId xmlns:a16="http://schemas.microsoft.com/office/drawing/2014/main" id="{9E0361F3-062B-32E9-F6DB-CE358263E4FC}"/>
              </a:ext>
            </a:extLst>
          </p:cNvPr>
          <p:cNvSpPr/>
          <p:nvPr/>
        </p:nvSpPr>
        <p:spPr>
          <a:xfrm>
            <a:off x="8016875" y="474789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6" name="Rectangle 455">
            <a:extLst>
              <a:ext uri="{FF2B5EF4-FFF2-40B4-BE49-F238E27FC236}">
                <a16:creationId xmlns:a16="http://schemas.microsoft.com/office/drawing/2014/main" id="{0C9AD2C3-D362-E3B1-61F8-B47037D33E52}"/>
              </a:ext>
            </a:extLst>
          </p:cNvPr>
          <p:cNvSpPr/>
          <p:nvPr/>
        </p:nvSpPr>
        <p:spPr>
          <a:xfrm>
            <a:off x="8145145" y="474789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7" name="Rectangle 456">
            <a:extLst>
              <a:ext uri="{FF2B5EF4-FFF2-40B4-BE49-F238E27FC236}">
                <a16:creationId xmlns:a16="http://schemas.microsoft.com/office/drawing/2014/main" id="{CD496CDC-A151-0AD5-23FF-02859E1167AC}"/>
              </a:ext>
            </a:extLst>
          </p:cNvPr>
          <p:cNvSpPr/>
          <p:nvPr/>
        </p:nvSpPr>
        <p:spPr>
          <a:xfrm>
            <a:off x="8273415" y="474789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8" name="Rectangle 457">
            <a:extLst>
              <a:ext uri="{FF2B5EF4-FFF2-40B4-BE49-F238E27FC236}">
                <a16:creationId xmlns:a16="http://schemas.microsoft.com/office/drawing/2014/main" id="{1DD6129E-CDB5-8FEE-59C4-0CEB2CEE969C}"/>
              </a:ext>
            </a:extLst>
          </p:cNvPr>
          <p:cNvSpPr/>
          <p:nvPr/>
        </p:nvSpPr>
        <p:spPr>
          <a:xfrm>
            <a:off x="6349365" y="4876165"/>
            <a:ext cx="109220" cy="109220"/>
          </a:xfrm>
          <a:prstGeom prst="rect">
            <a:avLst/>
          </a:prstGeom>
          <a:solidFill>
            <a:srgbClr val="925E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9" name="Rectangle 458">
            <a:extLst>
              <a:ext uri="{FF2B5EF4-FFF2-40B4-BE49-F238E27FC236}">
                <a16:creationId xmlns:a16="http://schemas.microsoft.com/office/drawing/2014/main" id="{3A5F8F4F-57D9-7F6D-84BF-FA2EA9FB6CAD}"/>
              </a:ext>
            </a:extLst>
          </p:cNvPr>
          <p:cNvSpPr/>
          <p:nvPr/>
        </p:nvSpPr>
        <p:spPr>
          <a:xfrm>
            <a:off x="6477635" y="4876165"/>
            <a:ext cx="109219"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 name="Rectangle 459">
            <a:extLst>
              <a:ext uri="{FF2B5EF4-FFF2-40B4-BE49-F238E27FC236}">
                <a16:creationId xmlns:a16="http://schemas.microsoft.com/office/drawing/2014/main" id="{70C929FC-0B06-3838-CFB6-9E03C710FAB8}"/>
              </a:ext>
            </a:extLst>
          </p:cNvPr>
          <p:cNvSpPr/>
          <p:nvPr/>
        </p:nvSpPr>
        <p:spPr>
          <a:xfrm>
            <a:off x="6605905" y="487616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1" name="Rectangle 460">
            <a:extLst>
              <a:ext uri="{FF2B5EF4-FFF2-40B4-BE49-F238E27FC236}">
                <a16:creationId xmlns:a16="http://schemas.microsoft.com/office/drawing/2014/main" id="{952A8177-69D2-8144-EFA3-8351F2F983D6}"/>
              </a:ext>
            </a:extLst>
          </p:cNvPr>
          <p:cNvSpPr/>
          <p:nvPr/>
        </p:nvSpPr>
        <p:spPr>
          <a:xfrm>
            <a:off x="6734175" y="487616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2" name="Rectangle 461">
            <a:extLst>
              <a:ext uri="{FF2B5EF4-FFF2-40B4-BE49-F238E27FC236}">
                <a16:creationId xmlns:a16="http://schemas.microsoft.com/office/drawing/2014/main" id="{DB923EF3-2DF9-DD0C-3BAF-9F3F4F5A582F}"/>
              </a:ext>
            </a:extLst>
          </p:cNvPr>
          <p:cNvSpPr/>
          <p:nvPr/>
        </p:nvSpPr>
        <p:spPr>
          <a:xfrm>
            <a:off x="6862445" y="4876165"/>
            <a:ext cx="109220"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3" name="Rectangle 462">
            <a:extLst>
              <a:ext uri="{FF2B5EF4-FFF2-40B4-BE49-F238E27FC236}">
                <a16:creationId xmlns:a16="http://schemas.microsoft.com/office/drawing/2014/main" id="{6A4238DC-C557-44D9-6F9A-C3143AD48096}"/>
              </a:ext>
            </a:extLst>
          </p:cNvPr>
          <p:cNvSpPr/>
          <p:nvPr/>
        </p:nvSpPr>
        <p:spPr>
          <a:xfrm>
            <a:off x="6990715" y="487616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4" name="Rectangle 463">
            <a:extLst>
              <a:ext uri="{FF2B5EF4-FFF2-40B4-BE49-F238E27FC236}">
                <a16:creationId xmlns:a16="http://schemas.microsoft.com/office/drawing/2014/main" id="{FF6033B1-F382-D2E4-C227-5B2BF8886AD0}"/>
              </a:ext>
            </a:extLst>
          </p:cNvPr>
          <p:cNvSpPr/>
          <p:nvPr/>
        </p:nvSpPr>
        <p:spPr>
          <a:xfrm>
            <a:off x="7118985" y="4876165"/>
            <a:ext cx="109219" cy="109220"/>
          </a:xfrm>
          <a:prstGeom prst="rect">
            <a:avLst/>
          </a:prstGeom>
          <a:solidFill>
            <a:srgbClr val="DF5B7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5" name="Rectangle 464">
            <a:extLst>
              <a:ext uri="{FF2B5EF4-FFF2-40B4-BE49-F238E27FC236}">
                <a16:creationId xmlns:a16="http://schemas.microsoft.com/office/drawing/2014/main" id="{813D89D6-76B3-CEAF-0634-7CE3B6B7F7B3}"/>
              </a:ext>
            </a:extLst>
          </p:cNvPr>
          <p:cNvSpPr/>
          <p:nvPr/>
        </p:nvSpPr>
        <p:spPr>
          <a:xfrm>
            <a:off x="7247255" y="4876165"/>
            <a:ext cx="109220" cy="109220"/>
          </a:xfrm>
          <a:prstGeom prst="rect">
            <a:avLst/>
          </a:prstGeom>
          <a:solidFill>
            <a:srgbClr val="244EA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6" name="Rectangle 465">
            <a:extLst>
              <a:ext uri="{FF2B5EF4-FFF2-40B4-BE49-F238E27FC236}">
                <a16:creationId xmlns:a16="http://schemas.microsoft.com/office/drawing/2014/main" id="{9F64C3D8-AB31-F7B4-A2F7-3D7F2458CDAF}"/>
              </a:ext>
            </a:extLst>
          </p:cNvPr>
          <p:cNvSpPr/>
          <p:nvPr/>
        </p:nvSpPr>
        <p:spPr>
          <a:xfrm>
            <a:off x="7375525" y="487616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7" name="Rectangle 466">
            <a:extLst>
              <a:ext uri="{FF2B5EF4-FFF2-40B4-BE49-F238E27FC236}">
                <a16:creationId xmlns:a16="http://schemas.microsoft.com/office/drawing/2014/main" id="{7BFBBFBF-D6CE-FB19-0BB4-78BA1867CFB2}"/>
              </a:ext>
            </a:extLst>
          </p:cNvPr>
          <p:cNvSpPr/>
          <p:nvPr/>
        </p:nvSpPr>
        <p:spPr>
          <a:xfrm>
            <a:off x="7503795" y="4876165"/>
            <a:ext cx="109220"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8" name="Rectangle 467">
            <a:extLst>
              <a:ext uri="{FF2B5EF4-FFF2-40B4-BE49-F238E27FC236}">
                <a16:creationId xmlns:a16="http://schemas.microsoft.com/office/drawing/2014/main" id="{733044A1-9AE1-85F2-0F17-208E770158B9}"/>
              </a:ext>
            </a:extLst>
          </p:cNvPr>
          <p:cNvSpPr/>
          <p:nvPr/>
        </p:nvSpPr>
        <p:spPr>
          <a:xfrm>
            <a:off x="7632065" y="4876165"/>
            <a:ext cx="109220" cy="109220"/>
          </a:xfrm>
          <a:prstGeom prst="rect">
            <a:avLst/>
          </a:prstGeom>
          <a:solidFill>
            <a:srgbClr val="F58F4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9" name="Rectangle 468">
            <a:extLst>
              <a:ext uri="{FF2B5EF4-FFF2-40B4-BE49-F238E27FC236}">
                <a16:creationId xmlns:a16="http://schemas.microsoft.com/office/drawing/2014/main" id="{68026BB9-6A78-7612-50DD-F09BE661697B}"/>
              </a:ext>
            </a:extLst>
          </p:cNvPr>
          <p:cNvSpPr/>
          <p:nvPr/>
        </p:nvSpPr>
        <p:spPr>
          <a:xfrm>
            <a:off x="7760335" y="4876165"/>
            <a:ext cx="109219" cy="10922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0" name="Rectangle 469">
            <a:extLst>
              <a:ext uri="{FF2B5EF4-FFF2-40B4-BE49-F238E27FC236}">
                <a16:creationId xmlns:a16="http://schemas.microsoft.com/office/drawing/2014/main" id="{8DE37D83-9F9B-06A8-528B-EA882C035FB8}"/>
              </a:ext>
            </a:extLst>
          </p:cNvPr>
          <p:cNvSpPr/>
          <p:nvPr/>
        </p:nvSpPr>
        <p:spPr>
          <a:xfrm>
            <a:off x="7888605" y="487616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 name="Rectangle 470">
            <a:extLst>
              <a:ext uri="{FF2B5EF4-FFF2-40B4-BE49-F238E27FC236}">
                <a16:creationId xmlns:a16="http://schemas.microsoft.com/office/drawing/2014/main" id="{C60916B7-D569-493E-5B5A-DBE1C65C4092}"/>
              </a:ext>
            </a:extLst>
          </p:cNvPr>
          <p:cNvSpPr/>
          <p:nvPr/>
        </p:nvSpPr>
        <p:spPr>
          <a:xfrm>
            <a:off x="8016875" y="4876165"/>
            <a:ext cx="109220" cy="10922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 name="Rectangle 471">
            <a:extLst>
              <a:ext uri="{FF2B5EF4-FFF2-40B4-BE49-F238E27FC236}">
                <a16:creationId xmlns:a16="http://schemas.microsoft.com/office/drawing/2014/main" id="{F465B890-5371-8DEF-26A3-080EB4F72BC2}"/>
              </a:ext>
            </a:extLst>
          </p:cNvPr>
          <p:cNvSpPr/>
          <p:nvPr/>
        </p:nvSpPr>
        <p:spPr>
          <a:xfrm>
            <a:off x="8145145" y="4876165"/>
            <a:ext cx="109220" cy="109220"/>
          </a:xfrm>
          <a:prstGeom prst="rect">
            <a:avLst/>
          </a:prstGeom>
          <a:solidFill>
            <a:srgbClr val="EFC95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 name="Rectangle 472">
            <a:extLst>
              <a:ext uri="{FF2B5EF4-FFF2-40B4-BE49-F238E27FC236}">
                <a16:creationId xmlns:a16="http://schemas.microsoft.com/office/drawing/2014/main" id="{D136AC7E-06C0-97A1-AEA0-150AF120909F}"/>
              </a:ext>
            </a:extLst>
          </p:cNvPr>
          <p:cNvSpPr/>
          <p:nvPr/>
        </p:nvSpPr>
        <p:spPr>
          <a:xfrm>
            <a:off x="8273415" y="4876165"/>
            <a:ext cx="109220" cy="10922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 name="Rectangle 473">
            <a:extLst>
              <a:ext uri="{FF2B5EF4-FFF2-40B4-BE49-F238E27FC236}">
                <a16:creationId xmlns:a16="http://schemas.microsoft.com/office/drawing/2014/main" id="{DE981D2A-BF0A-01AD-7625-C7B1CE39403C}"/>
              </a:ext>
            </a:extLst>
          </p:cNvPr>
          <p:cNvSpPr/>
          <p:nvPr/>
        </p:nvSpPr>
        <p:spPr>
          <a:xfrm>
            <a:off x="10302875" y="2981325"/>
            <a:ext cx="107950" cy="107950"/>
          </a:xfrm>
          <a:prstGeom prst="rect">
            <a:avLst/>
          </a:prstGeom>
          <a:solidFill>
            <a:srgbClr val="3646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Rectangle 474">
            <a:extLst>
              <a:ext uri="{FF2B5EF4-FFF2-40B4-BE49-F238E27FC236}">
                <a16:creationId xmlns:a16="http://schemas.microsoft.com/office/drawing/2014/main" id="{AE6445F9-6A17-0765-C90B-7022F8EAD8F4}"/>
              </a:ext>
            </a:extLst>
          </p:cNvPr>
          <p:cNvSpPr/>
          <p:nvPr/>
        </p:nvSpPr>
        <p:spPr>
          <a:xfrm>
            <a:off x="10302875" y="3105785"/>
            <a:ext cx="107950" cy="107950"/>
          </a:xfrm>
          <a:prstGeom prst="rect">
            <a:avLst/>
          </a:prstGeom>
          <a:solidFill>
            <a:srgbClr val="3646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 name="Rectangle 475">
            <a:extLst>
              <a:ext uri="{FF2B5EF4-FFF2-40B4-BE49-F238E27FC236}">
                <a16:creationId xmlns:a16="http://schemas.microsoft.com/office/drawing/2014/main" id="{E782E653-2401-49F2-F082-4A68A4F9751C}"/>
              </a:ext>
            </a:extLst>
          </p:cNvPr>
          <p:cNvSpPr/>
          <p:nvPr/>
        </p:nvSpPr>
        <p:spPr>
          <a:xfrm>
            <a:off x="10302875" y="3230245"/>
            <a:ext cx="107950" cy="107950"/>
          </a:xfrm>
          <a:prstGeom prst="rect">
            <a:avLst/>
          </a:prstGeom>
          <a:solidFill>
            <a:srgbClr val="66D8A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 name="Rectangle 476">
            <a:extLst>
              <a:ext uri="{FF2B5EF4-FFF2-40B4-BE49-F238E27FC236}">
                <a16:creationId xmlns:a16="http://schemas.microsoft.com/office/drawing/2014/main" id="{A83B8B11-0223-6386-DEA7-85BDF14EC972}"/>
              </a:ext>
            </a:extLst>
          </p:cNvPr>
          <p:cNvSpPr/>
          <p:nvPr/>
        </p:nvSpPr>
        <p:spPr>
          <a:xfrm>
            <a:off x="10302875" y="3354705"/>
            <a:ext cx="107950" cy="107950"/>
          </a:xfrm>
          <a:prstGeom prst="rect">
            <a:avLst/>
          </a:prstGeom>
          <a:solidFill>
            <a:srgbClr val="3646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Rectangle 477">
            <a:extLst>
              <a:ext uri="{FF2B5EF4-FFF2-40B4-BE49-F238E27FC236}">
                <a16:creationId xmlns:a16="http://schemas.microsoft.com/office/drawing/2014/main" id="{98C1C1F0-459C-8197-1C96-C4EE7F564B01}"/>
              </a:ext>
            </a:extLst>
          </p:cNvPr>
          <p:cNvSpPr/>
          <p:nvPr/>
        </p:nvSpPr>
        <p:spPr>
          <a:xfrm>
            <a:off x="10302875" y="3479165"/>
            <a:ext cx="107950" cy="107950"/>
          </a:xfrm>
          <a:prstGeom prst="rect">
            <a:avLst/>
          </a:prstGeom>
          <a:solidFill>
            <a:srgbClr val="3646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 name="Rectangle 478">
            <a:extLst>
              <a:ext uri="{FF2B5EF4-FFF2-40B4-BE49-F238E27FC236}">
                <a16:creationId xmlns:a16="http://schemas.microsoft.com/office/drawing/2014/main" id="{B03A9A45-6517-1E1B-3FAC-964787837305}"/>
              </a:ext>
            </a:extLst>
          </p:cNvPr>
          <p:cNvSpPr/>
          <p:nvPr/>
        </p:nvSpPr>
        <p:spPr>
          <a:xfrm>
            <a:off x="10302875" y="3603625"/>
            <a:ext cx="107950" cy="107950"/>
          </a:xfrm>
          <a:prstGeom prst="rect">
            <a:avLst/>
          </a:prstGeom>
          <a:solidFill>
            <a:srgbClr val="3646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 name="Rectangle 479">
            <a:extLst>
              <a:ext uri="{FF2B5EF4-FFF2-40B4-BE49-F238E27FC236}">
                <a16:creationId xmlns:a16="http://schemas.microsoft.com/office/drawing/2014/main" id="{B487ACEE-FB37-DEDE-C7B2-8B06C24E272A}"/>
              </a:ext>
            </a:extLst>
          </p:cNvPr>
          <p:cNvSpPr/>
          <p:nvPr/>
        </p:nvSpPr>
        <p:spPr>
          <a:xfrm>
            <a:off x="10302875" y="3728085"/>
            <a:ext cx="107950" cy="107950"/>
          </a:xfrm>
          <a:prstGeom prst="rect">
            <a:avLst/>
          </a:prstGeom>
          <a:solidFill>
            <a:srgbClr val="3646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 name="Rectangle 480">
            <a:extLst>
              <a:ext uri="{FF2B5EF4-FFF2-40B4-BE49-F238E27FC236}">
                <a16:creationId xmlns:a16="http://schemas.microsoft.com/office/drawing/2014/main" id="{A46E0ABF-F2B6-FB68-D343-5DE669750A37}"/>
              </a:ext>
            </a:extLst>
          </p:cNvPr>
          <p:cNvSpPr/>
          <p:nvPr/>
        </p:nvSpPr>
        <p:spPr>
          <a:xfrm>
            <a:off x="10302875" y="3852545"/>
            <a:ext cx="107950" cy="107950"/>
          </a:xfrm>
          <a:prstGeom prst="rect">
            <a:avLst/>
          </a:prstGeom>
          <a:solidFill>
            <a:srgbClr val="48BED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 name="Rectangle 481">
            <a:extLst>
              <a:ext uri="{FF2B5EF4-FFF2-40B4-BE49-F238E27FC236}">
                <a16:creationId xmlns:a16="http://schemas.microsoft.com/office/drawing/2014/main" id="{14501335-1FD2-3067-A8D4-72E3183ABC76}"/>
              </a:ext>
            </a:extLst>
          </p:cNvPr>
          <p:cNvSpPr/>
          <p:nvPr/>
        </p:nvSpPr>
        <p:spPr>
          <a:xfrm>
            <a:off x="10302875" y="3977005"/>
            <a:ext cx="107950" cy="107950"/>
          </a:xfrm>
          <a:prstGeom prst="rect">
            <a:avLst/>
          </a:prstGeom>
          <a:solidFill>
            <a:srgbClr val="3646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 name="Rectangle 482">
            <a:extLst>
              <a:ext uri="{FF2B5EF4-FFF2-40B4-BE49-F238E27FC236}">
                <a16:creationId xmlns:a16="http://schemas.microsoft.com/office/drawing/2014/main" id="{387AEF38-07E5-3143-11F2-AB6E4464B7A8}"/>
              </a:ext>
            </a:extLst>
          </p:cNvPr>
          <p:cNvSpPr/>
          <p:nvPr/>
        </p:nvSpPr>
        <p:spPr>
          <a:xfrm>
            <a:off x="10302875" y="4101465"/>
            <a:ext cx="107950" cy="107950"/>
          </a:xfrm>
          <a:prstGeom prst="rect">
            <a:avLst/>
          </a:prstGeom>
          <a:solidFill>
            <a:srgbClr val="3646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 name="Rectangle 483">
            <a:extLst>
              <a:ext uri="{FF2B5EF4-FFF2-40B4-BE49-F238E27FC236}">
                <a16:creationId xmlns:a16="http://schemas.microsoft.com/office/drawing/2014/main" id="{BB173EEF-91DB-78BD-30F8-BDA0B0357703}"/>
              </a:ext>
            </a:extLst>
          </p:cNvPr>
          <p:cNvSpPr/>
          <p:nvPr/>
        </p:nvSpPr>
        <p:spPr>
          <a:xfrm>
            <a:off x="10302875" y="4225925"/>
            <a:ext cx="107950" cy="107950"/>
          </a:xfrm>
          <a:prstGeom prst="rect">
            <a:avLst/>
          </a:prstGeom>
          <a:solidFill>
            <a:srgbClr val="3646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 name="Rectangle 484">
            <a:extLst>
              <a:ext uri="{FF2B5EF4-FFF2-40B4-BE49-F238E27FC236}">
                <a16:creationId xmlns:a16="http://schemas.microsoft.com/office/drawing/2014/main" id="{8C1D4579-9730-4B3B-321A-3EA970A1507A}"/>
              </a:ext>
            </a:extLst>
          </p:cNvPr>
          <p:cNvSpPr/>
          <p:nvPr/>
        </p:nvSpPr>
        <p:spPr>
          <a:xfrm>
            <a:off x="10302875" y="4350385"/>
            <a:ext cx="107950" cy="107950"/>
          </a:xfrm>
          <a:prstGeom prst="rect">
            <a:avLst/>
          </a:prstGeom>
          <a:solidFill>
            <a:srgbClr val="3646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 name="Rectangle 485">
            <a:extLst>
              <a:ext uri="{FF2B5EF4-FFF2-40B4-BE49-F238E27FC236}">
                <a16:creationId xmlns:a16="http://schemas.microsoft.com/office/drawing/2014/main" id="{38E35E9E-A5D0-7CBB-13E0-78CAC730E595}"/>
              </a:ext>
            </a:extLst>
          </p:cNvPr>
          <p:cNvSpPr/>
          <p:nvPr/>
        </p:nvSpPr>
        <p:spPr>
          <a:xfrm>
            <a:off x="10302875" y="4474845"/>
            <a:ext cx="107950" cy="107950"/>
          </a:xfrm>
          <a:prstGeom prst="rect">
            <a:avLst/>
          </a:prstGeom>
          <a:solidFill>
            <a:srgbClr val="357BC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Rectangle 486">
            <a:extLst>
              <a:ext uri="{FF2B5EF4-FFF2-40B4-BE49-F238E27FC236}">
                <a16:creationId xmlns:a16="http://schemas.microsoft.com/office/drawing/2014/main" id="{7BBA619B-3BC5-AEB4-98BB-61EA85BE7765}"/>
              </a:ext>
            </a:extLst>
          </p:cNvPr>
          <p:cNvSpPr/>
          <p:nvPr/>
        </p:nvSpPr>
        <p:spPr>
          <a:xfrm>
            <a:off x="10302875" y="4599305"/>
            <a:ext cx="107950" cy="107950"/>
          </a:xfrm>
          <a:prstGeom prst="rect">
            <a:avLst/>
          </a:prstGeom>
          <a:solidFill>
            <a:srgbClr val="3646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Rectangle 487">
            <a:extLst>
              <a:ext uri="{FF2B5EF4-FFF2-40B4-BE49-F238E27FC236}">
                <a16:creationId xmlns:a16="http://schemas.microsoft.com/office/drawing/2014/main" id="{E199EE82-1C0F-165E-11DB-600823583C96}"/>
              </a:ext>
            </a:extLst>
          </p:cNvPr>
          <p:cNvSpPr/>
          <p:nvPr/>
        </p:nvSpPr>
        <p:spPr>
          <a:xfrm>
            <a:off x="10302875" y="4723765"/>
            <a:ext cx="107950" cy="107950"/>
          </a:xfrm>
          <a:prstGeom prst="rect">
            <a:avLst/>
          </a:prstGeom>
          <a:solidFill>
            <a:srgbClr val="3646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 name="Rectangle 488">
            <a:extLst>
              <a:ext uri="{FF2B5EF4-FFF2-40B4-BE49-F238E27FC236}">
                <a16:creationId xmlns:a16="http://schemas.microsoft.com/office/drawing/2014/main" id="{E498C673-D6FA-6622-8D09-B9D53CD1EECD}"/>
              </a:ext>
            </a:extLst>
          </p:cNvPr>
          <p:cNvSpPr/>
          <p:nvPr/>
        </p:nvSpPr>
        <p:spPr>
          <a:xfrm>
            <a:off x="10302875" y="4848225"/>
            <a:ext cx="107950" cy="107950"/>
          </a:xfrm>
          <a:prstGeom prst="rect">
            <a:avLst/>
          </a:prstGeom>
          <a:solidFill>
            <a:srgbClr val="36465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0" name="TextBox 489">
            <a:extLst>
              <a:ext uri="{FF2B5EF4-FFF2-40B4-BE49-F238E27FC236}">
                <a16:creationId xmlns:a16="http://schemas.microsoft.com/office/drawing/2014/main" id="{25C8CD1B-3B73-0BBA-DECA-ABF6390C0DD8}"/>
              </a:ext>
            </a:extLst>
          </p:cNvPr>
          <p:cNvSpPr txBox="1"/>
          <p:nvPr/>
        </p:nvSpPr>
        <p:spPr>
          <a:xfrm>
            <a:off x="2356518" y="3594100"/>
            <a:ext cx="354264" cy="569387"/>
          </a:xfrm>
          <a:prstGeom prst="rect">
            <a:avLst/>
          </a:prstGeom>
          <a:noFill/>
        </p:spPr>
        <p:txBody>
          <a:bodyPr vert="horz" wrap="none" lIns="0" tIns="0" rIns="0" bIns="0" rtlCol="0">
            <a:spAutoFit/>
          </a:bodyPr>
          <a:lstStyle/>
          <a:p>
            <a:pPr algn="ctr"/>
            <a:r>
              <a:rPr lang="ro-RO" sz="3700">
                <a:solidFill>
                  <a:srgbClr val="F4F7FB"/>
                </a:solidFill>
                <a:latin typeface="Cambria Math" panose="02040503050406030204" pitchFamily="18" charset="0"/>
              </a:rPr>
              <a:t>=</a:t>
            </a:r>
            <a:endParaRPr lang="ro-RO" sz="3700" dirty="0">
              <a:solidFill>
                <a:srgbClr val="F4F7FB"/>
              </a:solidFill>
              <a:latin typeface="Cambria Math" panose="02040503050406030204" pitchFamily="18" charset="0"/>
            </a:endParaRPr>
          </a:p>
        </p:txBody>
      </p:sp>
      <p:sp>
        <p:nvSpPr>
          <p:cNvPr id="491" name="TextBox 490">
            <a:extLst>
              <a:ext uri="{FF2B5EF4-FFF2-40B4-BE49-F238E27FC236}">
                <a16:creationId xmlns:a16="http://schemas.microsoft.com/office/drawing/2014/main" id="{65FC5138-DF58-25B2-CD63-0F9551308DE7}"/>
              </a:ext>
            </a:extLst>
          </p:cNvPr>
          <p:cNvSpPr txBox="1"/>
          <p:nvPr/>
        </p:nvSpPr>
        <p:spPr>
          <a:xfrm>
            <a:off x="5590333" y="3594100"/>
            <a:ext cx="338234" cy="569387"/>
          </a:xfrm>
          <a:prstGeom prst="rect">
            <a:avLst/>
          </a:prstGeom>
          <a:noFill/>
        </p:spPr>
        <p:txBody>
          <a:bodyPr vert="horz" wrap="none" lIns="0" tIns="0" rIns="0" bIns="0" rtlCol="0">
            <a:spAutoFit/>
          </a:bodyPr>
          <a:lstStyle/>
          <a:p>
            <a:pPr algn="ctr"/>
            <a:r>
              <a:rPr lang="ro-RO" sz="3700">
                <a:solidFill>
                  <a:srgbClr val="F4F7FB"/>
                </a:solidFill>
                <a:latin typeface="Cambria Math" panose="02040503050406030204" pitchFamily="18" charset="0"/>
              </a:rPr>
              <a:t>×</a:t>
            </a:r>
            <a:endParaRPr lang="ro-RO" sz="3700" dirty="0">
              <a:solidFill>
                <a:srgbClr val="F4F7FB"/>
              </a:solidFill>
              <a:latin typeface="Cambria Math" panose="02040503050406030204" pitchFamily="18" charset="0"/>
            </a:endParaRPr>
          </a:p>
        </p:txBody>
      </p:sp>
      <p:sp>
        <p:nvSpPr>
          <p:cNvPr id="492" name="TextBox 491">
            <a:extLst>
              <a:ext uri="{FF2B5EF4-FFF2-40B4-BE49-F238E27FC236}">
                <a16:creationId xmlns:a16="http://schemas.microsoft.com/office/drawing/2014/main" id="{11261688-7BDD-217A-E425-03566A1FD985}"/>
              </a:ext>
            </a:extLst>
          </p:cNvPr>
          <p:cNvSpPr txBox="1"/>
          <p:nvPr/>
        </p:nvSpPr>
        <p:spPr>
          <a:xfrm>
            <a:off x="8936783" y="3594100"/>
            <a:ext cx="338234" cy="569387"/>
          </a:xfrm>
          <a:prstGeom prst="rect">
            <a:avLst/>
          </a:prstGeom>
          <a:noFill/>
        </p:spPr>
        <p:txBody>
          <a:bodyPr vert="horz" wrap="none" lIns="0" tIns="0" rIns="0" bIns="0" rtlCol="0">
            <a:spAutoFit/>
          </a:bodyPr>
          <a:lstStyle/>
          <a:p>
            <a:pPr algn="ctr"/>
            <a:r>
              <a:rPr lang="ro-RO" sz="3700">
                <a:solidFill>
                  <a:srgbClr val="F4F7FB"/>
                </a:solidFill>
                <a:latin typeface="Cambria Math" panose="02040503050406030204" pitchFamily="18" charset="0"/>
              </a:rPr>
              <a:t>×</a:t>
            </a:r>
            <a:endParaRPr lang="ro-RO" sz="3700" dirty="0">
              <a:solidFill>
                <a:srgbClr val="F4F7FB"/>
              </a:solidFill>
              <a:latin typeface="Cambria Math" panose="02040503050406030204" pitchFamily="18" charset="0"/>
            </a:endParaRPr>
          </a:p>
        </p:txBody>
      </p:sp>
      <p:sp>
        <p:nvSpPr>
          <p:cNvPr id="493" name="TextBox 492">
            <a:extLst>
              <a:ext uri="{FF2B5EF4-FFF2-40B4-BE49-F238E27FC236}">
                <a16:creationId xmlns:a16="http://schemas.microsoft.com/office/drawing/2014/main" id="{9C9EC549-02BB-D50C-A78B-06D809FF86FB}"/>
              </a:ext>
            </a:extLst>
          </p:cNvPr>
          <p:cNvSpPr txBox="1"/>
          <p:nvPr/>
        </p:nvSpPr>
        <p:spPr>
          <a:xfrm>
            <a:off x="1079300" y="5194300"/>
            <a:ext cx="724301" cy="184666"/>
          </a:xfrm>
          <a:prstGeom prst="rect">
            <a:avLst/>
          </a:prstGeom>
          <a:noFill/>
        </p:spPr>
        <p:txBody>
          <a:bodyPr vert="horz" wrap="none" lIns="0" tIns="0" rIns="0" bIns="0" rtlCol="0">
            <a:spAutoFit/>
          </a:bodyPr>
          <a:lstStyle/>
          <a:p>
            <a:pPr algn="ctr"/>
            <a:r>
              <a:rPr lang="ro-RO" sz="1200">
                <a:solidFill>
                  <a:srgbClr val="B9C9DB"/>
                </a:solidFill>
                <a:latin typeface="Aptos" panose="020B0004020202020204" pitchFamily="34" charset="0"/>
              </a:rPr>
              <a:t>măsurători</a:t>
            </a:r>
            <a:endParaRPr lang="ro-RO" sz="1200" dirty="0">
              <a:solidFill>
                <a:srgbClr val="B9C9DB"/>
              </a:solidFill>
              <a:latin typeface="Aptos" panose="020B0004020202020204" pitchFamily="34" charset="0"/>
            </a:endParaRPr>
          </a:p>
        </p:txBody>
      </p:sp>
      <p:sp>
        <p:nvSpPr>
          <p:cNvPr id="494" name="TextBox 493">
            <a:extLst>
              <a:ext uri="{FF2B5EF4-FFF2-40B4-BE49-F238E27FC236}">
                <a16:creationId xmlns:a16="http://schemas.microsoft.com/office/drawing/2014/main" id="{E85644C4-4508-A182-1F5E-25D5BC130480}"/>
              </a:ext>
            </a:extLst>
          </p:cNvPr>
          <p:cNvSpPr txBox="1"/>
          <p:nvPr/>
        </p:nvSpPr>
        <p:spPr>
          <a:xfrm>
            <a:off x="3425107" y="5194300"/>
            <a:ext cx="1455591" cy="184666"/>
          </a:xfrm>
          <a:prstGeom prst="rect">
            <a:avLst/>
          </a:prstGeom>
          <a:noFill/>
        </p:spPr>
        <p:txBody>
          <a:bodyPr vert="horz" wrap="none" lIns="0" tIns="0" rIns="0" bIns="0" rtlCol="0">
            <a:spAutoFit/>
          </a:bodyPr>
          <a:lstStyle/>
          <a:p>
            <a:pPr algn="ctr"/>
            <a:r>
              <a:rPr lang="ro-RO" sz="1200">
                <a:solidFill>
                  <a:srgbClr val="B9C9DB"/>
                </a:solidFill>
                <a:latin typeface="Aptos" panose="020B0004020202020204" pitchFamily="34" charset="0"/>
              </a:rPr>
              <a:t>eșantionare aleatoare</a:t>
            </a:r>
            <a:endParaRPr lang="ro-RO" sz="1200" dirty="0">
              <a:solidFill>
                <a:srgbClr val="B9C9DB"/>
              </a:solidFill>
              <a:latin typeface="Aptos" panose="020B0004020202020204" pitchFamily="34" charset="0"/>
            </a:endParaRPr>
          </a:p>
        </p:txBody>
      </p:sp>
      <p:sp>
        <p:nvSpPr>
          <p:cNvPr id="495" name="TextBox 494">
            <a:extLst>
              <a:ext uri="{FF2B5EF4-FFF2-40B4-BE49-F238E27FC236}">
                <a16:creationId xmlns:a16="http://schemas.microsoft.com/office/drawing/2014/main" id="{98B34407-BEEF-370A-2609-219CF1F17708}"/>
              </a:ext>
            </a:extLst>
          </p:cNvPr>
          <p:cNvSpPr txBox="1"/>
          <p:nvPr/>
        </p:nvSpPr>
        <p:spPr>
          <a:xfrm>
            <a:off x="6671547" y="5194300"/>
            <a:ext cx="1388906" cy="184666"/>
          </a:xfrm>
          <a:prstGeom prst="rect">
            <a:avLst/>
          </a:prstGeom>
          <a:noFill/>
        </p:spPr>
        <p:txBody>
          <a:bodyPr vert="horz" wrap="none" lIns="0" tIns="0" rIns="0" bIns="0" rtlCol="0">
            <a:spAutoFit/>
          </a:bodyPr>
          <a:lstStyle/>
          <a:p>
            <a:pPr algn="ctr"/>
            <a:r>
              <a:rPr lang="ro-RO" sz="1200" dirty="0">
                <a:solidFill>
                  <a:srgbClr val="B9C9DB"/>
                </a:solidFill>
                <a:latin typeface="Aptos" panose="020B0004020202020204" pitchFamily="34" charset="0"/>
              </a:rPr>
              <a:t>bază de reprezentare</a:t>
            </a:r>
          </a:p>
        </p:txBody>
      </p:sp>
      <p:sp>
        <p:nvSpPr>
          <p:cNvPr id="496" name="TextBox 495">
            <a:extLst>
              <a:ext uri="{FF2B5EF4-FFF2-40B4-BE49-F238E27FC236}">
                <a16:creationId xmlns:a16="http://schemas.microsoft.com/office/drawing/2014/main" id="{16571A89-D6FC-99B9-AF99-97BED6F9741D}"/>
              </a:ext>
            </a:extLst>
          </p:cNvPr>
          <p:cNvSpPr txBox="1"/>
          <p:nvPr/>
        </p:nvSpPr>
        <p:spPr>
          <a:xfrm>
            <a:off x="9882233" y="5194300"/>
            <a:ext cx="949234" cy="184666"/>
          </a:xfrm>
          <a:prstGeom prst="rect">
            <a:avLst/>
          </a:prstGeom>
          <a:noFill/>
        </p:spPr>
        <p:txBody>
          <a:bodyPr vert="horz" wrap="none" lIns="0" tIns="0" rIns="0" bIns="0" rtlCol="0">
            <a:spAutoFit/>
          </a:bodyPr>
          <a:lstStyle/>
          <a:p>
            <a:pPr algn="ctr"/>
            <a:r>
              <a:rPr lang="ro-RO" sz="1200">
                <a:solidFill>
                  <a:srgbClr val="B9C9DB"/>
                </a:solidFill>
                <a:latin typeface="Aptos" panose="020B0004020202020204" pitchFamily="34" charset="0"/>
              </a:rPr>
              <a:t>coeficienți rari</a:t>
            </a:r>
            <a:endParaRPr lang="ro-RO" sz="1200" dirty="0">
              <a:solidFill>
                <a:srgbClr val="B9C9DB"/>
              </a:solidFill>
              <a:latin typeface="Aptos" panose="020B0004020202020204" pitchFamily="34" charset="0"/>
            </a:endParaRPr>
          </a:p>
        </p:txBody>
      </p:sp>
      <p:sp>
        <p:nvSpPr>
          <p:cNvPr id="497" name="Rectangle: Rounded Corners 496">
            <a:extLst>
              <a:ext uri="{FF2B5EF4-FFF2-40B4-BE49-F238E27FC236}">
                <a16:creationId xmlns:a16="http://schemas.microsoft.com/office/drawing/2014/main" id="{3CFF99A1-473F-D406-87E4-082E9AA7AA08}"/>
              </a:ext>
            </a:extLst>
          </p:cNvPr>
          <p:cNvSpPr/>
          <p:nvPr/>
        </p:nvSpPr>
        <p:spPr>
          <a:xfrm>
            <a:off x="1678939" y="5829300"/>
            <a:ext cx="8356600" cy="635000"/>
          </a:xfrm>
          <a:prstGeom prst="roundRect">
            <a:avLst/>
          </a:prstGeom>
          <a:solidFill>
            <a:srgbClr val="17253B"/>
          </a:solidFill>
          <a:ln w="10160">
            <a:solidFill>
              <a:srgbClr val="3447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8" name="TextBox 497">
            <a:extLst>
              <a:ext uri="{FF2B5EF4-FFF2-40B4-BE49-F238E27FC236}">
                <a16:creationId xmlns:a16="http://schemas.microsoft.com/office/drawing/2014/main" id="{5C122F76-58A1-EC10-B032-8FEF8CA43BDA}"/>
              </a:ext>
            </a:extLst>
          </p:cNvPr>
          <p:cNvSpPr txBox="1"/>
          <p:nvPr/>
        </p:nvSpPr>
        <p:spPr>
          <a:xfrm>
            <a:off x="2633462" y="6020088"/>
            <a:ext cx="6279732" cy="292388"/>
          </a:xfrm>
          <a:prstGeom prst="rect">
            <a:avLst/>
          </a:prstGeom>
          <a:noFill/>
        </p:spPr>
        <p:txBody>
          <a:bodyPr vert="horz" wrap="none" lIns="0" tIns="0" rIns="0" bIns="0" rtlCol="0">
            <a:spAutoFit/>
          </a:bodyPr>
          <a:lstStyle/>
          <a:p>
            <a:pPr algn="ctr"/>
            <a:r>
              <a:rPr lang="ro-RO" sz="1900">
                <a:solidFill>
                  <a:srgbClr val="F4F7FB"/>
                </a:solidFill>
                <a:latin typeface="Cambria Math" panose="02040503050406030204" pitchFamily="18" charset="0"/>
              </a:rPr>
              <a:t>x = Ψα | M &lt; N: reconstruim semnalul din puține măsurători</a:t>
            </a:r>
            <a:endParaRPr lang="ro-RO" sz="1900" dirty="0">
              <a:solidFill>
                <a:srgbClr val="F4F7FB"/>
              </a:solidFill>
              <a:latin typeface="Cambria Math" panose="02040503050406030204" pitchFamily="18" charset="0"/>
            </a:endParaRPr>
          </a:p>
        </p:txBody>
      </p:sp>
      <p:sp>
        <p:nvSpPr>
          <p:cNvPr id="501" name="TextBox 500">
            <a:extLst>
              <a:ext uri="{FF2B5EF4-FFF2-40B4-BE49-F238E27FC236}">
                <a16:creationId xmlns:a16="http://schemas.microsoft.com/office/drawing/2014/main" id="{2ACE3154-6C87-A319-989E-25E01CD3F22B}"/>
              </a:ext>
            </a:extLst>
          </p:cNvPr>
          <p:cNvSpPr txBox="1"/>
          <p:nvPr/>
        </p:nvSpPr>
        <p:spPr>
          <a:xfrm>
            <a:off x="11010900" y="6477000"/>
            <a:ext cx="137858" cy="153888"/>
          </a:xfrm>
          <a:prstGeom prst="rect">
            <a:avLst/>
          </a:prstGeom>
          <a:noFill/>
        </p:spPr>
        <p:txBody>
          <a:bodyPr vert="horz" wrap="none" lIns="0" tIns="0" rIns="0" bIns="0" rtlCol="0">
            <a:spAutoFit/>
          </a:bodyPr>
          <a:lstStyle/>
          <a:p>
            <a:pPr algn="r"/>
            <a:r>
              <a:rPr lang="ro-RO" sz="1000" b="1">
                <a:solidFill>
                  <a:srgbClr val="52D6D3"/>
                </a:solidFill>
                <a:latin typeface="Aptos" panose="020B0004020202020204" pitchFamily="34" charset="0"/>
              </a:rPr>
              <a:t>04</a:t>
            </a:r>
            <a:endParaRPr lang="ro-RO" sz="1000" b="1" dirty="0">
              <a:solidFill>
                <a:srgbClr val="52D6D3"/>
              </a:solidFill>
              <a:latin typeface="Aptos" panose="020B0004020202020204" pitchFamily="34" charset="0"/>
            </a:endParaRPr>
          </a:p>
        </p:txBody>
      </p:sp>
      <p:sp xmlns:p="http://schemas.openxmlformats.org/presentationml/2006/main">
        <p:nvSpPr>
          <p:cNvPr id="502" name="Slide number"/>
          <p:cNvSpPr/>
          <p:nvPr/>
        </p:nvSpPr>
        <p:spPr>
          <a:xfrm xmlns:a="http://schemas.openxmlformats.org/drawingml/2006/main">
            <a:off x="11009376" y="6492240"/>
            <a:ext cx="475488" cy="228600"/>
          </a:xfrm>
          <a:prstGeom xmlns:a="http://schemas.openxmlformats.org/drawingml/2006/main" prst="rect">
            <a:avLst/>
          </a:prstGeom>
          <a:noFill xmlns:a="http://schemas.openxmlformats.org/drawingml/2006/main"/>
          <a:ln xmlns:a="http://schemas.openxmlformats.org/drawingml/2006/main"/>
        </p:spPr>
        <p:txBody>
          <a:bodyPr xmlns:a="http://schemas.openxmlformats.org/drawingml/2006/main" wrap="square" lIns="0" tIns="0" rIns="0" bIns="0" rtlCol="0" anchor="ctr"/>
          <a:lstStyle xmlns:a="http://schemas.openxmlformats.org/drawingml/2006/main"/>
          <a:p xmlns:a="http://schemas.openxmlformats.org/drawingml/2006/main">
            <a:pPr marL="0" indent="0" algn="r">
              <a:buNone/>
            </a:pPr>
            <a:r>
              <a:rPr lang="ro-RO" sz="1000" b="1">
                <a:solidFill>
                  <a:srgbClr val="52D6D3"/>
                </a:solidFill>
                <a:latin typeface="Aptos" pitchFamily="34" charset="0"/>
                <a:ea typeface="Aptos" pitchFamily="34" charset="-122"/>
                <a:cs typeface="Aptos" pitchFamily="34" charset="-120"/>
              </a:rPr>
              <a:t>04</a:t>
            </a:r>
            <a:endParaRPr lang="ro-RO" sz="1000" dirty="0"/>
          </a:p>
        </p:txBody>
      </p:sp>
    </p:spTree>
    <p:extLst>
      <p:ext uri="{BB962C8B-B14F-4D97-AF65-F5344CB8AC3E}">
        <p14:creationId xmlns:p14="http://schemas.microsoft.com/office/powerpoint/2010/main" val="71214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ro-RO" sz="3000" b="1">
                <a:solidFill>
                  <a:srgbClr val="F4F7FB"/>
                </a:solidFill>
                <a:latin typeface="Aptos" pitchFamily="34" charset="0"/>
                <a:ea typeface="Aptos" pitchFamily="34" charset="-122"/>
                <a:cs typeface="Aptos" pitchFamily="34" charset="-120"/>
              </a:rPr>
              <a:t>CS clasic vs soluția propusă pentru video</a:t>
            </a:r>
            <a:endParaRPr lang="ro-RO"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ro-RO" sz="1300">
                <a:solidFill>
                  <a:srgbClr val="B9C9DB"/>
                </a:solidFill>
                <a:latin typeface="Aptos" pitchFamily="34" charset="0"/>
                <a:ea typeface="Aptos" pitchFamily="34" charset="-122"/>
                <a:cs typeface="Aptos" pitchFamily="34" charset="-120"/>
              </a:rPr>
              <a:t>Schimbarea-cheie: măști diferite pe cadre consecutive.</a:t>
            </a:r>
            <a:endParaRPr lang="ro-RO" sz="13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ro-RO" sz="1000" b="1">
                <a:solidFill>
                  <a:srgbClr val="52D6D3"/>
                </a:solidFill>
                <a:latin typeface="Aptos" pitchFamily="34" charset="0"/>
                <a:ea typeface="Aptos" pitchFamily="34" charset="-122"/>
                <a:cs typeface="Aptos" pitchFamily="34" charset="-120"/>
              </a:rPr>
              <a:t>05</a:t>
            </a:r>
            <a:endParaRPr lang="ro-RO" sz="1000" dirty="0"/>
          </a:p>
        </p:txBody>
      </p:sp>
      <p:sp>
        <p:nvSpPr>
          <p:cNvPr id="7" name="Shape 5"/>
          <p:cNvSpPr/>
          <p:nvPr/>
        </p:nvSpPr>
        <p:spPr>
          <a:xfrm>
            <a:off x="749808" y="1719072"/>
            <a:ext cx="5093208" cy="3611880"/>
          </a:xfrm>
          <a:prstGeom prst="roundRect">
            <a:avLst>
              <a:gd name="adj" fmla="val 4051"/>
            </a:avLst>
          </a:prstGeom>
          <a:solidFill>
            <a:srgbClr val="17253B"/>
          </a:solidFill>
          <a:ln w="10160">
            <a:solidFill>
              <a:srgbClr val="17253B"/>
            </a:solidFill>
            <a:prstDash val="solid"/>
          </a:ln>
        </p:spPr>
        <p:txBody>
          <a:bodyPr/>
          <a:lstStyle/>
          <a:p>
            <a:endParaRPr lang="en-US"/>
          </a:p>
        </p:txBody>
      </p:sp>
      <p:sp>
        <p:nvSpPr>
          <p:cNvPr id="8" name="Shape 6"/>
          <p:cNvSpPr/>
          <p:nvPr/>
        </p:nvSpPr>
        <p:spPr>
          <a:xfrm>
            <a:off x="749808" y="1719072"/>
            <a:ext cx="50292" cy="3611880"/>
          </a:xfrm>
          <a:prstGeom prst="roundRect">
            <a:avLst>
              <a:gd name="adj" fmla="val 290909"/>
            </a:avLst>
          </a:prstGeom>
          <a:solidFill>
            <a:srgbClr val="FFC870"/>
          </a:solidFill>
          <a:ln w="10160">
            <a:solidFill>
              <a:srgbClr val="FFC870"/>
            </a:solidFill>
            <a:prstDash val="solid"/>
          </a:ln>
        </p:spPr>
        <p:txBody>
          <a:bodyPr/>
          <a:lstStyle/>
          <a:p>
            <a:endParaRPr lang="en-US"/>
          </a:p>
        </p:txBody>
      </p:sp>
      <p:sp>
        <p:nvSpPr>
          <p:cNvPr id="9" name="Text 7"/>
          <p:cNvSpPr/>
          <p:nvPr/>
        </p:nvSpPr>
        <p:spPr>
          <a:xfrm>
            <a:off x="950976" y="1874520"/>
            <a:ext cx="4709160" cy="402336"/>
          </a:xfrm>
          <a:prstGeom prst="rect">
            <a:avLst/>
          </a:prstGeom>
          <a:noFill/>
          <a:ln/>
        </p:spPr>
        <p:txBody>
          <a:bodyPr wrap="square" lIns="0" tIns="0" rIns="0" bIns="0" rtlCol="0" anchor="ctr"/>
          <a:lstStyle/>
          <a:p>
            <a:pPr marL="0" indent="0">
              <a:buNone/>
            </a:pPr>
            <a:r>
              <a:rPr lang="ro-RO" sz="2000" b="1">
                <a:solidFill>
                  <a:srgbClr val="FFC870"/>
                </a:solidFill>
                <a:latin typeface="Aptos" pitchFamily="34" charset="0"/>
                <a:ea typeface="Aptos" pitchFamily="34" charset="-122"/>
                <a:cs typeface="Aptos" pitchFamily="34" charset="-120"/>
              </a:rPr>
              <a:t>CS clasic</a:t>
            </a:r>
            <a:endParaRPr lang="ro-RO" sz="2000" dirty="0"/>
          </a:p>
        </p:txBody>
      </p:sp>
      <p:sp>
        <p:nvSpPr>
          <p:cNvPr id="10" name="Text 8"/>
          <p:cNvSpPr/>
          <p:nvPr/>
        </p:nvSpPr>
        <p:spPr>
          <a:xfrm>
            <a:off x="950976" y="2395728"/>
            <a:ext cx="4690872" cy="2834640"/>
          </a:xfrm>
          <a:prstGeom prst="rect">
            <a:avLst/>
          </a:prstGeom>
          <a:noFill/>
          <a:ln/>
        </p:spPr>
        <p:txBody>
          <a:bodyPr wrap="square" lIns="0" tIns="0" rIns="0" bIns="0" rtlCol="0" anchor="ctr"/>
          <a:lstStyle/>
          <a:p>
            <a:pPr marL="0" indent="0">
              <a:buNone/>
            </a:pPr>
            <a:r>
              <a:rPr lang="ro-RO" sz="1600">
                <a:solidFill>
                  <a:srgbClr val="F4F7FB"/>
                </a:solidFill>
                <a:latin typeface="Aptos" pitchFamily="34" charset="0"/>
                <a:ea typeface="Aptos" pitchFamily="34" charset="-122"/>
                <a:cs typeface="Aptos" pitchFamily="34" charset="-120"/>
              </a:rPr>
              <a:t>Mai multe măsurători aleatoare ale aceluiași semnal static.</a:t>
            </a:r>
            <a:endParaRPr lang="ro-RO" sz="1600"/>
          </a:p>
          <a:p>
            <a:pPr marL="0" indent="0">
              <a:buNone/>
            </a:pPr>
            <a:endParaRPr lang="ro-RO" sz="1600"/>
          </a:p>
          <a:p>
            <a:pPr marL="0" indent="0">
              <a:buNone/>
            </a:pPr>
            <a:r>
              <a:rPr lang="ro-RO" sz="1600">
                <a:solidFill>
                  <a:srgbClr val="F4F7FB"/>
                </a:solidFill>
                <a:latin typeface="Aptos" pitchFamily="34" charset="0"/>
                <a:ea typeface="Aptos" pitchFamily="34" charset="-122"/>
                <a:cs typeface="Aptos" pitchFamily="34" charset="-120"/>
              </a:rPr>
              <a:t>Într-un senzor video, recitirea repetată a aceluiași cadru ar costa timp și ar reduce rata de cadre.</a:t>
            </a:r>
            <a:endParaRPr lang="ro-RO" sz="1600" dirty="0"/>
          </a:p>
        </p:txBody>
      </p:sp>
      <p:sp>
        <p:nvSpPr>
          <p:cNvPr id="11" name="Shape 9"/>
          <p:cNvSpPr/>
          <p:nvPr/>
        </p:nvSpPr>
        <p:spPr>
          <a:xfrm>
            <a:off x="6117336" y="1719072"/>
            <a:ext cx="5312664" cy="3611880"/>
          </a:xfrm>
          <a:prstGeom prst="roundRect">
            <a:avLst>
              <a:gd name="adj" fmla="val 4051"/>
            </a:avLst>
          </a:prstGeom>
          <a:solidFill>
            <a:srgbClr val="17253B"/>
          </a:solidFill>
          <a:ln w="10160">
            <a:solidFill>
              <a:srgbClr val="17253B"/>
            </a:solidFill>
            <a:prstDash val="solid"/>
          </a:ln>
        </p:spPr>
        <p:txBody>
          <a:bodyPr/>
          <a:lstStyle/>
          <a:p>
            <a:endParaRPr lang="en-US"/>
          </a:p>
        </p:txBody>
      </p:sp>
      <p:sp>
        <p:nvSpPr>
          <p:cNvPr id="12" name="Shape 10"/>
          <p:cNvSpPr/>
          <p:nvPr/>
        </p:nvSpPr>
        <p:spPr>
          <a:xfrm>
            <a:off x="6117336" y="1719072"/>
            <a:ext cx="50292" cy="3611880"/>
          </a:xfrm>
          <a:prstGeom prst="roundRect">
            <a:avLst>
              <a:gd name="adj" fmla="val 290909"/>
            </a:avLst>
          </a:prstGeom>
          <a:solidFill>
            <a:srgbClr val="52D6D3"/>
          </a:solidFill>
          <a:ln w="10160">
            <a:solidFill>
              <a:srgbClr val="52D6D3"/>
            </a:solidFill>
            <a:prstDash val="solid"/>
          </a:ln>
        </p:spPr>
        <p:txBody>
          <a:bodyPr/>
          <a:lstStyle/>
          <a:p>
            <a:endParaRPr lang="en-US"/>
          </a:p>
        </p:txBody>
      </p:sp>
      <p:sp>
        <p:nvSpPr>
          <p:cNvPr id="13" name="Text 11"/>
          <p:cNvSpPr/>
          <p:nvPr/>
        </p:nvSpPr>
        <p:spPr>
          <a:xfrm>
            <a:off x="6318504" y="1874520"/>
            <a:ext cx="4928616" cy="402336"/>
          </a:xfrm>
          <a:prstGeom prst="rect">
            <a:avLst/>
          </a:prstGeom>
          <a:noFill/>
          <a:ln/>
        </p:spPr>
        <p:txBody>
          <a:bodyPr wrap="square" lIns="0" tIns="0" rIns="0" bIns="0" rtlCol="0" anchor="ctr"/>
          <a:lstStyle/>
          <a:p>
            <a:pPr marL="0" indent="0">
              <a:buNone/>
            </a:pPr>
            <a:r>
              <a:rPr lang="ro-RO" sz="2000" b="1">
                <a:solidFill>
                  <a:srgbClr val="52D6D3"/>
                </a:solidFill>
                <a:latin typeface="Aptos" pitchFamily="34" charset="0"/>
                <a:ea typeface="Aptos" pitchFamily="34" charset="-122"/>
                <a:cs typeface="Aptos" pitchFamily="34" charset="-120"/>
              </a:rPr>
              <a:t>Propunerea Katz et al.</a:t>
            </a:r>
            <a:endParaRPr lang="ro-RO" sz="2000" dirty="0"/>
          </a:p>
        </p:txBody>
      </p:sp>
      <p:sp>
        <p:nvSpPr>
          <p:cNvPr id="14" name="Text 12"/>
          <p:cNvSpPr/>
          <p:nvPr/>
        </p:nvSpPr>
        <p:spPr>
          <a:xfrm>
            <a:off x="6318504" y="2395728"/>
            <a:ext cx="4910328" cy="2834640"/>
          </a:xfrm>
          <a:prstGeom prst="rect">
            <a:avLst/>
          </a:prstGeom>
          <a:noFill/>
          <a:ln/>
        </p:spPr>
        <p:txBody>
          <a:bodyPr wrap="square" lIns="0" tIns="0" rIns="0" bIns="0" rtlCol="0" anchor="ctr"/>
          <a:lstStyle/>
          <a:p>
            <a:pPr marL="0" indent="0">
              <a:buNone/>
            </a:pPr>
            <a:r>
              <a:rPr lang="ro-RO" sz="1600">
                <a:solidFill>
                  <a:srgbClr val="F4F7FB"/>
                </a:solidFill>
                <a:latin typeface="Aptos" pitchFamily="34" charset="0"/>
                <a:ea typeface="Aptos" pitchFamily="34" charset="-122"/>
                <a:cs typeface="Aptos" pitchFamily="34" charset="-120"/>
              </a:rPr>
              <a:t>Fiecare cadru este măsurat cu o mască; măștile se schimbă între cadre.</a:t>
            </a:r>
            <a:endParaRPr lang="ro-RO" sz="1600"/>
          </a:p>
          <a:p>
            <a:pPr marL="0" indent="0">
              <a:buNone/>
            </a:pPr>
            <a:endParaRPr lang="ro-RO" sz="1600"/>
          </a:p>
          <a:p>
            <a:pPr marL="0" indent="0">
              <a:buNone/>
            </a:pPr>
            <a:r>
              <a:rPr lang="ro-RO" sz="1600">
                <a:solidFill>
                  <a:srgbClr val="F4F7FB"/>
                </a:solidFill>
                <a:latin typeface="Aptos" pitchFamily="34" charset="0"/>
                <a:ea typeface="Aptos" pitchFamily="34" charset="-122"/>
                <a:cs typeface="Aptos" pitchFamily="34" charset="-120"/>
              </a:rPr>
              <a:t>Cadrele apropiate sunt asemănătoare, iar diferențele mici pot fi tratate aproximativ drept zgomot.</a:t>
            </a:r>
            <a:endParaRPr lang="ro-RO" sz="1600" dirty="0"/>
          </a:p>
        </p:txBody>
      </p:sp>
      <p:sp>
        <p:nvSpPr>
          <p:cNvPr id="15" name="Text 13"/>
          <p:cNvSpPr/>
          <p:nvPr/>
        </p:nvSpPr>
        <p:spPr>
          <a:xfrm>
            <a:off x="996696" y="5559552"/>
            <a:ext cx="10241280" cy="512064"/>
          </a:xfrm>
          <a:prstGeom prst="rect">
            <a:avLst/>
          </a:prstGeom>
          <a:noFill/>
          <a:ln/>
        </p:spPr>
        <p:txBody>
          <a:bodyPr wrap="square" lIns="0" tIns="0" rIns="0" bIns="0" rtlCol="0" anchor="ctr"/>
          <a:lstStyle/>
          <a:p>
            <a:pPr marL="0" indent="0" algn="ctr">
              <a:buNone/>
            </a:pPr>
            <a:r>
              <a:rPr lang="ro-RO" sz="2100" b="1">
                <a:solidFill>
                  <a:srgbClr val="80E2B0"/>
                </a:solidFill>
                <a:latin typeface="Aptos" pitchFamily="34" charset="0"/>
                <a:ea typeface="Aptos" pitchFamily="34" charset="-122"/>
                <a:cs typeface="Aptos" pitchFamily="34" charset="-120"/>
              </a:rPr>
              <a:t>Rezultatul: informație subpixel complementară chiar și în zone cu puțină mișcare.</a:t>
            </a:r>
            <a:endParaRPr lang="ro-RO"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9036" y="1615271"/>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87324" y="91566"/>
            <a:ext cx="11904133" cy="1359324"/>
          </a:xfrm>
          <a:prstGeom prst="rect">
            <a:avLst/>
          </a:prstGeom>
          <a:noFill/>
          <a:ln/>
        </p:spPr>
        <p:txBody>
          <a:bodyPr wrap="square" lIns="0" tIns="0" rIns="0" bIns="0" rtlCol="0" anchor="ctr"/>
          <a:lstStyle/>
          <a:p>
            <a:pPr marL="0" indent="0">
              <a:buNone/>
            </a:pPr>
            <a:r>
              <a:rPr lang="ro-RO" sz="3000" b="1" dirty="0">
                <a:solidFill>
                  <a:srgbClr val="F4F7FB"/>
                </a:solidFill>
                <a:latin typeface="Aptos" pitchFamily="34" charset="0"/>
                <a:ea typeface="Aptos" pitchFamily="34" charset="-122"/>
                <a:cs typeface="Aptos" pitchFamily="34" charset="-120"/>
              </a:rPr>
              <a:t>Fluxul propus: </a:t>
            </a:r>
          </a:p>
          <a:p>
            <a:pPr marL="0" indent="0">
              <a:buNone/>
            </a:pPr>
            <a:r>
              <a:rPr lang="ro-RO" sz="3000" b="1" dirty="0">
                <a:solidFill>
                  <a:srgbClr val="F4F7FB"/>
                </a:solidFill>
                <a:latin typeface="Aptos" pitchFamily="34" charset="0"/>
                <a:ea typeface="Aptos" pitchFamily="34" charset="-122"/>
                <a:cs typeface="Aptos" pitchFamily="34" charset="-120"/>
              </a:rPr>
              <a:t>măști dinamice de eșantionare → comprimare → reconstrucție</a:t>
            </a:r>
            <a:endParaRPr lang="ro-RO" sz="3000" dirty="0"/>
          </a:p>
        </p:txBody>
      </p:sp>
      <p:sp>
        <p:nvSpPr>
          <p:cNvPr id="4" name="Text 2"/>
          <p:cNvSpPr/>
          <p:nvPr/>
        </p:nvSpPr>
        <p:spPr>
          <a:xfrm>
            <a:off x="687324" y="1185503"/>
            <a:ext cx="10881360" cy="347472"/>
          </a:xfrm>
          <a:prstGeom prst="rect">
            <a:avLst/>
          </a:prstGeom>
          <a:noFill/>
          <a:ln/>
        </p:spPr>
        <p:txBody>
          <a:bodyPr wrap="square" lIns="0" tIns="0" rIns="0" bIns="0" rtlCol="0" anchor="ctr"/>
          <a:lstStyle/>
          <a:p>
            <a:pPr marL="0" indent="0">
              <a:buNone/>
            </a:pPr>
            <a:r>
              <a:rPr lang="ro-RO" sz="1300">
                <a:solidFill>
                  <a:srgbClr val="B9C9DB"/>
                </a:solidFill>
                <a:latin typeface="Aptos" pitchFamily="34" charset="0"/>
                <a:ea typeface="Aptos" pitchFamily="34" charset="-122"/>
                <a:cs typeface="Aptos" pitchFamily="34" charset="-120"/>
              </a:rPr>
              <a:t>Blocuri 4 × 4, măști binare și reconstrucție VSR ×4.</a:t>
            </a:r>
            <a:endParaRPr lang="ro-RO" sz="13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ro-RO" sz="1000" b="1">
                <a:solidFill>
                  <a:srgbClr val="52D6D3"/>
                </a:solidFill>
                <a:latin typeface="Aptos" pitchFamily="34" charset="0"/>
                <a:ea typeface="Aptos" pitchFamily="34" charset="-122"/>
                <a:cs typeface="Aptos" pitchFamily="34" charset="-120"/>
              </a:rPr>
              <a:t>06</a:t>
            </a:r>
            <a:endParaRPr lang="ro-RO" sz="1000" dirty="0"/>
          </a:p>
        </p:txBody>
      </p:sp>
      <p:sp>
        <p:nvSpPr>
          <p:cNvPr id="7" name="Shape 5"/>
          <p:cNvSpPr/>
          <p:nvPr/>
        </p:nvSpPr>
        <p:spPr>
          <a:xfrm>
            <a:off x="448056" y="1857884"/>
            <a:ext cx="1993392" cy="2031488"/>
          </a:xfrm>
          <a:prstGeom prst="roundRect">
            <a:avLst>
              <a:gd name="adj" fmla="val 7339"/>
            </a:avLst>
          </a:prstGeom>
          <a:solidFill>
            <a:srgbClr val="17253B"/>
          </a:solidFill>
          <a:ln w="10160">
            <a:solidFill>
              <a:srgbClr val="17253B"/>
            </a:solidFill>
            <a:prstDash val="solid"/>
          </a:ln>
        </p:spPr>
        <p:txBody>
          <a:bodyPr/>
          <a:lstStyle/>
          <a:p>
            <a:endParaRPr lang="en-US"/>
          </a:p>
        </p:txBody>
      </p:sp>
      <p:sp>
        <p:nvSpPr>
          <p:cNvPr id="8" name="Text 6"/>
          <p:cNvSpPr/>
          <p:nvPr/>
        </p:nvSpPr>
        <p:spPr>
          <a:xfrm>
            <a:off x="585216" y="2104772"/>
            <a:ext cx="1719072" cy="521208"/>
          </a:xfrm>
          <a:prstGeom prst="rect">
            <a:avLst/>
          </a:prstGeom>
          <a:noFill/>
          <a:ln/>
        </p:spPr>
        <p:txBody>
          <a:bodyPr wrap="square" lIns="0" tIns="0" rIns="0" bIns="0" rtlCol="0" anchor="ctr"/>
          <a:lstStyle/>
          <a:p>
            <a:pPr marL="0" indent="0" algn="ctr">
              <a:buNone/>
            </a:pPr>
            <a:r>
              <a:rPr lang="ro-RO" sz="2000" b="1">
                <a:solidFill>
                  <a:srgbClr val="52D6D3"/>
                </a:solidFill>
                <a:latin typeface="Aptos" pitchFamily="34" charset="0"/>
                <a:ea typeface="Aptos" pitchFamily="34" charset="-122"/>
                <a:cs typeface="Aptos" pitchFamily="34" charset="-120"/>
              </a:rPr>
              <a:t>Cadre HR</a:t>
            </a:r>
            <a:endParaRPr lang="ro-RO" sz="2000" dirty="0"/>
          </a:p>
        </p:txBody>
      </p:sp>
      <p:sp>
        <p:nvSpPr>
          <p:cNvPr id="9" name="Text 7"/>
          <p:cNvSpPr/>
          <p:nvPr/>
        </p:nvSpPr>
        <p:spPr>
          <a:xfrm>
            <a:off x="603504" y="2946020"/>
            <a:ext cx="1682496" cy="786384"/>
          </a:xfrm>
          <a:prstGeom prst="rect">
            <a:avLst/>
          </a:prstGeom>
          <a:noFill/>
          <a:ln/>
        </p:spPr>
        <p:txBody>
          <a:bodyPr wrap="square" lIns="0" tIns="0" rIns="0" bIns="0" rtlCol="0" anchor="ctr"/>
          <a:lstStyle/>
          <a:p>
            <a:pPr marL="0" indent="0" algn="ctr">
              <a:buNone/>
            </a:pPr>
            <a:r>
              <a:rPr lang="ro-RO" sz="1600">
                <a:solidFill>
                  <a:srgbClr val="F4F7FB"/>
                </a:solidFill>
                <a:latin typeface="Aptos" pitchFamily="34" charset="0"/>
                <a:ea typeface="Aptos" pitchFamily="34" charset="-122"/>
                <a:cs typeface="Aptos" pitchFamily="34" charset="-120"/>
              </a:rPr>
              <a:t>7 cadre RGB</a:t>
            </a:r>
            <a:endParaRPr lang="ro-RO" sz="1600" dirty="0"/>
          </a:p>
        </p:txBody>
      </p:sp>
      <p:sp>
        <p:nvSpPr>
          <p:cNvPr id="10" name="Shape 8"/>
          <p:cNvSpPr/>
          <p:nvPr/>
        </p:nvSpPr>
        <p:spPr>
          <a:xfrm>
            <a:off x="2487168" y="2818004"/>
            <a:ext cx="274320" cy="384048"/>
          </a:xfrm>
          <a:prstGeom prst="chevron">
            <a:avLst/>
          </a:prstGeom>
          <a:solidFill>
            <a:srgbClr val="52D6D3"/>
          </a:solidFill>
          <a:ln w="12700">
            <a:solidFill>
              <a:srgbClr val="52D6D3"/>
            </a:solidFill>
            <a:prstDash val="solid"/>
          </a:ln>
        </p:spPr>
        <p:txBody>
          <a:bodyPr/>
          <a:lstStyle/>
          <a:p>
            <a:endParaRPr lang="en-US"/>
          </a:p>
        </p:txBody>
      </p:sp>
      <p:sp>
        <p:nvSpPr>
          <p:cNvPr id="11" name="Shape 9"/>
          <p:cNvSpPr/>
          <p:nvPr/>
        </p:nvSpPr>
        <p:spPr>
          <a:xfrm>
            <a:off x="2779776" y="1857884"/>
            <a:ext cx="1993392" cy="2031490"/>
          </a:xfrm>
          <a:prstGeom prst="roundRect">
            <a:avLst>
              <a:gd name="adj" fmla="val 7339"/>
            </a:avLst>
          </a:prstGeom>
          <a:solidFill>
            <a:srgbClr val="1C304A"/>
          </a:solidFill>
          <a:ln w="10160">
            <a:solidFill>
              <a:srgbClr val="1C304A"/>
            </a:solidFill>
            <a:prstDash val="solid"/>
          </a:ln>
        </p:spPr>
        <p:txBody>
          <a:bodyPr/>
          <a:lstStyle/>
          <a:p>
            <a:endParaRPr lang="en-US"/>
          </a:p>
        </p:txBody>
      </p:sp>
      <p:sp>
        <p:nvSpPr>
          <p:cNvPr id="12" name="Text 10"/>
          <p:cNvSpPr/>
          <p:nvPr/>
        </p:nvSpPr>
        <p:spPr>
          <a:xfrm>
            <a:off x="2916936" y="2104772"/>
            <a:ext cx="1719072" cy="521208"/>
          </a:xfrm>
          <a:prstGeom prst="rect">
            <a:avLst/>
          </a:prstGeom>
          <a:noFill/>
          <a:ln/>
        </p:spPr>
        <p:txBody>
          <a:bodyPr wrap="square" lIns="0" tIns="0" rIns="0" bIns="0" rtlCol="0" anchor="ctr"/>
          <a:lstStyle/>
          <a:p>
            <a:pPr marL="0" indent="0" algn="ctr">
              <a:buNone/>
            </a:pPr>
            <a:r>
              <a:rPr lang="ro-RO" sz="2000" b="1">
                <a:solidFill>
                  <a:srgbClr val="52D6D3"/>
                </a:solidFill>
                <a:latin typeface="Aptos" pitchFamily="34" charset="0"/>
                <a:ea typeface="Aptos" pitchFamily="34" charset="-122"/>
                <a:cs typeface="Aptos" pitchFamily="34" charset="-120"/>
              </a:rPr>
              <a:t>Blocuri 4 × 4</a:t>
            </a:r>
            <a:endParaRPr lang="ro-RO" sz="2000" dirty="0"/>
          </a:p>
        </p:txBody>
      </p:sp>
      <p:sp>
        <p:nvSpPr>
          <p:cNvPr id="13" name="Text 11"/>
          <p:cNvSpPr/>
          <p:nvPr/>
        </p:nvSpPr>
        <p:spPr>
          <a:xfrm>
            <a:off x="2935224" y="2946020"/>
            <a:ext cx="1682496" cy="786384"/>
          </a:xfrm>
          <a:prstGeom prst="rect">
            <a:avLst/>
          </a:prstGeom>
          <a:noFill/>
          <a:ln/>
        </p:spPr>
        <p:txBody>
          <a:bodyPr wrap="square" lIns="0" tIns="0" rIns="0" bIns="0" rtlCol="0" anchor="ctr"/>
          <a:lstStyle/>
          <a:p>
            <a:pPr marL="0" indent="0" algn="ctr">
              <a:buNone/>
            </a:pPr>
            <a:r>
              <a:rPr lang="ro-RO" sz="1600">
                <a:solidFill>
                  <a:srgbClr val="F4F7FB"/>
                </a:solidFill>
                <a:latin typeface="Aptos" pitchFamily="34" charset="0"/>
                <a:ea typeface="Aptos" pitchFamily="34" charset="-122"/>
                <a:cs typeface="Aptos" pitchFamily="34" charset="-120"/>
              </a:rPr>
              <a:t>16 pixeli / bloc</a:t>
            </a:r>
            <a:endParaRPr lang="ro-RO" sz="1600" dirty="0"/>
          </a:p>
        </p:txBody>
      </p:sp>
      <p:sp>
        <p:nvSpPr>
          <p:cNvPr id="14" name="Shape 12"/>
          <p:cNvSpPr/>
          <p:nvPr/>
        </p:nvSpPr>
        <p:spPr>
          <a:xfrm>
            <a:off x="4818888" y="2818004"/>
            <a:ext cx="274320" cy="384048"/>
          </a:xfrm>
          <a:prstGeom prst="chevron">
            <a:avLst/>
          </a:prstGeom>
          <a:solidFill>
            <a:srgbClr val="52D6D3"/>
          </a:solidFill>
          <a:ln w="12700">
            <a:solidFill>
              <a:srgbClr val="52D6D3"/>
            </a:solidFill>
            <a:prstDash val="solid"/>
          </a:ln>
        </p:spPr>
        <p:txBody>
          <a:bodyPr/>
          <a:lstStyle/>
          <a:p>
            <a:endParaRPr lang="en-US"/>
          </a:p>
        </p:txBody>
      </p:sp>
      <p:sp>
        <p:nvSpPr>
          <p:cNvPr id="15" name="Shape 13"/>
          <p:cNvSpPr/>
          <p:nvPr/>
        </p:nvSpPr>
        <p:spPr>
          <a:xfrm>
            <a:off x="5111496" y="1857884"/>
            <a:ext cx="1993392" cy="2031490"/>
          </a:xfrm>
          <a:prstGeom prst="roundRect">
            <a:avLst>
              <a:gd name="adj" fmla="val 7339"/>
            </a:avLst>
          </a:prstGeom>
          <a:solidFill>
            <a:srgbClr val="17253B"/>
          </a:solidFill>
          <a:ln w="10160">
            <a:solidFill>
              <a:srgbClr val="17253B"/>
            </a:solidFill>
            <a:prstDash val="solid"/>
          </a:ln>
        </p:spPr>
        <p:txBody>
          <a:bodyPr/>
          <a:lstStyle/>
          <a:p>
            <a:endParaRPr lang="en-US"/>
          </a:p>
        </p:txBody>
      </p:sp>
      <p:sp>
        <p:nvSpPr>
          <p:cNvPr id="16" name="Text 14"/>
          <p:cNvSpPr/>
          <p:nvPr/>
        </p:nvSpPr>
        <p:spPr>
          <a:xfrm>
            <a:off x="5248656" y="2104772"/>
            <a:ext cx="1719072" cy="521208"/>
          </a:xfrm>
          <a:prstGeom prst="rect">
            <a:avLst/>
          </a:prstGeom>
          <a:noFill/>
          <a:ln/>
        </p:spPr>
        <p:txBody>
          <a:bodyPr wrap="square" lIns="0" tIns="0" rIns="0" bIns="0" rtlCol="0" anchor="ctr"/>
          <a:lstStyle/>
          <a:p>
            <a:pPr marL="0" indent="0" algn="ctr">
              <a:buNone/>
            </a:pPr>
            <a:r>
              <a:rPr lang="ro-RO" sz="2000" b="1">
                <a:solidFill>
                  <a:srgbClr val="FFC870"/>
                </a:solidFill>
                <a:latin typeface="Aptos" pitchFamily="34" charset="0"/>
                <a:ea typeface="Aptos" pitchFamily="34" charset="-122"/>
                <a:cs typeface="Aptos" pitchFamily="34" charset="-120"/>
              </a:rPr>
              <a:t>Măști dinamice</a:t>
            </a:r>
            <a:endParaRPr lang="ro-RO" sz="2000" dirty="0"/>
          </a:p>
        </p:txBody>
      </p:sp>
      <p:sp>
        <p:nvSpPr>
          <p:cNvPr id="17" name="Text 15"/>
          <p:cNvSpPr/>
          <p:nvPr/>
        </p:nvSpPr>
        <p:spPr>
          <a:xfrm>
            <a:off x="5266944" y="2946020"/>
            <a:ext cx="1682496" cy="786384"/>
          </a:xfrm>
          <a:prstGeom prst="rect">
            <a:avLst/>
          </a:prstGeom>
          <a:noFill/>
          <a:ln/>
        </p:spPr>
        <p:txBody>
          <a:bodyPr wrap="square" lIns="0" tIns="0" rIns="0" bIns="0" rtlCol="0" anchor="ctr"/>
          <a:lstStyle/>
          <a:p>
            <a:pPr marL="0" indent="0" algn="ctr">
              <a:buNone/>
            </a:pPr>
            <a:r>
              <a:rPr lang="ro-RO" sz="1600">
                <a:solidFill>
                  <a:srgbClr val="F4F7FB"/>
                </a:solidFill>
                <a:latin typeface="Aptos" pitchFamily="34" charset="0"/>
                <a:ea typeface="Aptos" pitchFamily="34" charset="-122"/>
                <a:cs typeface="Aptos" pitchFamily="34" charset="-120"/>
              </a:rPr>
              <a:t>1 sau 2 măsurători pe cadru</a:t>
            </a:r>
            <a:endParaRPr lang="ro-RO" sz="1600" dirty="0"/>
          </a:p>
        </p:txBody>
      </p:sp>
      <p:sp>
        <p:nvSpPr>
          <p:cNvPr id="18" name="Shape 16"/>
          <p:cNvSpPr/>
          <p:nvPr/>
        </p:nvSpPr>
        <p:spPr>
          <a:xfrm>
            <a:off x="7150608" y="2818004"/>
            <a:ext cx="274320" cy="384048"/>
          </a:xfrm>
          <a:prstGeom prst="chevron">
            <a:avLst/>
          </a:prstGeom>
          <a:solidFill>
            <a:srgbClr val="52D6D3"/>
          </a:solidFill>
          <a:ln w="12700">
            <a:solidFill>
              <a:srgbClr val="52D6D3"/>
            </a:solidFill>
            <a:prstDash val="solid"/>
          </a:ln>
        </p:spPr>
        <p:txBody>
          <a:bodyPr/>
          <a:lstStyle/>
          <a:p>
            <a:endParaRPr lang="en-US"/>
          </a:p>
        </p:txBody>
      </p:sp>
      <p:sp>
        <p:nvSpPr>
          <p:cNvPr id="19" name="Shape 17"/>
          <p:cNvSpPr/>
          <p:nvPr/>
        </p:nvSpPr>
        <p:spPr>
          <a:xfrm>
            <a:off x="7443216" y="1857884"/>
            <a:ext cx="1993392" cy="2031488"/>
          </a:xfrm>
          <a:prstGeom prst="roundRect">
            <a:avLst>
              <a:gd name="adj" fmla="val 7339"/>
            </a:avLst>
          </a:prstGeom>
          <a:solidFill>
            <a:srgbClr val="1C304A"/>
          </a:solidFill>
          <a:ln w="10160">
            <a:solidFill>
              <a:srgbClr val="1C304A"/>
            </a:solidFill>
            <a:prstDash val="solid"/>
          </a:ln>
        </p:spPr>
        <p:txBody>
          <a:bodyPr/>
          <a:lstStyle/>
          <a:p>
            <a:endParaRPr lang="en-US"/>
          </a:p>
        </p:txBody>
      </p:sp>
      <p:sp>
        <p:nvSpPr>
          <p:cNvPr id="20" name="Text 18"/>
          <p:cNvSpPr/>
          <p:nvPr/>
        </p:nvSpPr>
        <p:spPr>
          <a:xfrm>
            <a:off x="7580376" y="2104772"/>
            <a:ext cx="1719072" cy="521208"/>
          </a:xfrm>
          <a:prstGeom prst="rect">
            <a:avLst/>
          </a:prstGeom>
          <a:noFill/>
          <a:ln/>
        </p:spPr>
        <p:txBody>
          <a:bodyPr wrap="square" lIns="0" tIns="0" rIns="0" bIns="0" rtlCol="0" anchor="ctr"/>
          <a:lstStyle/>
          <a:p>
            <a:pPr marL="0" indent="0" algn="ctr">
              <a:buNone/>
            </a:pPr>
            <a:r>
              <a:rPr lang="ro-RO" sz="2000" b="1">
                <a:solidFill>
                  <a:srgbClr val="52D6D3"/>
                </a:solidFill>
                <a:latin typeface="Aptos" pitchFamily="34" charset="0"/>
                <a:ea typeface="Aptos" pitchFamily="34" charset="-122"/>
                <a:cs typeface="Aptos" pitchFamily="34" charset="-120"/>
              </a:rPr>
              <a:t>Cadre LR</a:t>
            </a:r>
            <a:endParaRPr lang="ro-RO" sz="2000" dirty="0"/>
          </a:p>
        </p:txBody>
      </p:sp>
      <p:sp>
        <p:nvSpPr>
          <p:cNvPr id="21" name="Text 19"/>
          <p:cNvSpPr/>
          <p:nvPr/>
        </p:nvSpPr>
        <p:spPr>
          <a:xfrm>
            <a:off x="7598664" y="2946020"/>
            <a:ext cx="1682496" cy="786384"/>
          </a:xfrm>
          <a:prstGeom prst="rect">
            <a:avLst/>
          </a:prstGeom>
          <a:noFill/>
          <a:ln/>
        </p:spPr>
        <p:txBody>
          <a:bodyPr wrap="square" lIns="0" tIns="0" rIns="0" bIns="0" rtlCol="0" anchor="ctr"/>
          <a:lstStyle/>
          <a:p>
            <a:pPr marL="0" indent="0" algn="ctr">
              <a:buNone/>
            </a:pPr>
            <a:r>
              <a:rPr lang="ro-RO" sz="1600">
                <a:solidFill>
                  <a:srgbClr val="F4F7FB"/>
                </a:solidFill>
                <a:latin typeface="Aptos" pitchFamily="34" charset="0"/>
                <a:ea typeface="Aptos" pitchFamily="34" charset="-122"/>
                <a:cs typeface="Aptos" pitchFamily="34" charset="-120"/>
              </a:rPr>
              <a:t>imagini de 4 ori mai mici pe fiecare axă</a:t>
            </a:r>
            <a:endParaRPr lang="ro-RO" sz="1600" dirty="0"/>
          </a:p>
        </p:txBody>
      </p:sp>
      <p:sp>
        <p:nvSpPr>
          <p:cNvPr id="22" name="Shape 20"/>
          <p:cNvSpPr/>
          <p:nvPr/>
        </p:nvSpPr>
        <p:spPr>
          <a:xfrm>
            <a:off x="9482328" y="2818004"/>
            <a:ext cx="274320" cy="384048"/>
          </a:xfrm>
          <a:prstGeom prst="chevron">
            <a:avLst/>
          </a:prstGeom>
          <a:solidFill>
            <a:srgbClr val="52D6D3"/>
          </a:solidFill>
          <a:ln w="12700">
            <a:solidFill>
              <a:srgbClr val="52D6D3"/>
            </a:solidFill>
            <a:prstDash val="solid"/>
          </a:ln>
        </p:spPr>
        <p:txBody>
          <a:bodyPr/>
          <a:lstStyle/>
          <a:p>
            <a:endParaRPr lang="en-US"/>
          </a:p>
        </p:txBody>
      </p:sp>
      <p:sp>
        <p:nvSpPr>
          <p:cNvPr id="23" name="Shape 21"/>
          <p:cNvSpPr/>
          <p:nvPr/>
        </p:nvSpPr>
        <p:spPr>
          <a:xfrm>
            <a:off x="9774936" y="1857884"/>
            <a:ext cx="1993392" cy="2031487"/>
          </a:xfrm>
          <a:prstGeom prst="roundRect">
            <a:avLst>
              <a:gd name="adj" fmla="val 7339"/>
            </a:avLst>
          </a:prstGeom>
          <a:solidFill>
            <a:srgbClr val="17253B"/>
          </a:solidFill>
          <a:ln w="10160">
            <a:solidFill>
              <a:srgbClr val="17253B"/>
            </a:solidFill>
            <a:prstDash val="solid"/>
          </a:ln>
        </p:spPr>
        <p:txBody>
          <a:bodyPr/>
          <a:lstStyle/>
          <a:p>
            <a:endParaRPr lang="en-US"/>
          </a:p>
        </p:txBody>
      </p:sp>
      <p:sp>
        <p:nvSpPr>
          <p:cNvPr id="24" name="Text 22"/>
          <p:cNvSpPr/>
          <p:nvPr/>
        </p:nvSpPr>
        <p:spPr>
          <a:xfrm>
            <a:off x="9912096" y="2104772"/>
            <a:ext cx="1719072" cy="521208"/>
          </a:xfrm>
          <a:prstGeom prst="rect">
            <a:avLst/>
          </a:prstGeom>
          <a:noFill/>
          <a:ln/>
        </p:spPr>
        <p:txBody>
          <a:bodyPr wrap="square" lIns="0" tIns="0" rIns="0" bIns="0" rtlCol="0" anchor="ctr"/>
          <a:lstStyle/>
          <a:p>
            <a:pPr marL="0" indent="0" algn="ctr">
              <a:buNone/>
            </a:pPr>
            <a:r>
              <a:rPr lang="ro-RO" sz="2000" b="1">
                <a:solidFill>
                  <a:srgbClr val="52D6D3"/>
                </a:solidFill>
                <a:latin typeface="Aptos" pitchFamily="34" charset="0"/>
                <a:ea typeface="Aptos" pitchFamily="34" charset="-122"/>
                <a:cs typeface="Aptos" pitchFamily="34" charset="-120"/>
              </a:rPr>
              <a:t>Reconstrucție VSR</a:t>
            </a:r>
            <a:endParaRPr lang="ro-RO" sz="2000" dirty="0"/>
          </a:p>
        </p:txBody>
      </p:sp>
      <p:sp>
        <p:nvSpPr>
          <p:cNvPr id="25" name="Text 23"/>
          <p:cNvSpPr/>
          <p:nvPr/>
        </p:nvSpPr>
        <p:spPr>
          <a:xfrm>
            <a:off x="9930384" y="2946020"/>
            <a:ext cx="1682496" cy="786384"/>
          </a:xfrm>
          <a:prstGeom prst="rect">
            <a:avLst/>
          </a:prstGeom>
          <a:noFill/>
          <a:ln/>
        </p:spPr>
        <p:txBody>
          <a:bodyPr wrap="square" lIns="0" tIns="0" rIns="0" bIns="0" rtlCol="0" anchor="ctr"/>
          <a:lstStyle/>
          <a:p>
            <a:pPr marL="0" indent="0" algn="ctr">
              <a:buNone/>
            </a:pPr>
            <a:r>
              <a:rPr lang="ro-RO" sz="1600">
                <a:solidFill>
                  <a:srgbClr val="F4F7FB"/>
                </a:solidFill>
                <a:latin typeface="Aptos" pitchFamily="34" charset="0"/>
                <a:ea typeface="Aptos" pitchFamily="34" charset="-122"/>
                <a:cs typeface="Aptos" pitchFamily="34" charset="-120"/>
              </a:rPr>
              <a:t>cadre HR estimate</a:t>
            </a:r>
            <a:endParaRPr lang="ro-RO" sz="1600" dirty="0"/>
          </a:p>
        </p:txBody>
      </p:sp>
      <p:pic>
        <p:nvPicPr>
          <p:cNvPr id="28" name="Picture 27">
            <a:extLst>
              <a:ext uri="{FF2B5EF4-FFF2-40B4-BE49-F238E27FC236}">
                <a16:creationId xmlns:a16="http://schemas.microsoft.com/office/drawing/2014/main" id="{A547588D-2CD1-2FF4-AEEC-7E9D3501B921}"/>
              </a:ext>
            </a:extLst>
          </p:cNvPr>
          <p:cNvPicPr>
            <a:picLocks noChangeAspect="1"/>
          </p:cNvPicPr>
          <p:nvPr/>
        </p:nvPicPr>
        <p:blipFill>
          <a:blip r:embed="rId3"/>
          <a:stretch>
            <a:fillRect/>
          </a:stretch>
        </p:blipFill>
        <p:spPr>
          <a:xfrm>
            <a:off x="891709" y="4131983"/>
            <a:ext cx="10117667" cy="248424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13" name="Figure 3 - white readability panel">
            <a:extLst>
              <a:ext uri="{FF2B5EF4-FFF2-40B4-BE49-F238E27FC236}">
                <a16:creationId xmlns:a16="http://schemas.microsoft.com/office/drawing/2014/main" id="{1C0F133B-57DD-BC1F-945C-C6D081B8E481}"/>
              </a:ext>
            </a:extLst>
          </p:cNvPr>
          <p:cNvSpPr/>
          <p:nvPr/>
        </p:nvSpPr>
        <p:spPr>
          <a:xfrm>
            <a:off x="508000" y="1524000"/>
            <a:ext cx="6197600" cy="4826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Figura 3 din Katz et al. (2025): (a) o masca binara produce o masurare pe cadru; (b) masca si complementul ei produc doua masurari. Blocurile sunt marite schematic.">
            <a:extLst>
              <a:ext uri="{FF2B5EF4-FFF2-40B4-BE49-F238E27FC236}">
                <a16:creationId xmlns:a16="http://schemas.microsoft.com/office/drawing/2014/main" id="{C67523A1-EE11-60C0-F11D-098C4AE5DFC9}"/>
              </a:ext>
            </a:extLst>
          </p:cNvPr>
          <p:cNvPicPr>
            <a:picLocks noChangeAspect="1"/>
          </p:cNvPicPr>
          <p:nvPr/>
        </p:nvPicPr>
        <p:blipFill>
          <a:blip r:embed="rId2"/>
          <a:stretch>
            <a:fillRect/>
          </a:stretch>
        </p:blipFill>
        <p:spPr>
          <a:xfrm>
            <a:off x="622300" y="1638300"/>
            <a:ext cx="5969000" cy="4596883"/>
          </a:xfrm>
          <a:prstGeom prst="rect">
            <a:avLst/>
          </a:prstGeom>
        </p:spPr>
      </p:pic>
      <p:sp>
        <p:nvSpPr>
          <p:cNvPr id="14" name="Figure 3 title">
            <a:extLst>
              <a:ext uri="{FF2B5EF4-FFF2-40B4-BE49-F238E27FC236}">
                <a16:creationId xmlns:a16="http://schemas.microsoft.com/office/drawing/2014/main" id="{D62E178E-601B-0F06-E2CA-FE9069B979B0}"/>
              </a:ext>
            </a:extLst>
          </p:cNvPr>
          <p:cNvSpPr txBox="1"/>
          <p:nvPr/>
        </p:nvSpPr>
        <p:spPr>
          <a:xfrm>
            <a:off x="660400" y="393700"/>
            <a:ext cx="10858500" cy="276999"/>
          </a:xfrm>
          <a:prstGeom prst="rect">
            <a:avLst/>
          </a:prstGeom>
          <a:noFill/>
        </p:spPr>
        <p:txBody>
          <a:bodyPr vert="horz" wrap="square" lIns="0" tIns="0" rIns="0" bIns="0" rtlCol="0">
            <a:noAutofit/>
          </a:bodyPr>
          <a:lstStyle/>
          <a:p>
            <a:r>
              <a:rPr lang="ro-RO" sz="3000" b="1">
                <a:solidFill>
                  <a:srgbClr val="F4F7FB"/>
                </a:solidFill>
                <a:latin typeface="Aptos" panose="020B0004020202020204" pitchFamily="34" charset="0"/>
              </a:rPr>
              <a:t>Două strategii de eșantionare</a:t>
            </a:r>
            <a:endParaRPr lang="ro-RO" sz="3000" b="1" dirty="0">
              <a:solidFill>
                <a:srgbClr val="F4F7FB"/>
              </a:solidFill>
              <a:latin typeface="Aptos" panose="020B0004020202020204" pitchFamily="34" charset="0"/>
            </a:endParaRPr>
          </a:p>
        </p:txBody>
      </p:sp>
      <p:sp>
        <p:nvSpPr>
          <p:cNvPr id="15" name="Figure 3 subtitle">
            <a:extLst>
              <a:ext uri="{FF2B5EF4-FFF2-40B4-BE49-F238E27FC236}">
                <a16:creationId xmlns:a16="http://schemas.microsoft.com/office/drawing/2014/main" id="{A90CA5A1-BE87-1F74-F22A-0432B10AB06F}"/>
              </a:ext>
            </a:extLst>
          </p:cNvPr>
          <p:cNvSpPr txBox="1"/>
          <p:nvPr/>
        </p:nvSpPr>
        <p:spPr>
          <a:xfrm>
            <a:off x="685800" y="952500"/>
            <a:ext cx="10820400" cy="276999"/>
          </a:xfrm>
          <a:prstGeom prst="rect">
            <a:avLst/>
          </a:prstGeom>
          <a:noFill/>
        </p:spPr>
        <p:txBody>
          <a:bodyPr vert="horz" wrap="square" lIns="0" tIns="0" rIns="0" bIns="0" rtlCol="0">
            <a:noAutofit/>
          </a:bodyPr>
          <a:lstStyle/>
          <a:p>
            <a:r>
              <a:rPr lang="ro-RO" sz="1300">
                <a:solidFill>
                  <a:srgbClr val="B9C9DB"/>
                </a:solidFill>
                <a:latin typeface="Aptos" panose="020B0004020202020204" pitchFamily="34" charset="0"/>
              </a:rPr>
              <a:t>Măști binare pe blocuri: o măsurare sau două măsurări complementare pe cadru.</a:t>
            </a:r>
            <a:endParaRPr lang="ro-RO" sz="1300" dirty="0">
              <a:solidFill>
                <a:srgbClr val="B9C9DB"/>
              </a:solidFill>
              <a:latin typeface="Aptos" panose="020B0004020202020204" pitchFamily="34" charset="0"/>
            </a:endParaRPr>
          </a:p>
        </p:txBody>
      </p:sp>
      <p:cxnSp>
        <p:nvCxnSpPr>
          <p:cNvPr id="16" name="Straight Connector 15">
            <a:extLst>
              <a:ext uri="{FF2B5EF4-FFF2-40B4-BE49-F238E27FC236}">
                <a16:creationId xmlns:a16="http://schemas.microsoft.com/office/drawing/2014/main" id="{299EF736-C0D9-7210-261D-9EEE18991A40}"/>
              </a:ext>
            </a:extLst>
          </p:cNvPr>
          <p:cNvCxnSpPr/>
          <p:nvPr/>
        </p:nvCxnSpPr>
        <p:spPr>
          <a:xfrm>
            <a:off x="673100" y="1384300"/>
            <a:ext cx="10845800" cy="0"/>
          </a:xfrm>
          <a:prstGeom prst="line">
            <a:avLst/>
          </a:prstGeom>
          <a:ln w="12700">
            <a:solidFill>
              <a:srgbClr val="34475D"/>
            </a:solidFill>
          </a:ln>
        </p:spPr>
        <p:style>
          <a:lnRef idx="1">
            <a:schemeClr val="accent1"/>
          </a:lnRef>
          <a:fillRef idx="0">
            <a:schemeClr val="accent1"/>
          </a:fillRef>
          <a:effectRef idx="0">
            <a:schemeClr val="accent1"/>
          </a:effectRef>
          <a:fontRef idx="minor">
            <a:schemeClr val="tx1"/>
          </a:fontRef>
        </p:style>
      </p:cxnSp>
      <p:sp>
        <p:nvSpPr>
          <p:cNvPr id="17" name="Strategy a heading">
            <a:extLst>
              <a:ext uri="{FF2B5EF4-FFF2-40B4-BE49-F238E27FC236}">
                <a16:creationId xmlns:a16="http://schemas.microsoft.com/office/drawing/2014/main" id="{DC20A616-AFEA-6D51-F14B-86AE00DDAD19}"/>
              </a:ext>
            </a:extLst>
          </p:cNvPr>
          <p:cNvSpPr txBox="1"/>
          <p:nvPr/>
        </p:nvSpPr>
        <p:spPr>
          <a:xfrm>
            <a:off x="7035800" y="1625600"/>
            <a:ext cx="4495800" cy="276999"/>
          </a:xfrm>
          <a:prstGeom prst="rect">
            <a:avLst/>
          </a:prstGeom>
          <a:noFill/>
        </p:spPr>
        <p:txBody>
          <a:bodyPr vert="horz" wrap="square" lIns="0" tIns="0" rIns="0" bIns="0" rtlCol="0">
            <a:noAutofit/>
          </a:bodyPr>
          <a:lstStyle/>
          <a:p>
            <a:r>
              <a:rPr lang="ro-RO" sz="1900" b="1">
                <a:solidFill>
                  <a:srgbClr val="52D6D3"/>
                </a:solidFill>
                <a:latin typeface="Aptos" panose="020B0004020202020204" pitchFamily="34" charset="0"/>
              </a:rPr>
              <a:t>(a) O măsurare pe cadru</a:t>
            </a:r>
            <a:endParaRPr lang="ro-RO" sz="1900" b="1" dirty="0">
              <a:solidFill>
                <a:srgbClr val="52D6D3"/>
              </a:solidFill>
              <a:latin typeface="Aptos" panose="020B0004020202020204" pitchFamily="34" charset="0"/>
            </a:endParaRPr>
          </a:p>
        </p:txBody>
      </p:sp>
      <p:sp>
        <p:nvSpPr>
          <p:cNvPr id="18" name="Strategy a description">
            <a:extLst>
              <a:ext uri="{FF2B5EF4-FFF2-40B4-BE49-F238E27FC236}">
                <a16:creationId xmlns:a16="http://schemas.microsoft.com/office/drawing/2014/main" id="{DA4ABAD5-FD93-66DF-8B07-9EC1D12614E5}"/>
              </a:ext>
            </a:extLst>
          </p:cNvPr>
          <p:cNvSpPr txBox="1"/>
          <p:nvPr/>
        </p:nvSpPr>
        <p:spPr>
          <a:xfrm>
            <a:off x="7035800" y="2095500"/>
            <a:ext cx="4495800" cy="276999"/>
          </a:xfrm>
          <a:prstGeom prst="rect">
            <a:avLst/>
          </a:prstGeom>
          <a:noFill/>
        </p:spPr>
        <p:txBody>
          <a:bodyPr vert="horz" wrap="square" lIns="0" tIns="0" rIns="0" bIns="0" rtlCol="0">
            <a:noAutofit/>
          </a:bodyPr>
          <a:lstStyle/>
          <a:p>
            <a:r>
              <a:rPr lang="ro-RO" sz="1700">
                <a:solidFill>
                  <a:srgbClr val="F4F7FB"/>
                </a:solidFill>
                <a:latin typeface="Aptos" panose="020B0004020202020204" pitchFamily="34" charset="0"/>
              </a:rPr>
              <a:t>O mască selectează 50% din pixelii fiecărui bloc și îi însumează într-o valoare LR.</a:t>
            </a:r>
          </a:p>
          <a:p>
            <a:r>
              <a:rPr lang="ro-RO" sz="1700">
                <a:solidFill>
                  <a:srgbClr val="F4F7FB"/>
                </a:solidFill>
                <a:latin typeface="Aptos" panose="020B0004020202020204" pitchFamily="34" charset="0"/>
              </a:rPr>
              <a:t>Pentru blocuri 4 × 4: 8 pixeli utilizați, CR = 1/16; fill-factor de 50%.</a:t>
            </a:r>
            <a:endParaRPr lang="ro-RO" sz="1700" dirty="0">
              <a:solidFill>
                <a:srgbClr val="F4F7FB"/>
              </a:solidFill>
              <a:latin typeface="Aptos" panose="020B0004020202020204" pitchFamily="34" charset="0"/>
            </a:endParaRPr>
          </a:p>
        </p:txBody>
      </p:sp>
      <p:sp>
        <p:nvSpPr>
          <p:cNvPr id="19" name="Strategy b heading">
            <a:extLst>
              <a:ext uri="{FF2B5EF4-FFF2-40B4-BE49-F238E27FC236}">
                <a16:creationId xmlns:a16="http://schemas.microsoft.com/office/drawing/2014/main" id="{770BF994-6348-DFFC-EF43-FEA0F500420A}"/>
              </a:ext>
            </a:extLst>
          </p:cNvPr>
          <p:cNvSpPr txBox="1"/>
          <p:nvPr/>
        </p:nvSpPr>
        <p:spPr>
          <a:xfrm>
            <a:off x="7035800" y="3670300"/>
            <a:ext cx="4495800" cy="276999"/>
          </a:xfrm>
          <a:prstGeom prst="rect">
            <a:avLst/>
          </a:prstGeom>
          <a:noFill/>
        </p:spPr>
        <p:txBody>
          <a:bodyPr vert="horz" wrap="square" lIns="0" tIns="0" rIns="0" bIns="0" rtlCol="0">
            <a:noAutofit/>
          </a:bodyPr>
          <a:lstStyle/>
          <a:p>
            <a:r>
              <a:rPr lang="ro-RO" sz="1900" b="1">
                <a:solidFill>
                  <a:srgbClr val="FFC870"/>
                </a:solidFill>
                <a:latin typeface="Aptos" panose="020B0004020202020204" pitchFamily="34" charset="0"/>
              </a:rPr>
              <a:t>(b) Două măsurări pe cadru</a:t>
            </a:r>
            <a:endParaRPr lang="ro-RO" sz="1900" b="1" dirty="0">
              <a:solidFill>
                <a:srgbClr val="FFC870"/>
              </a:solidFill>
              <a:latin typeface="Aptos" panose="020B0004020202020204" pitchFamily="34" charset="0"/>
            </a:endParaRPr>
          </a:p>
        </p:txBody>
      </p:sp>
      <p:sp>
        <p:nvSpPr>
          <p:cNvPr id="20" name="Strategy b description">
            <a:extLst>
              <a:ext uri="{FF2B5EF4-FFF2-40B4-BE49-F238E27FC236}">
                <a16:creationId xmlns:a16="http://schemas.microsoft.com/office/drawing/2014/main" id="{CB7F3DD5-007C-F34A-94A8-0BB1ABBD23AE}"/>
              </a:ext>
            </a:extLst>
          </p:cNvPr>
          <p:cNvSpPr txBox="1"/>
          <p:nvPr/>
        </p:nvSpPr>
        <p:spPr>
          <a:xfrm>
            <a:off x="7035800" y="4140200"/>
            <a:ext cx="4495800" cy="276999"/>
          </a:xfrm>
          <a:prstGeom prst="rect">
            <a:avLst/>
          </a:prstGeom>
          <a:noFill/>
        </p:spPr>
        <p:txBody>
          <a:bodyPr vert="horz" wrap="square" lIns="0" tIns="0" rIns="0" bIns="0" rtlCol="0">
            <a:noAutofit/>
          </a:bodyPr>
          <a:lstStyle/>
          <a:p>
            <a:r>
              <a:rPr lang="ro-RO" sz="1700">
                <a:solidFill>
                  <a:srgbClr val="F4F7FB"/>
                </a:solidFill>
                <a:latin typeface="Aptos" panose="020B0004020202020204" pitchFamily="34" charset="0"/>
              </a:rPr>
              <a:t>Masca și complementul ei produc două imagini LR. Fiecare pixel contribuie exact o dată: fill-factor de 100%.</a:t>
            </a:r>
          </a:p>
          <a:p>
            <a:r>
              <a:rPr lang="ro-RO" sz="1700">
                <a:solidFill>
                  <a:srgbClr val="F4F7FB"/>
                </a:solidFill>
                <a:latin typeface="Aptos" panose="020B0004020202020204" pitchFamily="34" charset="0"/>
              </a:rPr>
              <a:t>Pentru blocuri 4 × 4: CR = 1/8. Suma celor două măsurări este echivalentă cu 16Sum.</a:t>
            </a:r>
            <a:endParaRPr lang="ro-RO" sz="1700" dirty="0">
              <a:solidFill>
                <a:srgbClr val="F4F7FB"/>
              </a:solidFill>
              <a:latin typeface="Aptos" panose="020B0004020202020204" pitchFamily="34" charset="0"/>
            </a:endParaRPr>
          </a:p>
        </p:txBody>
      </p:sp>
      <p:sp>
        <p:nvSpPr>
          <p:cNvPr id="21" name="Figure simplification note">
            <a:extLst>
              <a:ext uri="{FF2B5EF4-FFF2-40B4-BE49-F238E27FC236}">
                <a16:creationId xmlns:a16="http://schemas.microsoft.com/office/drawing/2014/main" id="{65A7DF6E-B7C0-1633-83D1-22CC613A5914}"/>
              </a:ext>
            </a:extLst>
          </p:cNvPr>
          <p:cNvSpPr txBox="1"/>
          <p:nvPr/>
        </p:nvSpPr>
        <p:spPr>
          <a:xfrm>
            <a:off x="546100" y="6413500"/>
            <a:ext cx="10896600" cy="276999"/>
          </a:xfrm>
          <a:prstGeom prst="rect">
            <a:avLst/>
          </a:prstGeom>
          <a:noFill/>
        </p:spPr>
        <p:txBody>
          <a:bodyPr vert="horz" wrap="square" lIns="0" tIns="0" rIns="0" bIns="0" rtlCol="0">
            <a:noAutofit/>
          </a:bodyPr>
          <a:lstStyle/>
          <a:p>
            <a:r>
              <a:rPr lang="ro-RO" sz="1100">
                <a:solidFill>
                  <a:srgbClr val="B9C9DB"/>
                </a:solidFill>
                <a:latin typeface="Aptos" panose="020B0004020202020204" pitchFamily="34" charset="0"/>
              </a:rPr>
              <a:t>Schemă simplificată: un singur cadru și blocuri mărite pentru vizualizare.</a:t>
            </a:r>
            <a:endParaRPr lang="ro-RO" sz="1100" dirty="0">
              <a:solidFill>
                <a:srgbClr val="B9C9DB"/>
              </a:solidFill>
              <a:latin typeface="Aptos" panose="020B0004020202020204" pitchFamily="34" charset="0"/>
            </a:endParaRPr>
          </a:p>
        </p:txBody>
      </p:sp>
      <p:sp>
        <p:nvSpPr>
          <p:cNvPr id="22" name="Figure source">
            <a:extLst>
              <a:ext uri="{FF2B5EF4-FFF2-40B4-BE49-F238E27FC236}">
                <a16:creationId xmlns:a16="http://schemas.microsoft.com/office/drawing/2014/main" id="{5548C90E-5CFA-78B5-F783-935963E50B1F}"/>
              </a:ext>
            </a:extLst>
          </p:cNvPr>
          <p:cNvSpPr txBox="1"/>
          <p:nvPr/>
        </p:nvSpPr>
        <p:spPr>
          <a:xfrm>
            <a:off x="546100" y="6642100"/>
            <a:ext cx="10896600" cy="276999"/>
          </a:xfrm>
          <a:prstGeom prst="rect">
            <a:avLst/>
          </a:prstGeom>
          <a:noFill/>
        </p:spPr>
        <p:txBody>
          <a:bodyPr vert="horz" wrap="square" lIns="0" tIns="0" rIns="0" bIns="0" rtlCol="0">
            <a:noAutofit/>
          </a:bodyPr>
          <a:lstStyle/>
          <a:p>
            <a:r>
              <a:rPr lang="ro-RO" sz="900">
                <a:solidFill>
                  <a:srgbClr val="B9C9DB"/>
                </a:solidFill>
                <a:latin typeface="Aptos" panose="020B0004020202020204" pitchFamily="34" charset="0"/>
              </a:rPr>
              <a:t>Sursa: Katz et al., CVPR Workshops 2025, Fig. 3 și secțiunea „Sampling”.</a:t>
            </a:r>
            <a:endParaRPr lang="ro-RO" sz="900" dirty="0">
              <a:solidFill>
                <a:srgbClr val="B9C9DB"/>
              </a:solidFill>
              <a:latin typeface="Aptos" panose="020B0004020202020204" pitchFamily="34" charset="0"/>
            </a:endParaRPr>
          </a:p>
        </p:txBody>
      </p:sp>
      <p:sp xmlns:p="http://schemas.openxmlformats.org/presentationml/2006/main">
        <p:nvSpPr>
          <p:cNvPr id="23" name="Slide number"/>
          <p:cNvSpPr/>
          <p:nvPr/>
        </p:nvSpPr>
        <p:spPr>
          <a:xfrm xmlns:a="http://schemas.openxmlformats.org/drawingml/2006/main">
            <a:off x="11009376" y="6492240"/>
            <a:ext cx="475488" cy="228600"/>
          </a:xfrm>
          <a:prstGeom xmlns:a="http://schemas.openxmlformats.org/drawingml/2006/main" prst="rect">
            <a:avLst/>
          </a:prstGeom>
          <a:noFill xmlns:a="http://schemas.openxmlformats.org/drawingml/2006/main"/>
          <a:ln xmlns:a="http://schemas.openxmlformats.org/drawingml/2006/main"/>
        </p:spPr>
        <p:txBody>
          <a:bodyPr xmlns:a="http://schemas.openxmlformats.org/drawingml/2006/main" wrap="square" lIns="0" tIns="0" rIns="0" bIns="0" rtlCol="0" anchor="ctr"/>
          <a:lstStyle xmlns:a="http://schemas.openxmlformats.org/drawingml/2006/main"/>
          <a:p xmlns:a="http://schemas.openxmlformats.org/drawingml/2006/main">
            <a:pPr marL="0" indent="0" algn="r">
              <a:buNone/>
            </a:pPr>
            <a:r>
              <a:rPr lang="ro-RO" sz="1000" b="1">
                <a:solidFill>
                  <a:srgbClr val="52D6D3"/>
                </a:solidFill>
                <a:latin typeface="Aptos" pitchFamily="34" charset="0"/>
                <a:ea typeface="Aptos" pitchFamily="34" charset="-122"/>
                <a:cs typeface="Aptos" pitchFamily="34" charset="-120"/>
              </a:rPr>
              <a:t>07</a:t>
            </a:r>
            <a:endParaRPr lang="ro-RO" sz="1000" dirty="0"/>
          </a:p>
        </p:txBody>
      </p:sp>
    </p:spTree>
    <p:extLst>
      <p:ext uri="{BB962C8B-B14F-4D97-AF65-F5344CB8AC3E}">
        <p14:creationId xmlns:p14="http://schemas.microsoft.com/office/powerpoint/2010/main" val="2115974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ro-RO" sz="3000" b="1">
                <a:solidFill>
                  <a:srgbClr val="F4F7FB"/>
                </a:solidFill>
                <a:latin typeface="Aptos" pitchFamily="34" charset="0"/>
                <a:ea typeface="Aptos" pitchFamily="34" charset="-122"/>
                <a:cs typeface="Aptos" pitchFamily="34" charset="-120"/>
              </a:rPr>
              <a:t>Varianta A: o măsurare pe cadru</a:t>
            </a:r>
            <a:endParaRPr lang="ro-RO"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ro-RO" sz="1300">
                <a:solidFill>
                  <a:srgbClr val="B9C9DB"/>
                </a:solidFill>
                <a:latin typeface="Aptos" pitchFamily="34" charset="0"/>
                <a:ea typeface="Aptos" pitchFamily="34" charset="-122"/>
                <a:cs typeface="Aptos" pitchFamily="34" charset="-120"/>
              </a:rPr>
              <a:t>Comparație la buget identic: 1 valoare / 16 pixeli / cadru → CR = 1/16.</a:t>
            </a:r>
            <a:endParaRPr lang="ro-RO" sz="13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ro-RO" sz="1000" b="1">
                <a:solidFill>
                  <a:srgbClr val="52D6D3"/>
                </a:solidFill>
                <a:latin typeface="Aptos" pitchFamily="34" charset="0"/>
                <a:ea typeface="Aptos" pitchFamily="34" charset="-122"/>
                <a:cs typeface="Aptos" pitchFamily="34" charset="-120"/>
              </a:rPr>
              <a:t>08</a:t>
            </a:r>
            <a:endParaRPr lang="ro-RO" sz="1000" dirty="0"/>
          </a:p>
        </p:txBody>
      </p:sp>
      <p:sp>
        <p:nvSpPr>
          <p:cNvPr id="7" name="Text 5"/>
          <p:cNvSpPr/>
          <p:nvPr/>
        </p:nvSpPr>
        <p:spPr>
          <a:xfrm>
            <a:off x="841248" y="1719072"/>
            <a:ext cx="4754880" cy="411480"/>
          </a:xfrm>
          <a:prstGeom prst="rect">
            <a:avLst/>
          </a:prstGeom>
          <a:noFill/>
          <a:ln/>
        </p:spPr>
        <p:txBody>
          <a:bodyPr wrap="square" lIns="0" tIns="0" rIns="0" bIns="0" rtlCol="0" anchor="ctr"/>
          <a:lstStyle/>
          <a:p>
            <a:pPr marL="0" indent="0">
              <a:buNone/>
            </a:pPr>
            <a:r>
              <a:rPr lang="ro-RO" sz="2100" b="1">
                <a:solidFill>
                  <a:srgbClr val="FFC870"/>
                </a:solidFill>
                <a:latin typeface="Aptos" pitchFamily="34" charset="0"/>
                <a:ea typeface="Aptos" pitchFamily="34" charset="-122"/>
                <a:cs typeface="Aptos" pitchFamily="34" charset="-120"/>
              </a:rPr>
              <a:t>16Sum: aceeași mască în fiecare cadru</a:t>
            </a:r>
            <a:endParaRPr lang="ro-RO" sz="2100" dirty="0"/>
          </a:p>
        </p:txBody>
      </p:sp>
      <p:sp>
        <p:nvSpPr>
          <p:cNvPr id="8" name="Text 6"/>
          <p:cNvSpPr/>
          <p:nvPr/>
        </p:nvSpPr>
        <p:spPr>
          <a:xfrm>
            <a:off x="6126480" y="1719072"/>
            <a:ext cx="5120640" cy="411480"/>
          </a:xfrm>
          <a:prstGeom prst="rect">
            <a:avLst/>
          </a:prstGeom>
          <a:noFill/>
          <a:ln/>
        </p:spPr>
        <p:txBody>
          <a:bodyPr wrap="square" lIns="0" tIns="0" rIns="0" bIns="0" rtlCol="0" anchor="ctr"/>
          <a:lstStyle/>
          <a:p>
            <a:pPr marL="0" indent="0">
              <a:buNone/>
            </a:pPr>
            <a:r>
              <a:rPr lang="ro-RO" sz="2100" b="1">
                <a:solidFill>
                  <a:srgbClr val="52D6D3"/>
                </a:solidFill>
                <a:latin typeface="Aptos" pitchFamily="34" charset="0"/>
                <a:ea typeface="Aptos" pitchFamily="34" charset="-122"/>
                <a:cs typeface="Aptos" pitchFamily="34" charset="-120"/>
              </a:rPr>
              <a:t>Random: 8 pixeli selectați, mască variabilă</a:t>
            </a:r>
            <a:endParaRPr lang="ro-RO" sz="2100" dirty="0"/>
          </a:p>
        </p:txBody>
      </p:sp>
      <p:sp>
        <p:nvSpPr>
          <p:cNvPr id="9" name="Shape 7"/>
          <p:cNvSpPr/>
          <p:nvPr/>
        </p:nvSpPr>
        <p:spPr>
          <a:xfrm>
            <a:off x="1572768" y="2359152"/>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0" name="Shape 8"/>
          <p:cNvSpPr/>
          <p:nvPr/>
        </p:nvSpPr>
        <p:spPr>
          <a:xfrm>
            <a:off x="2126894" y="2359152"/>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1" name="Shape 9"/>
          <p:cNvSpPr/>
          <p:nvPr/>
        </p:nvSpPr>
        <p:spPr>
          <a:xfrm>
            <a:off x="2681021" y="2359152"/>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2" name="Shape 10"/>
          <p:cNvSpPr/>
          <p:nvPr/>
        </p:nvSpPr>
        <p:spPr>
          <a:xfrm>
            <a:off x="3235147" y="2359152"/>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3" name="Shape 11"/>
          <p:cNvSpPr/>
          <p:nvPr/>
        </p:nvSpPr>
        <p:spPr>
          <a:xfrm>
            <a:off x="1572768" y="2913278"/>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4" name="Shape 12"/>
          <p:cNvSpPr/>
          <p:nvPr/>
        </p:nvSpPr>
        <p:spPr>
          <a:xfrm>
            <a:off x="2126894" y="2913278"/>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5" name="Shape 13"/>
          <p:cNvSpPr/>
          <p:nvPr/>
        </p:nvSpPr>
        <p:spPr>
          <a:xfrm>
            <a:off x="2681021" y="2913278"/>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6" name="Shape 14"/>
          <p:cNvSpPr/>
          <p:nvPr/>
        </p:nvSpPr>
        <p:spPr>
          <a:xfrm>
            <a:off x="3235147" y="2913278"/>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7" name="Shape 15"/>
          <p:cNvSpPr/>
          <p:nvPr/>
        </p:nvSpPr>
        <p:spPr>
          <a:xfrm>
            <a:off x="1572768" y="3467405"/>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8" name="Shape 16"/>
          <p:cNvSpPr/>
          <p:nvPr/>
        </p:nvSpPr>
        <p:spPr>
          <a:xfrm>
            <a:off x="2126894" y="3467405"/>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9" name="Shape 17"/>
          <p:cNvSpPr/>
          <p:nvPr/>
        </p:nvSpPr>
        <p:spPr>
          <a:xfrm>
            <a:off x="2681021" y="3467405"/>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20" name="Shape 18"/>
          <p:cNvSpPr/>
          <p:nvPr/>
        </p:nvSpPr>
        <p:spPr>
          <a:xfrm>
            <a:off x="3235147" y="3467405"/>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21" name="Shape 19"/>
          <p:cNvSpPr/>
          <p:nvPr/>
        </p:nvSpPr>
        <p:spPr>
          <a:xfrm>
            <a:off x="1572768" y="4021531"/>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22" name="Shape 20"/>
          <p:cNvSpPr/>
          <p:nvPr/>
        </p:nvSpPr>
        <p:spPr>
          <a:xfrm>
            <a:off x="2126894" y="4021531"/>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23" name="Shape 21"/>
          <p:cNvSpPr/>
          <p:nvPr/>
        </p:nvSpPr>
        <p:spPr>
          <a:xfrm>
            <a:off x="2681021" y="4021531"/>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24" name="Shape 22"/>
          <p:cNvSpPr/>
          <p:nvPr/>
        </p:nvSpPr>
        <p:spPr>
          <a:xfrm>
            <a:off x="3235147" y="4021531"/>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25" name="Shape 23"/>
          <p:cNvSpPr/>
          <p:nvPr/>
        </p:nvSpPr>
        <p:spPr>
          <a:xfrm>
            <a:off x="7104888" y="2359152"/>
            <a:ext cx="532181" cy="532181"/>
          </a:xfrm>
          <a:prstGeom prst="roundRect">
            <a:avLst>
              <a:gd name="adj" fmla="val 3436"/>
            </a:avLst>
          </a:prstGeom>
          <a:solidFill>
            <a:srgbClr val="52D6D3"/>
          </a:solidFill>
          <a:ln w="10160">
            <a:solidFill>
              <a:srgbClr val="52D6D3"/>
            </a:solidFill>
            <a:prstDash val="solid"/>
          </a:ln>
        </p:spPr>
        <p:txBody>
          <a:bodyPr/>
          <a:lstStyle/>
          <a:p>
            <a:endParaRPr lang="en-US"/>
          </a:p>
        </p:txBody>
      </p:sp>
      <p:sp>
        <p:nvSpPr>
          <p:cNvPr id="26" name="Shape 24"/>
          <p:cNvSpPr/>
          <p:nvPr/>
        </p:nvSpPr>
        <p:spPr>
          <a:xfrm>
            <a:off x="7659014" y="2359152"/>
            <a:ext cx="532181" cy="532181"/>
          </a:xfrm>
          <a:prstGeom prst="roundRect">
            <a:avLst>
              <a:gd name="adj" fmla="val 3436"/>
            </a:avLst>
          </a:prstGeom>
          <a:solidFill>
            <a:srgbClr val="1C304A"/>
          </a:solidFill>
          <a:ln w="10160">
            <a:solidFill>
              <a:srgbClr val="34475D"/>
            </a:solidFill>
            <a:prstDash val="solid"/>
          </a:ln>
        </p:spPr>
        <p:txBody>
          <a:bodyPr/>
          <a:lstStyle/>
          <a:p>
            <a:endParaRPr lang="en-US"/>
          </a:p>
        </p:txBody>
      </p:sp>
      <p:sp>
        <p:nvSpPr>
          <p:cNvPr id="27" name="Shape 25"/>
          <p:cNvSpPr/>
          <p:nvPr/>
        </p:nvSpPr>
        <p:spPr>
          <a:xfrm>
            <a:off x="8213141" y="2359152"/>
            <a:ext cx="532181" cy="532181"/>
          </a:xfrm>
          <a:prstGeom prst="roundRect">
            <a:avLst>
              <a:gd name="adj" fmla="val 3436"/>
            </a:avLst>
          </a:prstGeom>
          <a:solidFill>
            <a:srgbClr val="52D6D3"/>
          </a:solidFill>
          <a:ln w="10160">
            <a:solidFill>
              <a:srgbClr val="52D6D3"/>
            </a:solidFill>
            <a:prstDash val="solid"/>
          </a:ln>
        </p:spPr>
        <p:txBody>
          <a:bodyPr/>
          <a:lstStyle/>
          <a:p>
            <a:endParaRPr lang="en-US"/>
          </a:p>
        </p:txBody>
      </p:sp>
      <p:sp>
        <p:nvSpPr>
          <p:cNvPr id="28" name="Shape 26"/>
          <p:cNvSpPr/>
          <p:nvPr/>
        </p:nvSpPr>
        <p:spPr>
          <a:xfrm>
            <a:off x="8767267" y="2359152"/>
            <a:ext cx="532181" cy="532181"/>
          </a:xfrm>
          <a:prstGeom prst="roundRect">
            <a:avLst>
              <a:gd name="adj" fmla="val 3436"/>
            </a:avLst>
          </a:prstGeom>
          <a:solidFill>
            <a:srgbClr val="1C304A"/>
          </a:solidFill>
          <a:ln w="10160">
            <a:solidFill>
              <a:srgbClr val="34475D"/>
            </a:solidFill>
            <a:prstDash val="solid"/>
          </a:ln>
        </p:spPr>
        <p:txBody>
          <a:bodyPr/>
          <a:lstStyle/>
          <a:p>
            <a:endParaRPr lang="en-US"/>
          </a:p>
        </p:txBody>
      </p:sp>
      <p:sp>
        <p:nvSpPr>
          <p:cNvPr id="29" name="Shape 27"/>
          <p:cNvSpPr/>
          <p:nvPr/>
        </p:nvSpPr>
        <p:spPr>
          <a:xfrm>
            <a:off x="7104888" y="2913278"/>
            <a:ext cx="532181" cy="532181"/>
          </a:xfrm>
          <a:prstGeom prst="roundRect">
            <a:avLst>
              <a:gd name="adj" fmla="val 3436"/>
            </a:avLst>
          </a:prstGeom>
          <a:solidFill>
            <a:srgbClr val="52D6D3"/>
          </a:solidFill>
          <a:ln w="10160">
            <a:solidFill>
              <a:srgbClr val="52D6D3"/>
            </a:solidFill>
            <a:prstDash val="solid"/>
          </a:ln>
        </p:spPr>
        <p:txBody>
          <a:bodyPr/>
          <a:lstStyle/>
          <a:p>
            <a:endParaRPr lang="en-US"/>
          </a:p>
        </p:txBody>
      </p:sp>
      <p:sp>
        <p:nvSpPr>
          <p:cNvPr id="30" name="Shape 28"/>
          <p:cNvSpPr/>
          <p:nvPr/>
        </p:nvSpPr>
        <p:spPr>
          <a:xfrm>
            <a:off x="7659014" y="2913278"/>
            <a:ext cx="532181" cy="532181"/>
          </a:xfrm>
          <a:prstGeom prst="roundRect">
            <a:avLst>
              <a:gd name="adj" fmla="val 3436"/>
            </a:avLst>
          </a:prstGeom>
          <a:solidFill>
            <a:srgbClr val="52D6D3"/>
          </a:solidFill>
          <a:ln w="10160">
            <a:solidFill>
              <a:srgbClr val="52D6D3"/>
            </a:solidFill>
            <a:prstDash val="solid"/>
          </a:ln>
        </p:spPr>
        <p:txBody>
          <a:bodyPr/>
          <a:lstStyle/>
          <a:p>
            <a:endParaRPr lang="en-US"/>
          </a:p>
        </p:txBody>
      </p:sp>
      <p:sp>
        <p:nvSpPr>
          <p:cNvPr id="31" name="Shape 29"/>
          <p:cNvSpPr/>
          <p:nvPr/>
        </p:nvSpPr>
        <p:spPr>
          <a:xfrm>
            <a:off x="8213141" y="2913278"/>
            <a:ext cx="532181" cy="532181"/>
          </a:xfrm>
          <a:prstGeom prst="roundRect">
            <a:avLst>
              <a:gd name="adj" fmla="val 3436"/>
            </a:avLst>
          </a:prstGeom>
          <a:solidFill>
            <a:srgbClr val="1C304A"/>
          </a:solidFill>
          <a:ln w="10160">
            <a:solidFill>
              <a:srgbClr val="34475D"/>
            </a:solidFill>
            <a:prstDash val="solid"/>
          </a:ln>
        </p:spPr>
        <p:txBody>
          <a:bodyPr/>
          <a:lstStyle/>
          <a:p>
            <a:endParaRPr lang="en-US"/>
          </a:p>
        </p:txBody>
      </p:sp>
      <p:sp>
        <p:nvSpPr>
          <p:cNvPr id="32" name="Shape 30"/>
          <p:cNvSpPr/>
          <p:nvPr/>
        </p:nvSpPr>
        <p:spPr>
          <a:xfrm>
            <a:off x="8767267" y="2913278"/>
            <a:ext cx="532181" cy="532181"/>
          </a:xfrm>
          <a:prstGeom prst="roundRect">
            <a:avLst>
              <a:gd name="adj" fmla="val 3436"/>
            </a:avLst>
          </a:prstGeom>
          <a:solidFill>
            <a:srgbClr val="1C304A"/>
          </a:solidFill>
          <a:ln w="10160">
            <a:solidFill>
              <a:srgbClr val="34475D"/>
            </a:solidFill>
            <a:prstDash val="solid"/>
          </a:ln>
        </p:spPr>
        <p:txBody>
          <a:bodyPr/>
          <a:lstStyle/>
          <a:p>
            <a:endParaRPr lang="en-US"/>
          </a:p>
        </p:txBody>
      </p:sp>
      <p:sp>
        <p:nvSpPr>
          <p:cNvPr id="33" name="Shape 31"/>
          <p:cNvSpPr/>
          <p:nvPr/>
        </p:nvSpPr>
        <p:spPr>
          <a:xfrm>
            <a:off x="7104888" y="3467405"/>
            <a:ext cx="532181" cy="532181"/>
          </a:xfrm>
          <a:prstGeom prst="roundRect">
            <a:avLst>
              <a:gd name="adj" fmla="val 3436"/>
            </a:avLst>
          </a:prstGeom>
          <a:solidFill>
            <a:srgbClr val="1C304A"/>
          </a:solidFill>
          <a:ln w="10160">
            <a:solidFill>
              <a:srgbClr val="34475D"/>
            </a:solidFill>
            <a:prstDash val="solid"/>
          </a:ln>
        </p:spPr>
        <p:txBody>
          <a:bodyPr/>
          <a:lstStyle/>
          <a:p>
            <a:endParaRPr lang="en-US"/>
          </a:p>
        </p:txBody>
      </p:sp>
      <p:sp>
        <p:nvSpPr>
          <p:cNvPr id="34" name="Shape 32"/>
          <p:cNvSpPr/>
          <p:nvPr/>
        </p:nvSpPr>
        <p:spPr>
          <a:xfrm>
            <a:off x="7659014" y="3467405"/>
            <a:ext cx="532181" cy="532181"/>
          </a:xfrm>
          <a:prstGeom prst="roundRect">
            <a:avLst>
              <a:gd name="adj" fmla="val 3436"/>
            </a:avLst>
          </a:prstGeom>
          <a:solidFill>
            <a:srgbClr val="52D6D3"/>
          </a:solidFill>
          <a:ln w="10160">
            <a:solidFill>
              <a:srgbClr val="52D6D3"/>
            </a:solidFill>
            <a:prstDash val="solid"/>
          </a:ln>
        </p:spPr>
        <p:txBody>
          <a:bodyPr/>
          <a:lstStyle/>
          <a:p>
            <a:endParaRPr lang="en-US"/>
          </a:p>
        </p:txBody>
      </p:sp>
      <p:sp>
        <p:nvSpPr>
          <p:cNvPr id="35" name="Shape 33"/>
          <p:cNvSpPr/>
          <p:nvPr/>
        </p:nvSpPr>
        <p:spPr>
          <a:xfrm>
            <a:off x="8213141" y="3467405"/>
            <a:ext cx="532181" cy="532181"/>
          </a:xfrm>
          <a:prstGeom prst="roundRect">
            <a:avLst>
              <a:gd name="adj" fmla="val 3436"/>
            </a:avLst>
          </a:prstGeom>
          <a:solidFill>
            <a:srgbClr val="1C304A"/>
          </a:solidFill>
          <a:ln w="10160">
            <a:solidFill>
              <a:srgbClr val="34475D"/>
            </a:solidFill>
            <a:prstDash val="solid"/>
          </a:ln>
        </p:spPr>
        <p:txBody>
          <a:bodyPr/>
          <a:lstStyle/>
          <a:p>
            <a:endParaRPr lang="en-US"/>
          </a:p>
        </p:txBody>
      </p:sp>
      <p:sp>
        <p:nvSpPr>
          <p:cNvPr id="36" name="Shape 34"/>
          <p:cNvSpPr/>
          <p:nvPr/>
        </p:nvSpPr>
        <p:spPr>
          <a:xfrm>
            <a:off x="8767267" y="3467405"/>
            <a:ext cx="532181" cy="532181"/>
          </a:xfrm>
          <a:prstGeom prst="roundRect">
            <a:avLst>
              <a:gd name="adj" fmla="val 3436"/>
            </a:avLst>
          </a:prstGeom>
          <a:solidFill>
            <a:srgbClr val="52D6D3"/>
          </a:solidFill>
          <a:ln w="10160">
            <a:solidFill>
              <a:srgbClr val="52D6D3"/>
            </a:solidFill>
            <a:prstDash val="solid"/>
          </a:ln>
        </p:spPr>
        <p:txBody>
          <a:bodyPr/>
          <a:lstStyle/>
          <a:p>
            <a:endParaRPr lang="en-US"/>
          </a:p>
        </p:txBody>
      </p:sp>
      <p:sp>
        <p:nvSpPr>
          <p:cNvPr id="37" name="Shape 35"/>
          <p:cNvSpPr/>
          <p:nvPr/>
        </p:nvSpPr>
        <p:spPr>
          <a:xfrm>
            <a:off x="7104888" y="4021531"/>
            <a:ext cx="532181" cy="532181"/>
          </a:xfrm>
          <a:prstGeom prst="roundRect">
            <a:avLst>
              <a:gd name="adj" fmla="val 3436"/>
            </a:avLst>
          </a:prstGeom>
          <a:solidFill>
            <a:srgbClr val="52D6D3"/>
          </a:solidFill>
          <a:ln w="10160">
            <a:solidFill>
              <a:srgbClr val="52D6D3"/>
            </a:solidFill>
            <a:prstDash val="solid"/>
          </a:ln>
        </p:spPr>
        <p:txBody>
          <a:bodyPr/>
          <a:lstStyle/>
          <a:p>
            <a:endParaRPr lang="en-US"/>
          </a:p>
        </p:txBody>
      </p:sp>
      <p:sp>
        <p:nvSpPr>
          <p:cNvPr id="38" name="Shape 36"/>
          <p:cNvSpPr/>
          <p:nvPr/>
        </p:nvSpPr>
        <p:spPr>
          <a:xfrm>
            <a:off x="7659014" y="4021531"/>
            <a:ext cx="532181" cy="532181"/>
          </a:xfrm>
          <a:prstGeom prst="roundRect">
            <a:avLst>
              <a:gd name="adj" fmla="val 3436"/>
            </a:avLst>
          </a:prstGeom>
          <a:solidFill>
            <a:srgbClr val="1C304A"/>
          </a:solidFill>
          <a:ln w="10160">
            <a:solidFill>
              <a:srgbClr val="34475D"/>
            </a:solidFill>
            <a:prstDash val="solid"/>
          </a:ln>
        </p:spPr>
        <p:txBody>
          <a:bodyPr/>
          <a:lstStyle/>
          <a:p>
            <a:endParaRPr lang="en-US"/>
          </a:p>
        </p:txBody>
      </p:sp>
      <p:sp>
        <p:nvSpPr>
          <p:cNvPr id="39" name="Shape 37"/>
          <p:cNvSpPr/>
          <p:nvPr/>
        </p:nvSpPr>
        <p:spPr>
          <a:xfrm>
            <a:off x="8213141" y="4021531"/>
            <a:ext cx="532181" cy="532181"/>
          </a:xfrm>
          <a:prstGeom prst="roundRect">
            <a:avLst>
              <a:gd name="adj" fmla="val 3436"/>
            </a:avLst>
          </a:prstGeom>
          <a:solidFill>
            <a:srgbClr val="1C304A"/>
          </a:solidFill>
          <a:ln w="10160">
            <a:solidFill>
              <a:srgbClr val="34475D"/>
            </a:solidFill>
            <a:prstDash val="solid"/>
          </a:ln>
        </p:spPr>
        <p:txBody>
          <a:bodyPr/>
          <a:lstStyle/>
          <a:p>
            <a:endParaRPr lang="en-US"/>
          </a:p>
        </p:txBody>
      </p:sp>
      <p:sp>
        <p:nvSpPr>
          <p:cNvPr id="40" name="Shape 38"/>
          <p:cNvSpPr/>
          <p:nvPr/>
        </p:nvSpPr>
        <p:spPr>
          <a:xfrm>
            <a:off x="8767267" y="4021531"/>
            <a:ext cx="532181" cy="532181"/>
          </a:xfrm>
          <a:prstGeom prst="roundRect">
            <a:avLst>
              <a:gd name="adj" fmla="val 3436"/>
            </a:avLst>
          </a:prstGeom>
          <a:solidFill>
            <a:srgbClr val="52D6D3"/>
          </a:solidFill>
          <a:ln w="10160">
            <a:solidFill>
              <a:srgbClr val="52D6D3"/>
            </a:solidFill>
            <a:prstDash val="solid"/>
          </a:ln>
        </p:spPr>
        <p:txBody>
          <a:bodyPr/>
          <a:lstStyle/>
          <a:p>
            <a:endParaRPr lang="en-US"/>
          </a:p>
        </p:txBody>
      </p:sp>
      <p:sp>
        <p:nvSpPr>
          <p:cNvPr id="41" name="Shape 39"/>
          <p:cNvSpPr/>
          <p:nvPr/>
        </p:nvSpPr>
        <p:spPr>
          <a:xfrm>
            <a:off x="1197864" y="4800600"/>
            <a:ext cx="2971800" cy="338328"/>
          </a:xfrm>
          <a:prstGeom prst="roundRect">
            <a:avLst>
              <a:gd name="adj" fmla="val 32432"/>
            </a:avLst>
          </a:prstGeom>
          <a:solidFill>
            <a:srgbClr val="1C304A"/>
          </a:solidFill>
          <a:ln w="10160">
            <a:solidFill>
              <a:srgbClr val="1C304A"/>
            </a:solidFill>
            <a:prstDash val="solid"/>
          </a:ln>
        </p:spPr>
        <p:txBody>
          <a:bodyPr/>
          <a:lstStyle/>
          <a:p>
            <a:endParaRPr lang="en-US"/>
          </a:p>
        </p:txBody>
      </p:sp>
      <p:sp>
        <p:nvSpPr>
          <p:cNvPr id="42" name="Text 40"/>
          <p:cNvSpPr/>
          <p:nvPr/>
        </p:nvSpPr>
        <p:spPr>
          <a:xfrm>
            <a:off x="1298448" y="4818888"/>
            <a:ext cx="2770632" cy="292608"/>
          </a:xfrm>
          <a:prstGeom prst="rect">
            <a:avLst/>
          </a:prstGeom>
          <a:noFill/>
          <a:ln/>
        </p:spPr>
        <p:txBody>
          <a:bodyPr wrap="square" lIns="0" tIns="0" rIns="0" bIns="0" rtlCol="0" anchor="ctr"/>
          <a:lstStyle/>
          <a:p>
            <a:pPr marL="0" indent="0" algn="ctr">
              <a:buNone/>
            </a:pPr>
            <a:r>
              <a:rPr lang="ro-RO" sz="1300" b="1">
                <a:solidFill>
                  <a:srgbClr val="FFC870"/>
                </a:solidFill>
                <a:latin typeface="Aptos" pitchFamily="34" charset="0"/>
                <a:ea typeface="Aptos" pitchFamily="34" charset="-122"/>
                <a:cs typeface="Aptos" pitchFamily="34" charset="-120"/>
              </a:rPr>
              <a:t>100% din pixeli folosiți</a:t>
            </a:r>
            <a:endParaRPr lang="ro-RO" sz="1300" dirty="0"/>
          </a:p>
        </p:txBody>
      </p:sp>
      <p:sp>
        <p:nvSpPr>
          <p:cNvPr id="43" name="Shape 41"/>
          <p:cNvSpPr/>
          <p:nvPr/>
        </p:nvSpPr>
        <p:spPr>
          <a:xfrm>
            <a:off x="6675120" y="4800600"/>
            <a:ext cx="2990088" cy="338328"/>
          </a:xfrm>
          <a:prstGeom prst="roundRect">
            <a:avLst>
              <a:gd name="adj" fmla="val 32432"/>
            </a:avLst>
          </a:prstGeom>
          <a:solidFill>
            <a:srgbClr val="1C304A"/>
          </a:solidFill>
          <a:ln w="10160">
            <a:solidFill>
              <a:srgbClr val="1C304A"/>
            </a:solidFill>
            <a:prstDash val="solid"/>
          </a:ln>
        </p:spPr>
        <p:txBody>
          <a:bodyPr/>
          <a:lstStyle/>
          <a:p>
            <a:endParaRPr lang="en-US"/>
          </a:p>
        </p:txBody>
      </p:sp>
      <p:sp>
        <p:nvSpPr>
          <p:cNvPr id="44" name="Text 42"/>
          <p:cNvSpPr/>
          <p:nvPr/>
        </p:nvSpPr>
        <p:spPr>
          <a:xfrm>
            <a:off x="6775704" y="4818888"/>
            <a:ext cx="2788920" cy="292608"/>
          </a:xfrm>
          <a:prstGeom prst="rect">
            <a:avLst/>
          </a:prstGeom>
          <a:noFill/>
          <a:ln/>
        </p:spPr>
        <p:txBody>
          <a:bodyPr wrap="square" lIns="0" tIns="0" rIns="0" bIns="0" rtlCol="0" anchor="ctr"/>
          <a:lstStyle/>
          <a:p>
            <a:pPr marL="0" indent="0" algn="ctr">
              <a:buNone/>
            </a:pPr>
            <a:r>
              <a:rPr lang="ro-RO" sz="1300" b="1">
                <a:solidFill>
                  <a:srgbClr val="FF9C95"/>
                </a:solidFill>
                <a:latin typeface="Aptos" pitchFamily="34" charset="0"/>
                <a:ea typeface="Aptos" pitchFamily="34" charset="-122"/>
                <a:cs typeface="Aptos" pitchFamily="34" charset="-120"/>
              </a:rPr>
              <a:t>50% fill-factor</a:t>
            </a:r>
            <a:endParaRPr lang="ro-RO" sz="1300" dirty="0"/>
          </a:p>
        </p:txBody>
      </p:sp>
      <p:sp>
        <p:nvSpPr>
          <p:cNvPr id="45" name="Text 43"/>
          <p:cNvSpPr/>
          <p:nvPr/>
        </p:nvSpPr>
        <p:spPr>
          <a:xfrm>
            <a:off x="923544" y="5632704"/>
            <a:ext cx="10241280" cy="493776"/>
          </a:xfrm>
          <a:prstGeom prst="rect">
            <a:avLst/>
          </a:prstGeom>
          <a:noFill/>
          <a:ln/>
        </p:spPr>
        <p:txBody>
          <a:bodyPr wrap="square" lIns="0" tIns="0" rIns="0" bIns="0" rtlCol="0" anchor="ctr"/>
          <a:lstStyle/>
          <a:p>
            <a:pPr marL="0" indent="0" algn="ctr">
              <a:buNone/>
            </a:pPr>
            <a:r>
              <a:rPr lang="ro-RO" sz="2000">
                <a:solidFill>
                  <a:srgbClr val="F4F7FB"/>
                </a:solidFill>
                <a:latin typeface="Aptos" pitchFamily="34" charset="0"/>
                <a:ea typeface="Aptos" pitchFamily="34" charset="-122"/>
                <a:cs typeface="Aptos" pitchFamily="34" charset="-120"/>
              </a:rPr>
              <a:t>Avantaj: diversitate temporală. Cost: scade cantitatea de lumină folosită într-un cadru.</a:t>
            </a:r>
            <a:endParaRPr lang="ro-RO"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ro-RO" sz="3000" b="1">
                <a:solidFill>
                  <a:srgbClr val="F4F7FB"/>
                </a:solidFill>
                <a:latin typeface="Aptos" pitchFamily="34" charset="0"/>
                <a:ea typeface="Aptos" pitchFamily="34" charset="-122"/>
                <a:cs typeface="Aptos" pitchFamily="34" charset="-120"/>
              </a:rPr>
              <a:t>Varianta B: două măsurări complementare</a:t>
            </a:r>
            <a:endParaRPr lang="ro-RO"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ro-RO" sz="1300">
                <a:solidFill>
                  <a:srgbClr val="B9C9DB"/>
                </a:solidFill>
                <a:latin typeface="Aptos" pitchFamily="34" charset="0"/>
                <a:ea typeface="Aptos" pitchFamily="34" charset="-122"/>
                <a:cs typeface="Aptos" pitchFamily="34" charset="-120"/>
              </a:rPr>
              <a:t>Două sume diferite în același bloc: A + B acoperă toți cei 16 pixeli.</a:t>
            </a:r>
            <a:endParaRPr lang="ro-RO" sz="13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ro-RO" sz="1000" b="1">
                <a:solidFill>
                  <a:srgbClr val="52D6D3"/>
                </a:solidFill>
                <a:latin typeface="Aptos" pitchFamily="34" charset="0"/>
                <a:ea typeface="Aptos" pitchFamily="34" charset="-122"/>
                <a:cs typeface="Aptos" pitchFamily="34" charset="-120"/>
              </a:rPr>
              <a:t>09</a:t>
            </a:r>
            <a:endParaRPr lang="ro-RO" sz="1000" dirty="0"/>
          </a:p>
        </p:txBody>
      </p:sp>
      <p:sp>
        <p:nvSpPr>
          <p:cNvPr id="7" name="Shape 5"/>
          <p:cNvSpPr/>
          <p:nvPr/>
        </p:nvSpPr>
        <p:spPr>
          <a:xfrm>
            <a:off x="996696" y="2258568"/>
            <a:ext cx="486461" cy="486461"/>
          </a:xfrm>
          <a:prstGeom prst="roundRect">
            <a:avLst>
              <a:gd name="adj" fmla="val 3759"/>
            </a:avLst>
          </a:prstGeom>
          <a:solidFill>
            <a:srgbClr val="52D6D3"/>
          </a:solidFill>
          <a:ln w="10160">
            <a:solidFill>
              <a:srgbClr val="52D6D3"/>
            </a:solidFill>
            <a:prstDash val="solid"/>
          </a:ln>
        </p:spPr>
        <p:txBody>
          <a:bodyPr/>
          <a:lstStyle/>
          <a:p>
            <a:endParaRPr lang="en-US"/>
          </a:p>
        </p:txBody>
      </p:sp>
      <p:sp>
        <p:nvSpPr>
          <p:cNvPr id="8" name="Shape 6"/>
          <p:cNvSpPr/>
          <p:nvPr/>
        </p:nvSpPr>
        <p:spPr>
          <a:xfrm>
            <a:off x="1505102" y="2258568"/>
            <a:ext cx="486461" cy="486461"/>
          </a:xfrm>
          <a:prstGeom prst="roundRect">
            <a:avLst>
              <a:gd name="adj" fmla="val 3759"/>
            </a:avLst>
          </a:prstGeom>
          <a:solidFill>
            <a:srgbClr val="52D6D3"/>
          </a:solidFill>
          <a:ln w="10160">
            <a:solidFill>
              <a:srgbClr val="52D6D3"/>
            </a:solidFill>
            <a:prstDash val="solid"/>
          </a:ln>
        </p:spPr>
        <p:txBody>
          <a:bodyPr/>
          <a:lstStyle/>
          <a:p>
            <a:endParaRPr lang="en-US"/>
          </a:p>
        </p:txBody>
      </p:sp>
      <p:sp>
        <p:nvSpPr>
          <p:cNvPr id="9" name="Shape 7"/>
          <p:cNvSpPr/>
          <p:nvPr/>
        </p:nvSpPr>
        <p:spPr>
          <a:xfrm>
            <a:off x="2013509" y="2258568"/>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10" name="Shape 8"/>
          <p:cNvSpPr/>
          <p:nvPr/>
        </p:nvSpPr>
        <p:spPr>
          <a:xfrm>
            <a:off x="2521915" y="2258568"/>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11" name="Shape 9"/>
          <p:cNvSpPr/>
          <p:nvPr/>
        </p:nvSpPr>
        <p:spPr>
          <a:xfrm>
            <a:off x="996696" y="2766974"/>
            <a:ext cx="486461" cy="486461"/>
          </a:xfrm>
          <a:prstGeom prst="roundRect">
            <a:avLst>
              <a:gd name="adj" fmla="val 3759"/>
            </a:avLst>
          </a:prstGeom>
          <a:solidFill>
            <a:srgbClr val="52D6D3"/>
          </a:solidFill>
          <a:ln w="10160">
            <a:solidFill>
              <a:srgbClr val="52D6D3"/>
            </a:solidFill>
            <a:prstDash val="solid"/>
          </a:ln>
        </p:spPr>
        <p:txBody>
          <a:bodyPr/>
          <a:lstStyle/>
          <a:p>
            <a:endParaRPr lang="en-US"/>
          </a:p>
        </p:txBody>
      </p:sp>
      <p:sp>
        <p:nvSpPr>
          <p:cNvPr id="12" name="Shape 10"/>
          <p:cNvSpPr/>
          <p:nvPr/>
        </p:nvSpPr>
        <p:spPr>
          <a:xfrm>
            <a:off x="1505102" y="2766974"/>
            <a:ext cx="486461" cy="486461"/>
          </a:xfrm>
          <a:prstGeom prst="roundRect">
            <a:avLst>
              <a:gd name="adj" fmla="val 3759"/>
            </a:avLst>
          </a:prstGeom>
          <a:solidFill>
            <a:srgbClr val="52D6D3"/>
          </a:solidFill>
          <a:ln w="10160">
            <a:solidFill>
              <a:srgbClr val="52D6D3"/>
            </a:solidFill>
            <a:prstDash val="solid"/>
          </a:ln>
        </p:spPr>
        <p:txBody>
          <a:bodyPr/>
          <a:lstStyle/>
          <a:p>
            <a:endParaRPr lang="en-US"/>
          </a:p>
        </p:txBody>
      </p:sp>
      <p:sp>
        <p:nvSpPr>
          <p:cNvPr id="13" name="Shape 11"/>
          <p:cNvSpPr/>
          <p:nvPr/>
        </p:nvSpPr>
        <p:spPr>
          <a:xfrm>
            <a:off x="2013509" y="2766974"/>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14" name="Shape 12"/>
          <p:cNvSpPr/>
          <p:nvPr/>
        </p:nvSpPr>
        <p:spPr>
          <a:xfrm>
            <a:off x="2521915" y="2766974"/>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15" name="Shape 13"/>
          <p:cNvSpPr/>
          <p:nvPr/>
        </p:nvSpPr>
        <p:spPr>
          <a:xfrm>
            <a:off x="996696" y="3275381"/>
            <a:ext cx="486461" cy="486461"/>
          </a:xfrm>
          <a:prstGeom prst="roundRect">
            <a:avLst>
              <a:gd name="adj" fmla="val 3759"/>
            </a:avLst>
          </a:prstGeom>
          <a:solidFill>
            <a:srgbClr val="52D6D3"/>
          </a:solidFill>
          <a:ln w="10160">
            <a:solidFill>
              <a:srgbClr val="52D6D3"/>
            </a:solidFill>
            <a:prstDash val="solid"/>
          </a:ln>
        </p:spPr>
        <p:txBody>
          <a:bodyPr/>
          <a:lstStyle/>
          <a:p>
            <a:endParaRPr lang="en-US"/>
          </a:p>
        </p:txBody>
      </p:sp>
      <p:sp>
        <p:nvSpPr>
          <p:cNvPr id="16" name="Shape 14"/>
          <p:cNvSpPr/>
          <p:nvPr/>
        </p:nvSpPr>
        <p:spPr>
          <a:xfrm>
            <a:off x="1505102" y="3275381"/>
            <a:ext cx="486461" cy="486461"/>
          </a:xfrm>
          <a:prstGeom prst="roundRect">
            <a:avLst>
              <a:gd name="adj" fmla="val 3759"/>
            </a:avLst>
          </a:prstGeom>
          <a:solidFill>
            <a:srgbClr val="52D6D3"/>
          </a:solidFill>
          <a:ln w="10160">
            <a:solidFill>
              <a:srgbClr val="52D6D3"/>
            </a:solidFill>
            <a:prstDash val="solid"/>
          </a:ln>
        </p:spPr>
        <p:txBody>
          <a:bodyPr/>
          <a:lstStyle/>
          <a:p>
            <a:endParaRPr lang="en-US"/>
          </a:p>
        </p:txBody>
      </p:sp>
      <p:sp>
        <p:nvSpPr>
          <p:cNvPr id="17" name="Shape 15"/>
          <p:cNvSpPr/>
          <p:nvPr/>
        </p:nvSpPr>
        <p:spPr>
          <a:xfrm>
            <a:off x="2013509" y="3275381"/>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18" name="Shape 16"/>
          <p:cNvSpPr/>
          <p:nvPr/>
        </p:nvSpPr>
        <p:spPr>
          <a:xfrm>
            <a:off x="2521915" y="3275381"/>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19" name="Shape 17"/>
          <p:cNvSpPr/>
          <p:nvPr/>
        </p:nvSpPr>
        <p:spPr>
          <a:xfrm>
            <a:off x="996696" y="3783787"/>
            <a:ext cx="486461" cy="486461"/>
          </a:xfrm>
          <a:prstGeom prst="roundRect">
            <a:avLst>
              <a:gd name="adj" fmla="val 3759"/>
            </a:avLst>
          </a:prstGeom>
          <a:solidFill>
            <a:srgbClr val="52D6D3"/>
          </a:solidFill>
          <a:ln w="10160">
            <a:solidFill>
              <a:srgbClr val="52D6D3"/>
            </a:solidFill>
            <a:prstDash val="solid"/>
          </a:ln>
        </p:spPr>
        <p:txBody>
          <a:bodyPr/>
          <a:lstStyle/>
          <a:p>
            <a:endParaRPr lang="en-US"/>
          </a:p>
        </p:txBody>
      </p:sp>
      <p:sp>
        <p:nvSpPr>
          <p:cNvPr id="20" name="Shape 18"/>
          <p:cNvSpPr/>
          <p:nvPr/>
        </p:nvSpPr>
        <p:spPr>
          <a:xfrm>
            <a:off x="1505102" y="3783787"/>
            <a:ext cx="486461" cy="486461"/>
          </a:xfrm>
          <a:prstGeom prst="roundRect">
            <a:avLst>
              <a:gd name="adj" fmla="val 3759"/>
            </a:avLst>
          </a:prstGeom>
          <a:solidFill>
            <a:srgbClr val="52D6D3"/>
          </a:solidFill>
          <a:ln w="10160">
            <a:solidFill>
              <a:srgbClr val="52D6D3"/>
            </a:solidFill>
            <a:prstDash val="solid"/>
          </a:ln>
        </p:spPr>
        <p:txBody>
          <a:bodyPr/>
          <a:lstStyle/>
          <a:p>
            <a:endParaRPr lang="en-US"/>
          </a:p>
        </p:txBody>
      </p:sp>
      <p:sp>
        <p:nvSpPr>
          <p:cNvPr id="21" name="Shape 19"/>
          <p:cNvSpPr/>
          <p:nvPr/>
        </p:nvSpPr>
        <p:spPr>
          <a:xfrm>
            <a:off x="2013509" y="3783787"/>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22" name="Shape 20"/>
          <p:cNvSpPr/>
          <p:nvPr/>
        </p:nvSpPr>
        <p:spPr>
          <a:xfrm>
            <a:off x="2521915" y="3783787"/>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23" name="Text 21"/>
          <p:cNvSpPr/>
          <p:nvPr/>
        </p:nvSpPr>
        <p:spPr>
          <a:xfrm>
            <a:off x="3246120" y="2944368"/>
            <a:ext cx="457200" cy="502920"/>
          </a:xfrm>
          <a:prstGeom prst="rect">
            <a:avLst/>
          </a:prstGeom>
          <a:noFill/>
          <a:ln/>
        </p:spPr>
        <p:txBody>
          <a:bodyPr wrap="square" lIns="0" tIns="0" rIns="0" bIns="0" rtlCol="0" anchor="ctr"/>
          <a:lstStyle/>
          <a:p>
            <a:pPr marL="0" indent="0" algn="ctr">
              <a:buNone/>
            </a:pPr>
            <a:r>
              <a:rPr lang="ro-RO" sz="3700" b="1">
                <a:solidFill>
                  <a:srgbClr val="F4F7FB"/>
                </a:solidFill>
                <a:latin typeface="Aptos" pitchFamily="34" charset="0"/>
                <a:ea typeface="Aptos" pitchFamily="34" charset="-122"/>
                <a:cs typeface="Aptos" pitchFamily="34" charset="-120"/>
              </a:rPr>
              <a:t>+</a:t>
            </a:r>
            <a:endParaRPr lang="ro-RO" sz="3700" dirty="0"/>
          </a:p>
        </p:txBody>
      </p:sp>
      <p:sp>
        <p:nvSpPr>
          <p:cNvPr id="24" name="Shape 22"/>
          <p:cNvSpPr/>
          <p:nvPr/>
        </p:nvSpPr>
        <p:spPr>
          <a:xfrm>
            <a:off x="3986784" y="2258568"/>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25" name="Shape 23"/>
          <p:cNvSpPr/>
          <p:nvPr/>
        </p:nvSpPr>
        <p:spPr>
          <a:xfrm>
            <a:off x="4495190" y="2258568"/>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26" name="Shape 24"/>
          <p:cNvSpPr/>
          <p:nvPr/>
        </p:nvSpPr>
        <p:spPr>
          <a:xfrm>
            <a:off x="5003597" y="2258568"/>
            <a:ext cx="486461" cy="486461"/>
          </a:xfrm>
          <a:prstGeom prst="roundRect">
            <a:avLst>
              <a:gd name="adj" fmla="val 3759"/>
            </a:avLst>
          </a:prstGeom>
          <a:solidFill>
            <a:srgbClr val="FFC870"/>
          </a:solidFill>
          <a:ln w="10160">
            <a:solidFill>
              <a:srgbClr val="FFC870"/>
            </a:solidFill>
            <a:prstDash val="solid"/>
          </a:ln>
        </p:spPr>
        <p:txBody>
          <a:bodyPr/>
          <a:lstStyle/>
          <a:p>
            <a:endParaRPr lang="en-US"/>
          </a:p>
        </p:txBody>
      </p:sp>
      <p:sp>
        <p:nvSpPr>
          <p:cNvPr id="27" name="Shape 25"/>
          <p:cNvSpPr/>
          <p:nvPr/>
        </p:nvSpPr>
        <p:spPr>
          <a:xfrm>
            <a:off x="5512003" y="2258568"/>
            <a:ext cx="486461" cy="486461"/>
          </a:xfrm>
          <a:prstGeom prst="roundRect">
            <a:avLst>
              <a:gd name="adj" fmla="val 3759"/>
            </a:avLst>
          </a:prstGeom>
          <a:solidFill>
            <a:srgbClr val="FFC870"/>
          </a:solidFill>
          <a:ln w="10160">
            <a:solidFill>
              <a:srgbClr val="FFC870"/>
            </a:solidFill>
            <a:prstDash val="solid"/>
          </a:ln>
        </p:spPr>
        <p:txBody>
          <a:bodyPr/>
          <a:lstStyle/>
          <a:p>
            <a:endParaRPr lang="en-US"/>
          </a:p>
        </p:txBody>
      </p:sp>
      <p:sp>
        <p:nvSpPr>
          <p:cNvPr id="28" name="Shape 26"/>
          <p:cNvSpPr/>
          <p:nvPr/>
        </p:nvSpPr>
        <p:spPr>
          <a:xfrm>
            <a:off x="3986784" y="2766974"/>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29" name="Shape 27"/>
          <p:cNvSpPr/>
          <p:nvPr/>
        </p:nvSpPr>
        <p:spPr>
          <a:xfrm>
            <a:off x="4495190" y="2766974"/>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30" name="Shape 28"/>
          <p:cNvSpPr/>
          <p:nvPr/>
        </p:nvSpPr>
        <p:spPr>
          <a:xfrm>
            <a:off x="5003597" y="2766974"/>
            <a:ext cx="486461" cy="486461"/>
          </a:xfrm>
          <a:prstGeom prst="roundRect">
            <a:avLst>
              <a:gd name="adj" fmla="val 3759"/>
            </a:avLst>
          </a:prstGeom>
          <a:solidFill>
            <a:srgbClr val="FFC870"/>
          </a:solidFill>
          <a:ln w="10160">
            <a:solidFill>
              <a:srgbClr val="FFC870"/>
            </a:solidFill>
            <a:prstDash val="solid"/>
          </a:ln>
        </p:spPr>
        <p:txBody>
          <a:bodyPr/>
          <a:lstStyle/>
          <a:p>
            <a:endParaRPr lang="en-US"/>
          </a:p>
        </p:txBody>
      </p:sp>
      <p:sp>
        <p:nvSpPr>
          <p:cNvPr id="31" name="Shape 29"/>
          <p:cNvSpPr/>
          <p:nvPr/>
        </p:nvSpPr>
        <p:spPr>
          <a:xfrm>
            <a:off x="5512003" y="2766974"/>
            <a:ext cx="486461" cy="486461"/>
          </a:xfrm>
          <a:prstGeom prst="roundRect">
            <a:avLst>
              <a:gd name="adj" fmla="val 3759"/>
            </a:avLst>
          </a:prstGeom>
          <a:solidFill>
            <a:srgbClr val="FFC870"/>
          </a:solidFill>
          <a:ln w="10160">
            <a:solidFill>
              <a:srgbClr val="FFC870"/>
            </a:solidFill>
            <a:prstDash val="solid"/>
          </a:ln>
        </p:spPr>
        <p:txBody>
          <a:bodyPr/>
          <a:lstStyle/>
          <a:p>
            <a:endParaRPr lang="en-US"/>
          </a:p>
        </p:txBody>
      </p:sp>
      <p:sp>
        <p:nvSpPr>
          <p:cNvPr id="32" name="Shape 30"/>
          <p:cNvSpPr/>
          <p:nvPr/>
        </p:nvSpPr>
        <p:spPr>
          <a:xfrm>
            <a:off x="3986784" y="3275381"/>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33" name="Shape 31"/>
          <p:cNvSpPr/>
          <p:nvPr/>
        </p:nvSpPr>
        <p:spPr>
          <a:xfrm>
            <a:off x="4495190" y="3275381"/>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34" name="Shape 32"/>
          <p:cNvSpPr/>
          <p:nvPr/>
        </p:nvSpPr>
        <p:spPr>
          <a:xfrm>
            <a:off x="5003597" y="3275381"/>
            <a:ext cx="486461" cy="486461"/>
          </a:xfrm>
          <a:prstGeom prst="roundRect">
            <a:avLst>
              <a:gd name="adj" fmla="val 3759"/>
            </a:avLst>
          </a:prstGeom>
          <a:solidFill>
            <a:srgbClr val="FFC870"/>
          </a:solidFill>
          <a:ln w="10160">
            <a:solidFill>
              <a:srgbClr val="FFC870"/>
            </a:solidFill>
            <a:prstDash val="solid"/>
          </a:ln>
        </p:spPr>
        <p:txBody>
          <a:bodyPr/>
          <a:lstStyle/>
          <a:p>
            <a:endParaRPr lang="en-US"/>
          </a:p>
        </p:txBody>
      </p:sp>
      <p:sp>
        <p:nvSpPr>
          <p:cNvPr id="35" name="Shape 33"/>
          <p:cNvSpPr/>
          <p:nvPr/>
        </p:nvSpPr>
        <p:spPr>
          <a:xfrm>
            <a:off x="5512003" y="3275381"/>
            <a:ext cx="486461" cy="486461"/>
          </a:xfrm>
          <a:prstGeom prst="roundRect">
            <a:avLst>
              <a:gd name="adj" fmla="val 3759"/>
            </a:avLst>
          </a:prstGeom>
          <a:solidFill>
            <a:srgbClr val="FFC870"/>
          </a:solidFill>
          <a:ln w="10160">
            <a:solidFill>
              <a:srgbClr val="FFC870"/>
            </a:solidFill>
            <a:prstDash val="solid"/>
          </a:ln>
        </p:spPr>
        <p:txBody>
          <a:bodyPr/>
          <a:lstStyle/>
          <a:p>
            <a:endParaRPr lang="en-US"/>
          </a:p>
        </p:txBody>
      </p:sp>
      <p:sp>
        <p:nvSpPr>
          <p:cNvPr id="36" name="Shape 34"/>
          <p:cNvSpPr/>
          <p:nvPr/>
        </p:nvSpPr>
        <p:spPr>
          <a:xfrm>
            <a:off x="3986784" y="3783787"/>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37" name="Shape 35"/>
          <p:cNvSpPr/>
          <p:nvPr/>
        </p:nvSpPr>
        <p:spPr>
          <a:xfrm>
            <a:off x="4495190" y="3783787"/>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38" name="Shape 36"/>
          <p:cNvSpPr/>
          <p:nvPr/>
        </p:nvSpPr>
        <p:spPr>
          <a:xfrm>
            <a:off x="5003597" y="3783787"/>
            <a:ext cx="486461" cy="486461"/>
          </a:xfrm>
          <a:prstGeom prst="roundRect">
            <a:avLst>
              <a:gd name="adj" fmla="val 3759"/>
            </a:avLst>
          </a:prstGeom>
          <a:solidFill>
            <a:srgbClr val="FFC870"/>
          </a:solidFill>
          <a:ln w="10160">
            <a:solidFill>
              <a:srgbClr val="FFC870"/>
            </a:solidFill>
            <a:prstDash val="solid"/>
          </a:ln>
        </p:spPr>
        <p:txBody>
          <a:bodyPr/>
          <a:lstStyle/>
          <a:p>
            <a:endParaRPr lang="en-US"/>
          </a:p>
        </p:txBody>
      </p:sp>
      <p:sp>
        <p:nvSpPr>
          <p:cNvPr id="39" name="Shape 37"/>
          <p:cNvSpPr/>
          <p:nvPr/>
        </p:nvSpPr>
        <p:spPr>
          <a:xfrm>
            <a:off x="5512003" y="3783787"/>
            <a:ext cx="486461" cy="486461"/>
          </a:xfrm>
          <a:prstGeom prst="roundRect">
            <a:avLst>
              <a:gd name="adj" fmla="val 3759"/>
            </a:avLst>
          </a:prstGeom>
          <a:solidFill>
            <a:srgbClr val="FFC870"/>
          </a:solidFill>
          <a:ln w="10160">
            <a:solidFill>
              <a:srgbClr val="FFC870"/>
            </a:solidFill>
            <a:prstDash val="solid"/>
          </a:ln>
        </p:spPr>
        <p:txBody>
          <a:bodyPr/>
          <a:lstStyle/>
          <a:p>
            <a:endParaRPr lang="en-US"/>
          </a:p>
        </p:txBody>
      </p:sp>
      <p:sp>
        <p:nvSpPr>
          <p:cNvPr id="40" name="Text 38"/>
          <p:cNvSpPr/>
          <p:nvPr/>
        </p:nvSpPr>
        <p:spPr>
          <a:xfrm>
            <a:off x="6163056" y="2944368"/>
            <a:ext cx="457200" cy="502920"/>
          </a:xfrm>
          <a:prstGeom prst="rect">
            <a:avLst/>
          </a:prstGeom>
          <a:noFill/>
          <a:ln/>
        </p:spPr>
        <p:txBody>
          <a:bodyPr wrap="square" lIns="0" tIns="0" rIns="0" bIns="0" rtlCol="0" anchor="ctr"/>
          <a:lstStyle/>
          <a:p>
            <a:pPr marL="0" indent="0" algn="ctr">
              <a:buNone/>
            </a:pPr>
            <a:r>
              <a:rPr lang="ro-RO" sz="3700" b="1">
                <a:solidFill>
                  <a:srgbClr val="F4F7FB"/>
                </a:solidFill>
                <a:latin typeface="Aptos" pitchFamily="34" charset="0"/>
                <a:ea typeface="Aptos" pitchFamily="34" charset="-122"/>
                <a:cs typeface="Aptos" pitchFamily="34" charset="-120"/>
              </a:rPr>
              <a:t>=</a:t>
            </a:r>
            <a:endParaRPr lang="ro-RO" sz="3700" dirty="0"/>
          </a:p>
        </p:txBody>
      </p:sp>
      <p:sp>
        <p:nvSpPr>
          <p:cNvPr id="41" name="Shape 39"/>
          <p:cNvSpPr/>
          <p:nvPr/>
        </p:nvSpPr>
        <p:spPr>
          <a:xfrm>
            <a:off x="6885432" y="2258568"/>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42" name="Shape 40"/>
          <p:cNvSpPr/>
          <p:nvPr/>
        </p:nvSpPr>
        <p:spPr>
          <a:xfrm>
            <a:off x="7393838" y="2258568"/>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43" name="Shape 41"/>
          <p:cNvSpPr/>
          <p:nvPr/>
        </p:nvSpPr>
        <p:spPr>
          <a:xfrm>
            <a:off x="7902245" y="2258568"/>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44" name="Shape 42"/>
          <p:cNvSpPr/>
          <p:nvPr/>
        </p:nvSpPr>
        <p:spPr>
          <a:xfrm>
            <a:off x="8410651" y="2258568"/>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45" name="Shape 43"/>
          <p:cNvSpPr/>
          <p:nvPr/>
        </p:nvSpPr>
        <p:spPr>
          <a:xfrm>
            <a:off x="6885432" y="2766974"/>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46" name="Shape 44"/>
          <p:cNvSpPr/>
          <p:nvPr/>
        </p:nvSpPr>
        <p:spPr>
          <a:xfrm>
            <a:off x="7393838" y="2766974"/>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47" name="Shape 45"/>
          <p:cNvSpPr/>
          <p:nvPr/>
        </p:nvSpPr>
        <p:spPr>
          <a:xfrm>
            <a:off x="7902245" y="2766974"/>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48" name="Shape 46"/>
          <p:cNvSpPr/>
          <p:nvPr/>
        </p:nvSpPr>
        <p:spPr>
          <a:xfrm>
            <a:off x="8410651" y="2766974"/>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49" name="Shape 47"/>
          <p:cNvSpPr/>
          <p:nvPr/>
        </p:nvSpPr>
        <p:spPr>
          <a:xfrm>
            <a:off x="6885432" y="3275381"/>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50" name="Shape 48"/>
          <p:cNvSpPr/>
          <p:nvPr/>
        </p:nvSpPr>
        <p:spPr>
          <a:xfrm>
            <a:off x="7393838" y="3275381"/>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51" name="Shape 49"/>
          <p:cNvSpPr/>
          <p:nvPr/>
        </p:nvSpPr>
        <p:spPr>
          <a:xfrm>
            <a:off x="7902245" y="3275381"/>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52" name="Shape 50"/>
          <p:cNvSpPr/>
          <p:nvPr/>
        </p:nvSpPr>
        <p:spPr>
          <a:xfrm>
            <a:off x="8410651" y="3275381"/>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53" name="Shape 51"/>
          <p:cNvSpPr/>
          <p:nvPr/>
        </p:nvSpPr>
        <p:spPr>
          <a:xfrm>
            <a:off x="6885432" y="3783787"/>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54" name="Shape 52"/>
          <p:cNvSpPr/>
          <p:nvPr/>
        </p:nvSpPr>
        <p:spPr>
          <a:xfrm>
            <a:off x="7393838" y="3783787"/>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55" name="Shape 53"/>
          <p:cNvSpPr/>
          <p:nvPr/>
        </p:nvSpPr>
        <p:spPr>
          <a:xfrm>
            <a:off x="7902245" y="3783787"/>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56" name="Shape 54"/>
          <p:cNvSpPr/>
          <p:nvPr/>
        </p:nvSpPr>
        <p:spPr>
          <a:xfrm>
            <a:off x="8410651" y="3783787"/>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57" name="Text 55"/>
          <p:cNvSpPr/>
          <p:nvPr/>
        </p:nvSpPr>
        <p:spPr>
          <a:xfrm>
            <a:off x="1225296" y="4462272"/>
            <a:ext cx="1645920" cy="365760"/>
          </a:xfrm>
          <a:prstGeom prst="rect">
            <a:avLst/>
          </a:prstGeom>
          <a:noFill/>
          <a:ln/>
        </p:spPr>
        <p:txBody>
          <a:bodyPr wrap="square" lIns="0" tIns="0" rIns="0" bIns="0" rtlCol="0" anchor="ctr"/>
          <a:lstStyle/>
          <a:p>
            <a:pPr marL="0" indent="0" algn="ctr">
              <a:buNone/>
            </a:pPr>
            <a:r>
              <a:rPr lang="ro-RO" sz="1600">
                <a:solidFill>
                  <a:srgbClr val="52D6D3"/>
                </a:solidFill>
                <a:latin typeface="Aptos" pitchFamily="34" charset="0"/>
                <a:ea typeface="Aptos" pitchFamily="34" charset="-122"/>
                <a:cs typeface="Aptos" pitchFamily="34" charset="-120"/>
              </a:rPr>
              <a:t>Masca A</a:t>
            </a:r>
            <a:endParaRPr lang="ro-RO" sz="1600" dirty="0"/>
          </a:p>
        </p:txBody>
      </p:sp>
      <p:sp>
        <p:nvSpPr>
          <p:cNvPr id="58" name="Text 56"/>
          <p:cNvSpPr/>
          <p:nvPr/>
        </p:nvSpPr>
        <p:spPr>
          <a:xfrm>
            <a:off x="4178808" y="4462272"/>
            <a:ext cx="1737360" cy="365760"/>
          </a:xfrm>
          <a:prstGeom prst="rect">
            <a:avLst/>
          </a:prstGeom>
          <a:noFill/>
          <a:ln/>
        </p:spPr>
        <p:txBody>
          <a:bodyPr wrap="square" lIns="0" tIns="0" rIns="0" bIns="0" rtlCol="0" anchor="ctr"/>
          <a:lstStyle/>
          <a:p>
            <a:pPr marL="0" indent="0" algn="ctr">
              <a:buNone/>
            </a:pPr>
            <a:r>
              <a:rPr lang="ro-RO" sz="1600">
                <a:solidFill>
                  <a:srgbClr val="FFC870"/>
                </a:solidFill>
                <a:latin typeface="Aptos" pitchFamily="34" charset="0"/>
                <a:ea typeface="Aptos" pitchFamily="34" charset="-122"/>
                <a:cs typeface="Aptos" pitchFamily="34" charset="-120"/>
              </a:rPr>
              <a:t>Complementul B</a:t>
            </a:r>
            <a:endParaRPr lang="ro-RO" sz="1600" dirty="0"/>
          </a:p>
        </p:txBody>
      </p:sp>
      <p:sp>
        <p:nvSpPr>
          <p:cNvPr id="59" name="Text 57"/>
          <p:cNvSpPr/>
          <p:nvPr/>
        </p:nvSpPr>
        <p:spPr>
          <a:xfrm>
            <a:off x="7059168" y="4462272"/>
            <a:ext cx="1682496" cy="365760"/>
          </a:xfrm>
          <a:prstGeom prst="rect">
            <a:avLst/>
          </a:prstGeom>
          <a:noFill/>
          <a:ln/>
        </p:spPr>
        <p:txBody>
          <a:bodyPr wrap="square" lIns="0" tIns="0" rIns="0" bIns="0" rtlCol="0" anchor="ctr"/>
          <a:lstStyle/>
          <a:p>
            <a:pPr marL="0" indent="0" algn="ctr">
              <a:buNone/>
            </a:pPr>
            <a:r>
              <a:rPr lang="ro-RO" sz="1600">
                <a:solidFill>
                  <a:srgbClr val="80E2B0"/>
                </a:solidFill>
                <a:latin typeface="Aptos" pitchFamily="34" charset="0"/>
                <a:ea typeface="Aptos" pitchFamily="34" charset="-122"/>
                <a:cs typeface="Aptos" pitchFamily="34" charset="-120"/>
              </a:rPr>
              <a:t>toți pixelii</a:t>
            </a:r>
            <a:endParaRPr lang="ro-RO" sz="1600" dirty="0"/>
          </a:p>
        </p:txBody>
      </p:sp>
      <p:sp>
        <p:nvSpPr>
          <p:cNvPr id="60" name="Shape 58"/>
          <p:cNvSpPr/>
          <p:nvPr/>
        </p:nvSpPr>
        <p:spPr>
          <a:xfrm>
            <a:off x="9290304" y="2221992"/>
            <a:ext cx="2093976" cy="2606040"/>
          </a:xfrm>
          <a:prstGeom prst="roundRect">
            <a:avLst>
              <a:gd name="adj" fmla="val 6987"/>
            </a:avLst>
          </a:prstGeom>
          <a:solidFill>
            <a:srgbClr val="17253B"/>
          </a:solidFill>
          <a:ln w="10160">
            <a:solidFill>
              <a:srgbClr val="17253B"/>
            </a:solidFill>
            <a:prstDash val="solid"/>
          </a:ln>
        </p:spPr>
        <p:txBody>
          <a:bodyPr/>
          <a:lstStyle/>
          <a:p>
            <a:endParaRPr lang="en-US"/>
          </a:p>
        </p:txBody>
      </p:sp>
      <p:sp>
        <p:nvSpPr>
          <p:cNvPr id="61" name="Shape 59"/>
          <p:cNvSpPr/>
          <p:nvPr/>
        </p:nvSpPr>
        <p:spPr>
          <a:xfrm>
            <a:off x="9290304" y="2221992"/>
            <a:ext cx="50292" cy="2606040"/>
          </a:xfrm>
          <a:prstGeom prst="roundRect">
            <a:avLst>
              <a:gd name="adj" fmla="val 290909"/>
            </a:avLst>
          </a:prstGeom>
          <a:solidFill>
            <a:srgbClr val="80E2B0"/>
          </a:solidFill>
          <a:ln w="10160">
            <a:solidFill>
              <a:srgbClr val="80E2B0"/>
            </a:solidFill>
            <a:prstDash val="solid"/>
          </a:ln>
        </p:spPr>
        <p:txBody>
          <a:bodyPr/>
          <a:lstStyle/>
          <a:p>
            <a:endParaRPr lang="en-US"/>
          </a:p>
        </p:txBody>
      </p:sp>
      <p:sp>
        <p:nvSpPr>
          <p:cNvPr id="62" name="Text 60"/>
          <p:cNvSpPr/>
          <p:nvPr/>
        </p:nvSpPr>
        <p:spPr>
          <a:xfrm>
            <a:off x="9491472" y="2377440"/>
            <a:ext cx="1709928" cy="402336"/>
          </a:xfrm>
          <a:prstGeom prst="rect">
            <a:avLst/>
          </a:prstGeom>
          <a:noFill/>
          <a:ln/>
        </p:spPr>
        <p:txBody>
          <a:bodyPr wrap="square" lIns="0" tIns="0" rIns="0" bIns="0" rtlCol="0" anchor="ctr"/>
          <a:lstStyle/>
          <a:p>
            <a:pPr marL="0" indent="0">
              <a:buNone/>
            </a:pPr>
            <a:r>
              <a:rPr lang="ro-RO" sz="2000" b="1">
                <a:solidFill>
                  <a:srgbClr val="80E2B0"/>
                </a:solidFill>
                <a:latin typeface="Aptos" pitchFamily="34" charset="0"/>
                <a:ea typeface="Aptos" pitchFamily="34" charset="-122"/>
                <a:cs typeface="Aptos" pitchFamily="34" charset="-120"/>
              </a:rPr>
              <a:t>CR = 1/8</a:t>
            </a:r>
            <a:endParaRPr lang="ro-RO" sz="2000" dirty="0"/>
          </a:p>
        </p:txBody>
      </p:sp>
      <p:sp>
        <p:nvSpPr>
          <p:cNvPr id="63" name="Text 61"/>
          <p:cNvSpPr/>
          <p:nvPr/>
        </p:nvSpPr>
        <p:spPr>
          <a:xfrm>
            <a:off x="9491472" y="2898648"/>
            <a:ext cx="1691640" cy="1828800"/>
          </a:xfrm>
          <a:prstGeom prst="rect">
            <a:avLst/>
          </a:prstGeom>
          <a:noFill/>
          <a:ln/>
        </p:spPr>
        <p:txBody>
          <a:bodyPr wrap="square" lIns="0" tIns="0" rIns="0" bIns="0" rtlCol="0" anchor="ctr"/>
          <a:lstStyle/>
          <a:p>
            <a:pPr marL="0" indent="0">
              <a:buNone/>
            </a:pPr>
            <a:r>
              <a:rPr lang="ro-RO" sz="1600">
                <a:solidFill>
                  <a:srgbClr val="F4F7FB"/>
                </a:solidFill>
                <a:latin typeface="Aptos" pitchFamily="34" charset="0"/>
                <a:ea typeface="Aptos" pitchFamily="34" charset="-122"/>
                <a:cs typeface="Aptos" pitchFamily="34" charset="-120"/>
              </a:rPr>
              <a:t>2 valori pentru fiecare bloc 4 × 4, pe cadru.</a:t>
            </a:r>
            <a:endParaRPr lang="ro-RO" sz="1600" dirty="0"/>
          </a:p>
        </p:txBody>
      </p:sp>
      <p:sp>
        <p:nvSpPr>
          <p:cNvPr id="64" name="Text 62"/>
          <p:cNvSpPr/>
          <p:nvPr/>
        </p:nvSpPr>
        <p:spPr>
          <a:xfrm>
            <a:off x="932688" y="5358384"/>
            <a:ext cx="10277856" cy="621792"/>
          </a:xfrm>
          <a:prstGeom prst="rect">
            <a:avLst/>
          </a:prstGeom>
          <a:noFill/>
          <a:ln/>
        </p:spPr>
        <p:txBody>
          <a:bodyPr wrap="square" lIns="0" tIns="0" rIns="0" bIns="0" rtlCol="0" anchor="ctr"/>
          <a:lstStyle/>
          <a:p>
            <a:pPr marL="0" indent="0" algn="ctr">
              <a:buNone/>
            </a:pPr>
            <a:r>
              <a:rPr lang="ro-RO" sz="2000">
                <a:solidFill>
                  <a:srgbClr val="F4F7FB"/>
                </a:solidFill>
                <a:latin typeface="Aptos" pitchFamily="34" charset="0"/>
                <a:ea typeface="Aptos" pitchFamily="34" charset="-122"/>
                <a:cs typeface="Aptos" pitchFamily="34" charset="-120"/>
              </a:rPr>
              <a:t>Fill-factor 100% • suma A+B reproduce 16Sum • este nevoie de două căi de citire.</a:t>
            </a:r>
            <a:endParaRPr lang="ro-RO"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CF4E12-0671-04D1-7381-36C54EEEC519}"/>
              </a:ext>
            </a:extLst>
          </p:cNvPr>
          <p:cNvSpPr txBox="1"/>
          <p:nvPr/>
        </p:nvSpPr>
        <p:spPr>
          <a:xfrm>
            <a:off x="660400" y="381000"/>
            <a:ext cx="10871200" cy="553998"/>
          </a:xfrm>
          <a:prstGeom prst="rect">
            <a:avLst/>
          </a:prstGeom>
          <a:noFill/>
        </p:spPr>
        <p:txBody>
          <a:bodyPr vert="horz" wrap="square" rtlCol="0">
            <a:spAutoFit/>
          </a:bodyPr>
          <a:lstStyle/>
          <a:p>
            <a:r>
              <a:rPr lang="ro-RO" sz="3000" b="1">
                <a:solidFill>
                  <a:srgbClr val="F4F7FB"/>
                </a:solidFill>
                <a:latin typeface="Aptos" panose="020B0004020202020204" pitchFamily="34" charset="0"/>
              </a:rPr>
              <a:t>Ce înseamnă «Tetromino»?</a:t>
            </a:r>
            <a:endParaRPr lang="ro-RO" sz="3000" b="1" dirty="0">
              <a:solidFill>
                <a:srgbClr val="F4F7FB"/>
              </a:solidFill>
              <a:latin typeface="Aptos" panose="020B0004020202020204" pitchFamily="34" charset="0"/>
            </a:endParaRPr>
          </a:p>
        </p:txBody>
      </p:sp>
      <p:sp>
        <p:nvSpPr>
          <p:cNvPr id="3" name="TextBox 2">
            <a:extLst>
              <a:ext uri="{FF2B5EF4-FFF2-40B4-BE49-F238E27FC236}">
                <a16:creationId xmlns:a16="http://schemas.microsoft.com/office/drawing/2014/main" id="{AAB179C0-3436-F8CD-CDD8-ED6B1B8D4DCE}"/>
              </a:ext>
            </a:extLst>
          </p:cNvPr>
          <p:cNvSpPr txBox="1"/>
          <p:nvPr/>
        </p:nvSpPr>
        <p:spPr>
          <a:xfrm>
            <a:off x="685800" y="939800"/>
            <a:ext cx="10795000" cy="292388"/>
          </a:xfrm>
          <a:prstGeom prst="rect">
            <a:avLst/>
          </a:prstGeom>
          <a:noFill/>
        </p:spPr>
        <p:txBody>
          <a:bodyPr vert="horz" wrap="square" rtlCol="0">
            <a:spAutoFit/>
          </a:bodyPr>
          <a:lstStyle/>
          <a:p>
            <a:r>
              <a:rPr lang="ro-RO" sz="1300">
                <a:solidFill>
                  <a:srgbClr val="B9C9DB"/>
                </a:solidFill>
                <a:latin typeface="Aptos" panose="020B0004020202020204" pitchFamily="34" charset="0"/>
              </a:rPr>
              <a:t>Grupări de câte 4 pixeli în formă de T, în loc de dreptunghiuri.</a:t>
            </a:r>
            <a:endParaRPr lang="ro-RO" sz="1300" dirty="0">
              <a:solidFill>
                <a:srgbClr val="B9C9DB"/>
              </a:solidFill>
              <a:latin typeface="Aptos" panose="020B0004020202020204" pitchFamily="34" charset="0"/>
            </a:endParaRPr>
          </a:p>
        </p:txBody>
      </p:sp>
      <p:sp>
        <p:nvSpPr>
          <p:cNvPr id="4" name="Rectangle 3">
            <a:extLst>
              <a:ext uri="{FF2B5EF4-FFF2-40B4-BE49-F238E27FC236}">
                <a16:creationId xmlns:a16="http://schemas.microsoft.com/office/drawing/2014/main" id="{C8A9ECEF-8B76-C7B1-5A91-F0DB40F2D14C}"/>
              </a:ext>
            </a:extLst>
          </p:cNvPr>
          <p:cNvSpPr/>
          <p:nvPr/>
        </p:nvSpPr>
        <p:spPr>
          <a:xfrm>
            <a:off x="660400" y="1371600"/>
            <a:ext cx="10871200" cy="12700"/>
          </a:xfrm>
          <a:prstGeom prst="rect">
            <a:avLst/>
          </a:prstGeom>
          <a:solidFill>
            <a:srgbClr val="34475D"/>
          </a:solidFill>
          <a:ln>
            <a:solidFill>
              <a:srgbClr val="3447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4473BAE1-29E3-F312-D4E9-48B443F9BF8C}"/>
              </a:ext>
            </a:extLst>
          </p:cNvPr>
          <p:cNvSpPr/>
          <p:nvPr/>
        </p:nvSpPr>
        <p:spPr>
          <a:xfrm>
            <a:off x="660400" y="5016500"/>
            <a:ext cx="10871200" cy="612001"/>
          </a:xfrm>
          <a:prstGeom prst="roundRect">
            <a:avLst/>
          </a:prstGeom>
          <a:solidFill>
            <a:srgbClr val="1C304A"/>
          </a:solidFill>
          <a:ln>
            <a:solidFill>
              <a:srgbClr val="1C30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69B70C8-BB0C-45D1-6CD6-DE64753717B3}"/>
              </a:ext>
            </a:extLst>
          </p:cNvPr>
          <p:cNvSpPr txBox="1"/>
          <p:nvPr/>
        </p:nvSpPr>
        <p:spPr>
          <a:xfrm>
            <a:off x="914400" y="5118100"/>
            <a:ext cx="10363200" cy="369332"/>
          </a:xfrm>
          <a:prstGeom prst="rect">
            <a:avLst/>
          </a:prstGeom>
          <a:noFill/>
        </p:spPr>
        <p:txBody>
          <a:bodyPr vert="horz" wrap="square" rtlCol="0">
            <a:spAutoFit/>
          </a:bodyPr>
          <a:lstStyle/>
          <a:p>
            <a:pPr algn="ctr"/>
            <a:r>
              <a:rPr lang="ro-RO" b="1">
                <a:solidFill>
                  <a:srgbClr val="F4F7FB"/>
                </a:solidFill>
                <a:latin typeface="Aptos" panose="020B0004020202020204" pitchFamily="34" charset="0"/>
              </a:rPr>
              <a:t>Pe scurt: Tetromino = eșantionare aleatoare, dar structurată, care păstrează muchiile.</a:t>
            </a:r>
            <a:endParaRPr lang="ro-RO" b="1" dirty="0">
              <a:solidFill>
                <a:srgbClr val="F4F7FB"/>
              </a:solidFill>
              <a:latin typeface="Aptos" panose="020B0004020202020204" pitchFamily="34" charset="0"/>
            </a:endParaRPr>
          </a:p>
        </p:txBody>
      </p:sp>
      <p:sp>
        <p:nvSpPr>
          <p:cNvPr id="20" name="TextBox 19">
            <a:extLst>
              <a:ext uri="{FF2B5EF4-FFF2-40B4-BE49-F238E27FC236}">
                <a16:creationId xmlns:a16="http://schemas.microsoft.com/office/drawing/2014/main" id="{4AC4A7C2-2A90-78FF-1F5A-66D65AECED34}"/>
              </a:ext>
            </a:extLst>
          </p:cNvPr>
          <p:cNvSpPr txBox="1"/>
          <p:nvPr/>
        </p:nvSpPr>
        <p:spPr>
          <a:xfrm>
            <a:off x="11010900" y="6451600"/>
            <a:ext cx="482600" cy="246221"/>
          </a:xfrm>
          <a:prstGeom prst="rect">
            <a:avLst/>
          </a:prstGeom>
          <a:noFill/>
        </p:spPr>
        <p:txBody>
          <a:bodyPr vert="horz" wrap="square" rtlCol="0">
            <a:spAutoFit/>
          </a:bodyPr>
          <a:lstStyle/>
          <a:p>
            <a:pPr algn="r"/>
            <a:r>
              <a:rPr lang="ro-RO" sz="1000" b="1">
                <a:solidFill>
                  <a:srgbClr val="52D6D3"/>
                </a:solidFill>
                <a:latin typeface="Aptos" panose="020B0004020202020204" pitchFamily="34" charset="0"/>
              </a:rPr>
              <a:t>09</a:t>
            </a:r>
            <a:endParaRPr lang="ro-RO" sz="1000" b="1" dirty="0">
              <a:solidFill>
                <a:srgbClr val="52D6D3"/>
              </a:solidFill>
              <a:latin typeface="Aptos" panose="020B0004020202020204" pitchFamily="34" charset="0"/>
            </a:endParaRPr>
          </a:p>
        </p:txBody>
      </p:sp>
      <p:sp>
        <p:nvSpPr>
          <p:cNvPr id="21" name="Rectangle: Rounded Corners 20">
            <a:extLst>
              <a:ext uri="{FF2B5EF4-FFF2-40B4-BE49-F238E27FC236}">
                <a16:creationId xmlns:a16="http://schemas.microsoft.com/office/drawing/2014/main" id="{B3ABB557-9A9B-656F-0489-C35358246CE2}"/>
              </a:ext>
            </a:extLst>
          </p:cNvPr>
          <p:cNvSpPr/>
          <p:nvPr/>
        </p:nvSpPr>
        <p:spPr>
          <a:xfrm>
            <a:off x="660400" y="1651000"/>
            <a:ext cx="10871200" cy="3175000"/>
          </a:xfrm>
          <a:prstGeom prst="roundRect">
            <a:avLst/>
          </a:prstGeom>
          <a:solidFill>
            <a:srgbClr val="17253B"/>
          </a:solidFill>
          <a:ln>
            <a:solidFill>
              <a:srgbClr val="172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9AC8253-4586-A32E-ABE1-65D846DF898B}"/>
              </a:ext>
            </a:extLst>
          </p:cNvPr>
          <p:cNvSpPr txBox="1"/>
          <p:nvPr/>
        </p:nvSpPr>
        <p:spPr>
          <a:xfrm>
            <a:off x="876300" y="1816100"/>
            <a:ext cx="3327400" cy="292388"/>
          </a:xfrm>
          <a:prstGeom prst="rect">
            <a:avLst/>
          </a:prstGeom>
          <a:noFill/>
        </p:spPr>
        <p:txBody>
          <a:bodyPr vert="horz" lIns="0" tIns="0" rIns="0" bIns="0" rtlCol="0">
            <a:spAutoFit/>
          </a:bodyPr>
          <a:lstStyle/>
          <a:p>
            <a:r>
              <a:rPr lang="ro-RO" sz="1900">
                <a:solidFill>
                  <a:srgbClr val="F4F7FB"/>
                </a:solidFill>
                <a:latin typeface="Aptos" panose="020B0004020202020204" pitchFamily="34" charset="0"/>
              </a:rPr>
              <a:t>4 forme T = 16 pixeli</a:t>
            </a:r>
            <a:endParaRPr lang="ro-RO" sz="1900" dirty="0">
              <a:solidFill>
                <a:srgbClr val="F4F7FB"/>
              </a:solidFill>
              <a:latin typeface="Aptos" panose="020B0004020202020204" pitchFamily="34" charset="0"/>
            </a:endParaRPr>
          </a:p>
        </p:txBody>
      </p:sp>
      <p:sp>
        <p:nvSpPr>
          <p:cNvPr id="23" name="Rectangle: Rounded Corners 22">
            <a:extLst>
              <a:ext uri="{FF2B5EF4-FFF2-40B4-BE49-F238E27FC236}">
                <a16:creationId xmlns:a16="http://schemas.microsoft.com/office/drawing/2014/main" id="{456BFD7F-44C8-231B-9879-09BF282D382A}"/>
              </a:ext>
            </a:extLst>
          </p:cNvPr>
          <p:cNvSpPr/>
          <p:nvPr/>
        </p:nvSpPr>
        <p:spPr>
          <a:xfrm>
            <a:off x="1282700" y="2286000"/>
            <a:ext cx="495300" cy="495300"/>
          </a:xfrm>
          <a:prstGeom prst="roundRect">
            <a:avLst/>
          </a:prstGeom>
          <a:solidFill>
            <a:srgbClr val="52D6D3"/>
          </a:solidFill>
          <a:ln>
            <a:solidFill>
              <a:srgbClr val="52D6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65163D11-F9D9-74B9-70E0-D5386EF462DE}"/>
              </a:ext>
            </a:extLst>
          </p:cNvPr>
          <p:cNvSpPr txBox="1"/>
          <p:nvPr/>
        </p:nvSpPr>
        <p:spPr>
          <a:xfrm>
            <a:off x="1295400" y="2311400"/>
            <a:ext cx="469900" cy="230832"/>
          </a:xfrm>
          <a:prstGeom prst="rect">
            <a:avLst/>
          </a:prstGeom>
          <a:noFill/>
        </p:spPr>
        <p:txBody>
          <a:bodyPr vert="horz" lIns="0" tIns="0" rIns="0" bIns="0" rtlCol="0">
            <a:spAutoFit/>
          </a:bodyPr>
          <a:lstStyle/>
          <a:p>
            <a:pPr algn="ctr"/>
            <a:r>
              <a:rPr lang="ro-RO" sz="1500">
                <a:solidFill>
                  <a:srgbClr val="0B1220"/>
                </a:solidFill>
                <a:latin typeface="Aptos" panose="020B0004020202020204" pitchFamily="34" charset="0"/>
              </a:rPr>
              <a:t>1</a:t>
            </a:r>
            <a:endParaRPr lang="ro-RO" sz="1500" dirty="0">
              <a:solidFill>
                <a:srgbClr val="0B1220"/>
              </a:solidFill>
              <a:latin typeface="Aptos" panose="020B0004020202020204" pitchFamily="34" charset="0"/>
            </a:endParaRPr>
          </a:p>
        </p:txBody>
      </p:sp>
      <p:sp>
        <p:nvSpPr>
          <p:cNvPr id="25" name="Rectangle: Rounded Corners 24">
            <a:extLst>
              <a:ext uri="{FF2B5EF4-FFF2-40B4-BE49-F238E27FC236}">
                <a16:creationId xmlns:a16="http://schemas.microsoft.com/office/drawing/2014/main" id="{5F65B07B-E948-3DEC-168A-EEC1D144BB6A}"/>
              </a:ext>
            </a:extLst>
          </p:cNvPr>
          <p:cNvSpPr/>
          <p:nvPr/>
        </p:nvSpPr>
        <p:spPr>
          <a:xfrm>
            <a:off x="1816100" y="2286000"/>
            <a:ext cx="495300" cy="495300"/>
          </a:xfrm>
          <a:prstGeom prst="roundRect">
            <a:avLst/>
          </a:prstGeom>
          <a:solidFill>
            <a:srgbClr val="52D6D3"/>
          </a:solidFill>
          <a:ln>
            <a:solidFill>
              <a:srgbClr val="52D6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4D8AAE90-D3EA-108A-C9F1-95AB6FC8F022}"/>
              </a:ext>
            </a:extLst>
          </p:cNvPr>
          <p:cNvSpPr txBox="1"/>
          <p:nvPr/>
        </p:nvSpPr>
        <p:spPr>
          <a:xfrm>
            <a:off x="1828800" y="2311400"/>
            <a:ext cx="469900" cy="230832"/>
          </a:xfrm>
          <a:prstGeom prst="rect">
            <a:avLst/>
          </a:prstGeom>
          <a:noFill/>
        </p:spPr>
        <p:txBody>
          <a:bodyPr vert="horz" lIns="0" tIns="0" rIns="0" bIns="0" rtlCol="0">
            <a:spAutoFit/>
          </a:bodyPr>
          <a:lstStyle/>
          <a:p>
            <a:pPr algn="ctr"/>
            <a:r>
              <a:rPr lang="ro-RO" sz="1500">
                <a:solidFill>
                  <a:srgbClr val="0B1220"/>
                </a:solidFill>
                <a:latin typeface="Aptos" panose="020B0004020202020204" pitchFamily="34" charset="0"/>
              </a:rPr>
              <a:t>1</a:t>
            </a:r>
            <a:endParaRPr lang="ro-RO" sz="1500" dirty="0">
              <a:solidFill>
                <a:srgbClr val="0B1220"/>
              </a:solidFill>
              <a:latin typeface="Aptos" panose="020B0004020202020204" pitchFamily="34" charset="0"/>
            </a:endParaRPr>
          </a:p>
        </p:txBody>
      </p:sp>
      <p:sp>
        <p:nvSpPr>
          <p:cNvPr id="27" name="Rectangle: Rounded Corners 26">
            <a:extLst>
              <a:ext uri="{FF2B5EF4-FFF2-40B4-BE49-F238E27FC236}">
                <a16:creationId xmlns:a16="http://schemas.microsoft.com/office/drawing/2014/main" id="{84C8FEF6-E24F-4060-5F32-F5FB29893660}"/>
              </a:ext>
            </a:extLst>
          </p:cNvPr>
          <p:cNvSpPr/>
          <p:nvPr/>
        </p:nvSpPr>
        <p:spPr>
          <a:xfrm>
            <a:off x="2349500" y="2286000"/>
            <a:ext cx="495300" cy="495300"/>
          </a:xfrm>
          <a:prstGeom prst="roundRect">
            <a:avLst/>
          </a:prstGeom>
          <a:solidFill>
            <a:srgbClr val="52D6D3"/>
          </a:solidFill>
          <a:ln>
            <a:solidFill>
              <a:srgbClr val="52D6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727F58CA-4A15-4794-AB22-7BB49B1140D9}"/>
              </a:ext>
            </a:extLst>
          </p:cNvPr>
          <p:cNvSpPr txBox="1"/>
          <p:nvPr/>
        </p:nvSpPr>
        <p:spPr>
          <a:xfrm>
            <a:off x="2362200" y="2311400"/>
            <a:ext cx="469900" cy="230832"/>
          </a:xfrm>
          <a:prstGeom prst="rect">
            <a:avLst/>
          </a:prstGeom>
          <a:noFill/>
        </p:spPr>
        <p:txBody>
          <a:bodyPr vert="horz" lIns="0" tIns="0" rIns="0" bIns="0" rtlCol="0">
            <a:spAutoFit/>
          </a:bodyPr>
          <a:lstStyle/>
          <a:p>
            <a:pPr algn="ctr"/>
            <a:r>
              <a:rPr lang="ro-RO" sz="1500">
                <a:solidFill>
                  <a:srgbClr val="0B1220"/>
                </a:solidFill>
                <a:latin typeface="Aptos" panose="020B0004020202020204" pitchFamily="34" charset="0"/>
              </a:rPr>
              <a:t>1</a:t>
            </a:r>
            <a:endParaRPr lang="ro-RO" sz="1500" dirty="0">
              <a:solidFill>
                <a:srgbClr val="0B1220"/>
              </a:solidFill>
              <a:latin typeface="Aptos" panose="020B0004020202020204" pitchFamily="34" charset="0"/>
            </a:endParaRPr>
          </a:p>
        </p:txBody>
      </p:sp>
      <p:sp>
        <p:nvSpPr>
          <p:cNvPr id="29" name="Rectangle: Rounded Corners 28">
            <a:extLst>
              <a:ext uri="{FF2B5EF4-FFF2-40B4-BE49-F238E27FC236}">
                <a16:creationId xmlns:a16="http://schemas.microsoft.com/office/drawing/2014/main" id="{9016D2A2-9619-0399-2351-F425BB2F80FF}"/>
              </a:ext>
            </a:extLst>
          </p:cNvPr>
          <p:cNvSpPr/>
          <p:nvPr/>
        </p:nvSpPr>
        <p:spPr>
          <a:xfrm>
            <a:off x="2882900" y="2286000"/>
            <a:ext cx="495300" cy="495300"/>
          </a:xfrm>
          <a:prstGeom prst="roundRect">
            <a:avLst/>
          </a:prstGeom>
          <a:solidFill>
            <a:srgbClr val="80E2B0"/>
          </a:solidFill>
          <a:ln>
            <a:solidFill>
              <a:srgbClr val="80E2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AC76A4F8-5536-120B-8C99-7474A3B0FB08}"/>
              </a:ext>
            </a:extLst>
          </p:cNvPr>
          <p:cNvSpPr txBox="1"/>
          <p:nvPr/>
        </p:nvSpPr>
        <p:spPr>
          <a:xfrm>
            <a:off x="2895600" y="2311400"/>
            <a:ext cx="469900" cy="230832"/>
          </a:xfrm>
          <a:prstGeom prst="rect">
            <a:avLst/>
          </a:prstGeom>
          <a:noFill/>
        </p:spPr>
        <p:txBody>
          <a:bodyPr vert="horz" lIns="0" tIns="0" rIns="0" bIns="0" rtlCol="0">
            <a:spAutoFit/>
          </a:bodyPr>
          <a:lstStyle/>
          <a:p>
            <a:pPr algn="ctr"/>
            <a:r>
              <a:rPr lang="ro-RO" sz="1500">
                <a:solidFill>
                  <a:srgbClr val="0B1220"/>
                </a:solidFill>
                <a:latin typeface="Aptos" panose="020B0004020202020204" pitchFamily="34" charset="0"/>
              </a:rPr>
              <a:t>2</a:t>
            </a:r>
            <a:endParaRPr lang="ro-RO" sz="1500" dirty="0">
              <a:solidFill>
                <a:srgbClr val="0B1220"/>
              </a:solidFill>
              <a:latin typeface="Aptos" panose="020B0004020202020204" pitchFamily="34" charset="0"/>
            </a:endParaRPr>
          </a:p>
        </p:txBody>
      </p:sp>
      <p:sp>
        <p:nvSpPr>
          <p:cNvPr id="31" name="Rectangle: Rounded Corners 30">
            <a:extLst>
              <a:ext uri="{FF2B5EF4-FFF2-40B4-BE49-F238E27FC236}">
                <a16:creationId xmlns:a16="http://schemas.microsoft.com/office/drawing/2014/main" id="{312F2D3C-C010-B987-3824-A70625E4B2D8}"/>
              </a:ext>
            </a:extLst>
          </p:cNvPr>
          <p:cNvSpPr/>
          <p:nvPr/>
        </p:nvSpPr>
        <p:spPr>
          <a:xfrm>
            <a:off x="1282700" y="2819400"/>
            <a:ext cx="495300" cy="495300"/>
          </a:xfrm>
          <a:prstGeom prst="roundRect">
            <a:avLst/>
          </a:prstGeom>
          <a:solidFill>
            <a:srgbClr val="FFC870"/>
          </a:solidFill>
          <a:ln>
            <a:solidFill>
              <a:srgbClr val="FFC8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0F3BCD4A-F904-A03A-ACF3-B1B31A9A1985}"/>
              </a:ext>
            </a:extLst>
          </p:cNvPr>
          <p:cNvSpPr txBox="1"/>
          <p:nvPr/>
        </p:nvSpPr>
        <p:spPr>
          <a:xfrm>
            <a:off x="1295400" y="2844800"/>
            <a:ext cx="469900" cy="230832"/>
          </a:xfrm>
          <a:prstGeom prst="rect">
            <a:avLst/>
          </a:prstGeom>
          <a:noFill/>
        </p:spPr>
        <p:txBody>
          <a:bodyPr vert="horz" lIns="0" tIns="0" rIns="0" bIns="0" rtlCol="0">
            <a:spAutoFit/>
          </a:bodyPr>
          <a:lstStyle/>
          <a:p>
            <a:pPr algn="ctr"/>
            <a:r>
              <a:rPr lang="ro-RO" sz="1500">
                <a:solidFill>
                  <a:srgbClr val="0B1220"/>
                </a:solidFill>
                <a:latin typeface="Aptos" panose="020B0004020202020204" pitchFamily="34" charset="0"/>
              </a:rPr>
              <a:t>3</a:t>
            </a:r>
            <a:endParaRPr lang="ro-RO" sz="1500" dirty="0">
              <a:solidFill>
                <a:srgbClr val="0B1220"/>
              </a:solidFill>
              <a:latin typeface="Aptos" panose="020B0004020202020204" pitchFamily="34" charset="0"/>
            </a:endParaRPr>
          </a:p>
        </p:txBody>
      </p:sp>
      <p:sp>
        <p:nvSpPr>
          <p:cNvPr id="33" name="Rectangle: Rounded Corners 32">
            <a:extLst>
              <a:ext uri="{FF2B5EF4-FFF2-40B4-BE49-F238E27FC236}">
                <a16:creationId xmlns:a16="http://schemas.microsoft.com/office/drawing/2014/main" id="{1FB1908E-7B11-7E9B-937D-D26650D55555}"/>
              </a:ext>
            </a:extLst>
          </p:cNvPr>
          <p:cNvSpPr/>
          <p:nvPr/>
        </p:nvSpPr>
        <p:spPr>
          <a:xfrm>
            <a:off x="1816100" y="2819400"/>
            <a:ext cx="495300" cy="495300"/>
          </a:xfrm>
          <a:prstGeom prst="roundRect">
            <a:avLst/>
          </a:prstGeom>
          <a:solidFill>
            <a:srgbClr val="52D6D3"/>
          </a:solidFill>
          <a:ln>
            <a:solidFill>
              <a:srgbClr val="52D6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60D180F8-27EF-6958-74A3-DCEDD3254AE5}"/>
              </a:ext>
            </a:extLst>
          </p:cNvPr>
          <p:cNvSpPr txBox="1"/>
          <p:nvPr/>
        </p:nvSpPr>
        <p:spPr>
          <a:xfrm>
            <a:off x="1828800" y="2844800"/>
            <a:ext cx="469900" cy="230832"/>
          </a:xfrm>
          <a:prstGeom prst="rect">
            <a:avLst/>
          </a:prstGeom>
          <a:noFill/>
        </p:spPr>
        <p:txBody>
          <a:bodyPr vert="horz" lIns="0" tIns="0" rIns="0" bIns="0" rtlCol="0">
            <a:spAutoFit/>
          </a:bodyPr>
          <a:lstStyle/>
          <a:p>
            <a:pPr algn="ctr"/>
            <a:r>
              <a:rPr lang="ro-RO" sz="1500">
                <a:solidFill>
                  <a:srgbClr val="0B1220"/>
                </a:solidFill>
                <a:latin typeface="Aptos" panose="020B0004020202020204" pitchFamily="34" charset="0"/>
              </a:rPr>
              <a:t>1</a:t>
            </a:r>
            <a:endParaRPr lang="ro-RO" sz="1500" dirty="0">
              <a:solidFill>
                <a:srgbClr val="0B1220"/>
              </a:solidFill>
              <a:latin typeface="Aptos" panose="020B0004020202020204" pitchFamily="34" charset="0"/>
            </a:endParaRPr>
          </a:p>
        </p:txBody>
      </p:sp>
      <p:sp>
        <p:nvSpPr>
          <p:cNvPr id="35" name="Rectangle: Rounded Corners 34">
            <a:extLst>
              <a:ext uri="{FF2B5EF4-FFF2-40B4-BE49-F238E27FC236}">
                <a16:creationId xmlns:a16="http://schemas.microsoft.com/office/drawing/2014/main" id="{DC8B6EA4-00BE-42BD-C4B6-8F3832ADD65B}"/>
              </a:ext>
            </a:extLst>
          </p:cNvPr>
          <p:cNvSpPr/>
          <p:nvPr/>
        </p:nvSpPr>
        <p:spPr>
          <a:xfrm>
            <a:off x="2349500" y="2819400"/>
            <a:ext cx="495300" cy="495300"/>
          </a:xfrm>
          <a:prstGeom prst="roundRect">
            <a:avLst/>
          </a:prstGeom>
          <a:solidFill>
            <a:srgbClr val="80E2B0"/>
          </a:solidFill>
          <a:ln>
            <a:solidFill>
              <a:srgbClr val="80E2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3CD88293-475E-4AD6-68D9-6C66ADF30157}"/>
              </a:ext>
            </a:extLst>
          </p:cNvPr>
          <p:cNvSpPr txBox="1"/>
          <p:nvPr/>
        </p:nvSpPr>
        <p:spPr>
          <a:xfrm>
            <a:off x="2362200" y="2844800"/>
            <a:ext cx="469900" cy="230832"/>
          </a:xfrm>
          <a:prstGeom prst="rect">
            <a:avLst/>
          </a:prstGeom>
          <a:noFill/>
        </p:spPr>
        <p:txBody>
          <a:bodyPr vert="horz" lIns="0" tIns="0" rIns="0" bIns="0" rtlCol="0">
            <a:spAutoFit/>
          </a:bodyPr>
          <a:lstStyle/>
          <a:p>
            <a:pPr algn="ctr"/>
            <a:r>
              <a:rPr lang="ro-RO" sz="1500">
                <a:solidFill>
                  <a:srgbClr val="0B1220"/>
                </a:solidFill>
                <a:latin typeface="Aptos" panose="020B0004020202020204" pitchFamily="34" charset="0"/>
              </a:rPr>
              <a:t>2</a:t>
            </a:r>
            <a:endParaRPr lang="ro-RO" sz="1500" dirty="0">
              <a:solidFill>
                <a:srgbClr val="0B1220"/>
              </a:solidFill>
              <a:latin typeface="Aptos" panose="020B0004020202020204" pitchFamily="34" charset="0"/>
            </a:endParaRPr>
          </a:p>
        </p:txBody>
      </p:sp>
      <p:sp>
        <p:nvSpPr>
          <p:cNvPr id="37" name="Rectangle: Rounded Corners 36">
            <a:extLst>
              <a:ext uri="{FF2B5EF4-FFF2-40B4-BE49-F238E27FC236}">
                <a16:creationId xmlns:a16="http://schemas.microsoft.com/office/drawing/2014/main" id="{01F9B40A-B683-DA44-266C-B8759F589106}"/>
              </a:ext>
            </a:extLst>
          </p:cNvPr>
          <p:cNvSpPr/>
          <p:nvPr/>
        </p:nvSpPr>
        <p:spPr>
          <a:xfrm>
            <a:off x="2882900" y="2819400"/>
            <a:ext cx="495300" cy="495300"/>
          </a:xfrm>
          <a:prstGeom prst="roundRect">
            <a:avLst/>
          </a:prstGeom>
          <a:solidFill>
            <a:srgbClr val="80E2B0"/>
          </a:solidFill>
          <a:ln>
            <a:solidFill>
              <a:srgbClr val="80E2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0CB93914-C7AF-FBFD-5FAA-906A4DD388E8}"/>
              </a:ext>
            </a:extLst>
          </p:cNvPr>
          <p:cNvSpPr txBox="1"/>
          <p:nvPr/>
        </p:nvSpPr>
        <p:spPr>
          <a:xfrm>
            <a:off x="2895600" y="2844800"/>
            <a:ext cx="469900" cy="230832"/>
          </a:xfrm>
          <a:prstGeom prst="rect">
            <a:avLst/>
          </a:prstGeom>
          <a:noFill/>
        </p:spPr>
        <p:txBody>
          <a:bodyPr vert="horz" lIns="0" tIns="0" rIns="0" bIns="0" rtlCol="0">
            <a:spAutoFit/>
          </a:bodyPr>
          <a:lstStyle/>
          <a:p>
            <a:pPr algn="ctr"/>
            <a:r>
              <a:rPr lang="ro-RO" sz="1500">
                <a:solidFill>
                  <a:srgbClr val="0B1220"/>
                </a:solidFill>
                <a:latin typeface="Aptos" panose="020B0004020202020204" pitchFamily="34" charset="0"/>
              </a:rPr>
              <a:t>2</a:t>
            </a:r>
            <a:endParaRPr lang="ro-RO" sz="1500" dirty="0">
              <a:solidFill>
                <a:srgbClr val="0B1220"/>
              </a:solidFill>
              <a:latin typeface="Aptos" panose="020B0004020202020204" pitchFamily="34" charset="0"/>
            </a:endParaRPr>
          </a:p>
        </p:txBody>
      </p:sp>
      <p:sp>
        <p:nvSpPr>
          <p:cNvPr id="39" name="Rectangle: Rounded Corners 38">
            <a:extLst>
              <a:ext uri="{FF2B5EF4-FFF2-40B4-BE49-F238E27FC236}">
                <a16:creationId xmlns:a16="http://schemas.microsoft.com/office/drawing/2014/main" id="{E5A312DF-878C-D2CE-938E-7C7B62D643EB}"/>
              </a:ext>
            </a:extLst>
          </p:cNvPr>
          <p:cNvSpPr/>
          <p:nvPr/>
        </p:nvSpPr>
        <p:spPr>
          <a:xfrm>
            <a:off x="1282700" y="3352800"/>
            <a:ext cx="495300" cy="495300"/>
          </a:xfrm>
          <a:prstGeom prst="roundRect">
            <a:avLst/>
          </a:prstGeom>
          <a:solidFill>
            <a:srgbClr val="FFC870"/>
          </a:solidFill>
          <a:ln>
            <a:solidFill>
              <a:srgbClr val="FFC8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3599150A-1F12-B32E-1F17-30C5DACBC10B}"/>
              </a:ext>
            </a:extLst>
          </p:cNvPr>
          <p:cNvSpPr txBox="1"/>
          <p:nvPr/>
        </p:nvSpPr>
        <p:spPr>
          <a:xfrm>
            <a:off x="1295400" y="3378200"/>
            <a:ext cx="469900" cy="230832"/>
          </a:xfrm>
          <a:prstGeom prst="rect">
            <a:avLst/>
          </a:prstGeom>
          <a:noFill/>
        </p:spPr>
        <p:txBody>
          <a:bodyPr vert="horz" lIns="0" tIns="0" rIns="0" bIns="0" rtlCol="0">
            <a:spAutoFit/>
          </a:bodyPr>
          <a:lstStyle/>
          <a:p>
            <a:pPr algn="ctr"/>
            <a:r>
              <a:rPr lang="ro-RO" sz="1500">
                <a:solidFill>
                  <a:srgbClr val="0B1220"/>
                </a:solidFill>
                <a:latin typeface="Aptos" panose="020B0004020202020204" pitchFamily="34" charset="0"/>
              </a:rPr>
              <a:t>3</a:t>
            </a:r>
            <a:endParaRPr lang="ro-RO" sz="1500" dirty="0">
              <a:solidFill>
                <a:srgbClr val="0B1220"/>
              </a:solidFill>
              <a:latin typeface="Aptos" panose="020B0004020202020204" pitchFamily="34" charset="0"/>
            </a:endParaRPr>
          </a:p>
        </p:txBody>
      </p:sp>
      <p:sp>
        <p:nvSpPr>
          <p:cNvPr id="41" name="Rectangle: Rounded Corners 40">
            <a:extLst>
              <a:ext uri="{FF2B5EF4-FFF2-40B4-BE49-F238E27FC236}">
                <a16:creationId xmlns:a16="http://schemas.microsoft.com/office/drawing/2014/main" id="{E27A8C3D-B57F-F12D-2A00-0319F09C3021}"/>
              </a:ext>
            </a:extLst>
          </p:cNvPr>
          <p:cNvSpPr/>
          <p:nvPr/>
        </p:nvSpPr>
        <p:spPr>
          <a:xfrm>
            <a:off x="1816100" y="3352800"/>
            <a:ext cx="495300" cy="495300"/>
          </a:xfrm>
          <a:prstGeom prst="roundRect">
            <a:avLst/>
          </a:prstGeom>
          <a:solidFill>
            <a:srgbClr val="FFC870"/>
          </a:solidFill>
          <a:ln>
            <a:solidFill>
              <a:srgbClr val="FFC8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5907055C-8AB0-4B2F-FC39-23D586D84CF9}"/>
              </a:ext>
            </a:extLst>
          </p:cNvPr>
          <p:cNvSpPr txBox="1"/>
          <p:nvPr/>
        </p:nvSpPr>
        <p:spPr>
          <a:xfrm>
            <a:off x="1828800" y="3378200"/>
            <a:ext cx="469900" cy="230832"/>
          </a:xfrm>
          <a:prstGeom prst="rect">
            <a:avLst/>
          </a:prstGeom>
          <a:noFill/>
        </p:spPr>
        <p:txBody>
          <a:bodyPr vert="horz" lIns="0" tIns="0" rIns="0" bIns="0" rtlCol="0">
            <a:spAutoFit/>
          </a:bodyPr>
          <a:lstStyle/>
          <a:p>
            <a:pPr algn="ctr"/>
            <a:r>
              <a:rPr lang="ro-RO" sz="1500">
                <a:solidFill>
                  <a:srgbClr val="0B1220"/>
                </a:solidFill>
                <a:latin typeface="Aptos" panose="020B0004020202020204" pitchFamily="34" charset="0"/>
              </a:rPr>
              <a:t>3</a:t>
            </a:r>
            <a:endParaRPr lang="ro-RO" sz="1500" dirty="0">
              <a:solidFill>
                <a:srgbClr val="0B1220"/>
              </a:solidFill>
              <a:latin typeface="Aptos" panose="020B0004020202020204" pitchFamily="34" charset="0"/>
            </a:endParaRPr>
          </a:p>
        </p:txBody>
      </p:sp>
      <p:sp>
        <p:nvSpPr>
          <p:cNvPr id="43" name="Rectangle: Rounded Corners 42">
            <a:extLst>
              <a:ext uri="{FF2B5EF4-FFF2-40B4-BE49-F238E27FC236}">
                <a16:creationId xmlns:a16="http://schemas.microsoft.com/office/drawing/2014/main" id="{71096F23-55E6-25BC-71B3-E4CF5CB8370B}"/>
              </a:ext>
            </a:extLst>
          </p:cNvPr>
          <p:cNvSpPr/>
          <p:nvPr/>
        </p:nvSpPr>
        <p:spPr>
          <a:xfrm>
            <a:off x="2349500" y="3352800"/>
            <a:ext cx="495300" cy="495300"/>
          </a:xfrm>
          <a:prstGeom prst="roundRect">
            <a:avLst/>
          </a:prstGeom>
          <a:solidFill>
            <a:srgbClr val="FF9C95"/>
          </a:solidFill>
          <a:ln>
            <a:solidFill>
              <a:srgbClr val="FF9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DE614791-A8B6-F3D5-717E-A677B010CE49}"/>
              </a:ext>
            </a:extLst>
          </p:cNvPr>
          <p:cNvSpPr txBox="1"/>
          <p:nvPr/>
        </p:nvSpPr>
        <p:spPr>
          <a:xfrm>
            <a:off x="2362200" y="3378200"/>
            <a:ext cx="469900" cy="230832"/>
          </a:xfrm>
          <a:prstGeom prst="rect">
            <a:avLst/>
          </a:prstGeom>
          <a:noFill/>
        </p:spPr>
        <p:txBody>
          <a:bodyPr vert="horz" lIns="0" tIns="0" rIns="0" bIns="0" rtlCol="0">
            <a:spAutoFit/>
          </a:bodyPr>
          <a:lstStyle/>
          <a:p>
            <a:pPr algn="ctr"/>
            <a:r>
              <a:rPr lang="ro-RO" sz="1500">
                <a:solidFill>
                  <a:srgbClr val="0B1220"/>
                </a:solidFill>
                <a:latin typeface="Aptos" panose="020B0004020202020204" pitchFamily="34" charset="0"/>
              </a:rPr>
              <a:t>4</a:t>
            </a:r>
            <a:endParaRPr lang="ro-RO" sz="1500" dirty="0">
              <a:solidFill>
                <a:srgbClr val="0B1220"/>
              </a:solidFill>
              <a:latin typeface="Aptos" panose="020B0004020202020204" pitchFamily="34" charset="0"/>
            </a:endParaRPr>
          </a:p>
        </p:txBody>
      </p:sp>
      <p:sp>
        <p:nvSpPr>
          <p:cNvPr id="45" name="Rectangle: Rounded Corners 44">
            <a:extLst>
              <a:ext uri="{FF2B5EF4-FFF2-40B4-BE49-F238E27FC236}">
                <a16:creationId xmlns:a16="http://schemas.microsoft.com/office/drawing/2014/main" id="{3410EDE9-7AC0-985B-A6E2-2304C0FAB036}"/>
              </a:ext>
            </a:extLst>
          </p:cNvPr>
          <p:cNvSpPr/>
          <p:nvPr/>
        </p:nvSpPr>
        <p:spPr>
          <a:xfrm>
            <a:off x="2882900" y="3352800"/>
            <a:ext cx="495300" cy="495300"/>
          </a:xfrm>
          <a:prstGeom prst="roundRect">
            <a:avLst/>
          </a:prstGeom>
          <a:solidFill>
            <a:srgbClr val="80E2B0"/>
          </a:solidFill>
          <a:ln>
            <a:solidFill>
              <a:srgbClr val="80E2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C5FA48F1-F1D7-318D-4124-B3B72A4D2C80}"/>
              </a:ext>
            </a:extLst>
          </p:cNvPr>
          <p:cNvSpPr txBox="1"/>
          <p:nvPr/>
        </p:nvSpPr>
        <p:spPr>
          <a:xfrm>
            <a:off x="2895600" y="3378200"/>
            <a:ext cx="469900" cy="230832"/>
          </a:xfrm>
          <a:prstGeom prst="rect">
            <a:avLst/>
          </a:prstGeom>
          <a:noFill/>
        </p:spPr>
        <p:txBody>
          <a:bodyPr vert="horz" lIns="0" tIns="0" rIns="0" bIns="0" rtlCol="0">
            <a:spAutoFit/>
          </a:bodyPr>
          <a:lstStyle/>
          <a:p>
            <a:pPr algn="ctr"/>
            <a:r>
              <a:rPr lang="ro-RO" sz="1500">
                <a:solidFill>
                  <a:srgbClr val="0B1220"/>
                </a:solidFill>
                <a:latin typeface="Aptos" panose="020B0004020202020204" pitchFamily="34" charset="0"/>
              </a:rPr>
              <a:t>2</a:t>
            </a:r>
            <a:endParaRPr lang="ro-RO" sz="1500" dirty="0">
              <a:solidFill>
                <a:srgbClr val="0B1220"/>
              </a:solidFill>
              <a:latin typeface="Aptos" panose="020B0004020202020204" pitchFamily="34" charset="0"/>
            </a:endParaRPr>
          </a:p>
        </p:txBody>
      </p:sp>
      <p:sp>
        <p:nvSpPr>
          <p:cNvPr id="47" name="Rectangle: Rounded Corners 46">
            <a:extLst>
              <a:ext uri="{FF2B5EF4-FFF2-40B4-BE49-F238E27FC236}">
                <a16:creationId xmlns:a16="http://schemas.microsoft.com/office/drawing/2014/main" id="{D1747F1D-D7B2-7979-D97B-85FF94504782}"/>
              </a:ext>
            </a:extLst>
          </p:cNvPr>
          <p:cNvSpPr/>
          <p:nvPr/>
        </p:nvSpPr>
        <p:spPr>
          <a:xfrm>
            <a:off x="1282700" y="3886200"/>
            <a:ext cx="495300" cy="495300"/>
          </a:xfrm>
          <a:prstGeom prst="roundRect">
            <a:avLst/>
          </a:prstGeom>
          <a:solidFill>
            <a:srgbClr val="FFC870"/>
          </a:solidFill>
          <a:ln>
            <a:solidFill>
              <a:srgbClr val="FFC8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CBC0F579-59E1-F1CB-376D-1EA98F4E5D97}"/>
              </a:ext>
            </a:extLst>
          </p:cNvPr>
          <p:cNvSpPr txBox="1"/>
          <p:nvPr/>
        </p:nvSpPr>
        <p:spPr>
          <a:xfrm>
            <a:off x="1295400" y="3911600"/>
            <a:ext cx="469900" cy="230832"/>
          </a:xfrm>
          <a:prstGeom prst="rect">
            <a:avLst/>
          </a:prstGeom>
          <a:noFill/>
        </p:spPr>
        <p:txBody>
          <a:bodyPr vert="horz" lIns="0" tIns="0" rIns="0" bIns="0" rtlCol="0">
            <a:spAutoFit/>
          </a:bodyPr>
          <a:lstStyle/>
          <a:p>
            <a:pPr algn="ctr"/>
            <a:r>
              <a:rPr lang="ro-RO" sz="1500">
                <a:solidFill>
                  <a:srgbClr val="0B1220"/>
                </a:solidFill>
                <a:latin typeface="Aptos" panose="020B0004020202020204" pitchFamily="34" charset="0"/>
              </a:rPr>
              <a:t>3</a:t>
            </a:r>
            <a:endParaRPr lang="ro-RO" sz="1500" dirty="0">
              <a:solidFill>
                <a:srgbClr val="0B1220"/>
              </a:solidFill>
              <a:latin typeface="Aptos" panose="020B0004020202020204" pitchFamily="34" charset="0"/>
            </a:endParaRPr>
          </a:p>
        </p:txBody>
      </p:sp>
      <p:sp>
        <p:nvSpPr>
          <p:cNvPr id="49" name="Rectangle: Rounded Corners 48">
            <a:extLst>
              <a:ext uri="{FF2B5EF4-FFF2-40B4-BE49-F238E27FC236}">
                <a16:creationId xmlns:a16="http://schemas.microsoft.com/office/drawing/2014/main" id="{3273DB48-B845-7800-AA12-FE409399FC05}"/>
              </a:ext>
            </a:extLst>
          </p:cNvPr>
          <p:cNvSpPr/>
          <p:nvPr/>
        </p:nvSpPr>
        <p:spPr>
          <a:xfrm>
            <a:off x="1816100" y="3886200"/>
            <a:ext cx="495300" cy="495300"/>
          </a:xfrm>
          <a:prstGeom prst="roundRect">
            <a:avLst/>
          </a:prstGeom>
          <a:solidFill>
            <a:srgbClr val="FF9C95"/>
          </a:solidFill>
          <a:ln>
            <a:solidFill>
              <a:srgbClr val="FF9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BC6C901C-333A-A3E9-C99C-2BCD46BBAA09}"/>
              </a:ext>
            </a:extLst>
          </p:cNvPr>
          <p:cNvSpPr txBox="1"/>
          <p:nvPr/>
        </p:nvSpPr>
        <p:spPr>
          <a:xfrm>
            <a:off x="1828800" y="3911600"/>
            <a:ext cx="469900" cy="230832"/>
          </a:xfrm>
          <a:prstGeom prst="rect">
            <a:avLst/>
          </a:prstGeom>
          <a:noFill/>
        </p:spPr>
        <p:txBody>
          <a:bodyPr vert="horz" lIns="0" tIns="0" rIns="0" bIns="0" rtlCol="0">
            <a:spAutoFit/>
          </a:bodyPr>
          <a:lstStyle/>
          <a:p>
            <a:pPr algn="ctr"/>
            <a:r>
              <a:rPr lang="ro-RO" sz="1500">
                <a:solidFill>
                  <a:srgbClr val="0B1220"/>
                </a:solidFill>
                <a:latin typeface="Aptos" panose="020B0004020202020204" pitchFamily="34" charset="0"/>
              </a:rPr>
              <a:t>4</a:t>
            </a:r>
            <a:endParaRPr lang="ro-RO" sz="1500" dirty="0">
              <a:solidFill>
                <a:srgbClr val="0B1220"/>
              </a:solidFill>
              <a:latin typeface="Aptos" panose="020B0004020202020204" pitchFamily="34" charset="0"/>
            </a:endParaRPr>
          </a:p>
        </p:txBody>
      </p:sp>
      <p:sp>
        <p:nvSpPr>
          <p:cNvPr id="51" name="Rectangle: Rounded Corners 50">
            <a:extLst>
              <a:ext uri="{FF2B5EF4-FFF2-40B4-BE49-F238E27FC236}">
                <a16:creationId xmlns:a16="http://schemas.microsoft.com/office/drawing/2014/main" id="{26AF6AE2-660D-23B0-A2C5-116128754F6E}"/>
              </a:ext>
            </a:extLst>
          </p:cNvPr>
          <p:cNvSpPr/>
          <p:nvPr/>
        </p:nvSpPr>
        <p:spPr>
          <a:xfrm>
            <a:off x="2349500" y="3886200"/>
            <a:ext cx="495300" cy="495300"/>
          </a:xfrm>
          <a:prstGeom prst="roundRect">
            <a:avLst/>
          </a:prstGeom>
          <a:solidFill>
            <a:srgbClr val="FF9C95"/>
          </a:solidFill>
          <a:ln>
            <a:solidFill>
              <a:srgbClr val="FF9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F072476F-6B08-EEE8-B832-3D18DD8AA2ED}"/>
              </a:ext>
            </a:extLst>
          </p:cNvPr>
          <p:cNvSpPr txBox="1"/>
          <p:nvPr/>
        </p:nvSpPr>
        <p:spPr>
          <a:xfrm>
            <a:off x="2362200" y="3911600"/>
            <a:ext cx="469900" cy="230832"/>
          </a:xfrm>
          <a:prstGeom prst="rect">
            <a:avLst/>
          </a:prstGeom>
          <a:noFill/>
        </p:spPr>
        <p:txBody>
          <a:bodyPr vert="horz" lIns="0" tIns="0" rIns="0" bIns="0" rtlCol="0">
            <a:spAutoFit/>
          </a:bodyPr>
          <a:lstStyle/>
          <a:p>
            <a:pPr algn="ctr"/>
            <a:r>
              <a:rPr lang="ro-RO" sz="1500">
                <a:solidFill>
                  <a:srgbClr val="0B1220"/>
                </a:solidFill>
                <a:latin typeface="Aptos" panose="020B0004020202020204" pitchFamily="34" charset="0"/>
              </a:rPr>
              <a:t>4</a:t>
            </a:r>
            <a:endParaRPr lang="ro-RO" sz="1500" dirty="0">
              <a:solidFill>
                <a:srgbClr val="0B1220"/>
              </a:solidFill>
              <a:latin typeface="Aptos" panose="020B0004020202020204" pitchFamily="34" charset="0"/>
            </a:endParaRPr>
          </a:p>
        </p:txBody>
      </p:sp>
      <p:sp>
        <p:nvSpPr>
          <p:cNvPr id="53" name="Rectangle: Rounded Corners 52">
            <a:extLst>
              <a:ext uri="{FF2B5EF4-FFF2-40B4-BE49-F238E27FC236}">
                <a16:creationId xmlns:a16="http://schemas.microsoft.com/office/drawing/2014/main" id="{C574011B-8C12-349B-C40A-ADAD648588D2}"/>
              </a:ext>
            </a:extLst>
          </p:cNvPr>
          <p:cNvSpPr/>
          <p:nvPr/>
        </p:nvSpPr>
        <p:spPr>
          <a:xfrm>
            <a:off x="2882900" y="3886200"/>
            <a:ext cx="495300" cy="495300"/>
          </a:xfrm>
          <a:prstGeom prst="roundRect">
            <a:avLst/>
          </a:prstGeom>
          <a:solidFill>
            <a:srgbClr val="FF9C95"/>
          </a:solidFill>
          <a:ln>
            <a:solidFill>
              <a:srgbClr val="FF9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3B25EB3A-79B6-7EB6-6991-5C7875A81FCD}"/>
              </a:ext>
            </a:extLst>
          </p:cNvPr>
          <p:cNvSpPr txBox="1"/>
          <p:nvPr/>
        </p:nvSpPr>
        <p:spPr>
          <a:xfrm>
            <a:off x="2895600" y="3911600"/>
            <a:ext cx="469900" cy="230832"/>
          </a:xfrm>
          <a:prstGeom prst="rect">
            <a:avLst/>
          </a:prstGeom>
          <a:noFill/>
        </p:spPr>
        <p:txBody>
          <a:bodyPr vert="horz" lIns="0" tIns="0" rIns="0" bIns="0" rtlCol="0">
            <a:spAutoFit/>
          </a:bodyPr>
          <a:lstStyle/>
          <a:p>
            <a:pPr algn="ctr"/>
            <a:r>
              <a:rPr lang="ro-RO" sz="1500">
                <a:solidFill>
                  <a:srgbClr val="0B1220"/>
                </a:solidFill>
                <a:latin typeface="Aptos" panose="020B0004020202020204" pitchFamily="34" charset="0"/>
              </a:rPr>
              <a:t>4</a:t>
            </a:r>
            <a:endParaRPr lang="ro-RO" sz="1500" dirty="0">
              <a:solidFill>
                <a:srgbClr val="0B1220"/>
              </a:solidFill>
              <a:latin typeface="Aptos" panose="020B0004020202020204" pitchFamily="34" charset="0"/>
            </a:endParaRPr>
          </a:p>
        </p:txBody>
      </p:sp>
      <p:sp>
        <p:nvSpPr>
          <p:cNvPr id="55" name="TextBox 54">
            <a:extLst>
              <a:ext uri="{FF2B5EF4-FFF2-40B4-BE49-F238E27FC236}">
                <a16:creationId xmlns:a16="http://schemas.microsoft.com/office/drawing/2014/main" id="{47B742E5-DC83-70DD-648B-70E8106EB17E}"/>
              </a:ext>
            </a:extLst>
          </p:cNvPr>
          <p:cNvSpPr txBox="1"/>
          <p:nvPr/>
        </p:nvSpPr>
        <p:spPr>
          <a:xfrm>
            <a:off x="901700" y="4406900"/>
            <a:ext cx="3238500" cy="369332"/>
          </a:xfrm>
          <a:prstGeom prst="rect">
            <a:avLst/>
          </a:prstGeom>
          <a:noFill/>
        </p:spPr>
        <p:txBody>
          <a:bodyPr vert="horz" lIns="0" tIns="0" rIns="0" bIns="0" rtlCol="0">
            <a:spAutoFit/>
          </a:bodyPr>
          <a:lstStyle/>
          <a:p>
            <a:r>
              <a:rPr lang="ro-RO" sz="1200">
                <a:solidFill>
                  <a:srgbClr val="B9C9DB"/>
                </a:solidFill>
                <a:latin typeface="Aptos" panose="020B0004020202020204" pitchFamily="34" charset="0"/>
              </a:rPr>
              <a:t>Bloc 4 × 4: fiecare culoare marchează o piesă T de 4 pixeli.</a:t>
            </a:r>
            <a:endParaRPr lang="ro-RO" sz="1200" dirty="0">
              <a:solidFill>
                <a:srgbClr val="B9C9DB"/>
              </a:solidFill>
              <a:latin typeface="Aptos" panose="020B0004020202020204" pitchFamily="34" charset="0"/>
            </a:endParaRPr>
          </a:p>
        </p:txBody>
      </p:sp>
      <p:sp>
        <p:nvSpPr>
          <p:cNvPr id="56" name="TextBox 55">
            <a:extLst>
              <a:ext uri="{FF2B5EF4-FFF2-40B4-BE49-F238E27FC236}">
                <a16:creationId xmlns:a16="http://schemas.microsoft.com/office/drawing/2014/main" id="{7049816C-BC04-3301-892C-4AF1D2B9122F}"/>
              </a:ext>
            </a:extLst>
          </p:cNvPr>
          <p:cNvSpPr txBox="1"/>
          <p:nvPr/>
        </p:nvSpPr>
        <p:spPr>
          <a:xfrm>
            <a:off x="3937000" y="3086100"/>
            <a:ext cx="660400" cy="584775"/>
          </a:xfrm>
          <a:prstGeom prst="rect">
            <a:avLst/>
          </a:prstGeom>
          <a:noFill/>
        </p:spPr>
        <p:txBody>
          <a:bodyPr vert="horz" lIns="0" tIns="0" rIns="0" bIns="0" rtlCol="0">
            <a:spAutoFit/>
          </a:bodyPr>
          <a:lstStyle/>
          <a:p>
            <a:pPr algn="ctr"/>
            <a:r>
              <a:rPr lang="ro-RO" sz="3800">
                <a:solidFill>
                  <a:srgbClr val="52D6D3"/>
                </a:solidFill>
                <a:latin typeface="Aptos" panose="020B0004020202020204" pitchFamily="34" charset="0"/>
              </a:rPr>
              <a:t>→</a:t>
            </a:r>
            <a:endParaRPr lang="ro-RO" sz="3800" dirty="0">
              <a:solidFill>
                <a:srgbClr val="52D6D3"/>
              </a:solidFill>
              <a:latin typeface="Aptos" panose="020B0004020202020204" pitchFamily="34" charset="0"/>
            </a:endParaRPr>
          </a:p>
        </p:txBody>
      </p:sp>
      <p:sp>
        <p:nvSpPr>
          <p:cNvPr id="57" name="TextBox 56">
            <a:extLst>
              <a:ext uri="{FF2B5EF4-FFF2-40B4-BE49-F238E27FC236}">
                <a16:creationId xmlns:a16="http://schemas.microsoft.com/office/drawing/2014/main" id="{36D3EBB7-74E3-3303-27DA-5D42771F54FE}"/>
              </a:ext>
            </a:extLst>
          </p:cNvPr>
          <p:cNvSpPr txBox="1"/>
          <p:nvPr/>
        </p:nvSpPr>
        <p:spPr>
          <a:xfrm>
            <a:off x="4711700" y="1816100"/>
            <a:ext cx="3124200" cy="276999"/>
          </a:xfrm>
          <a:prstGeom prst="rect">
            <a:avLst/>
          </a:prstGeom>
          <a:noFill/>
        </p:spPr>
        <p:txBody>
          <a:bodyPr vert="horz" lIns="0" tIns="0" rIns="0" bIns="0" rtlCol="0">
            <a:spAutoFit/>
          </a:bodyPr>
          <a:lstStyle/>
          <a:p>
            <a:r>
              <a:rPr lang="ro-RO">
                <a:solidFill>
                  <a:srgbClr val="52D6D3"/>
                </a:solidFill>
                <a:latin typeface="Aptos" panose="020B0004020202020204" pitchFamily="34" charset="0"/>
              </a:rPr>
              <a:t>Masca A = T1 + T2</a:t>
            </a:r>
            <a:endParaRPr lang="ro-RO" dirty="0">
              <a:solidFill>
                <a:srgbClr val="52D6D3"/>
              </a:solidFill>
              <a:latin typeface="Aptos" panose="020B0004020202020204" pitchFamily="34" charset="0"/>
            </a:endParaRPr>
          </a:p>
        </p:txBody>
      </p:sp>
      <p:sp>
        <p:nvSpPr>
          <p:cNvPr id="58" name="Rectangle: Rounded Corners 57">
            <a:extLst>
              <a:ext uri="{FF2B5EF4-FFF2-40B4-BE49-F238E27FC236}">
                <a16:creationId xmlns:a16="http://schemas.microsoft.com/office/drawing/2014/main" id="{F438003A-F397-FB25-872A-D63C68567AB5}"/>
              </a:ext>
            </a:extLst>
          </p:cNvPr>
          <p:cNvSpPr/>
          <p:nvPr/>
        </p:nvSpPr>
        <p:spPr>
          <a:xfrm>
            <a:off x="5207000" y="2451100"/>
            <a:ext cx="406400" cy="406400"/>
          </a:xfrm>
          <a:prstGeom prst="roundRect">
            <a:avLst/>
          </a:prstGeom>
          <a:solidFill>
            <a:srgbClr val="52D6D3"/>
          </a:solidFill>
          <a:ln>
            <a:solidFill>
              <a:srgbClr val="52D6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79FF41C1-288F-6527-061F-30AB11E9C2AE}"/>
              </a:ext>
            </a:extLst>
          </p:cNvPr>
          <p:cNvSpPr txBox="1"/>
          <p:nvPr/>
        </p:nvSpPr>
        <p:spPr>
          <a:xfrm>
            <a:off x="5219700" y="2476500"/>
            <a:ext cx="381000" cy="184666"/>
          </a:xfrm>
          <a:prstGeom prst="rect">
            <a:avLst/>
          </a:prstGeom>
          <a:noFill/>
        </p:spPr>
        <p:txBody>
          <a:bodyPr vert="horz" lIns="0" tIns="0" rIns="0" bIns="0" rtlCol="0">
            <a:spAutoFit/>
          </a:bodyPr>
          <a:lstStyle/>
          <a:p>
            <a:pPr algn="ctr"/>
            <a:r>
              <a:rPr lang="ro-RO" sz="1200">
                <a:solidFill>
                  <a:srgbClr val="0B1220"/>
                </a:solidFill>
                <a:latin typeface="Aptos" panose="020B0004020202020204" pitchFamily="34" charset="0"/>
              </a:rPr>
              <a:t>1</a:t>
            </a:r>
            <a:endParaRPr lang="ro-RO" sz="1200" dirty="0">
              <a:solidFill>
                <a:srgbClr val="0B1220"/>
              </a:solidFill>
              <a:latin typeface="Aptos" panose="020B0004020202020204" pitchFamily="34" charset="0"/>
            </a:endParaRPr>
          </a:p>
        </p:txBody>
      </p:sp>
      <p:sp>
        <p:nvSpPr>
          <p:cNvPr id="60" name="Rectangle: Rounded Corners 59">
            <a:extLst>
              <a:ext uri="{FF2B5EF4-FFF2-40B4-BE49-F238E27FC236}">
                <a16:creationId xmlns:a16="http://schemas.microsoft.com/office/drawing/2014/main" id="{54BB758B-41F7-2AD1-6B7C-041F69D7A41C}"/>
              </a:ext>
            </a:extLst>
          </p:cNvPr>
          <p:cNvSpPr/>
          <p:nvPr/>
        </p:nvSpPr>
        <p:spPr>
          <a:xfrm>
            <a:off x="5651500" y="2451100"/>
            <a:ext cx="406400" cy="406400"/>
          </a:xfrm>
          <a:prstGeom prst="roundRect">
            <a:avLst/>
          </a:prstGeom>
          <a:solidFill>
            <a:srgbClr val="52D6D3"/>
          </a:solidFill>
          <a:ln>
            <a:solidFill>
              <a:srgbClr val="52D6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DF9F2891-AEF2-5F70-82EE-1D61247488FD}"/>
              </a:ext>
            </a:extLst>
          </p:cNvPr>
          <p:cNvSpPr txBox="1"/>
          <p:nvPr/>
        </p:nvSpPr>
        <p:spPr>
          <a:xfrm>
            <a:off x="5664200" y="2476500"/>
            <a:ext cx="381000" cy="184666"/>
          </a:xfrm>
          <a:prstGeom prst="rect">
            <a:avLst/>
          </a:prstGeom>
          <a:noFill/>
        </p:spPr>
        <p:txBody>
          <a:bodyPr vert="horz" lIns="0" tIns="0" rIns="0" bIns="0" rtlCol="0">
            <a:spAutoFit/>
          </a:bodyPr>
          <a:lstStyle/>
          <a:p>
            <a:pPr algn="ctr"/>
            <a:r>
              <a:rPr lang="ro-RO" sz="1200">
                <a:solidFill>
                  <a:srgbClr val="0B1220"/>
                </a:solidFill>
                <a:latin typeface="Aptos" panose="020B0004020202020204" pitchFamily="34" charset="0"/>
              </a:rPr>
              <a:t>1</a:t>
            </a:r>
            <a:endParaRPr lang="ro-RO" sz="1200" dirty="0">
              <a:solidFill>
                <a:srgbClr val="0B1220"/>
              </a:solidFill>
              <a:latin typeface="Aptos" panose="020B0004020202020204" pitchFamily="34" charset="0"/>
            </a:endParaRPr>
          </a:p>
        </p:txBody>
      </p:sp>
      <p:sp>
        <p:nvSpPr>
          <p:cNvPr id="62" name="Rectangle: Rounded Corners 61">
            <a:extLst>
              <a:ext uri="{FF2B5EF4-FFF2-40B4-BE49-F238E27FC236}">
                <a16:creationId xmlns:a16="http://schemas.microsoft.com/office/drawing/2014/main" id="{AC99F4BD-170E-9D77-3619-213CD9FB1BBB}"/>
              </a:ext>
            </a:extLst>
          </p:cNvPr>
          <p:cNvSpPr/>
          <p:nvPr/>
        </p:nvSpPr>
        <p:spPr>
          <a:xfrm>
            <a:off x="6096000" y="2451100"/>
            <a:ext cx="406400" cy="406400"/>
          </a:xfrm>
          <a:prstGeom prst="roundRect">
            <a:avLst/>
          </a:prstGeom>
          <a:solidFill>
            <a:srgbClr val="52D6D3"/>
          </a:solidFill>
          <a:ln>
            <a:solidFill>
              <a:srgbClr val="52D6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11314FCA-F5B9-ACDF-074D-DA6E8AFB7EE8}"/>
              </a:ext>
            </a:extLst>
          </p:cNvPr>
          <p:cNvSpPr txBox="1"/>
          <p:nvPr/>
        </p:nvSpPr>
        <p:spPr>
          <a:xfrm>
            <a:off x="6108700" y="2476500"/>
            <a:ext cx="381000" cy="184666"/>
          </a:xfrm>
          <a:prstGeom prst="rect">
            <a:avLst/>
          </a:prstGeom>
          <a:noFill/>
        </p:spPr>
        <p:txBody>
          <a:bodyPr vert="horz" lIns="0" tIns="0" rIns="0" bIns="0" rtlCol="0">
            <a:spAutoFit/>
          </a:bodyPr>
          <a:lstStyle/>
          <a:p>
            <a:pPr algn="ctr"/>
            <a:r>
              <a:rPr lang="ro-RO" sz="1200">
                <a:solidFill>
                  <a:srgbClr val="0B1220"/>
                </a:solidFill>
                <a:latin typeface="Aptos" panose="020B0004020202020204" pitchFamily="34" charset="0"/>
              </a:rPr>
              <a:t>1</a:t>
            </a:r>
            <a:endParaRPr lang="ro-RO" sz="1200" dirty="0">
              <a:solidFill>
                <a:srgbClr val="0B1220"/>
              </a:solidFill>
              <a:latin typeface="Aptos" panose="020B0004020202020204" pitchFamily="34" charset="0"/>
            </a:endParaRPr>
          </a:p>
        </p:txBody>
      </p:sp>
      <p:sp>
        <p:nvSpPr>
          <p:cNvPr id="64" name="Rectangle: Rounded Corners 63">
            <a:extLst>
              <a:ext uri="{FF2B5EF4-FFF2-40B4-BE49-F238E27FC236}">
                <a16:creationId xmlns:a16="http://schemas.microsoft.com/office/drawing/2014/main" id="{7DCE04A4-E486-5419-1E96-A3E49283CDA2}"/>
              </a:ext>
            </a:extLst>
          </p:cNvPr>
          <p:cNvSpPr/>
          <p:nvPr/>
        </p:nvSpPr>
        <p:spPr>
          <a:xfrm>
            <a:off x="6540500" y="2451100"/>
            <a:ext cx="406400" cy="406400"/>
          </a:xfrm>
          <a:prstGeom prst="roundRect">
            <a:avLst/>
          </a:prstGeom>
          <a:solidFill>
            <a:srgbClr val="80E2B0"/>
          </a:solidFill>
          <a:ln>
            <a:solidFill>
              <a:srgbClr val="80E2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0755CE08-610A-F852-D5C9-D6E16F6422CC}"/>
              </a:ext>
            </a:extLst>
          </p:cNvPr>
          <p:cNvSpPr txBox="1"/>
          <p:nvPr/>
        </p:nvSpPr>
        <p:spPr>
          <a:xfrm>
            <a:off x="6553200" y="2476500"/>
            <a:ext cx="381000" cy="184666"/>
          </a:xfrm>
          <a:prstGeom prst="rect">
            <a:avLst/>
          </a:prstGeom>
          <a:noFill/>
        </p:spPr>
        <p:txBody>
          <a:bodyPr vert="horz" lIns="0" tIns="0" rIns="0" bIns="0" rtlCol="0">
            <a:spAutoFit/>
          </a:bodyPr>
          <a:lstStyle/>
          <a:p>
            <a:pPr algn="ctr"/>
            <a:r>
              <a:rPr lang="ro-RO" sz="1200">
                <a:solidFill>
                  <a:srgbClr val="0B1220"/>
                </a:solidFill>
                <a:latin typeface="Aptos" panose="020B0004020202020204" pitchFamily="34" charset="0"/>
              </a:rPr>
              <a:t>2</a:t>
            </a:r>
            <a:endParaRPr lang="ro-RO" sz="1200" dirty="0">
              <a:solidFill>
                <a:srgbClr val="0B1220"/>
              </a:solidFill>
              <a:latin typeface="Aptos" panose="020B0004020202020204" pitchFamily="34" charset="0"/>
            </a:endParaRPr>
          </a:p>
        </p:txBody>
      </p:sp>
      <p:sp>
        <p:nvSpPr>
          <p:cNvPr id="66" name="Rectangle: Rounded Corners 65">
            <a:extLst>
              <a:ext uri="{FF2B5EF4-FFF2-40B4-BE49-F238E27FC236}">
                <a16:creationId xmlns:a16="http://schemas.microsoft.com/office/drawing/2014/main" id="{035B2634-BFAE-E45E-28FB-FD6F552911E4}"/>
              </a:ext>
            </a:extLst>
          </p:cNvPr>
          <p:cNvSpPr/>
          <p:nvPr/>
        </p:nvSpPr>
        <p:spPr>
          <a:xfrm>
            <a:off x="5207000" y="28956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Rounded Corners 66">
            <a:extLst>
              <a:ext uri="{FF2B5EF4-FFF2-40B4-BE49-F238E27FC236}">
                <a16:creationId xmlns:a16="http://schemas.microsoft.com/office/drawing/2014/main" id="{F3FA1076-997A-5447-A24D-18F8CC94FA79}"/>
              </a:ext>
            </a:extLst>
          </p:cNvPr>
          <p:cNvSpPr/>
          <p:nvPr/>
        </p:nvSpPr>
        <p:spPr>
          <a:xfrm>
            <a:off x="5651500" y="2895600"/>
            <a:ext cx="406400" cy="406400"/>
          </a:xfrm>
          <a:prstGeom prst="roundRect">
            <a:avLst/>
          </a:prstGeom>
          <a:solidFill>
            <a:srgbClr val="52D6D3"/>
          </a:solidFill>
          <a:ln>
            <a:solidFill>
              <a:srgbClr val="52D6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6B3F60DF-3219-16E5-C596-BC4A75D9C77C}"/>
              </a:ext>
            </a:extLst>
          </p:cNvPr>
          <p:cNvSpPr txBox="1"/>
          <p:nvPr/>
        </p:nvSpPr>
        <p:spPr>
          <a:xfrm>
            <a:off x="5664200" y="2921000"/>
            <a:ext cx="381000" cy="184666"/>
          </a:xfrm>
          <a:prstGeom prst="rect">
            <a:avLst/>
          </a:prstGeom>
          <a:noFill/>
        </p:spPr>
        <p:txBody>
          <a:bodyPr vert="horz" lIns="0" tIns="0" rIns="0" bIns="0" rtlCol="0">
            <a:spAutoFit/>
          </a:bodyPr>
          <a:lstStyle/>
          <a:p>
            <a:pPr algn="ctr"/>
            <a:r>
              <a:rPr lang="ro-RO" sz="1200">
                <a:solidFill>
                  <a:srgbClr val="0B1220"/>
                </a:solidFill>
                <a:latin typeface="Aptos" panose="020B0004020202020204" pitchFamily="34" charset="0"/>
              </a:rPr>
              <a:t>1</a:t>
            </a:r>
            <a:endParaRPr lang="ro-RO" sz="1200" dirty="0">
              <a:solidFill>
                <a:srgbClr val="0B1220"/>
              </a:solidFill>
              <a:latin typeface="Aptos" panose="020B0004020202020204" pitchFamily="34" charset="0"/>
            </a:endParaRPr>
          </a:p>
        </p:txBody>
      </p:sp>
      <p:sp>
        <p:nvSpPr>
          <p:cNvPr id="69" name="Rectangle: Rounded Corners 68">
            <a:extLst>
              <a:ext uri="{FF2B5EF4-FFF2-40B4-BE49-F238E27FC236}">
                <a16:creationId xmlns:a16="http://schemas.microsoft.com/office/drawing/2014/main" id="{F02ED2DD-2402-6852-7319-D9BD213000CB}"/>
              </a:ext>
            </a:extLst>
          </p:cNvPr>
          <p:cNvSpPr/>
          <p:nvPr/>
        </p:nvSpPr>
        <p:spPr>
          <a:xfrm>
            <a:off x="6096000" y="2895600"/>
            <a:ext cx="406400" cy="406400"/>
          </a:xfrm>
          <a:prstGeom prst="roundRect">
            <a:avLst/>
          </a:prstGeom>
          <a:solidFill>
            <a:srgbClr val="80E2B0"/>
          </a:solidFill>
          <a:ln>
            <a:solidFill>
              <a:srgbClr val="80E2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E39EEE32-7BC3-9232-6289-40B94D35ED8A}"/>
              </a:ext>
            </a:extLst>
          </p:cNvPr>
          <p:cNvSpPr txBox="1"/>
          <p:nvPr/>
        </p:nvSpPr>
        <p:spPr>
          <a:xfrm>
            <a:off x="6108700" y="2921000"/>
            <a:ext cx="381000" cy="184666"/>
          </a:xfrm>
          <a:prstGeom prst="rect">
            <a:avLst/>
          </a:prstGeom>
          <a:noFill/>
        </p:spPr>
        <p:txBody>
          <a:bodyPr vert="horz" lIns="0" tIns="0" rIns="0" bIns="0" rtlCol="0">
            <a:spAutoFit/>
          </a:bodyPr>
          <a:lstStyle/>
          <a:p>
            <a:pPr algn="ctr"/>
            <a:r>
              <a:rPr lang="ro-RO" sz="1200">
                <a:solidFill>
                  <a:srgbClr val="0B1220"/>
                </a:solidFill>
                <a:latin typeface="Aptos" panose="020B0004020202020204" pitchFamily="34" charset="0"/>
              </a:rPr>
              <a:t>2</a:t>
            </a:r>
            <a:endParaRPr lang="ro-RO" sz="1200" dirty="0">
              <a:solidFill>
                <a:srgbClr val="0B1220"/>
              </a:solidFill>
              <a:latin typeface="Aptos" panose="020B0004020202020204" pitchFamily="34" charset="0"/>
            </a:endParaRPr>
          </a:p>
        </p:txBody>
      </p:sp>
      <p:sp>
        <p:nvSpPr>
          <p:cNvPr id="71" name="Rectangle: Rounded Corners 70">
            <a:extLst>
              <a:ext uri="{FF2B5EF4-FFF2-40B4-BE49-F238E27FC236}">
                <a16:creationId xmlns:a16="http://schemas.microsoft.com/office/drawing/2014/main" id="{B7E3C94B-AC6C-F671-5C8E-4C06B3B81785}"/>
              </a:ext>
            </a:extLst>
          </p:cNvPr>
          <p:cNvSpPr/>
          <p:nvPr/>
        </p:nvSpPr>
        <p:spPr>
          <a:xfrm>
            <a:off x="6540500" y="2895600"/>
            <a:ext cx="406400" cy="406400"/>
          </a:xfrm>
          <a:prstGeom prst="roundRect">
            <a:avLst/>
          </a:prstGeom>
          <a:solidFill>
            <a:srgbClr val="80E2B0"/>
          </a:solidFill>
          <a:ln>
            <a:solidFill>
              <a:srgbClr val="80E2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F382DDF4-F140-7054-1653-95395C4C77AA}"/>
              </a:ext>
            </a:extLst>
          </p:cNvPr>
          <p:cNvSpPr txBox="1"/>
          <p:nvPr/>
        </p:nvSpPr>
        <p:spPr>
          <a:xfrm>
            <a:off x="6553200" y="2921000"/>
            <a:ext cx="381000" cy="184666"/>
          </a:xfrm>
          <a:prstGeom prst="rect">
            <a:avLst/>
          </a:prstGeom>
          <a:noFill/>
        </p:spPr>
        <p:txBody>
          <a:bodyPr vert="horz" lIns="0" tIns="0" rIns="0" bIns="0" rtlCol="0">
            <a:spAutoFit/>
          </a:bodyPr>
          <a:lstStyle/>
          <a:p>
            <a:pPr algn="ctr"/>
            <a:r>
              <a:rPr lang="ro-RO" sz="1200">
                <a:solidFill>
                  <a:srgbClr val="0B1220"/>
                </a:solidFill>
                <a:latin typeface="Aptos" panose="020B0004020202020204" pitchFamily="34" charset="0"/>
              </a:rPr>
              <a:t>2</a:t>
            </a:r>
            <a:endParaRPr lang="ro-RO" sz="1200" dirty="0">
              <a:solidFill>
                <a:srgbClr val="0B1220"/>
              </a:solidFill>
              <a:latin typeface="Aptos" panose="020B0004020202020204" pitchFamily="34" charset="0"/>
            </a:endParaRPr>
          </a:p>
        </p:txBody>
      </p:sp>
      <p:sp>
        <p:nvSpPr>
          <p:cNvPr id="73" name="Rectangle: Rounded Corners 72">
            <a:extLst>
              <a:ext uri="{FF2B5EF4-FFF2-40B4-BE49-F238E27FC236}">
                <a16:creationId xmlns:a16="http://schemas.microsoft.com/office/drawing/2014/main" id="{825F763B-187B-7CF9-A863-09790F9D6563}"/>
              </a:ext>
            </a:extLst>
          </p:cNvPr>
          <p:cNvSpPr/>
          <p:nvPr/>
        </p:nvSpPr>
        <p:spPr>
          <a:xfrm>
            <a:off x="5207000" y="33401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Rounded Corners 73">
            <a:extLst>
              <a:ext uri="{FF2B5EF4-FFF2-40B4-BE49-F238E27FC236}">
                <a16:creationId xmlns:a16="http://schemas.microsoft.com/office/drawing/2014/main" id="{22EBE49C-3D68-85B5-795E-DFA30DABC755}"/>
              </a:ext>
            </a:extLst>
          </p:cNvPr>
          <p:cNvSpPr/>
          <p:nvPr/>
        </p:nvSpPr>
        <p:spPr>
          <a:xfrm>
            <a:off x="5651500" y="33401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Rounded Corners 74">
            <a:extLst>
              <a:ext uri="{FF2B5EF4-FFF2-40B4-BE49-F238E27FC236}">
                <a16:creationId xmlns:a16="http://schemas.microsoft.com/office/drawing/2014/main" id="{4B04F331-6763-FCB3-F2EE-2DC61BC203DB}"/>
              </a:ext>
            </a:extLst>
          </p:cNvPr>
          <p:cNvSpPr/>
          <p:nvPr/>
        </p:nvSpPr>
        <p:spPr>
          <a:xfrm>
            <a:off x="6096000" y="33401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Rounded Corners 75">
            <a:extLst>
              <a:ext uri="{FF2B5EF4-FFF2-40B4-BE49-F238E27FC236}">
                <a16:creationId xmlns:a16="http://schemas.microsoft.com/office/drawing/2014/main" id="{B8DA7996-374C-ACDD-3188-7ABF1415312B}"/>
              </a:ext>
            </a:extLst>
          </p:cNvPr>
          <p:cNvSpPr/>
          <p:nvPr/>
        </p:nvSpPr>
        <p:spPr>
          <a:xfrm>
            <a:off x="6540500" y="3340100"/>
            <a:ext cx="406400" cy="406400"/>
          </a:xfrm>
          <a:prstGeom prst="roundRect">
            <a:avLst/>
          </a:prstGeom>
          <a:solidFill>
            <a:srgbClr val="80E2B0"/>
          </a:solidFill>
          <a:ln>
            <a:solidFill>
              <a:srgbClr val="80E2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E9C9F0A9-27FA-D4B5-BBAC-F85FB479981C}"/>
              </a:ext>
            </a:extLst>
          </p:cNvPr>
          <p:cNvSpPr txBox="1"/>
          <p:nvPr/>
        </p:nvSpPr>
        <p:spPr>
          <a:xfrm>
            <a:off x="6553200" y="3365500"/>
            <a:ext cx="381000" cy="184666"/>
          </a:xfrm>
          <a:prstGeom prst="rect">
            <a:avLst/>
          </a:prstGeom>
          <a:noFill/>
        </p:spPr>
        <p:txBody>
          <a:bodyPr vert="horz" lIns="0" tIns="0" rIns="0" bIns="0" rtlCol="0">
            <a:spAutoFit/>
          </a:bodyPr>
          <a:lstStyle/>
          <a:p>
            <a:pPr algn="ctr"/>
            <a:r>
              <a:rPr lang="ro-RO" sz="1200">
                <a:solidFill>
                  <a:srgbClr val="0B1220"/>
                </a:solidFill>
                <a:latin typeface="Aptos" panose="020B0004020202020204" pitchFamily="34" charset="0"/>
              </a:rPr>
              <a:t>2</a:t>
            </a:r>
            <a:endParaRPr lang="ro-RO" sz="1200" dirty="0">
              <a:solidFill>
                <a:srgbClr val="0B1220"/>
              </a:solidFill>
              <a:latin typeface="Aptos" panose="020B0004020202020204" pitchFamily="34" charset="0"/>
            </a:endParaRPr>
          </a:p>
        </p:txBody>
      </p:sp>
      <p:sp>
        <p:nvSpPr>
          <p:cNvPr id="78" name="Rectangle: Rounded Corners 77">
            <a:extLst>
              <a:ext uri="{FF2B5EF4-FFF2-40B4-BE49-F238E27FC236}">
                <a16:creationId xmlns:a16="http://schemas.microsoft.com/office/drawing/2014/main" id="{1201B569-AA0C-9481-B095-004BCB3FD6DC}"/>
              </a:ext>
            </a:extLst>
          </p:cNvPr>
          <p:cNvSpPr/>
          <p:nvPr/>
        </p:nvSpPr>
        <p:spPr>
          <a:xfrm>
            <a:off x="5207000" y="37846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Rounded Corners 78">
            <a:extLst>
              <a:ext uri="{FF2B5EF4-FFF2-40B4-BE49-F238E27FC236}">
                <a16:creationId xmlns:a16="http://schemas.microsoft.com/office/drawing/2014/main" id="{B6BFF2BD-51E1-78AF-0B32-95AE67DC7C91}"/>
              </a:ext>
            </a:extLst>
          </p:cNvPr>
          <p:cNvSpPr/>
          <p:nvPr/>
        </p:nvSpPr>
        <p:spPr>
          <a:xfrm>
            <a:off x="5651500" y="37846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Rounded Corners 79">
            <a:extLst>
              <a:ext uri="{FF2B5EF4-FFF2-40B4-BE49-F238E27FC236}">
                <a16:creationId xmlns:a16="http://schemas.microsoft.com/office/drawing/2014/main" id="{694410F8-38FA-B821-B0BF-A7EAECFD0110}"/>
              </a:ext>
            </a:extLst>
          </p:cNvPr>
          <p:cNvSpPr/>
          <p:nvPr/>
        </p:nvSpPr>
        <p:spPr>
          <a:xfrm>
            <a:off x="6096000" y="37846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Rounded Corners 80">
            <a:extLst>
              <a:ext uri="{FF2B5EF4-FFF2-40B4-BE49-F238E27FC236}">
                <a16:creationId xmlns:a16="http://schemas.microsoft.com/office/drawing/2014/main" id="{472E3F78-30FD-CFAD-C685-366A783F7157}"/>
              </a:ext>
            </a:extLst>
          </p:cNvPr>
          <p:cNvSpPr/>
          <p:nvPr/>
        </p:nvSpPr>
        <p:spPr>
          <a:xfrm>
            <a:off x="6540500" y="37846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a:extLst>
              <a:ext uri="{FF2B5EF4-FFF2-40B4-BE49-F238E27FC236}">
                <a16:creationId xmlns:a16="http://schemas.microsoft.com/office/drawing/2014/main" id="{90DC2F5D-BF2C-4B00-F330-66C9E16A1AD6}"/>
              </a:ext>
            </a:extLst>
          </p:cNvPr>
          <p:cNvSpPr txBox="1"/>
          <p:nvPr/>
        </p:nvSpPr>
        <p:spPr>
          <a:xfrm>
            <a:off x="4686300" y="4406900"/>
            <a:ext cx="3098800" cy="184666"/>
          </a:xfrm>
          <a:prstGeom prst="rect">
            <a:avLst/>
          </a:prstGeom>
          <a:noFill/>
        </p:spPr>
        <p:txBody>
          <a:bodyPr vert="horz" lIns="0" tIns="0" rIns="0" bIns="0" rtlCol="0">
            <a:spAutoFit/>
          </a:bodyPr>
          <a:lstStyle/>
          <a:p>
            <a:pPr algn="ctr"/>
            <a:r>
              <a:rPr lang="ro-RO" sz="1200">
                <a:solidFill>
                  <a:srgbClr val="B9C9DB"/>
                </a:solidFill>
                <a:latin typeface="Aptos" panose="020B0004020202020204" pitchFamily="34" charset="0"/>
              </a:rPr>
              <a:t>8 pixeli într-o măsurare</a:t>
            </a:r>
            <a:endParaRPr lang="ro-RO" sz="1200" dirty="0">
              <a:solidFill>
                <a:srgbClr val="B9C9DB"/>
              </a:solidFill>
              <a:latin typeface="Aptos" panose="020B0004020202020204" pitchFamily="34" charset="0"/>
            </a:endParaRPr>
          </a:p>
        </p:txBody>
      </p:sp>
      <p:sp>
        <p:nvSpPr>
          <p:cNvPr id="83" name="TextBox 82">
            <a:extLst>
              <a:ext uri="{FF2B5EF4-FFF2-40B4-BE49-F238E27FC236}">
                <a16:creationId xmlns:a16="http://schemas.microsoft.com/office/drawing/2014/main" id="{112A03A8-50A8-BC69-A0D7-CA8DDADBFC47}"/>
              </a:ext>
            </a:extLst>
          </p:cNvPr>
          <p:cNvSpPr txBox="1"/>
          <p:nvPr/>
        </p:nvSpPr>
        <p:spPr>
          <a:xfrm>
            <a:off x="7442200" y="3124200"/>
            <a:ext cx="558800" cy="523220"/>
          </a:xfrm>
          <a:prstGeom prst="rect">
            <a:avLst/>
          </a:prstGeom>
          <a:noFill/>
        </p:spPr>
        <p:txBody>
          <a:bodyPr vert="horz" lIns="0" tIns="0" rIns="0" bIns="0" rtlCol="0">
            <a:spAutoFit/>
          </a:bodyPr>
          <a:lstStyle/>
          <a:p>
            <a:pPr algn="ctr"/>
            <a:r>
              <a:rPr lang="ro-RO" sz="3400">
                <a:solidFill>
                  <a:srgbClr val="F4F7FB"/>
                </a:solidFill>
                <a:latin typeface="Aptos" panose="020B0004020202020204" pitchFamily="34" charset="0"/>
              </a:rPr>
              <a:t>+</a:t>
            </a:r>
            <a:endParaRPr lang="ro-RO" sz="3400" dirty="0">
              <a:solidFill>
                <a:srgbClr val="F4F7FB"/>
              </a:solidFill>
              <a:latin typeface="Aptos" panose="020B0004020202020204" pitchFamily="34" charset="0"/>
            </a:endParaRPr>
          </a:p>
        </p:txBody>
      </p:sp>
      <p:sp>
        <p:nvSpPr>
          <p:cNvPr id="84" name="TextBox 83">
            <a:extLst>
              <a:ext uri="{FF2B5EF4-FFF2-40B4-BE49-F238E27FC236}">
                <a16:creationId xmlns:a16="http://schemas.microsoft.com/office/drawing/2014/main" id="{86002DE7-FA6C-14D5-5B01-D498D09468AA}"/>
              </a:ext>
            </a:extLst>
          </p:cNvPr>
          <p:cNvSpPr txBox="1"/>
          <p:nvPr/>
        </p:nvSpPr>
        <p:spPr>
          <a:xfrm>
            <a:off x="8102600" y="1816100"/>
            <a:ext cx="3187700" cy="276999"/>
          </a:xfrm>
          <a:prstGeom prst="rect">
            <a:avLst/>
          </a:prstGeom>
          <a:noFill/>
        </p:spPr>
        <p:txBody>
          <a:bodyPr vert="horz" lIns="0" tIns="0" rIns="0" bIns="0" rtlCol="0">
            <a:spAutoFit/>
          </a:bodyPr>
          <a:lstStyle/>
          <a:p>
            <a:r>
              <a:rPr lang="ro-RO">
                <a:solidFill>
                  <a:srgbClr val="FFC870"/>
                </a:solidFill>
                <a:latin typeface="Aptos" panose="020B0004020202020204" pitchFamily="34" charset="0"/>
              </a:rPr>
              <a:t>Masca B = T3 + T4</a:t>
            </a:r>
            <a:endParaRPr lang="ro-RO" dirty="0">
              <a:solidFill>
                <a:srgbClr val="FFC870"/>
              </a:solidFill>
              <a:latin typeface="Aptos" panose="020B0004020202020204" pitchFamily="34" charset="0"/>
            </a:endParaRPr>
          </a:p>
        </p:txBody>
      </p:sp>
      <p:sp>
        <p:nvSpPr>
          <p:cNvPr id="85" name="Rectangle: Rounded Corners 84">
            <a:extLst>
              <a:ext uri="{FF2B5EF4-FFF2-40B4-BE49-F238E27FC236}">
                <a16:creationId xmlns:a16="http://schemas.microsoft.com/office/drawing/2014/main" id="{176BD042-935D-CF45-3D79-56AF94F2B1E4}"/>
              </a:ext>
            </a:extLst>
          </p:cNvPr>
          <p:cNvSpPr/>
          <p:nvPr/>
        </p:nvSpPr>
        <p:spPr>
          <a:xfrm>
            <a:off x="8661400" y="24511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Rounded Corners 85">
            <a:extLst>
              <a:ext uri="{FF2B5EF4-FFF2-40B4-BE49-F238E27FC236}">
                <a16:creationId xmlns:a16="http://schemas.microsoft.com/office/drawing/2014/main" id="{4E08277A-F3E1-71DA-3C8F-BCBFD9714170}"/>
              </a:ext>
            </a:extLst>
          </p:cNvPr>
          <p:cNvSpPr/>
          <p:nvPr/>
        </p:nvSpPr>
        <p:spPr>
          <a:xfrm>
            <a:off x="9105900" y="24511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Rounded Corners 86">
            <a:extLst>
              <a:ext uri="{FF2B5EF4-FFF2-40B4-BE49-F238E27FC236}">
                <a16:creationId xmlns:a16="http://schemas.microsoft.com/office/drawing/2014/main" id="{DD3EEC7A-7AE5-1594-07C7-64509E9B49F4}"/>
              </a:ext>
            </a:extLst>
          </p:cNvPr>
          <p:cNvSpPr/>
          <p:nvPr/>
        </p:nvSpPr>
        <p:spPr>
          <a:xfrm>
            <a:off x="9550400" y="24511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Rounded Corners 87">
            <a:extLst>
              <a:ext uri="{FF2B5EF4-FFF2-40B4-BE49-F238E27FC236}">
                <a16:creationId xmlns:a16="http://schemas.microsoft.com/office/drawing/2014/main" id="{25B3DF3B-DF40-24E2-9380-0231D33D4021}"/>
              </a:ext>
            </a:extLst>
          </p:cNvPr>
          <p:cNvSpPr/>
          <p:nvPr/>
        </p:nvSpPr>
        <p:spPr>
          <a:xfrm>
            <a:off x="9994900" y="24511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Rounded Corners 88">
            <a:extLst>
              <a:ext uri="{FF2B5EF4-FFF2-40B4-BE49-F238E27FC236}">
                <a16:creationId xmlns:a16="http://schemas.microsoft.com/office/drawing/2014/main" id="{2A4543A2-9E53-661A-68B9-89090B9461EC}"/>
              </a:ext>
            </a:extLst>
          </p:cNvPr>
          <p:cNvSpPr/>
          <p:nvPr/>
        </p:nvSpPr>
        <p:spPr>
          <a:xfrm>
            <a:off x="8661400" y="2895600"/>
            <a:ext cx="406400" cy="406400"/>
          </a:xfrm>
          <a:prstGeom prst="roundRect">
            <a:avLst/>
          </a:prstGeom>
          <a:solidFill>
            <a:srgbClr val="FFC870"/>
          </a:solidFill>
          <a:ln>
            <a:solidFill>
              <a:srgbClr val="FFC8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xtBox 89">
            <a:extLst>
              <a:ext uri="{FF2B5EF4-FFF2-40B4-BE49-F238E27FC236}">
                <a16:creationId xmlns:a16="http://schemas.microsoft.com/office/drawing/2014/main" id="{2965014C-14C5-62D3-7BF0-639B07785EE9}"/>
              </a:ext>
            </a:extLst>
          </p:cNvPr>
          <p:cNvSpPr txBox="1"/>
          <p:nvPr/>
        </p:nvSpPr>
        <p:spPr>
          <a:xfrm>
            <a:off x="8674100" y="2921000"/>
            <a:ext cx="381000" cy="184666"/>
          </a:xfrm>
          <a:prstGeom prst="rect">
            <a:avLst/>
          </a:prstGeom>
          <a:noFill/>
        </p:spPr>
        <p:txBody>
          <a:bodyPr vert="horz" lIns="0" tIns="0" rIns="0" bIns="0" rtlCol="0">
            <a:spAutoFit/>
          </a:bodyPr>
          <a:lstStyle/>
          <a:p>
            <a:pPr algn="ctr"/>
            <a:r>
              <a:rPr lang="ro-RO" sz="1200">
                <a:solidFill>
                  <a:srgbClr val="0B1220"/>
                </a:solidFill>
                <a:latin typeface="Aptos" panose="020B0004020202020204" pitchFamily="34" charset="0"/>
              </a:rPr>
              <a:t>3</a:t>
            </a:r>
            <a:endParaRPr lang="ro-RO" sz="1200" dirty="0">
              <a:solidFill>
                <a:srgbClr val="0B1220"/>
              </a:solidFill>
              <a:latin typeface="Aptos" panose="020B0004020202020204" pitchFamily="34" charset="0"/>
            </a:endParaRPr>
          </a:p>
        </p:txBody>
      </p:sp>
      <p:sp>
        <p:nvSpPr>
          <p:cNvPr id="91" name="Rectangle: Rounded Corners 90">
            <a:extLst>
              <a:ext uri="{FF2B5EF4-FFF2-40B4-BE49-F238E27FC236}">
                <a16:creationId xmlns:a16="http://schemas.microsoft.com/office/drawing/2014/main" id="{78D06E5E-B2B2-EF7D-85FE-61DD9346F459}"/>
              </a:ext>
            </a:extLst>
          </p:cNvPr>
          <p:cNvSpPr/>
          <p:nvPr/>
        </p:nvSpPr>
        <p:spPr>
          <a:xfrm>
            <a:off x="9105900" y="28956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Rounded Corners 91">
            <a:extLst>
              <a:ext uri="{FF2B5EF4-FFF2-40B4-BE49-F238E27FC236}">
                <a16:creationId xmlns:a16="http://schemas.microsoft.com/office/drawing/2014/main" id="{CD39AB6A-C89C-4AB3-7A00-956806BC2B16}"/>
              </a:ext>
            </a:extLst>
          </p:cNvPr>
          <p:cNvSpPr/>
          <p:nvPr/>
        </p:nvSpPr>
        <p:spPr>
          <a:xfrm>
            <a:off x="9550400" y="28956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Rounded Corners 92">
            <a:extLst>
              <a:ext uri="{FF2B5EF4-FFF2-40B4-BE49-F238E27FC236}">
                <a16:creationId xmlns:a16="http://schemas.microsoft.com/office/drawing/2014/main" id="{853AD88A-5C51-5D97-CC14-8D7B64BA5378}"/>
              </a:ext>
            </a:extLst>
          </p:cNvPr>
          <p:cNvSpPr/>
          <p:nvPr/>
        </p:nvSpPr>
        <p:spPr>
          <a:xfrm>
            <a:off x="9994900" y="28956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Rounded Corners 93">
            <a:extLst>
              <a:ext uri="{FF2B5EF4-FFF2-40B4-BE49-F238E27FC236}">
                <a16:creationId xmlns:a16="http://schemas.microsoft.com/office/drawing/2014/main" id="{0F5640A4-2749-533D-D513-B808F98C4144}"/>
              </a:ext>
            </a:extLst>
          </p:cNvPr>
          <p:cNvSpPr/>
          <p:nvPr/>
        </p:nvSpPr>
        <p:spPr>
          <a:xfrm>
            <a:off x="8661400" y="3340100"/>
            <a:ext cx="406400" cy="406400"/>
          </a:xfrm>
          <a:prstGeom prst="roundRect">
            <a:avLst/>
          </a:prstGeom>
          <a:solidFill>
            <a:srgbClr val="FFC870"/>
          </a:solidFill>
          <a:ln>
            <a:solidFill>
              <a:srgbClr val="FFC8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TextBox 94">
            <a:extLst>
              <a:ext uri="{FF2B5EF4-FFF2-40B4-BE49-F238E27FC236}">
                <a16:creationId xmlns:a16="http://schemas.microsoft.com/office/drawing/2014/main" id="{763BE610-8218-CD42-16B3-71B1D67977B2}"/>
              </a:ext>
            </a:extLst>
          </p:cNvPr>
          <p:cNvSpPr txBox="1"/>
          <p:nvPr/>
        </p:nvSpPr>
        <p:spPr>
          <a:xfrm>
            <a:off x="8674100" y="3365500"/>
            <a:ext cx="381000" cy="184666"/>
          </a:xfrm>
          <a:prstGeom prst="rect">
            <a:avLst/>
          </a:prstGeom>
          <a:noFill/>
        </p:spPr>
        <p:txBody>
          <a:bodyPr vert="horz" lIns="0" tIns="0" rIns="0" bIns="0" rtlCol="0">
            <a:spAutoFit/>
          </a:bodyPr>
          <a:lstStyle/>
          <a:p>
            <a:pPr algn="ctr"/>
            <a:r>
              <a:rPr lang="ro-RO" sz="1200">
                <a:solidFill>
                  <a:srgbClr val="0B1220"/>
                </a:solidFill>
                <a:latin typeface="Aptos" panose="020B0004020202020204" pitchFamily="34" charset="0"/>
              </a:rPr>
              <a:t>3</a:t>
            </a:r>
            <a:endParaRPr lang="ro-RO" sz="1200" dirty="0">
              <a:solidFill>
                <a:srgbClr val="0B1220"/>
              </a:solidFill>
              <a:latin typeface="Aptos" panose="020B0004020202020204" pitchFamily="34" charset="0"/>
            </a:endParaRPr>
          </a:p>
        </p:txBody>
      </p:sp>
      <p:sp>
        <p:nvSpPr>
          <p:cNvPr id="96" name="Rectangle: Rounded Corners 95">
            <a:extLst>
              <a:ext uri="{FF2B5EF4-FFF2-40B4-BE49-F238E27FC236}">
                <a16:creationId xmlns:a16="http://schemas.microsoft.com/office/drawing/2014/main" id="{DBCE78B1-7A9B-80AD-873C-3465DC374F80}"/>
              </a:ext>
            </a:extLst>
          </p:cNvPr>
          <p:cNvSpPr/>
          <p:nvPr/>
        </p:nvSpPr>
        <p:spPr>
          <a:xfrm>
            <a:off x="9105900" y="3340100"/>
            <a:ext cx="406400" cy="406400"/>
          </a:xfrm>
          <a:prstGeom prst="roundRect">
            <a:avLst/>
          </a:prstGeom>
          <a:solidFill>
            <a:srgbClr val="FFC870"/>
          </a:solidFill>
          <a:ln>
            <a:solidFill>
              <a:srgbClr val="FFC8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TextBox 96">
            <a:extLst>
              <a:ext uri="{FF2B5EF4-FFF2-40B4-BE49-F238E27FC236}">
                <a16:creationId xmlns:a16="http://schemas.microsoft.com/office/drawing/2014/main" id="{45D75207-076A-8F53-7E11-2EAD739852FB}"/>
              </a:ext>
            </a:extLst>
          </p:cNvPr>
          <p:cNvSpPr txBox="1"/>
          <p:nvPr/>
        </p:nvSpPr>
        <p:spPr>
          <a:xfrm>
            <a:off x="9118600" y="3365500"/>
            <a:ext cx="381000" cy="184666"/>
          </a:xfrm>
          <a:prstGeom prst="rect">
            <a:avLst/>
          </a:prstGeom>
          <a:noFill/>
        </p:spPr>
        <p:txBody>
          <a:bodyPr vert="horz" lIns="0" tIns="0" rIns="0" bIns="0" rtlCol="0">
            <a:spAutoFit/>
          </a:bodyPr>
          <a:lstStyle/>
          <a:p>
            <a:pPr algn="ctr"/>
            <a:r>
              <a:rPr lang="ro-RO" sz="1200">
                <a:solidFill>
                  <a:srgbClr val="0B1220"/>
                </a:solidFill>
                <a:latin typeface="Aptos" panose="020B0004020202020204" pitchFamily="34" charset="0"/>
              </a:rPr>
              <a:t>3</a:t>
            </a:r>
            <a:endParaRPr lang="ro-RO" sz="1200" dirty="0">
              <a:solidFill>
                <a:srgbClr val="0B1220"/>
              </a:solidFill>
              <a:latin typeface="Aptos" panose="020B0004020202020204" pitchFamily="34" charset="0"/>
            </a:endParaRPr>
          </a:p>
        </p:txBody>
      </p:sp>
      <p:sp>
        <p:nvSpPr>
          <p:cNvPr id="98" name="Rectangle: Rounded Corners 97">
            <a:extLst>
              <a:ext uri="{FF2B5EF4-FFF2-40B4-BE49-F238E27FC236}">
                <a16:creationId xmlns:a16="http://schemas.microsoft.com/office/drawing/2014/main" id="{DC4D52CA-F3AF-EA67-CEC1-C48EADA1B66A}"/>
              </a:ext>
            </a:extLst>
          </p:cNvPr>
          <p:cNvSpPr/>
          <p:nvPr/>
        </p:nvSpPr>
        <p:spPr>
          <a:xfrm>
            <a:off x="9550400" y="3340100"/>
            <a:ext cx="406400" cy="406400"/>
          </a:xfrm>
          <a:prstGeom prst="roundRect">
            <a:avLst/>
          </a:prstGeom>
          <a:solidFill>
            <a:srgbClr val="FF9C95"/>
          </a:solidFill>
          <a:ln>
            <a:solidFill>
              <a:srgbClr val="FF9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TextBox 98">
            <a:extLst>
              <a:ext uri="{FF2B5EF4-FFF2-40B4-BE49-F238E27FC236}">
                <a16:creationId xmlns:a16="http://schemas.microsoft.com/office/drawing/2014/main" id="{5824CCE0-0464-475B-FB84-5BD64E94105A}"/>
              </a:ext>
            </a:extLst>
          </p:cNvPr>
          <p:cNvSpPr txBox="1"/>
          <p:nvPr/>
        </p:nvSpPr>
        <p:spPr>
          <a:xfrm>
            <a:off x="9563100" y="3365500"/>
            <a:ext cx="381000" cy="184666"/>
          </a:xfrm>
          <a:prstGeom prst="rect">
            <a:avLst/>
          </a:prstGeom>
          <a:noFill/>
        </p:spPr>
        <p:txBody>
          <a:bodyPr vert="horz" lIns="0" tIns="0" rIns="0" bIns="0" rtlCol="0">
            <a:spAutoFit/>
          </a:bodyPr>
          <a:lstStyle/>
          <a:p>
            <a:pPr algn="ctr"/>
            <a:r>
              <a:rPr lang="ro-RO" sz="1200">
                <a:solidFill>
                  <a:srgbClr val="0B1220"/>
                </a:solidFill>
                <a:latin typeface="Aptos" panose="020B0004020202020204" pitchFamily="34" charset="0"/>
              </a:rPr>
              <a:t>4</a:t>
            </a:r>
            <a:endParaRPr lang="ro-RO" sz="1200" dirty="0">
              <a:solidFill>
                <a:srgbClr val="0B1220"/>
              </a:solidFill>
              <a:latin typeface="Aptos" panose="020B0004020202020204" pitchFamily="34" charset="0"/>
            </a:endParaRPr>
          </a:p>
        </p:txBody>
      </p:sp>
      <p:sp>
        <p:nvSpPr>
          <p:cNvPr id="100" name="Rectangle: Rounded Corners 99">
            <a:extLst>
              <a:ext uri="{FF2B5EF4-FFF2-40B4-BE49-F238E27FC236}">
                <a16:creationId xmlns:a16="http://schemas.microsoft.com/office/drawing/2014/main" id="{218F2749-6C53-59EB-E89F-7C38916F881C}"/>
              </a:ext>
            </a:extLst>
          </p:cNvPr>
          <p:cNvSpPr/>
          <p:nvPr/>
        </p:nvSpPr>
        <p:spPr>
          <a:xfrm>
            <a:off x="9994900" y="3340100"/>
            <a:ext cx="406400" cy="406400"/>
          </a:xfrm>
          <a:prstGeom prst="roundRect">
            <a:avLst/>
          </a:prstGeom>
          <a:solidFill>
            <a:srgbClr val="203246"/>
          </a:solidFill>
          <a:ln>
            <a:solidFill>
              <a:srgbClr val="2032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Rounded Corners 100">
            <a:extLst>
              <a:ext uri="{FF2B5EF4-FFF2-40B4-BE49-F238E27FC236}">
                <a16:creationId xmlns:a16="http://schemas.microsoft.com/office/drawing/2014/main" id="{88179949-4C8A-E558-8AAA-A6BED9FAFB1B}"/>
              </a:ext>
            </a:extLst>
          </p:cNvPr>
          <p:cNvSpPr/>
          <p:nvPr/>
        </p:nvSpPr>
        <p:spPr>
          <a:xfrm>
            <a:off x="8661400" y="3784600"/>
            <a:ext cx="406400" cy="406400"/>
          </a:xfrm>
          <a:prstGeom prst="roundRect">
            <a:avLst/>
          </a:prstGeom>
          <a:solidFill>
            <a:srgbClr val="FFC870"/>
          </a:solidFill>
          <a:ln>
            <a:solidFill>
              <a:srgbClr val="FFC8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TextBox 101">
            <a:extLst>
              <a:ext uri="{FF2B5EF4-FFF2-40B4-BE49-F238E27FC236}">
                <a16:creationId xmlns:a16="http://schemas.microsoft.com/office/drawing/2014/main" id="{4E6B2189-B649-4269-F550-152E264874BE}"/>
              </a:ext>
            </a:extLst>
          </p:cNvPr>
          <p:cNvSpPr txBox="1"/>
          <p:nvPr/>
        </p:nvSpPr>
        <p:spPr>
          <a:xfrm>
            <a:off x="8674100" y="3810000"/>
            <a:ext cx="381000" cy="184666"/>
          </a:xfrm>
          <a:prstGeom prst="rect">
            <a:avLst/>
          </a:prstGeom>
          <a:noFill/>
        </p:spPr>
        <p:txBody>
          <a:bodyPr vert="horz" lIns="0" tIns="0" rIns="0" bIns="0" rtlCol="0">
            <a:spAutoFit/>
          </a:bodyPr>
          <a:lstStyle/>
          <a:p>
            <a:pPr algn="ctr"/>
            <a:r>
              <a:rPr lang="ro-RO" sz="1200">
                <a:solidFill>
                  <a:srgbClr val="0B1220"/>
                </a:solidFill>
                <a:latin typeface="Aptos" panose="020B0004020202020204" pitchFamily="34" charset="0"/>
              </a:rPr>
              <a:t>3</a:t>
            </a:r>
            <a:endParaRPr lang="ro-RO" sz="1200" dirty="0">
              <a:solidFill>
                <a:srgbClr val="0B1220"/>
              </a:solidFill>
              <a:latin typeface="Aptos" panose="020B0004020202020204" pitchFamily="34" charset="0"/>
            </a:endParaRPr>
          </a:p>
        </p:txBody>
      </p:sp>
      <p:sp>
        <p:nvSpPr>
          <p:cNvPr id="103" name="Rectangle: Rounded Corners 102">
            <a:extLst>
              <a:ext uri="{FF2B5EF4-FFF2-40B4-BE49-F238E27FC236}">
                <a16:creationId xmlns:a16="http://schemas.microsoft.com/office/drawing/2014/main" id="{0EBD5354-DB72-1CDE-DA97-4BF36F0B5694}"/>
              </a:ext>
            </a:extLst>
          </p:cNvPr>
          <p:cNvSpPr/>
          <p:nvPr/>
        </p:nvSpPr>
        <p:spPr>
          <a:xfrm>
            <a:off x="9105900" y="3784600"/>
            <a:ext cx="406400" cy="406400"/>
          </a:xfrm>
          <a:prstGeom prst="roundRect">
            <a:avLst/>
          </a:prstGeom>
          <a:solidFill>
            <a:srgbClr val="FF9C95"/>
          </a:solidFill>
          <a:ln>
            <a:solidFill>
              <a:srgbClr val="FF9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TextBox 103">
            <a:extLst>
              <a:ext uri="{FF2B5EF4-FFF2-40B4-BE49-F238E27FC236}">
                <a16:creationId xmlns:a16="http://schemas.microsoft.com/office/drawing/2014/main" id="{265A4D74-5FC2-4D91-0BAF-5AEF2BA9FBDD}"/>
              </a:ext>
            </a:extLst>
          </p:cNvPr>
          <p:cNvSpPr txBox="1"/>
          <p:nvPr/>
        </p:nvSpPr>
        <p:spPr>
          <a:xfrm>
            <a:off x="9118600" y="3810000"/>
            <a:ext cx="381000" cy="184666"/>
          </a:xfrm>
          <a:prstGeom prst="rect">
            <a:avLst/>
          </a:prstGeom>
          <a:noFill/>
        </p:spPr>
        <p:txBody>
          <a:bodyPr vert="horz" lIns="0" tIns="0" rIns="0" bIns="0" rtlCol="0">
            <a:spAutoFit/>
          </a:bodyPr>
          <a:lstStyle/>
          <a:p>
            <a:pPr algn="ctr"/>
            <a:r>
              <a:rPr lang="ro-RO" sz="1200">
                <a:solidFill>
                  <a:srgbClr val="0B1220"/>
                </a:solidFill>
                <a:latin typeface="Aptos" panose="020B0004020202020204" pitchFamily="34" charset="0"/>
              </a:rPr>
              <a:t>4</a:t>
            </a:r>
            <a:endParaRPr lang="ro-RO" sz="1200" dirty="0">
              <a:solidFill>
                <a:srgbClr val="0B1220"/>
              </a:solidFill>
              <a:latin typeface="Aptos" panose="020B0004020202020204" pitchFamily="34" charset="0"/>
            </a:endParaRPr>
          </a:p>
        </p:txBody>
      </p:sp>
      <p:sp>
        <p:nvSpPr>
          <p:cNvPr id="105" name="Rectangle: Rounded Corners 104">
            <a:extLst>
              <a:ext uri="{FF2B5EF4-FFF2-40B4-BE49-F238E27FC236}">
                <a16:creationId xmlns:a16="http://schemas.microsoft.com/office/drawing/2014/main" id="{68F72C40-7F96-E207-6435-1E35171E7611}"/>
              </a:ext>
            </a:extLst>
          </p:cNvPr>
          <p:cNvSpPr/>
          <p:nvPr/>
        </p:nvSpPr>
        <p:spPr>
          <a:xfrm>
            <a:off x="9550400" y="3784600"/>
            <a:ext cx="406400" cy="406400"/>
          </a:xfrm>
          <a:prstGeom prst="roundRect">
            <a:avLst/>
          </a:prstGeom>
          <a:solidFill>
            <a:srgbClr val="FF9C95"/>
          </a:solidFill>
          <a:ln>
            <a:solidFill>
              <a:srgbClr val="FF9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TextBox 105">
            <a:extLst>
              <a:ext uri="{FF2B5EF4-FFF2-40B4-BE49-F238E27FC236}">
                <a16:creationId xmlns:a16="http://schemas.microsoft.com/office/drawing/2014/main" id="{3877D063-6AD5-F5D2-07ED-89741956B132}"/>
              </a:ext>
            </a:extLst>
          </p:cNvPr>
          <p:cNvSpPr txBox="1"/>
          <p:nvPr/>
        </p:nvSpPr>
        <p:spPr>
          <a:xfrm>
            <a:off x="9563100" y="3810000"/>
            <a:ext cx="381000" cy="184666"/>
          </a:xfrm>
          <a:prstGeom prst="rect">
            <a:avLst/>
          </a:prstGeom>
          <a:noFill/>
        </p:spPr>
        <p:txBody>
          <a:bodyPr vert="horz" lIns="0" tIns="0" rIns="0" bIns="0" rtlCol="0">
            <a:spAutoFit/>
          </a:bodyPr>
          <a:lstStyle/>
          <a:p>
            <a:pPr algn="ctr"/>
            <a:r>
              <a:rPr lang="ro-RO" sz="1200">
                <a:solidFill>
                  <a:srgbClr val="0B1220"/>
                </a:solidFill>
                <a:latin typeface="Aptos" panose="020B0004020202020204" pitchFamily="34" charset="0"/>
              </a:rPr>
              <a:t>4</a:t>
            </a:r>
            <a:endParaRPr lang="ro-RO" sz="1200" dirty="0">
              <a:solidFill>
                <a:srgbClr val="0B1220"/>
              </a:solidFill>
              <a:latin typeface="Aptos" panose="020B0004020202020204" pitchFamily="34" charset="0"/>
            </a:endParaRPr>
          </a:p>
        </p:txBody>
      </p:sp>
      <p:sp>
        <p:nvSpPr>
          <p:cNvPr id="107" name="Rectangle: Rounded Corners 106">
            <a:extLst>
              <a:ext uri="{FF2B5EF4-FFF2-40B4-BE49-F238E27FC236}">
                <a16:creationId xmlns:a16="http://schemas.microsoft.com/office/drawing/2014/main" id="{8B99C73A-1EF0-9CB1-AFE0-FB85ADC67A34}"/>
              </a:ext>
            </a:extLst>
          </p:cNvPr>
          <p:cNvSpPr/>
          <p:nvPr/>
        </p:nvSpPr>
        <p:spPr>
          <a:xfrm>
            <a:off x="9994900" y="3784600"/>
            <a:ext cx="406400" cy="406400"/>
          </a:xfrm>
          <a:prstGeom prst="roundRect">
            <a:avLst/>
          </a:prstGeom>
          <a:solidFill>
            <a:srgbClr val="FF9C95"/>
          </a:solidFill>
          <a:ln>
            <a:solidFill>
              <a:srgbClr val="FF9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TextBox 107">
            <a:extLst>
              <a:ext uri="{FF2B5EF4-FFF2-40B4-BE49-F238E27FC236}">
                <a16:creationId xmlns:a16="http://schemas.microsoft.com/office/drawing/2014/main" id="{4DE239C7-D010-3307-AD70-E0A2BC91399F}"/>
              </a:ext>
            </a:extLst>
          </p:cNvPr>
          <p:cNvSpPr txBox="1"/>
          <p:nvPr/>
        </p:nvSpPr>
        <p:spPr>
          <a:xfrm>
            <a:off x="10007600" y="3810000"/>
            <a:ext cx="381000" cy="184666"/>
          </a:xfrm>
          <a:prstGeom prst="rect">
            <a:avLst/>
          </a:prstGeom>
          <a:noFill/>
        </p:spPr>
        <p:txBody>
          <a:bodyPr vert="horz" lIns="0" tIns="0" rIns="0" bIns="0" rtlCol="0">
            <a:spAutoFit/>
          </a:bodyPr>
          <a:lstStyle/>
          <a:p>
            <a:pPr algn="ctr"/>
            <a:r>
              <a:rPr lang="ro-RO" sz="1200">
                <a:solidFill>
                  <a:srgbClr val="0B1220"/>
                </a:solidFill>
                <a:latin typeface="Aptos" panose="020B0004020202020204" pitchFamily="34" charset="0"/>
              </a:rPr>
              <a:t>4</a:t>
            </a:r>
            <a:endParaRPr lang="ro-RO" sz="1200" dirty="0">
              <a:solidFill>
                <a:srgbClr val="0B1220"/>
              </a:solidFill>
              <a:latin typeface="Aptos" panose="020B0004020202020204" pitchFamily="34" charset="0"/>
            </a:endParaRPr>
          </a:p>
        </p:txBody>
      </p:sp>
      <p:sp>
        <p:nvSpPr>
          <p:cNvPr id="109" name="TextBox 108">
            <a:extLst>
              <a:ext uri="{FF2B5EF4-FFF2-40B4-BE49-F238E27FC236}">
                <a16:creationId xmlns:a16="http://schemas.microsoft.com/office/drawing/2014/main" id="{09B0840B-B006-18C3-CF16-9C4FEB824570}"/>
              </a:ext>
            </a:extLst>
          </p:cNvPr>
          <p:cNvSpPr txBox="1"/>
          <p:nvPr/>
        </p:nvSpPr>
        <p:spPr>
          <a:xfrm>
            <a:off x="8026400" y="4406900"/>
            <a:ext cx="3238500" cy="184666"/>
          </a:xfrm>
          <a:prstGeom prst="rect">
            <a:avLst/>
          </a:prstGeom>
          <a:noFill/>
        </p:spPr>
        <p:txBody>
          <a:bodyPr vert="horz" lIns="0" tIns="0" rIns="0" bIns="0" rtlCol="0">
            <a:spAutoFit/>
          </a:bodyPr>
          <a:lstStyle/>
          <a:p>
            <a:pPr algn="ctr"/>
            <a:r>
              <a:rPr lang="ro-RO" sz="1200">
                <a:solidFill>
                  <a:srgbClr val="B9C9DB"/>
                </a:solidFill>
                <a:latin typeface="Aptos" panose="020B0004020202020204" pitchFamily="34" charset="0"/>
              </a:rPr>
              <a:t>Alți 8 pixeli, fără suprapunere</a:t>
            </a:r>
            <a:endParaRPr lang="ro-RO" sz="1200" dirty="0">
              <a:solidFill>
                <a:srgbClr val="B9C9DB"/>
              </a:solidFill>
              <a:latin typeface="Aptos" panose="020B0004020202020204" pitchFamily="34" charset="0"/>
            </a:endParaRPr>
          </a:p>
        </p:txBody>
      </p:sp>
      <p:sp xmlns:p="http://schemas.openxmlformats.org/presentationml/2006/main">
        <p:nvSpPr>
          <p:cNvPr id="110" name="Slide number"/>
          <p:cNvSpPr/>
          <p:nvPr/>
        </p:nvSpPr>
        <p:spPr>
          <a:xfrm xmlns:a="http://schemas.openxmlformats.org/drawingml/2006/main">
            <a:off x="11009376" y="6492240"/>
            <a:ext cx="475488" cy="228600"/>
          </a:xfrm>
          <a:prstGeom xmlns:a="http://schemas.openxmlformats.org/drawingml/2006/main" prst="rect">
            <a:avLst/>
          </a:prstGeom>
          <a:noFill xmlns:a="http://schemas.openxmlformats.org/drawingml/2006/main"/>
          <a:ln xmlns:a="http://schemas.openxmlformats.org/drawingml/2006/main"/>
        </p:spPr>
        <p:txBody>
          <a:bodyPr xmlns:a="http://schemas.openxmlformats.org/drawingml/2006/main" wrap="square" lIns="0" tIns="0" rIns="0" bIns="0" rtlCol="0" anchor="ctr"/>
          <a:lstStyle xmlns:a="http://schemas.openxmlformats.org/drawingml/2006/main"/>
          <a:p xmlns:a="http://schemas.openxmlformats.org/drawingml/2006/main">
            <a:pPr marL="0" indent="0" algn="r">
              <a:buNone/>
            </a:pPr>
            <a:r>
              <a:rPr lang="ro-RO" sz="1000" b="1">
                <a:solidFill>
                  <a:srgbClr val="52D6D3"/>
                </a:solidFill>
                <a:latin typeface="Aptos" pitchFamily="34" charset="0"/>
                <a:ea typeface="Aptos" pitchFamily="34" charset="-122"/>
                <a:cs typeface="Aptos" pitchFamily="34" charset="-120"/>
              </a:rPr>
              <a:t>10</a:t>
            </a:r>
            <a:endParaRPr lang="ro-RO" sz="1000" dirty="0"/>
          </a:p>
        </p:txBody>
      </p:sp>
    </p:spTree>
    <p:extLst>
      <p:ext uri="{BB962C8B-B14F-4D97-AF65-F5344CB8AC3E}">
        <p14:creationId xmlns:p14="http://schemas.microsoft.com/office/powerpoint/2010/main" val="1997056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0B1220"/>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CAE3CE0C-A788-B2BC-C2E7-D6F2BEDCD6E7}"/>
              </a:ext>
            </a:extLst>
          </p:cNvPr>
          <p:cNvSpPr txBox="1"/>
          <p:nvPr/>
        </p:nvSpPr>
        <p:spPr>
          <a:xfrm>
            <a:off x="571500" y="330200"/>
            <a:ext cx="11049000" cy="276999"/>
          </a:xfrm>
          <a:prstGeom prst="rect">
            <a:avLst/>
          </a:prstGeom>
          <a:noFill/>
        </p:spPr>
        <p:txBody>
          <a:bodyPr vert="horz" wrap="square" lIns="0" tIns="0" rIns="0" bIns="0" rtlCol="0">
            <a:noAutofit/>
          </a:bodyPr>
          <a:lstStyle/>
          <a:p>
            <a:pPr>
              <a:spcAft>
                <a:spcPts val="400"/>
              </a:spcAft>
            </a:pPr>
            <a:r>
              <a:rPr lang="ro-RO" sz="2800" b="1">
                <a:solidFill>
                  <a:srgbClr val="F4F7FB"/>
                </a:solidFill>
                <a:latin typeface="Aptos" panose="020B0004020202020204" pitchFamily="34" charset="0"/>
              </a:rPr>
              <a:t>Ce testează articolul? Două experimente</a:t>
            </a:r>
            <a:endParaRPr lang="ro-RO" sz="2800" b="1" dirty="0">
              <a:solidFill>
                <a:srgbClr val="F4F7FB"/>
              </a:solidFill>
              <a:latin typeface="Aptos" panose="020B0004020202020204" pitchFamily="34" charset="0"/>
            </a:endParaRPr>
          </a:p>
        </p:txBody>
      </p:sp>
      <p:sp>
        <p:nvSpPr>
          <p:cNvPr id="24" name="Subtitle">
            <a:extLst>
              <a:ext uri="{FF2B5EF4-FFF2-40B4-BE49-F238E27FC236}">
                <a16:creationId xmlns:a16="http://schemas.microsoft.com/office/drawing/2014/main" id="{DE09C693-B9C2-1F75-57A7-370A62066EEC}"/>
              </a:ext>
            </a:extLst>
          </p:cNvPr>
          <p:cNvSpPr txBox="1"/>
          <p:nvPr/>
        </p:nvSpPr>
        <p:spPr>
          <a:xfrm>
            <a:off x="584200" y="977900"/>
            <a:ext cx="10985500" cy="276999"/>
          </a:xfrm>
          <a:prstGeom prst="rect">
            <a:avLst/>
          </a:prstGeom>
          <a:noFill/>
        </p:spPr>
        <p:txBody>
          <a:bodyPr vert="horz" wrap="square" lIns="0" tIns="0" rIns="0" bIns="0" rtlCol="0">
            <a:noAutofit/>
          </a:bodyPr>
          <a:lstStyle/>
          <a:p>
            <a:pPr>
              <a:spcAft>
                <a:spcPts val="400"/>
              </a:spcAft>
            </a:pPr>
            <a:r>
              <a:rPr lang="ro-RO" sz="1300">
                <a:solidFill>
                  <a:srgbClr val="B9C9DB"/>
                </a:solidFill>
                <a:latin typeface="Aptos" panose="020B0004020202020204" pitchFamily="34" charset="0"/>
              </a:rPr>
              <a:t>Se schimbă eșantionarea, apoi se antrenează rețeaua VSR pentru măsurările obținute.</a:t>
            </a:r>
            <a:endParaRPr lang="ro-RO" sz="1300" dirty="0">
              <a:solidFill>
                <a:srgbClr val="B9C9DB"/>
              </a:solidFill>
              <a:latin typeface="Aptos" panose="020B0004020202020204" pitchFamily="34" charset="0"/>
            </a:endParaRPr>
          </a:p>
        </p:txBody>
      </p:sp>
      <p:cxnSp>
        <p:nvCxnSpPr>
          <p:cNvPr id="25" name="Straight Connector 24">
            <a:extLst>
              <a:ext uri="{FF2B5EF4-FFF2-40B4-BE49-F238E27FC236}">
                <a16:creationId xmlns:a16="http://schemas.microsoft.com/office/drawing/2014/main" id="{167B5AA8-1DC5-F378-1A0D-3703B009B4EF}"/>
              </a:ext>
            </a:extLst>
          </p:cNvPr>
          <p:cNvCxnSpPr/>
          <p:nvPr/>
        </p:nvCxnSpPr>
        <p:spPr>
          <a:xfrm>
            <a:off x="571500" y="1460500"/>
            <a:ext cx="11049000" cy="0"/>
          </a:xfrm>
          <a:prstGeom prst="line">
            <a:avLst/>
          </a:prstGeom>
          <a:ln>
            <a:solidFill>
              <a:srgbClr val="34475D"/>
            </a:solidFill>
          </a:ln>
        </p:spPr>
        <p:style>
          <a:lnRef idx="1">
            <a:schemeClr val="accent1"/>
          </a:lnRef>
          <a:fillRef idx="0">
            <a:schemeClr val="accent1"/>
          </a:fillRef>
          <a:effectRef idx="0">
            <a:schemeClr val="accent1"/>
          </a:effectRef>
          <a:fontRef idx="minor">
            <a:schemeClr val="tx1"/>
          </a:fontRef>
        </p:style>
      </p:cxnSp>
      <p:sp>
        <p:nvSpPr>
          <p:cNvPr id="26" name="Source">
            <a:extLst>
              <a:ext uri="{FF2B5EF4-FFF2-40B4-BE49-F238E27FC236}">
                <a16:creationId xmlns:a16="http://schemas.microsoft.com/office/drawing/2014/main" id="{891877AB-536F-6ADD-F151-DB6199316C2C}"/>
              </a:ext>
            </a:extLst>
          </p:cNvPr>
          <p:cNvSpPr txBox="1"/>
          <p:nvPr/>
        </p:nvSpPr>
        <p:spPr>
          <a:xfrm>
            <a:off x="584200" y="6477000"/>
            <a:ext cx="10414000" cy="276999"/>
          </a:xfrm>
          <a:prstGeom prst="rect">
            <a:avLst/>
          </a:prstGeom>
          <a:noFill/>
        </p:spPr>
        <p:txBody>
          <a:bodyPr vert="horz" wrap="square" lIns="0" tIns="0" rIns="0" bIns="0" rtlCol="0">
            <a:noAutofit/>
          </a:bodyPr>
          <a:lstStyle/>
          <a:p>
            <a:pPr>
              <a:spcAft>
                <a:spcPts val="400"/>
              </a:spcAft>
            </a:pPr>
            <a:r>
              <a:rPr lang="ro-RO" sz="900">
                <a:solidFill>
                  <a:srgbClr val="B9C9DB"/>
                </a:solidFill>
                <a:latin typeface="Aptos" panose="020B0004020202020204" pitchFamily="34" charset="0"/>
              </a:rPr>
              <a:t>Sursa: Katz et al., secțiunile Reconstruction și Experiments; Tabelele 1–2.</a:t>
            </a:r>
            <a:endParaRPr lang="ro-RO" sz="900" dirty="0">
              <a:solidFill>
                <a:srgbClr val="B9C9DB"/>
              </a:solidFill>
              <a:latin typeface="Aptos" panose="020B0004020202020204" pitchFamily="34" charset="0"/>
            </a:endParaRPr>
          </a:p>
        </p:txBody>
      </p:sp>
      <p:sp>
        <p:nvSpPr>
          <p:cNvPr id="27" name="Page">
            <a:extLst>
              <a:ext uri="{FF2B5EF4-FFF2-40B4-BE49-F238E27FC236}">
                <a16:creationId xmlns:a16="http://schemas.microsoft.com/office/drawing/2014/main" id="{8E3E18F0-6677-8FF2-E3B3-7F59E5479E43}"/>
              </a:ext>
            </a:extLst>
          </p:cNvPr>
          <p:cNvSpPr txBox="1"/>
          <p:nvPr/>
        </p:nvSpPr>
        <p:spPr>
          <a:xfrm>
            <a:off x="11252200" y="6477000"/>
            <a:ext cx="381000" cy="276999"/>
          </a:xfrm>
          <a:prstGeom prst="rect">
            <a:avLst/>
          </a:prstGeom>
          <a:noFill/>
        </p:spPr>
        <p:txBody>
          <a:bodyPr vert="horz" wrap="square" lIns="0" tIns="0" rIns="0" bIns="0" rtlCol="0">
            <a:noAutofit/>
          </a:bodyPr>
          <a:lstStyle/>
          <a:p>
            <a:pPr>
              <a:spcAft>
                <a:spcPts val="400"/>
              </a:spcAft>
            </a:pPr>
            <a:r>
              <a:rPr lang="ro-RO" sz="1000" b="1">
                <a:solidFill>
                  <a:srgbClr val="52D6D3"/>
                </a:solidFill>
                <a:latin typeface="Aptos" panose="020B0004020202020204" pitchFamily="34" charset="0"/>
              </a:rPr>
              <a:t>10</a:t>
            </a:r>
            <a:endParaRPr lang="ro-RO" sz="1000" b="1" dirty="0">
              <a:solidFill>
                <a:srgbClr val="52D6D3"/>
              </a:solidFill>
              <a:latin typeface="Aptos" panose="020B0004020202020204" pitchFamily="34" charset="0"/>
            </a:endParaRPr>
          </a:p>
        </p:txBody>
      </p:sp>
      <p:sp>
        <p:nvSpPr>
          <p:cNvPr id="28" name="Rectangle 27">
            <a:extLst>
              <a:ext uri="{FF2B5EF4-FFF2-40B4-BE49-F238E27FC236}">
                <a16:creationId xmlns:a16="http://schemas.microsoft.com/office/drawing/2014/main" id="{2EBB7377-6D18-0B50-C744-BCEFA0D5DEF3}"/>
              </a:ext>
            </a:extLst>
          </p:cNvPr>
          <p:cNvSpPr/>
          <p:nvPr/>
        </p:nvSpPr>
        <p:spPr>
          <a:xfrm>
            <a:off x="571500" y="1689100"/>
            <a:ext cx="5410200" cy="3149600"/>
          </a:xfrm>
          <a:prstGeom prst="rect">
            <a:avLst/>
          </a:prstGeom>
          <a:solidFill>
            <a:srgbClr val="1725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Experiment 1 heading">
            <a:extLst>
              <a:ext uri="{FF2B5EF4-FFF2-40B4-BE49-F238E27FC236}">
                <a16:creationId xmlns:a16="http://schemas.microsoft.com/office/drawing/2014/main" id="{3E2089AD-510E-B993-1E7E-DD47C96DB47F}"/>
              </a:ext>
            </a:extLst>
          </p:cNvPr>
          <p:cNvSpPr txBox="1"/>
          <p:nvPr/>
        </p:nvSpPr>
        <p:spPr>
          <a:xfrm>
            <a:off x="774700" y="1841500"/>
            <a:ext cx="5003800" cy="276999"/>
          </a:xfrm>
          <a:prstGeom prst="rect">
            <a:avLst/>
          </a:prstGeom>
          <a:noFill/>
        </p:spPr>
        <p:txBody>
          <a:bodyPr vert="horz" wrap="square" lIns="0" tIns="0" rIns="0" bIns="0" rtlCol="0">
            <a:noAutofit/>
          </a:bodyPr>
          <a:lstStyle/>
          <a:p>
            <a:pPr>
              <a:spcAft>
                <a:spcPts val="400"/>
              </a:spcAft>
            </a:pPr>
            <a:r>
              <a:rPr lang="ro-RO" sz="1900" b="1">
                <a:solidFill>
                  <a:srgbClr val="52D6D3"/>
                </a:solidFill>
                <a:latin typeface="Aptos" panose="020B0004020202020204" pitchFamily="34" charset="0"/>
              </a:rPr>
              <a:t>1. O măsurare / bloc / cadru</a:t>
            </a:r>
            <a:endParaRPr lang="ro-RO" sz="1900" b="1" dirty="0">
              <a:solidFill>
                <a:srgbClr val="52D6D3"/>
              </a:solidFill>
              <a:latin typeface="Aptos" panose="020B0004020202020204" pitchFamily="34" charset="0"/>
            </a:endParaRPr>
          </a:p>
        </p:txBody>
      </p:sp>
      <p:sp>
        <p:nvSpPr>
          <p:cNvPr id="30" name="Experiment 1 body">
            <a:extLst>
              <a:ext uri="{FF2B5EF4-FFF2-40B4-BE49-F238E27FC236}">
                <a16:creationId xmlns:a16="http://schemas.microsoft.com/office/drawing/2014/main" id="{AD21BC7B-B888-F1CD-4F96-8A4B95096F43}"/>
              </a:ext>
            </a:extLst>
          </p:cNvPr>
          <p:cNvSpPr txBox="1"/>
          <p:nvPr/>
        </p:nvSpPr>
        <p:spPr>
          <a:xfrm>
            <a:off x="774700" y="2336800"/>
            <a:ext cx="5003800" cy="276999"/>
          </a:xfrm>
          <a:prstGeom prst="rect">
            <a:avLst/>
          </a:prstGeom>
          <a:noFill/>
        </p:spPr>
        <p:txBody>
          <a:bodyPr vert="horz" wrap="square" lIns="0" tIns="0" rIns="0" bIns="0" rtlCol="0">
            <a:noAutofit/>
          </a:bodyPr>
          <a:lstStyle/>
          <a:p>
            <a:pPr>
              <a:spcAft>
                <a:spcPts val="400"/>
              </a:spcAft>
            </a:pPr>
            <a:r>
              <a:rPr lang="ro-RO" sz="1700">
                <a:solidFill>
                  <a:srgbClr val="F4F7FB"/>
                </a:solidFill>
                <a:latin typeface="Aptos" panose="020B0004020202020204" pitchFamily="34" charset="0"/>
              </a:rPr>
              <a:t>Întrebare: ajută măștile variabile în timp?</a:t>
            </a:r>
          </a:p>
          <a:p>
            <a:pPr>
              <a:spcAft>
                <a:spcPts val="400"/>
              </a:spcAft>
            </a:pPr>
            <a:r>
              <a:rPr lang="ro-RO" sz="1700">
                <a:solidFill>
                  <a:srgbClr val="F4F7FB"/>
                </a:solidFill>
                <a:latin typeface="Aptos" panose="020B0004020202020204" pitchFamily="34" charset="0"/>
              </a:rPr>
              <a:t>Bicubic vs 16Sum vs Random dinamic.</a:t>
            </a:r>
          </a:p>
          <a:p>
            <a:pPr>
              <a:spcAft>
                <a:spcPts val="400"/>
              </a:spcAft>
            </a:pPr>
            <a:r>
              <a:rPr lang="ro-RO" sz="1700">
                <a:solidFill>
                  <a:srgbClr val="F4F7FB"/>
                </a:solidFill>
                <a:latin typeface="Aptos" panose="020B0004020202020204" pitchFamily="34" charset="0"/>
              </a:rPr>
              <a:t>Bloc 4 × 4 → o valoare LR; CR = 1/16.</a:t>
            </a:r>
          </a:p>
          <a:p>
            <a:pPr>
              <a:spcAft>
                <a:spcPts val="400"/>
              </a:spcAft>
            </a:pPr>
            <a:r>
              <a:rPr lang="ro-RO" sz="1700">
                <a:solidFill>
                  <a:srgbClr val="F4F7FB"/>
                </a:solidFill>
                <a:latin typeface="Aptos" panose="020B0004020202020204" pitchFamily="34" charset="0"/>
              </a:rPr>
              <a:t>16Sum folosește 16 pixeli; Random, 8.</a:t>
            </a:r>
          </a:p>
          <a:p>
            <a:pPr>
              <a:spcAft>
                <a:spcPts val="400"/>
              </a:spcAft>
            </a:pPr>
            <a:r>
              <a:rPr lang="ro-RO" sz="1700">
                <a:solidFill>
                  <a:srgbClr val="F4F7FB"/>
                </a:solidFill>
                <a:latin typeface="Aptos" panose="020B0004020202020204" pitchFamily="34" charset="0"/>
              </a:rPr>
              <a:t>Rețele: BasicVSR, RVRT și IART.</a:t>
            </a:r>
          </a:p>
          <a:p>
            <a:pPr>
              <a:spcAft>
                <a:spcPts val="400"/>
              </a:spcAft>
            </a:pPr>
            <a:r>
              <a:rPr lang="ro-RO" sz="1700">
                <a:solidFill>
                  <a:srgbClr val="F4F7FB"/>
                </a:solidFill>
                <a:latin typeface="Aptos" panose="020B0004020202020204" pitchFamily="34" charset="0"/>
              </a:rPr>
              <a:t>Rezultate: Tabelul 1 și Figura 9.</a:t>
            </a:r>
            <a:endParaRPr lang="ro-RO" sz="1700" dirty="0">
              <a:solidFill>
                <a:srgbClr val="F4F7FB"/>
              </a:solidFill>
              <a:latin typeface="Aptos" panose="020B0004020202020204" pitchFamily="34" charset="0"/>
            </a:endParaRPr>
          </a:p>
        </p:txBody>
      </p:sp>
      <p:sp>
        <p:nvSpPr>
          <p:cNvPr id="31" name="Rectangle 30">
            <a:extLst>
              <a:ext uri="{FF2B5EF4-FFF2-40B4-BE49-F238E27FC236}">
                <a16:creationId xmlns:a16="http://schemas.microsoft.com/office/drawing/2014/main" id="{B07DA939-E0C0-77D7-8907-424730C11AA4}"/>
              </a:ext>
            </a:extLst>
          </p:cNvPr>
          <p:cNvSpPr/>
          <p:nvPr/>
        </p:nvSpPr>
        <p:spPr>
          <a:xfrm>
            <a:off x="6210300" y="1689100"/>
            <a:ext cx="5410200" cy="3149600"/>
          </a:xfrm>
          <a:prstGeom prst="rect">
            <a:avLst/>
          </a:prstGeom>
          <a:solidFill>
            <a:srgbClr val="1725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Experiment 2 heading">
            <a:extLst>
              <a:ext uri="{FF2B5EF4-FFF2-40B4-BE49-F238E27FC236}">
                <a16:creationId xmlns:a16="http://schemas.microsoft.com/office/drawing/2014/main" id="{A1FA4184-4400-3206-8CFB-BDCFB0996CCC}"/>
              </a:ext>
            </a:extLst>
          </p:cNvPr>
          <p:cNvSpPr txBox="1"/>
          <p:nvPr/>
        </p:nvSpPr>
        <p:spPr>
          <a:xfrm>
            <a:off x="6413500" y="1841500"/>
            <a:ext cx="5003800" cy="276999"/>
          </a:xfrm>
          <a:prstGeom prst="rect">
            <a:avLst/>
          </a:prstGeom>
          <a:noFill/>
        </p:spPr>
        <p:txBody>
          <a:bodyPr vert="horz" wrap="square" lIns="0" tIns="0" rIns="0" bIns="0" rtlCol="0">
            <a:noAutofit/>
          </a:bodyPr>
          <a:lstStyle/>
          <a:p>
            <a:pPr>
              <a:spcAft>
                <a:spcPts val="400"/>
              </a:spcAft>
            </a:pPr>
            <a:r>
              <a:rPr lang="ro-RO" sz="1900" b="1">
                <a:solidFill>
                  <a:srgbClr val="FFC870"/>
                </a:solidFill>
                <a:latin typeface="Aptos" panose="020B0004020202020204" pitchFamily="34" charset="0"/>
              </a:rPr>
              <a:t>2. Două măsurări / bloc / cadru</a:t>
            </a:r>
            <a:endParaRPr lang="ro-RO" sz="1900" b="1" dirty="0">
              <a:solidFill>
                <a:srgbClr val="FFC870"/>
              </a:solidFill>
              <a:latin typeface="Aptos" panose="020B0004020202020204" pitchFamily="34" charset="0"/>
            </a:endParaRPr>
          </a:p>
        </p:txBody>
      </p:sp>
      <p:sp>
        <p:nvSpPr>
          <p:cNvPr id="33" name="Experiment 2 body">
            <a:extLst>
              <a:ext uri="{FF2B5EF4-FFF2-40B4-BE49-F238E27FC236}">
                <a16:creationId xmlns:a16="http://schemas.microsoft.com/office/drawing/2014/main" id="{10680416-A7D3-6CDB-CDDF-E081DDAB8713}"/>
              </a:ext>
            </a:extLst>
          </p:cNvPr>
          <p:cNvSpPr txBox="1"/>
          <p:nvPr/>
        </p:nvSpPr>
        <p:spPr>
          <a:xfrm>
            <a:off x="6413500" y="2336800"/>
            <a:ext cx="5003800" cy="276999"/>
          </a:xfrm>
          <a:prstGeom prst="rect">
            <a:avLst/>
          </a:prstGeom>
          <a:noFill/>
        </p:spPr>
        <p:txBody>
          <a:bodyPr vert="horz" wrap="square" lIns="0" tIns="0" rIns="0" bIns="0" rtlCol="0">
            <a:noAutofit/>
          </a:bodyPr>
          <a:lstStyle/>
          <a:p>
            <a:pPr>
              <a:spcAft>
                <a:spcPts val="400"/>
              </a:spcAft>
            </a:pPr>
            <a:r>
              <a:rPr lang="ro-RO" sz="1700">
                <a:solidFill>
                  <a:srgbClr val="F4F7FB"/>
                </a:solidFill>
                <a:latin typeface="Aptos" panose="020B0004020202020204" pitchFamily="34" charset="0"/>
              </a:rPr>
              <a:t>Întrebare: ce tipare păstrează mai bine detaliile când folosim toți pixelii?</a:t>
            </a:r>
          </a:p>
          <a:p>
            <a:pPr>
              <a:spcAft>
                <a:spcPts val="400"/>
              </a:spcAft>
            </a:pPr>
            <a:r>
              <a:rPr lang="ro-RO" sz="1700">
                <a:solidFill>
                  <a:srgbClr val="F4F7FB"/>
                </a:solidFill>
                <a:latin typeface="Aptos" panose="020B0004020202020204" pitchFamily="34" charset="0"/>
              </a:rPr>
              <a:t>8Sum, Random și Tetromino: variante fixe și dinamice.</a:t>
            </a:r>
          </a:p>
          <a:p>
            <a:pPr>
              <a:spcAft>
                <a:spcPts val="400"/>
              </a:spcAft>
            </a:pPr>
            <a:r>
              <a:rPr lang="ro-RO" sz="1700">
                <a:solidFill>
                  <a:srgbClr val="F4F7FB"/>
                </a:solidFill>
                <a:latin typeface="Aptos" panose="020B0004020202020204" pitchFamily="34" charset="0"/>
              </a:rPr>
              <a:t>Două măști complementare; CR = 1/8.</a:t>
            </a:r>
          </a:p>
          <a:p>
            <a:pPr>
              <a:spcAft>
                <a:spcPts val="400"/>
              </a:spcAft>
            </a:pPr>
            <a:r>
              <a:rPr lang="ro-RO" sz="1700">
                <a:solidFill>
                  <a:srgbClr val="F4F7FB"/>
                </a:solidFill>
                <a:latin typeface="Aptos" panose="020B0004020202020204" pitchFamily="34" charset="0"/>
              </a:rPr>
              <a:t>Toate au fill-factor de 100%.</a:t>
            </a:r>
          </a:p>
          <a:p>
            <a:pPr>
              <a:spcAft>
                <a:spcPts val="400"/>
              </a:spcAft>
            </a:pPr>
            <a:r>
              <a:rPr lang="ro-RO" sz="1700">
                <a:solidFill>
                  <a:srgbClr val="F4F7FB"/>
                </a:solidFill>
                <a:latin typeface="Aptos" panose="020B0004020202020204" pitchFamily="34" charset="0"/>
              </a:rPr>
              <a:t>Rețea: BasicVSR adaptat; Tabelul 2.</a:t>
            </a:r>
            <a:endParaRPr lang="ro-RO" sz="1700" dirty="0">
              <a:solidFill>
                <a:srgbClr val="F4F7FB"/>
              </a:solidFill>
              <a:latin typeface="Aptos" panose="020B0004020202020204" pitchFamily="34" charset="0"/>
            </a:endParaRPr>
          </a:p>
        </p:txBody>
      </p:sp>
      <p:sp>
        <p:nvSpPr>
          <p:cNvPr id="34" name="Comparison budget">
            <a:extLst>
              <a:ext uri="{FF2B5EF4-FFF2-40B4-BE49-F238E27FC236}">
                <a16:creationId xmlns:a16="http://schemas.microsoft.com/office/drawing/2014/main" id="{4A313D93-AFF7-FF26-29EF-F60B8D43595D}"/>
              </a:ext>
            </a:extLst>
          </p:cNvPr>
          <p:cNvSpPr txBox="1"/>
          <p:nvPr/>
        </p:nvSpPr>
        <p:spPr>
          <a:xfrm>
            <a:off x="673100" y="5041900"/>
            <a:ext cx="10820400" cy="276999"/>
          </a:xfrm>
          <a:prstGeom prst="rect">
            <a:avLst/>
          </a:prstGeom>
          <a:noFill/>
        </p:spPr>
        <p:txBody>
          <a:bodyPr vert="horz" wrap="square" lIns="0" tIns="0" rIns="0" bIns="0" rtlCol="0">
            <a:noAutofit/>
          </a:bodyPr>
          <a:lstStyle/>
          <a:p>
            <a:pPr>
              <a:spcAft>
                <a:spcPts val="400"/>
              </a:spcAft>
            </a:pPr>
            <a:r>
              <a:rPr lang="ro-RO" sz="1700">
                <a:solidFill>
                  <a:srgbClr val="F4F7FB"/>
                </a:solidFill>
                <a:latin typeface="Aptos" panose="020B0004020202020204" pitchFamily="34" charset="0"/>
              </a:rPr>
              <a:t>Comparații controlate în interiorul fiecărui experiment. Două măsurări înseamnă de două ori mai multe date decât una; câștigul dintre Tabelele 1 și 2 nu izolează doar efectul măștii.</a:t>
            </a:r>
            <a:endParaRPr lang="ro-RO" sz="1700" dirty="0">
              <a:solidFill>
                <a:srgbClr val="F4F7FB"/>
              </a:solidFill>
              <a:latin typeface="Aptos" panose="020B0004020202020204" pitchFamily="34" charset="0"/>
            </a:endParaRPr>
          </a:p>
        </p:txBody>
      </p:sp>
      <p:sp>
        <p:nvSpPr>
          <p:cNvPr id="35" name="Rectangle 34">
            <a:extLst>
              <a:ext uri="{FF2B5EF4-FFF2-40B4-BE49-F238E27FC236}">
                <a16:creationId xmlns:a16="http://schemas.microsoft.com/office/drawing/2014/main" id="{F3AE8F8B-7E9F-75D6-5B52-8645AFC5A7EE}"/>
              </a:ext>
            </a:extLst>
          </p:cNvPr>
          <p:cNvSpPr/>
          <p:nvPr/>
        </p:nvSpPr>
        <p:spPr>
          <a:xfrm>
            <a:off x="571500" y="5905500"/>
            <a:ext cx="11049000" cy="431800"/>
          </a:xfrm>
          <a:prstGeom prst="rect">
            <a:avLst/>
          </a:prstGeom>
          <a:solidFill>
            <a:srgbClr val="1C30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akeaway">
            <a:extLst>
              <a:ext uri="{FF2B5EF4-FFF2-40B4-BE49-F238E27FC236}">
                <a16:creationId xmlns:a16="http://schemas.microsoft.com/office/drawing/2014/main" id="{F4E4A7F0-5791-F3B7-E8E7-BB647D92B0FA}"/>
              </a:ext>
            </a:extLst>
          </p:cNvPr>
          <p:cNvSpPr txBox="1"/>
          <p:nvPr/>
        </p:nvSpPr>
        <p:spPr>
          <a:xfrm>
            <a:off x="723900" y="5981700"/>
            <a:ext cx="10744200" cy="276999"/>
          </a:xfrm>
          <a:prstGeom prst="rect">
            <a:avLst/>
          </a:prstGeom>
          <a:noFill/>
        </p:spPr>
        <p:txBody>
          <a:bodyPr vert="horz" wrap="square" lIns="0" tIns="0" rIns="0" bIns="0" rtlCol="0">
            <a:noAutofit/>
          </a:bodyPr>
          <a:lstStyle/>
          <a:p>
            <a:pPr>
              <a:spcAft>
                <a:spcPts val="400"/>
              </a:spcAft>
            </a:pPr>
            <a:r>
              <a:rPr lang="ro-RO" sz="1700" b="1">
                <a:solidFill>
                  <a:srgbClr val="FFC870"/>
                </a:solidFill>
                <a:latin typeface="Aptos" panose="020B0004020202020204" pitchFamily="34" charset="0"/>
              </a:rPr>
              <a:t>Evaluare comună: super-rezoluție ×4 pe Vimeo-90K-T și Vid4.</a:t>
            </a:r>
            <a:endParaRPr lang="ro-RO" sz="1700" b="1" dirty="0">
              <a:solidFill>
                <a:srgbClr val="FFC870"/>
              </a:solidFill>
              <a:latin typeface="Aptos" panose="020B0004020202020204" pitchFamily="34" charset="0"/>
            </a:endParaRPr>
          </a:p>
        </p:txBody>
      </p:sp>
      <p:sp xmlns:p="http://schemas.openxmlformats.org/presentationml/2006/main">
        <p:nvSpPr>
          <p:cNvPr id="37" name="Slide number"/>
          <p:cNvSpPr/>
          <p:nvPr/>
        </p:nvSpPr>
        <p:spPr>
          <a:xfrm xmlns:a="http://schemas.openxmlformats.org/drawingml/2006/main">
            <a:off x="11009376" y="6492240"/>
            <a:ext cx="475488" cy="228600"/>
          </a:xfrm>
          <a:prstGeom xmlns:a="http://schemas.openxmlformats.org/drawingml/2006/main" prst="rect">
            <a:avLst/>
          </a:prstGeom>
          <a:noFill xmlns:a="http://schemas.openxmlformats.org/drawingml/2006/main"/>
          <a:ln xmlns:a="http://schemas.openxmlformats.org/drawingml/2006/main"/>
        </p:spPr>
        <p:txBody>
          <a:bodyPr xmlns:a="http://schemas.openxmlformats.org/drawingml/2006/main" wrap="square" lIns="0" tIns="0" rIns="0" bIns="0" rtlCol="0" anchor="ctr"/>
          <a:lstStyle xmlns:a="http://schemas.openxmlformats.org/drawingml/2006/main"/>
          <a:p xmlns:a="http://schemas.openxmlformats.org/drawingml/2006/main">
            <a:pPr marL="0" indent="0" algn="r">
              <a:buNone/>
            </a:pPr>
            <a:r>
              <a:rPr lang="ro-RO" sz="1000" b="1">
                <a:solidFill>
                  <a:srgbClr val="52D6D3"/>
                </a:solidFill>
                <a:latin typeface="Aptos" pitchFamily="34" charset="0"/>
                <a:ea typeface="Aptos" pitchFamily="34" charset="-122"/>
                <a:cs typeface="Aptos" pitchFamily="34" charset="-120"/>
              </a:rPr>
              <a:t>11</a:t>
            </a:r>
            <a:endParaRPr lang="ro-RO"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C44E4CFC-8B8C-C4D0-5FBB-C255F3EB46F3}"/>
              </a:ext>
            </a:extLst>
          </p:cNvPr>
          <p:cNvSpPr txBox="1"/>
          <p:nvPr/>
        </p:nvSpPr>
        <p:spPr>
          <a:xfrm>
            <a:off x="571500" y="330200"/>
            <a:ext cx="11049000" cy="276999"/>
          </a:xfrm>
          <a:prstGeom prst="rect">
            <a:avLst/>
          </a:prstGeom>
          <a:noFill/>
        </p:spPr>
        <p:txBody>
          <a:bodyPr vert="horz" wrap="square" lIns="0" tIns="0" rIns="0" bIns="0" rtlCol="0">
            <a:noAutofit/>
          </a:bodyPr>
          <a:lstStyle/>
          <a:p>
            <a:pPr>
              <a:spcAft>
                <a:spcPts val="400"/>
              </a:spcAft>
            </a:pPr>
            <a:r>
              <a:rPr lang="ro-RO" sz="2800" b="1">
                <a:solidFill>
                  <a:srgbClr val="F4F7FB"/>
                </a:solidFill>
                <a:latin typeface="Aptos" panose="020B0004020202020204" pitchFamily="34" charset="0"/>
              </a:rPr>
              <a:t>Ce măști sunt testate și ce izolează fiecare?</a:t>
            </a:r>
            <a:endParaRPr lang="ro-RO" sz="2800" b="1" dirty="0">
              <a:solidFill>
                <a:srgbClr val="F4F7FB"/>
              </a:solidFill>
              <a:latin typeface="Aptos" panose="020B0004020202020204" pitchFamily="34" charset="0"/>
            </a:endParaRPr>
          </a:p>
        </p:txBody>
      </p:sp>
      <p:sp>
        <p:nvSpPr>
          <p:cNvPr id="6" name="Subtitle">
            <a:extLst>
              <a:ext uri="{FF2B5EF4-FFF2-40B4-BE49-F238E27FC236}">
                <a16:creationId xmlns:a16="http://schemas.microsoft.com/office/drawing/2014/main" id="{A4B55CF2-B5BC-934E-4A7C-3A30572C80E3}"/>
              </a:ext>
            </a:extLst>
          </p:cNvPr>
          <p:cNvSpPr txBox="1"/>
          <p:nvPr/>
        </p:nvSpPr>
        <p:spPr>
          <a:xfrm>
            <a:off x="584200" y="977900"/>
            <a:ext cx="10985500" cy="276999"/>
          </a:xfrm>
          <a:prstGeom prst="rect">
            <a:avLst/>
          </a:prstGeom>
          <a:noFill/>
        </p:spPr>
        <p:txBody>
          <a:bodyPr vert="horz" wrap="square" lIns="0" tIns="0" rIns="0" bIns="0" rtlCol="0">
            <a:noAutofit/>
          </a:bodyPr>
          <a:lstStyle/>
          <a:p>
            <a:pPr>
              <a:spcAft>
                <a:spcPts val="400"/>
              </a:spcAft>
            </a:pPr>
            <a:r>
              <a:rPr lang="ro-RO" sz="1300">
                <a:solidFill>
                  <a:srgbClr val="B9C9DB"/>
                </a:solidFill>
                <a:latin typeface="Aptos" panose="020B0004020202020204" pitchFamily="34" charset="0"/>
              </a:rPr>
              <a:t>Experimentul cu două măsurări: fiecare mască A are 8 pixeli, iar B este complementul ei.</a:t>
            </a:r>
            <a:endParaRPr lang="ro-RO" sz="1300" dirty="0">
              <a:solidFill>
                <a:srgbClr val="B9C9DB"/>
              </a:solidFill>
              <a:latin typeface="Aptos" panose="020B0004020202020204" pitchFamily="34" charset="0"/>
            </a:endParaRPr>
          </a:p>
        </p:txBody>
      </p:sp>
      <p:cxnSp>
        <p:nvCxnSpPr>
          <p:cNvPr id="7" name="Straight Connector 6">
            <a:extLst>
              <a:ext uri="{FF2B5EF4-FFF2-40B4-BE49-F238E27FC236}">
                <a16:creationId xmlns:a16="http://schemas.microsoft.com/office/drawing/2014/main" id="{7DE4E078-85B4-8455-98E4-55E2F08719B8}"/>
              </a:ext>
            </a:extLst>
          </p:cNvPr>
          <p:cNvCxnSpPr/>
          <p:nvPr/>
        </p:nvCxnSpPr>
        <p:spPr>
          <a:xfrm>
            <a:off x="571500" y="1460500"/>
            <a:ext cx="11049000" cy="0"/>
          </a:xfrm>
          <a:prstGeom prst="line">
            <a:avLst/>
          </a:prstGeom>
          <a:ln>
            <a:solidFill>
              <a:srgbClr val="34475D"/>
            </a:solidFill>
          </a:ln>
        </p:spPr>
        <p:style>
          <a:lnRef idx="1">
            <a:schemeClr val="accent1"/>
          </a:lnRef>
          <a:fillRef idx="0">
            <a:schemeClr val="accent1"/>
          </a:fillRef>
          <a:effectRef idx="0">
            <a:schemeClr val="accent1"/>
          </a:effectRef>
          <a:fontRef idx="minor">
            <a:schemeClr val="tx1"/>
          </a:fontRef>
        </p:style>
      </p:cxnSp>
      <p:sp>
        <p:nvSpPr>
          <p:cNvPr id="8" name="Source">
            <a:extLst>
              <a:ext uri="{FF2B5EF4-FFF2-40B4-BE49-F238E27FC236}">
                <a16:creationId xmlns:a16="http://schemas.microsoft.com/office/drawing/2014/main" id="{CABAA3DB-3FF3-FFCE-188D-4EDA585480BE}"/>
              </a:ext>
            </a:extLst>
          </p:cNvPr>
          <p:cNvSpPr txBox="1"/>
          <p:nvPr/>
        </p:nvSpPr>
        <p:spPr>
          <a:xfrm>
            <a:off x="584200" y="6477000"/>
            <a:ext cx="10414000" cy="276999"/>
          </a:xfrm>
          <a:prstGeom prst="rect">
            <a:avLst/>
          </a:prstGeom>
          <a:noFill/>
        </p:spPr>
        <p:txBody>
          <a:bodyPr vert="horz" wrap="square" lIns="0" tIns="0" rIns="0" bIns="0" rtlCol="0">
            <a:noAutofit/>
          </a:bodyPr>
          <a:lstStyle/>
          <a:p>
            <a:pPr>
              <a:spcAft>
                <a:spcPts val="400"/>
              </a:spcAft>
            </a:pPr>
            <a:r>
              <a:rPr lang="ro-RO" sz="900">
                <a:solidFill>
                  <a:srgbClr val="B9C9DB"/>
                </a:solidFill>
                <a:latin typeface="Aptos" panose="020B0004020202020204" pitchFamily="34" charset="0"/>
              </a:rPr>
              <a:t>Sursa: Katz et al., Figurile 5–6 și Tabelul 2; A + B acoperă cei 16 pixeli.</a:t>
            </a:r>
            <a:endParaRPr lang="ro-RO" sz="900" dirty="0">
              <a:solidFill>
                <a:srgbClr val="B9C9DB"/>
              </a:solidFill>
              <a:latin typeface="Aptos" panose="020B0004020202020204" pitchFamily="34" charset="0"/>
            </a:endParaRPr>
          </a:p>
        </p:txBody>
      </p:sp>
      <p:sp>
        <p:nvSpPr>
          <p:cNvPr id="9" name="Page">
            <a:extLst>
              <a:ext uri="{FF2B5EF4-FFF2-40B4-BE49-F238E27FC236}">
                <a16:creationId xmlns:a16="http://schemas.microsoft.com/office/drawing/2014/main" id="{28FF7B48-BA8B-036A-2F33-8E2F5B58BF88}"/>
              </a:ext>
            </a:extLst>
          </p:cNvPr>
          <p:cNvSpPr txBox="1"/>
          <p:nvPr/>
        </p:nvSpPr>
        <p:spPr>
          <a:xfrm>
            <a:off x="11252200" y="6477000"/>
            <a:ext cx="381000" cy="276999"/>
          </a:xfrm>
          <a:prstGeom prst="rect">
            <a:avLst/>
          </a:prstGeom>
          <a:noFill/>
        </p:spPr>
        <p:txBody>
          <a:bodyPr vert="horz" wrap="square" lIns="0" tIns="0" rIns="0" bIns="0" rtlCol="0">
            <a:noAutofit/>
          </a:bodyPr>
          <a:lstStyle/>
          <a:p>
            <a:pPr>
              <a:spcAft>
                <a:spcPts val="400"/>
              </a:spcAft>
            </a:pPr>
            <a:r>
              <a:rPr lang="ro-RO" sz="1000" b="1">
                <a:solidFill>
                  <a:srgbClr val="52D6D3"/>
                </a:solidFill>
                <a:latin typeface="Aptos" panose="020B0004020202020204" pitchFamily="34" charset="0"/>
              </a:rPr>
              <a:t>11</a:t>
            </a:r>
            <a:endParaRPr lang="ro-RO" sz="1000" b="1" dirty="0">
              <a:solidFill>
                <a:srgbClr val="52D6D3"/>
              </a:solidFill>
              <a:latin typeface="Aptos" panose="020B0004020202020204" pitchFamily="34" charset="0"/>
            </a:endParaRPr>
          </a:p>
        </p:txBody>
      </p:sp>
      <p:graphicFrame>
        <p:nvGraphicFramePr>
          <p:cNvPr id="10" name="Table 9">
            <a:extLst>
              <a:ext uri="{FF2B5EF4-FFF2-40B4-BE49-F238E27FC236}">
                <a16:creationId xmlns:a16="http://schemas.microsoft.com/office/drawing/2014/main" id="{F51DEEA8-5D97-B76C-AD8F-3AE2200E6222}"/>
              </a:ext>
            </a:extLst>
          </p:cNvPr>
          <p:cNvGraphicFramePr>
            <a:graphicFrameLocks noGrp="1"/>
          </p:cNvGraphicFramePr>
          <p:nvPr>
            <p:extLst>
              <p:ext uri="{D42A27DB-BD31-4B8C-83A1-F6EECF244321}">
                <p14:modId xmlns:p14="http://schemas.microsoft.com/office/powerpoint/2010/main" val="574953243"/>
              </p:ext>
            </p:extLst>
          </p:nvPr>
        </p:nvGraphicFramePr>
        <p:xfrm>
          <a:off x="571500" y="1739900"/>
          <a:ext cx="11049000" cy="3657600"/>
        </p:xfrm>
        <a:graphic>
          <a:graphicData uri="http://schemas.openxmlformats.org/drawingml/2006/table">
            <a:tbl>
              <a:tblPr firstRow="1" bandRow="1">
                <a:tableStyleId>{5C22544A-7EE6-4342-B048-85BDC9FD1C3A}</a:tableStyleId>
              </a:tblPr>
              <a:tblGrid>
                <a:gridCol w="2222500">
                  <a:extLst>
                    <a:ext uri="{9D8B030D-6E8A-4147-A177-3AD203B41FA5}">
                      <a16:colId xmlns:a16="http://schemas.microsoft.com/office/drawing/2014/main" val="4176437110"/>
                    </a:ext>
                  </a:extLst>
                </a:gridCol>
                <a:gridCol w="4318000">
                  <a:extLst>
                    <a:ext uri="{9D8B030D-6E8A-4147-A177-3AD203B41FA5}">
                      <a16:colId xmlns:a16="http://schemas.microsoft.com/office/drawing/2014/main" val="495446702"/>
                    </a:ext>
                  </a:extLst>
                </a:gridCol>
                <a:gridCol w="4508500">
                  <a:extLst>
                    <a:ext uri="{9D8B030D-6E8A-4147-A177-3AD203B41FA5}">
                      <a16:colId xmlns:a16="http://schemas.microsoft.com/office/drawing/2014/main" val="1417441166"/>
                    </a:ext>
                  </a:extLst>
                </a:gridCol>
              </a:tblGrid>
              <a:tr h="457200">
                <a:tc>
                  <a:txBody>
                    <a:bodyPr/>
                    <a:lstStyle/>
                    <a:p>
                      <a:r>
                        <a:rPr lang="ro-RO" sz="1400" b="1">
                          <a:solidFill>
                            <a:srgbClr val="52D6D3"/>
                          </a:solidFill>
                          <a:latin typeface="Aptos" panose="020B0004020202020204" pitchFamily="34" charset="0"/>
                        </a:rPr>
                        <a:t>Variantă</a:t>
                      </a:r>
                      <a:endParaRPr lang="ro-RO" sz="1400" b="1" dirty="0">
                        <a:solidFill>
                          <a:srgbClr val="52D6D3"/>
                        </a:solidFill>
                        <a:latin typeface="Aptos" panose="020B0004020202020204" pitchFamily="34" charset="0"/>
                      </a:endParaRPr>
                    </a:p>
                  </a:txBody>
                  <a:tcPr marL="114300" marR="63500" marT="50800" marB="25400" anchor="ctr">
                    <a:solidFill>
                      <a:srgbClr val="1C304A"/>
                    </a:solidFill>
                  </a:tcPr>
                </a:tc>
                <a:tc>
                  <a:txBody>
                    <a:bodyPr/>
                    <a:lstStyle/>
                    <a:p>
                      <a:r>
                        <a:rPr lang="ro-RO" sz="1400" b="1">
                          <a:solidFill>
                            <a:srgbClr val="52D6D3"/>
                          </a:solidFill>
                          <a:latin typeface="Aptos" panose="020B0004020202020204" pitchFamily="34" charset="0"/>
                        </a:rPr>
                        <a:t>Construcție</a:t>
                      </a:r>
                      <a:endParaRPr lang="ro-RO" sz="1400" b="1" dirty="0">
                        <a:solidFill>
                          <a:srgbClr val="52D6D3"/>
                        </a:solidFill>
                        <a:latin typeface="Aptos" panose="020B0004020202020204" pitchFamily="34" charset="0"/>
                      </a:endParaRPr>
                    </a:p>
                  </a:txBody>
                  <a:tcPr marL="114300" marR="63500" marT="50800" marB="25400" anchor="ctr">
                    <a:solidFill>
                      <a:srgbClr val="1C304A"/>
                    </a:solidFill>
                  </a:tcPr>
                </a:tc>
                <a:tc>
                  <a:txBody>
                    <a:bodyPr/>
                    <a:lstStyle/>
                    <a:p>
                      <a:r>
                        <a:rPr lang="ro-RO" sz="1400" b="1">
                          <a:solidFill>
                            <a:srgbClr val="52D6D3"/>
                          </a:solidFill>
                          <a:latin typeface="Aptos" panose="020B0004020202020204" pitchFamily="34" charset="0"/>
                        </a:rPr>
                        <a:t>Ce verifică?</a:t>
                      </a:r>
                      <a:endParaRPr lang="ro-RO" sz="1400" b="1" dirty="0">
                        <a:solidFill>
                          <a:srgbClr val="52D6D3"/>
                        </a:solidFill>
                        <a:latin typeface="Aptos" panose="020B0004020202020204" pitchFamily="34" charset="0"/>
                      </a:endParaRPr>
                    </a:p>
                  </a:txBody>
                  <a:tcPr marL="114300" marR="63500" marT="50800" marB="25400" anchor="ctr">
                    <a:solidFill>
                      <a:srgbClr val="1C304A"/>
                    </a:solidFill>
                  </a:tcPr>
                </a:tc>
                <a:extLst>
                  <a:ext uri="{0D108BD9-81ED-4DB2-BD59-A6C34878D82A}">
                    <a16:rowId xmlns:a16="http://schemas.microsoft.com/office/drawing/2014/main" val="3541402552"/>
                  </a:ext>
                </a:extLst>
              </a:tr>
              <a:tr h="457200">
                <a:tc>
                  <a:txBody>
                    <a:bodyPr/>
                    <a:lstStyle/>
                    <a:p>
                      <a:r>
                        <a:rPr lang="ro-RO" sz="1400" b="0">
                          <a:solidFill>
                            <a:srgbClr val="F4F7FB"/>
                          </a:solidFill>
                          <a:latin typeface="Aptos" panose="020B0004020202020204" pitchFamily="34" charset="0"/>
                        </a:rPr>
                        <a:t>8Sum fix</a:t>
                      </a:r>
                      <a:endParaRPr lang="ro-RO" sz="14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400" b="0">
                          <a:solidFill>
                            <a:srgbClr val="F4F7FB"/>
                          </a:solidFill>
                          <a:latin typeface="Aptos" panose="020B0004020202020204" pitchFamily="34" charset="0"/>
                        </a:rPr>
                        <a:t>Două regiuni dreptunghiulare fixe</a:t>
                      </a:r>
                      <a:endParaRPr lang="ro-RO" sz="14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400" b="0">
                          <a:solidFill>
                            <a:srgbClr val="F4F7FB"/>
                          </a:solidFill>
                          <a:latin typeface="Aptos" panose="020B0004020202020204" pitchFamily="34" charset="0"/>
                        </a:rPr>
                        <a:t>Referință regulată, fără variație temporală</a:t>
                      </a:r>
                      <a:endParaRPr lang="ro-RO" sz="1400" b="0" dirty="0">
                        <a:solidFill>
                          <a:srgbClr val="F4F7FB"/>
                        </a:solidFill>
                        <a:latin typeface="Aptos" panose="020B0004020202020204" pitchFamily="34" charset="0"/>
                      </a:endParaRPr>
                    </a:p>
                  </a:txBody>
                  <a:tcPr marL="114300" marR="63500" marT="50800" marB="25400" anchor="ctr">
                    <a:solidFill>
                      <a:srgbClr val="17253B"/>
                    </a:solidFill>
                  </a:tcPr>
                </a:tc>
                <a:extLst>
                  <a:ext uri="{0D108BD9-81ED-4DB2-BD59-A6C34878D82A}">
                    <a16:rowId xmlns:a16="http://schemas.microsoft.com/office/drawing/2014/main" val="3746350374"/>
                  </a:ext>
                </a:extLst>
              </a:tr>
              <a:tr h="457200">
                <a:tc>
                  <a:txBody>
                    <a:bodyPr/>
                    <a:lstStyle/>
                    <a:p>
                      <a:r>
                        <a:rPr lang="ro-RO" sz="1400" b="0">
                          <a:solidFill>
                            <a:srgbClr val="F4F7FB"/>
                          </a:solidFill>
                          <a:latin typeface="Aptos" panose="020B0004020202020204" pitchFamily="34" charset="0"/>
                        </a:rPr>
                        <a:t>Tetromino constant</a:t>
                      </a:r>
                      <a:endParaRPr lang="ro-RO" sz="14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400" b="0">
                          <a:solidFill>
                            <a:srgbClr val="F4F7FB"/>
                          </a:solidFill>
                          <a:latin typeface="Aptos" panose="020B0004020202020204" pitchFamily="34" charset="0"/>
                        </a:rPr>
                        <a:t>Aceleași grupări în formă de T</a:t>
                      </a:r>
                      <a:endParaRPr lang="ro-RO" sz="14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400" b="0">
                          <a:solidFill>
                            <a:srgbClr val="F4F7FB"/>
                          </a:solidFill>
                          <a:latin typeface="Aptos" panose="020B0004020202020204" pitchFamily="34" charset="0"/>
                        </a:rPr>
                        <a:t>Geometrie neregulată, fără dinamică</a:t>
                      </a:r>
                      <a:endParaRPr lang="ro-RO" sz="1400" b="0" dirty="0">
                        <a:solidFill>
                          <a:srgbClr val="F4F7FB"/>
                        </a:solidFill>
                        <a:latin typeface="Aptos" panose="020B0004020202020204" pitchFamily="34" charset="0"/>
                      </a:endParaRPr>
                    </a:p>
                  </a:txBody>
                  <a:tcPr marL="114300" marR="63500" marT="50800" marB="25400" anchor="ctr">
                    <a:solidFill>
                      <a:srgbClr val="101D30"/>
                    </a:solidFill>
                  </a:tcPr>
                </a:tc>
                <a:extLst>
                  <a:ext uri="{0D108BD9-81ED-4DB2-BD59-A6C34878D82A}">
                    <a16:rowId xmlns:a16="http://schemas.microsoft.com/office/drawing/2014/main" val="4004839043"/>
                  </a:ext>
                </a:extLst>
              </a:tr>
              <a:tr h="457200">
                <a:tc>
                  <a:txBody>
                    <a:bodyPr/>
                    <a:lstStyle/>
                    <a:p>
                      <a:r>
                        <a:rPr lang="ro-RO" sz="1400" b="0">
                          <a:solidFill>
                            <a:srgbClr val="F4F7FB"/>
                          </a:solidFill>
                          <a:latin typeface="Aptos" panose="020B0004020202020204" pitchFamily="34" charset="0"/>
                        </a:rPr>
                        <a:t>Random constant</a:t>
                      </a:r>
                      <a:endParaRPr lang="ro-RO" sz="14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400" b="0">
                          <a:solidFill>
                            <a:srgbClr val="F4F7FB"/>
                          </a:solidFill>
                          <a:latin typeface="Aptos" panose="020B0004020202020204" pitchFamily="34" charset="0"/>
                        </a:rPr>
                        <a:t>Aceeași pereche aleatoare în timp</a:t>
                      </a:r>
                      <a:endParaRPr lang="ro-RO" sz="14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400" b="0">
                          <a:solidFill>
                            <a:srgbClr val="F4F7FB"/>
                          </a:solidFill>
                          <a:latin typeface="Aptos" panose="020B0004020202020204" pitchFamily="34" charset="0"/>
                        </a:rPr>
                        <a:t>Neregularitate fără variație temporală</a:t>
                      </a:r>
                      <a:endParaRPr lang="ro-RO" sz="1400" b="0" dirty="0">
                        <a:solidFill>
                          <a:srgbClr val="F4F7FB"/>
                        </a:solidFill>
                        <a:latin typeface="Aptos" panose="020B0004020202020204" pitchFamily="34" charset="0"/>
                      </a:endParaRPr>
                    </a:p>
                  </a:txBody>
                  <a:tcPr marL="114300" marR="63500" marT="50800" marB="25400" anchor="ctr">
                    <a:solidFill>
                      <a:srgbClr val="17253B"/>
                    </a:solidFill>
                  </a:tcPr>
                </a:tc>
                <a:extLst>
                  <a:ext uri="{0D108BD9-81ED-4DB2-BD59-A6C34878D82A}">
                    <a16:rowId xmlns:a16="http://schemas.microsoft.com/office/drawing/2014/main" val="2073262274"/>
                  </a:ext>
                </a:extLst>
              </a:tr>
              <a:tr h="457200">
                <a:tc>
                  <a:txBody>
                    <a:bodyPr/>
                    <a:lstStyle/>
                    <a:p>
                      <a:r>
                        <a:rPr lang="ro-RO" sz="1400" b="0">
                          <a:solidFill>
                            <a:srgbClr val="F4F7FB"/>
                          </a:solidFill>
                          <a:latin typeface="Aptos" panose="020B0004020202020204" pitchFamily="34" charset="0"/>
                        </a:rPr>
                        <a:t>8Sum alternant</a:t>
                      </a:r>
                      <a:endParaRPr lang="ro-RO" sz="14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400" b="0">
                          <a:solidFill>
                            <a:srgbClr val="F4F7FB"/>
                          </a:solidFill>
                          <a:latin typeface="Aptos" panose="020B0004020202020204" pitchFamily="34" charset="0"/>
                        </a:rPr>
                        <a:t>Alternanță între tipare pe rânduri / coloane</a:t>
                      </a:r>
                      <a:endParaRPr lang="ro-RO" sz="14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400" b="0">
                          <a:solidFill>
                            <a:srgbClr val="F4F7FB"/>
                          </a:solidFill>
                          <a:latin typeface="Aptos" panose="020B0004020202020204" pitchFamily="34" charset="0"/>
                        </a:rPr>
                        <a:t>Dinamică simplă, geometrie regulată</a:t>
                      </a:r>
                      <a:endParaRPr lang="ro-RO" sz="1400" b="0" dirty="0">
                        <a:solidFill>
                          <a:srgbClr val="F4F7FB"/>
                        </a:solidFill>
                        <a:latin typeface="Aptos" panose="020B0004020202020204" pitchFamily="34" charset="0"/>
                      </a:endParaRPr>
                    </a:p>
                  </a:txBody>
                  <a:tcPr marL="114300" marR="63500" marT="50800" marB="25400" anchor="ctr">
                    <a:solidFill>
                      <a:srgbClr val="101D30"/>
                    </a:solidFill>
                  </a:tcPr>
                </a:tc>
                <a:extLst>
                  <a:ext uri="{0D108BD9-81ED-4DB2-BD59-A6C34878D82A}">
                    <a16:rowId xmlns:a16="http://schemas.microsoft.com/office/drawing/2014/main" val="303221772"/>
                  </a:ext>
                </a:extLst>
              </a:tr>
              <a:tr h="457200">
                <a:tc>
                  <a:txBody>
                    <a:bodyPr/>
                    <a:lstStyle/>
                    <a:p>
                      <a:r>
                        <a:rPr lang="ro-RO" sz="1400" b="0">
                          <a:solidFill>
                            <a:srgbClr val="F4F7FB"/>
                          </a:solidFill>
                          <a:latin typeface="Aptos" panose="020B0004020202020204" pitchFamily="34" charset="0"/>
                        </a:rPr>
                        <a:t>Tetromino basic</a:t>
                      </a:r>
                      <a:endParaRPr lang="ro-RO" sz="14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400" b="0">
                          <a:solidFill>
                            <a:srgbClr val="F4F7FB"/>
                          </a:solidFill>
                          <a:latin typeface="Aptos" panose="020B0004020202020204" pitchFamily="34" charset="0"/>
                        </a:rPr>
                        <a:t>Ciclu de 3 perechi de măști din piese T</a:t>
                      </a:r>
                      <a:endParaRPr lang="ro-RO" sz="14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400" b="0">
                          <a:solidFill>
                            <a:srgbClr val="F4F7FB"/>
                          </a:solidFill>
                          <a:latin typeface="Aptos" panose="020B0004020202020204" pitchFamily="34" charset="0"/>
                        </a:rPr>
                        <a:t>Neregularitate structurată + dinamică</a:t>
                      </a:r>
                      <a:endParaRPr lang="ro-RO" sz="1400" b="0" dirty="0">
                        <a:solidFill>
                          <a:srgbClr val="F4F7FB"/>
                        </a:solidFill>
                        <a:latin typeface="Aptos" panose="020B0004020202020204" pitchFamily="34" charset="0"/>
                      </a:endParaRPr>
                    </a:p>
                  </a:txBody>
                  <a:tcPr marL="114300" marR="63500" marT="50800" marB="25400" anchor="ctr">
                    <a:solidFill>
                      <a:srgbClr val="17253B"/>
                    </a:solidFill>
                  </a:tcPr>
                </a:tc>
                <a:extLst>
                  <a:ext uri="{0D108BD9-81ED-4DB2-BD59-A6C34878D82A}">
                    <a16:rowId xmlns:a16="http://schemas.microsoft.com/office/drawing/2014/main" val="2623893894"/>
                  </a:ext>
                </a:extLst>
              </a:tr>
              <a:tr h="457200">
                <a:tc>
                  <a:txBody>
                    <a:bodyPr/>
                    <a:lstStyle/>
                    <a:p>
                      <a:r>
                        <a:rPr lang="ro-RO" sz="1400" b="0">
                          <a:solidFill>
                            <a:srgbClr val="F4F7FB"/>
                          </a:solidFill>
                          <a:latin typeface="Aptos" panose="020B0004020202020204" pitchFamily="34" charset="0"/>
                        </a:rPr>
                        <a:t>Tetromino extended</a:t>
                      </a:r>
                      <a:endParaRPr lang="ro-RO" sz="14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400" b="0">
                          <a:solidFill>
                            <a:srgbClr val="F4F7FB"/>
                          </a:solidFill>
                          <a:latin typeface="Aptos" panose="020B0004020202020204" pitchFamily="34" charset="0"/>
                        </a:rPr>
                        <a:t>6 perechi, inclusiv piese T oglindite</a:t>
                      </a:r>
                      <a:endParaRPr lang="ro-RO" sz="14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400" b="0">
                          <a:solidFill>
                            <a:srgbClr val="F4F7FB"/>
                          </a:solidFill>
                          <a:latin typeface="Aptos" panose="020B0004020202020204" pitchFamily="34" charset="0"/>
                        </a:rPr>
                        <a:t>Mai multă diversitate temporală</a:t>
                      </a:r>
                      <a:endParaRPr lang="ro-RO" sz="1400" b="0" dirty="0">
                        <a:solidFill>
                          <a:srgbClr val="F4F7FB"/>
                        </a:solidFill>
                        <a:latin typeface="Aptos" panose="020B0004020202020204" pitchFamily="34" charset="0"/>
                      </a:endParaRPr>
                    </a:p>
                  </a:txBody>
                  <a:tcPr marL="114300" marR="63500" marT="50800" marB="25400" anchor="ctr">
                    <a:solidFill>
                      <a:srgbClr val="101D30"/>
                    </a:solidFill>
                  </a:tcPr>
                </a:tc>
                <a:extLst>
                  <a:ext uri="{0D108BD9-81ED-4DB2-BD59-A6C34878D82A}">
                    <a16:rowId xmlns:a16="http://schemas.microsoft.com/office/drawing/2014/main" val="2274859325"/>
                  </a:ext>
                </a:extLst>
              </a:tr>
              <a:tr h="457200">
                <a:tc>
                  <a:txBody>
                    <a:bodyPr/>
                    <a:lstStyle/>
                    <a:p>
                      <a:r>
                        <a:rPr lang="ro-RO" sz="1400" b="0">
                          <a:solidFill>
                            <a:srgbClr val="F4F7FB"/>
                          </a:solidFill>
                          <a:latin typeface="Aptos" panose="020B0004020202020204" pitchFamily="34" charset="0"/>
                        </a:rPr>
                        <a:t>Random dinamic</a:t>
                      </a:r>
                      <a:endParaRPr lang="ro-RO" sz="14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400" b="0">
                          <a:solidFill>
                            <a:srgbClr val="F4F7FB"/>
                          </a:solidFill>
                          <a:latin typeface="Aptos" panose="020B0004020202020204" pitchFamily="34" charset="0"/>
                        </a:rPr>
                        <a:t>Selecții aleatoare de câte 8 pixeli</a:t>
                      </a:r>
                      <a:endParaRPr lang="ro-RO" sz="14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400" b="0">
                          <a:solidFill>
                            <a:srgbClr val="F4F7FB"/>
                          </a:solidFill>
                          <a:latin typeface="Aptos" panose="020B0004020202020204" pitchFamily="34" charset="0"/>
                        </a:rPr>
                        <a:t>Dinamică fără structură de tip T</a:t>
                      </a:r>
                      <a:endParaRPr lang="ro-RO" sz="1400" b="0" dirty="0">
                        <a:solidFill>
                          <a:srgbClr val="F4F7FB"/>
                        </a:solidFill>
                        <a:latin typeface="Aptos" panose="020B0004020202020204" pitchFamily="34" charset="0"/>
                      </a:endParaRPr>
                    </a:p>
                  </a:txBody>
                  <a:tcPr marL="114300" marR="63500" marT="50800" marB="25400" anchor="ctr">
                    <a:solidFill>
                      <a:srgbClr val="17253B"/>
                    </a:solidFill>
                  </a:tcPr>
                </a:tc>
                <a:extLst>
                  <a:ext uri="{0D108BD9-81ED-4DB2-BD59-A6C34878D82A}">
                    <a16:rowId xmlns:a16="http://schemas.microsoft.com/office/drawing/2014/main" val="1929919887"/>
                  </a:ext>
                </a:extLst>
              </a:tr>
            </a:tbl>
          </a:graphicData>
        </a:graphic>
      </p:graphicFrame>
      <p:sp>
        <p:nvSpPr>
          <p:cNvPr id="11" name="Tetromino definition">
            <a:extLst>
              <a:ext uri="{FF2B5EF4-FFF2-40B4-BE49-F238E27FC236}">
                <a16:creationId xmlns:a16="http://schemas.microsoft.com/office/drawing/2014/main" id="{A6AB705F-FEB0-025A-D99D-BFE69C9AF2A1}"/>
              </a:ext>
            </a:extLst>
          </p:cNvPr>
          <p:cNvSpPr txBox="1"/>
          <p:nvPr/>
        </p:nvSpPr>
        <p:spPr>
          <a:xfrm>
            <a:off x="647700" y="5562600"/>
            <a:ext cx="10896600" cy="276999"/>
          </a:xfrm>
          <a:prstGeom prst="rect">
            <a:avLst/>
          </a:prstGeom>
          <a:noFill/>
        </p:spPr>
        <p:txBody>
          <a:bodyPr vert="horz" wrap="square" lIns="0" tIns="0" rIns="0" bIns="0" rtlCol="0">
            <a:noAutofit/>
          </a:bodyPr>
          <a:lstStyle/>
          <a:p>
            <a:pPr>
              <a:spcAft>
                <a:spcPts val="400"/>
              </a:spcAft>
            </a:pPr>
            <a:r>
              <a:rPr lang="ro-RO" sz="1600">
                <a:solidFill>
                  <a:srgbClr val="F4F7FB"/>
                </a:solidFill>
                <a:latin typeface="Aptos" panose="020B0004020202020204" pitchFamily="34" charset="0"/>
              </a:rPr>
              <a:t>Tetromino: o piesă T conține 4 pixeli; două piese formează o mască de 8 pixeli. Controalele constante separă efectul formei de efectul schimbării măștii între cadre.</a:t>
            </a:r>
            <a:endParaRPr lang="ro-RO" sz="1600" dirty="0">
              <a:solidFill>
                <a:srgbClr val="F4F7FB"/>
              </a:solidFill>
              <a:latin typeface="Aptos" panose="020B0004020202020204" pitchFamily="34" charset="0"/>
            </a:endParaRPr>
          </a:p>
        </p:txBody>
      </p:sp>
      <p:sp xmlns:p="http://schemas.openxmlformats.org/presentationml/2006/main">
        <p:nvSpPr>
          <p:cNvPr id="12" name="Slide number"/>
          <p:cNvSpPr/>
          <p:nvPr/>
        </p:nvSpPr>
        <p:spPr>
          <a:xfrm xmlns:a="http://schemas.openxmlformats.org/drawingml/2006/main">
            <a:off x="11009376" y="6492240"/>
            <a:ext cx="475488" cy="228600"/>
          </a:xfrm>
          <a:prstGeom xmlns:a="http://schemas.openxmlformats.org/drawingml/2006/main" prst="rect">
            <a:avLst/>
          </a:prstGeom>
          <a:noFill xmlns:a="http://schemas.openxmlformats.org/drawingml/2006/main"/>
          <a:ln xmlns:a="http://schemas.openxmlformats.org/drawingml/2006/main"/>
        </p:spPr>
        <p:txBody>
          <a:bodyPr xmlns:a="http://schemas.openxmlformats.org/drawingml/2006/main" wrap="square" lIns="0" tIns="0" rIns="0" bIns="0" rtlCol="0" anchor="ctr"/>
          <a:lstStyle xmlns:a="http://schemas.openxmlformats.org/drawingml/2006/main"/>
          <a:p xmlns:a="http://schemas.openxmlformats.org/drawingml/2006/main">
            <a:pPr marL="0" indent="0" algn="r">
              <a:buNone/>
            </a:pPr>
            <a:r>
              <a:rPr lang="ro-RO" sz="1000" b="1">
                <a:solidFill>
                  <a:srgbClr val="52D6D3"/>
                </a:solidFill>
                <a:latin typeface="Aptos" pitchFamily="34" charset="0"/>
                <a:ea typeface="Aptos" pitchFamily="34" charset="-122"/>
                <a:cs typeface="Aptos" pitchFamily="34" charset="-120"/>
              </a:rPr>
              <a:t>12</a:t>
            </a:r>
            <a:endParaRPr lang="ro-RO" sz="1000" dirty="0"/>
          </a:p>
        </p:txBody>
      </p:sp>
    </p:spTree>
    <p:extLst>
      <p:ext uri="{BB962C8B-B14F-4D97-AF65-F5344CB8AC3E}">
        <p14:creationId xmlns:p14="http://schemas.microsoft.com/office/powerpoint/2010/main" val="2627688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0B1220"/>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5B71F9E9-767D-4C3B-B5F8-9BA6617F9EAA}"/>
              </a:ext>
            </a:extLst>
          </p:cNvPr>
          <p:cNvSpPr txBox="1"/>
          <p:nvPr/>
        </p:nvSpPr>
        <p:spPr>
          <a:xfrm>
            <a:off x="571500" y="330200"/>
            <a:ext cx="11049000" cy="276999"/>
          </a:xfrm>
          <a:prstGeom prst="rect">
            <a:avLst/>
          </a:prstGeom>
          <a:noFill/>
        </p:spPr>
        <p:txBody>
          <a:bodyPr vert="horz" wrap="square" lIns="0" tIns="0" rIns="0" bIns="0" rtlCol="0">
            <a:noAutofit/>
          </a:bodyPr>
          <a:lstStyle/>
          <a:p>
            <a:pPr>
              <a:spcAft>
                <a:spcPts val="400"/>
              </a:spcAft>
            </a:pPr>
            <a:r>
              <a:rPr lang="ro-RO" sz="2800" b="1">
                <a:solidFill>
                  <a:srgbClr val="F4F7FB"/>
                </a:solidFill>
                <a:latin typeface="Aptos" panose="020B0004020202020204" pitchFamily="34" charset="0"/>
              </a:rPr>
              <a:t>Protocolul: date, antrenare și evaluare</a:t>
            </a:r>
            <a:endParaRPr lang="ro-RO" sz="2800" b="1" dirty="0">
              <a:solidFill>
                <a:srgbClr val="F4F7FB"/>
              </a:solidFill>
              <a:latin typeface="Aptos" panose="020B0004020202020204" pitchFamily="34" charset="0"/>
            </a:endParaRPr>
          </a:p>
        </p:txBody>
      </p:sp>
      <p:sp>
        <p:nvSpPr>
          <p:cNvPr id="17" name="Subtitle">
            <a:extLst>
              <a:ext uri="{FF2B5EF4-FFF2-40B4-BE49-F238E27FC236}">
                <a16:creationId xmlns:a16="http://schemas.microsoft.com/office/drawing/2014/main" id="{F514E81D-E5CA-B6EA-A845-A1C0E698FD53}"/>
              </a:ext>
            </a:extLst>
          </p:cNvPr>
          <p:cNvSpPr txBox="1"/>
          <p:nvPr/>
        </p:nvSpPr>
        <p:spPr>
          <a:xfrm>
            <a:off x="584200" y="977900"/>
            <a:ext cx="10985500" cy="276999"/>
          </a:xfrm>
          <a:prstGeom prst="rect">
            <a:avLst/>
          </a:prstGeom>
          <a:noFill/>
        </p:spPr>
        <p:txBody>
          <a:bodyPr vert="horz" wrap="square" lIns="0" tIns="0" rIns="0" bIns="0" rtlCol="0">
            <a:noAutofit/>
          </a:bodyPr>
          <a:lstStyle/>
          <a:p>
            <a:pPr>
              <a:spcAft>
                <a:spcPts val="400"/>
              </a:spcAft>
            </a:pPr>
            <a:r>
              <a:rPr lang="ro-RO" sz="1300">
                <a:solidFill>
                  <a:srgbClr val="B9C9DB"/>
                </a:solidFill>
                <a:latin typeface="Aptos" panose="020B0004020202020204" pitchFamily="34" charset="0"/>
              </a:rPr>
              <a:t>Modelele sunt antrenate pentru fiecare tip de eșantionare; aceeași scară de reconstrucție ×4.</a:t>
            </a:r>
            <a:endParaRPr lang="ro-RO" sz="1300" dirty="0">
              <a:solidFill>
                <a:srgbClr val="B9C9DB"/>
              </a:solidFill>
              <a:latin typeface="Aptos" panose="020B0004020202020204" pitchFamily="34" charset="0"/>
            </a:endParaRPr>
          </a:p>
        </p:txBody>
      </p:sp>
      <p:cxnSp>
        <p:nvCxnSpPr>
          <p:cNvPr id="18" name="Straight Connector 17">
            <a:extLst>
              <a:ext uri="{FF2B5EF4-FFF2-40B4-BE49-F238E27FC236}">
                <a16:creationId xmlns:a16="http://schemas.microsoft.com/office/drawing/2014/main" id="{B2238842-DA6F-DE28-945A-55FA9751A114}"/>
              </a:ext>
            </a:extLst>
          </p:cNvPr>
          <p:cNvCxnSpPr/>
          <p:nvPr/>
        </p:nvCxnSpPr>
        <p:spPr>
          <a:xfrm>
            <a:off x="571500" y="1460500"/>
            <a:ext cx="11049000" cy="0"/>
          </a:xfrm>
          <a:prstGeom prst="line">
            <a:avLst/>
          </a:prstGeom>
          <a:ln>
            <a:solidFill>
              <a:srgbClr val="34475D"/>
            </a:solidFill>
          </a:ln>
        </p:spPr>
        <p:style>
          <a:lnRef idx="1">
            <a:schemeClr val="accent1"/>
          </a:lnRef>
          <a:fillRef idx="0">
            <a:schemeClr val="accent1"/>
          </a:fillRef>
          <a:effectRef idx="0">
            <a:schemeClr val="accent1"/>
          </a:effectRef>
          <a:fontRef idx="minor">
            <a:schemeClr val="tx1"/>
          </a:fontRef>
        </p:style>
      </p:cxnSp>
      <p:sp>
        <p:nvSpPr>
          <p:cNvPr id="19" name="Source">
            <a:extLst>
              <a:ext uri="{FF2B5EF4-FFF2-40B4-BE49-F238E27FC236}">
                <a16:creationId xmlns:a16="http://schemas.microsoft.com/office/drawing/2014/main" id="{086A73EA-4E28-7ACA-CA0A-A9E5437021DF}"/>
              </a:ext>
            </a:extLst>
          </p:cNvPr>
          <p:cNvSpPr txBox="1"/>
          <p:nvPr/>
        </p:nvSpPr>
        <p:spPr>
          <a:xfrm>
            <a:off x="584200" y="6477000"/>
            <a:ext cx="10414000" cy="276999"/>
          </a:xfrm>
          <a:prstGeom prst="rect">
            <a:avLst/>
          </a:prstGeom>
          <a:noFill/>
        </p:spPr>
        <p:txBody>
          <a:bodyPr vert="horz" wrap="square" lIns="0" tIns="0" rIns="0" bIns="0" rtlCol="0">
            <a:noAutofit/>
          </a:bodyPr>
          <a:lstStyle/>
          <a:p>
            <a:pPr>
              <a:spcAft>
                <a:spcPts val="400"/>
              </a:spcAft>
            </a:pPr>
            <a:r>
              <a:rPr lang="ro-RO" sz="900">
                <a:solidFill>
                  <a:srgbClr val="B9C9DB"/>
                </a:solidFill>
                <a:latin typeface="Aptos" panose="020B0004020202020204" pitchFamily="34" charset="0"/>
              </a:rPr>
              <a:t>Sursa: Katz et al., Experiments — Datasets and settings și Quantitative comparison.</a:t>
            </a:r>
            <a:endParaRPr lang="ro-RO" sz="900" dirty="0">
              <a:solidFill>
                <a:srgbClr val="B9C9DB"/>
              </a:solidFill>
              <a:latin typeface="Aptos" panose="020B0004020202020204" pitchFamily="34" charset="0"/>
            </a:endParaRPr>
          </a:p>
        </p:txBody>
      </p:sp>
      <p:sp>
        <p:nvSpPr>
          <p:cNvPr id="20" name="Page">
            <a:extLst>
              <a:ext uri="{FF2B5EF4-FFF2-40B4-BE49-F238E27FC236}">
                <a16:creationId xmlns:a16="http://schemas.microsoft.com/office/drawing/2014/main" id="{502F192C-19CC-87A8-ED1E-B27C3ADCA003}"/>
              </a:ext>
            </a:extLst>
          </p:cNvPr>
          <p:cNvSpPr txBox="1"/>
          <p:nvPr/>
        </p:nvSpPr>
        <p:spPr>
          <a:xfrm>
            <a:off x="11252200" y="6477000"/>
            <a:ext cx="381000" cy="276999"/>
          </a:xfrm>
          <a:prstGeom prst="rect">
            <a:avLst/>
          </a:prstGeom>
          <a:noFill/>
        </p:spPr>
        <p:txBody>
          <a:bodyPr vert="horz" wrap="square" lIns="0" tIns="0" rIns="0" bIns="0" rtlCol="0">
            <a:noAutofit/>
          </a:bodyPr>
          <a:lstStyle/>
          <a:p>
            <a:pPr>
              <a:spcAft>
                <a:spcPts val="400"/>
              </a:spcAft>
            </a:pPr>
            <a:r>
              <a:rPr lang="ro-RO" sz="1000" b="1">
                <a:solidFill>
                  <a:srgbClr val="52D6D3"/>
                </a:solidFill>
                <a:latin typeface="Aptos" panose="020B0004020202020204" pitchFamily="34" charset="0"/>
              </a:rPr>
              <a:t>13</a:t>
            </a:r>
            <a:endParaRPr lang="ro-RO" sz="1000" b="1" dirty="0">
              <a:solidFill>
                <a:srgbClr val="52D6D3"/>
              </a:solidFill>
              <a:latin typeface="Aptos" panose="020B0004020202020204" pitchFamily="34" charset="0"/>
            </a:endParaRPr>
          </a:p>
        </p:txBody>
      </p:sp>
      <p:sp>
        <p:nvSpPr>
          <p:cNvPr id="21" name="Rectangle 20">
            <a:extLst>
              <a:ext uri="{FF2B5EF4-FFF2-40B4-BE49-F238E27FC236}">
                <a16:creationId xmlns:a16="http://schemas.microsoft.com/office/drawing/2014/main" id="{F72739BB-DE42-5999-FCED-D05354413CBC}"/>
              </a:ext>
            </a:extLst>
          </p:cNvPr>
          <p:cNvSpPr/>
          <p:nvPr/>
        </p:nvSpPr>
        <p:spPr>
          <a:xfrm>
            <a:off x="571500" y="1689100"/>
            <a:ext cx="5410200" cy="3289300"/>
          </a:xfrm>
          <a:prstGeom prst="rect">
            <a:avLst/>
          </a:prstGeom>
          <a:solidFill>
            <a:srgbClr val="1725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ata heading">
            <a:extLst>
              <a:ext uri="{FF2B5EF4-FFF2-40B4-BE49-F238E27FC236}">
                <a16:creationId xmlns:a16="http://schemas.microsoft.com/office/drawing/2014/main" id="{6B5FA1D5-F894-C28E-8244-4E8A133812C5}"/>
              </a:ext>
            </a:extLst>
          </p:cNvPr>
          <p:cNvSpPr txBox="1"/>
          <p:nvPr/>
        </p:nvSpPr>
        <p:spPr>
          <a:xfrm>
            <a:off x="774700" y="1841500"/>
            <a:ext cx="5003800" cy="276999"/>
          </a:xfrm>
          <a:prstGeom prst="rect">
            <a:avLst/>
          </a:prstGeom>
          <a:noFill/>
        </p:spPr>
        <p:txBody>
          <a:bodyPr vert="horz" wrap="square" lIns="0" tIns="0" rIns="0" bIns="0" rtlCol="0">
            <a:noAutofit/>
          </a:bodyPr>
          <a:lstStyle/>
          <a:p>
            <a:pPr>
              <a:spcAft>
                <a:spcPts val="400"/>
              </a:spcAft>
            </a:pPr>
            <a:r>
              <a:rPr lang="ro-RO" sz="1900" b="1">
                <a:solidFill>
                  <a:srgbClr val="52D6D3"/>
                </a:solidFill>
                <a:latin typeface="Aptos" panose="020B0004020202020204" pitchFamily="34" charset="0"/>
              </a:rPr>
              <a:t>Date și rezoluții</a:t>
            </a:r>
            <a:endParaRPr lang="ro-RO" sz="1900" b="1" dirty="0">
              <a:solidFill>
                <a:srgbClr val="52D6D3"/>
              </a:solidFill>
              <a:latin typeface="Aptos" panose="020B0004020202020204" pitchFamily="34" charset="0"/>
            </a:endParaRPr>
          </a:p>
        </p:txBody>
      </p:sp>
      <p:sp>
        <p:nvSpPr>
          <p:cNvPr id="23" name="Data body">
            <a:extLst>
              <a:ext uri="{FF2B5EF4-FFF2-40B4-BE49-F238E27FC236}">
                <a16:creationId xmlns:a16="http://schemas.microsoft.com/office/drawing/2014/main" id="{C9156628-80C4-018E-545F-29160E41323E}"/>
              </a:ext>
            </a:extLst>
          </p:cNvPr>
          <p:cNvSpPr txBox="1"/>
          <p:nvPr/>
        </p:nvSpPr>
        <p:spPr>
          <a:xfrm>
            <a:off x="774700" y="2336800"/>
            <a:ext cx="5003800" cy="276999"/>
          </a:xfrm>
          <a:prstGeom prst="rect">
            <a:avLst/>
          </a:prstGeom>
          <a:noFill/>
        </p:spPr>
        <p:txBody>
          <a:bodyPr vert="horz" wrap="square" lIns="0" tIns="0" rIns="0" bIns="0" rtlCol="0">
            <a:noAutofit/>
          </a:bodyPr>
          <a:lstStyle/>
          <a:p>
            <a:pPr>
              <a:spcAft>
                <a:spcPts val="400"/>
              </a:spcAft>
            </a:pPr>
            <a:r>
              <a:rPr lang="ro-RO" sz="1700">
                <a:solidFill>
                  <a:srgbClr val="F4F7FB"/>
                </a:solidFill>
                <a:latin typeface="Aptos" panose="020B0004020202020204" pitchFamily="34" charset="0"/>
              </a:rPr>
              <a:t>Antrenare: Vimeo-90K, 64.612 secvențe.</a:t>
            </a:r>
          </a:p>
          <a:p>
            <a:pPr>
              <a:spcAft>
                <a:spcPts val="400"/>
              </a:spcAft>
            </a:pPr>
            <a:r>
              <a:rPr lang="ro-RO" sz="1700">
                <a:solidFill>
                  <a:srgbClr val="F4F7FB"/>
                </a:solidFill>
                <a:latin typeface="Aptos" panose="020B0004020202020204" pitchFamily="34" charset="0"/>
              </a:rPr>
              <a:t>Fiecare secvență Vimeo conține 7 cadre.</a:t>
            </a:r>
          </a:p>
          <a:p>
            <a:pPr>
              <a:spcAft>
                <a:spcPts val="400"/>
              </a:spcAft>
            </a:pPr>
            <a:r>
              <a:rPr lang="ro-RO" sz="1700">
                <a:solidFill>
                  <a:srgbClr val="F4F7FB"/>
                </a:solidFill>
                <a:latin typeface="Aptos" panose="020B0004020202020204" pitchFamily="34" charset="0"/>
              </a:rPr>
              <a:t>Test: Vimeo-90K-T — 7.824 secvențe; Vid4 — 4 secvențe video.</a:t>
            </a:r>
          </a:p>
          <a:p>
            <a:pPr>
              <a:spcAft>
                <a:spcPts val="400"/>
              </a:spcAft>
            </a:pPr>
            <a:r>
              <a:rPr lang="ro-RO" sz="1700">
                <a:solidFill>
                  <a:srgbClr val="F4F7FB"/>
                </a:solidFill>
                <a:latin typeface="Aptos" panose="020B0004020202020204" pitchFamily="34" charset="0"/>
              </a:rPr>
              <a:t>Fragmente HR de 256 × 256 → LR de 64 × 64.</a:t>
            </a:r>
          </a:p>
          <a:p>
            <a:pPr>
              <a:spcAft>
                <a:spcPts val="400"/>
              </a:spcAft>
            </a:pPr>
            <a:r>
              <a:rPr lang="ro-RO" sz="1700">
                <a:solidFill>
                  <a:srgbClr val="F4F7FB"/>
                </a:solidFill>
                <a:latin typeface="Aptos" panose="020B0004020202020204" pitchFamily="34" charset="0"/>
              </a:rPr>
              <a:t>Augmentare: inversări orizontale și verticale aleatoare.</a:t>
            </a:r>
            <a:endParaRPr lang="ro-RO" sz="1700" dirty="0">
              <a:solidFill>
                <a:srgbClr val="F4F7FB"/>
              </a:solidFill>
              <a:latin typeface="Aptos" panose="020B0004020202020204" pitchFamily="34" charset="0"/>
            </a:endParaRPr>
          </a:p>
        </p:txBody>
      </p:sp>
      <p:sp>
        <p:nvSpPr>
          <p:cNvPr id="24" name="Rectangle 23">
            <a:extLst>
              <a:ext uri="{FF2B5EF4-FFF2-40B4-BE49-F238E27FC236}">
                <a16:creationId xmlns:a16="http://schemas.microsoft.com/office/drawing/2014/main" id="{2C1B7673-D8BF-CB2B-4C0F-82B2FCA92C9A}"/>
              </a:ext>
            </a:extLst>
          </p:cNvPr>
          <p:cNvSpPr/>
          <p:nvPr/>
        </p:nvSpPr>
        <p:spPr>
          <a:xfrm>
            <a:off x="6210300" y="1689100"/>
            <a:ext cx="5410200" cy="3289300"/>
          </a:xfrm>
          <a:prstGeom prst="rect">
            <a:avLst/>
          </a:prstGeom>
          <a:solidFill>
            <a:srgbClr val="1725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raining heading">
            <a:extLst>
              <a:ext uri="{FF2B5EF4-FFF2-40B4-BE49-F238E27FC236}">
                <a16:creationId xmlns:a16="http://schemas.microsoft.com/office/drawing/2014/main" id="{1F2D5AFE-492E-B163-825C-AF0FA443BD31}"/>
              </a:ext>
            </a:extLst>
          </p:cNvPr>
          <p:cNvSpPr txBox="1"/>
          <p:nvPr/>
        </p:nvSpPr>
        <p:spPr>
          <a:xfrm>
            <a:off x="6413500" y="1841500"/>
            <a:ext cx="5003800" cy="276999"/>
          </a:xfrm>
          <a:prstGeom prst="rect">
            <a:avLst/>
          </a:prstGeom>
          <a:noFill/>
        </p:spPr>
        <p:txBody>
          <a:bodyPr vert="horz" wrap="square" lIns="0" tIns="0" rIns="0" bIns="0" rtlCol="0">
            <a:noAutofit/>
          </a:bodyPr>
          <a:lstStyle/>
          <a:p>
            <a:pPr>
              <a:spcAft>
                <a:spcPts val="400"/>
              </a:spcAft>
            </a:pPr>
            <a:r>
              <a:rPr lang="ro-RO" sz="1900" b="1">
                <a:solidFill>
                  <a:srgbClr val="FFC870"/>
                </a:solidFill>
                <a:latin typeface="Aptos" panose="020B0004020202020204" pitchFamily="34" charset="0"/>
              </a:rPr>
              <a:t>Antrenare și măsurarea calității</a:t>
            </a:r>
            <a:endParaRPr lang="ro-RO" sz="1900" b="1" dirty="0">
              <a:solidFill>
                <a:srgbClr val="FFC870"/>
              </a:solidFill>
              <a:latin typeface="Aptos" panose="020B0004020202020204" pitchFamily="34" charset="0"/>
            </a:endParaRPr>
          </a:p>
        </p:txBody>
      </p:sp>
      <p:sp>
        <p:nvSpPr>
          <p:cNvPr id="26" name="Training body">
            <a:extLst>
              <a:ext uri="{FF2B5EF4-FFF2-40B4-BE49-F238E27FC236}">
                <a16:creationId xmlns:a16="http://schemas.microsoft.com/office/drawing/2014/main" id="{A7C592C9-FBC2-47A6-3FB0-0717E80E695E}"/>
              </a:ext>
            </a:extLst>
          </p:cNvPr>
          <p:cNvSpPr txBox="1"/>
          <p:nvPr/>
        </p:nvSpPr>
        <p:spPr>
          <a:xfrm>
            <a:off x="6413500" y="2336800"/>
            <a:ext cx="5003800" cy="276999"/>
          </a:xfrm>
          <a:prstGeom prst="rect">
            <a:avLst/>
          </a:prstGeom>
          <a:noFill/>
        </p:spPr>
        <p:txBody>
          <a:bodyPr vert="horz" wrap="square" lIns="0" tIns="0" rIns="0" bIns="0" rtlCol="0">
            <a:noAutofit/>
          </a:bodyPr>
          <a:lstStyle/>
          <a:p>
            <a:pPr>
              <a:spcAft>
                <a:spcPts val="400"/>
              </a:spcAft>
            </a:pPr>
            <a:r>
              <a:rPr lang="ro-RO" sz="1700">
                <a:solidFill>
                  <a:srgbClr val="F4F7FB"/>
                </a:solidFill>
                <a:latin typeface="Aptos" panose="020B0004020202020204" pitchFamily="34" charset="0"/>
              </a:rPr>
              <a:t>300.000 de iterații; mini-batch de 2.</a:t>
            </a:r>
          </a:p>
          <a:p>
            <a:pPr>
              <a:spcAft>
                <a:spcPts val="400"/>
              </a:spcAft>
            </a:pPr>
            <a:r>
              <a:rPr lang="ro-RO" sz="1700">
                <a:solidFill>
                  <a:srgbClr val="F4F7FB"/>
                </a:solidFill>
                <a:latin typeface="Aptos" panose="020B0004020202020204" pitchFamily="34" charset="0"/>
              </a:rPr>
              <a:t>Adam, funcție de pierdere Charbonnier.</a:t>
            </a:r>
          </a:p>
          <a:p>
            <a:pPr>
              <a:spcAft>
                <a:spcPts val="400"/>
              </a:spcAft>
            </a:pPr>
            <a:r>
              <a:rPr lang="ro-RO" sz="1700">
                <a:solidFill>
                  <a:srgbClr val="F4F7FB"/>
                </a:solidFill>
                <a:latin typeface="Aptos" panose="020B0004020202020204" pitchFamily="34" charset="0"/>
              </a:rPr>
              <a:t>Rată de învățare inițială: 10⁻⁴, cu scădere cosinusoidală.</a:t>
            </a:r>
          </a:p>
          <a:p>
            <a:pPr>
              <a:spcAft>
                <a:spcPts val="400"/>
              </a:spcAft>
            </a:pPr>
            <a:r>
              <a:rPr lang="ro-RO" sz="1700">
                <a:solidFill>
                  <a:srgbClr val="F4F7FB"/>
                </a:solidFill>
                <a:latin typeface="Aptos" panose="020B0004020202020204" pitchFamily="34" charset="0"/>
              </a:rPr>
              <a:t>PSNR ↑: fidelitate pixel cu pixel.</a:t>
            </a:r>
          </a:p>
          <a:p>
            <a:pPr>
              <a:spcAft>
                <a:spcPts val="400"/>
              </a:spcAft>
            </a:pPr>
            <a:r>
              <a:rPr lang="ro-RO" sz="1700">
                <a:solidFill>
                  <a:srgbClr val="F4F7FB"/>
                </a:solidFill>
                <a:latin typeface="Aptos" panose="020B0004020202020204" pitchFamily="34" charset="0"/>
              </a:rPr>
              <a:t>SSIM ↑: similaritate structurală.</a:t>
            </a:r>
          </a:p>
          <a:p>
            <a:pPr>
              <a:spcAft>
                <a:spcPts val="400"/>
              </a:spcAft>
            </a:pPr>
            <a:r>
              <a:rPr lang="ro-RO" sz="1700">
                <a:solidFill>
                  <a:srgbClr val="F4F7FB"/>
                </a:solidFill>
                <a:latin typeface="Aptos" panose="020B0004020202020204" pitchFamily="34" charset="0"/>
              </a:rPr>
              <a:t>LPIPS ↓: distanță perceptuală învățată.</a:t>
            </a:r>
            <a:endParaRPr lang="ro-RO" sz="1700" dirty="0">
              <a:solidFill>
                <a:srgbClr val="F4F7FB"/>
              </a:solidFill>
              <a:latin typeface="Aptos" panose="020B0004020202020204" pitchFamily="34" charset="0"/>
            </a:endParaRPr>
          </a:p>
        </p:txBody>
      </p:sp>
      <p:sp>
        <p:nvSpPr>
          <p:cNvPr id="27" name="Fairness">
            <a:extLst>
              <a:ext uri="{FF2B5EF4-FFF2-40B4-BE49-F238E27FC236}">
                <a16:creationId xmlns:a16="http://schemas.microsoft.com/office/drawing/2014/main" id="{83D31D49-C31D-5C9E-F18A-262425BD5D07}"/>
              </a:ext>
            </a:extLst>
          </p:cNvPr>
          <p:cNvSpPr txBox="1"/>
          <p:nvPr/>
        </p:nvSpPr>
        <p:spPr>
          <a:xfrm>
            <a:off x="673100" y="5194300"/>
            <a:ext cx="10820400" cy="276999"/>
          </a:xfrm>
          <a:prstGeom prst="rect">
            <a:avLst/>
          </a:prstGeom>
          <a:noFill/>
        </p:spPr>
        <p:txBody>
          <a:bodyPr vert="horz" wrap="square" lIns="0" tIns="0" rIns="0" bIns="0" rtlCol="0">
            <a:noAutofit/>
          </a:bodyPr>
          <a:lstStyle/>
          <a:p>
            <a:pPr>
              <a:spcAft>
                <a:spcPts val="400"/>
              </a:spcAft>
            </a:pPr>
            <a:r>
              <a:rPr lang="ro-RO" sz="1700">
                <a:solidFill>
                  <a:srgbClr val="F4F7FB"/>
                </a:solidFill>
                <a:latin typeface="Aptos" panose="020B0004020202020204" pitchFamily="34" charset="0"/>
              </a:rPr>
              <a:t>Pentru comparații echitabile, autorii folosesc aceleași setări și intrări de referință. În experimentul 1, arhitectura rămâne aceeași; în experimentul 2, BasicVSR primește două imagini LR pe cadru.</a:t>
            </a:r>
            <a:endParaRPr lang="ro-RO" sz="1700" dirty="0">
              <a:solidFill>
                <a:srgbClr val="F4F7FB"/>
              </a:solidFill>
              <a:latin typeface="Aptos" panose="020B0004020202020204" pitchFamily="34" charset="0"/>
            </a:endParaRPr>
          </a:p>
        </p:txBody>
      </p:sp>
      <p:sp xmlns:p="http://schemas.openxmlformats.org/presentationml/2006/main">
        <p:nvSpPr>
          <p:cNvPr id="28" name="Slide number"/>
          <p:cNvSpPr/>
          <p:nvPr/>
        </p:nvSpPr>
        <p:spPr>
          <a:xfrm xmlns:a="http://schemas.openxmlformats.org/drawingml/2006/main">
            <a:off x="11009376" y="6492240"/>
            <a:ext cx="475488" cy="228600"/>
          </a:xfrm>
          <a:prstGeom xmlns:a="http://schemas.openxmlformats.org/drawingml/2006/main" prst="rect">
            <a:avLst/>
          </a:prstGeom>
          <a:noFill xmlns:a="http://schemas.openxmlformats.org/drawingml/2006/main"/>
          <a:ln xmlns:a="http://schemas.openxmlformats.org/drawingml/2006/main"/>
        </p:spPr>
        <p:txBody>
          <a:bodyPr xmlns:a="http://schemas.openxmlformats.org/drawingml/2006/main" wrap="square" lIns="0" tIns="0" rIns="0" bIns="0" rtlCol="0" anchor="ctr"/>
          <a:lstStyle xmlns:a="http://schemas.openxmlformats.org/drawingml/2006/main"/>
          <a:p xmlns:a="http://schemas.openxmlformats.org/drawingml/2006/main">
            <a:pPr marL="0" indent="0" algn="r">
              <a:buNone/>
            </a:pPr>
            <a:r>
              <a:rPr lang="ro-RO" sz="1000" b="1">
                <a:solidFill>
                  <a:srgbClr val="52D6D3"/>
                </a:solidFill>
                <a:latin typeface="Aptos" pitchFamily="34" charset="0"/>
                <a:ea typeface="Aptos" pitchFamily="34" charset="-122"/>
                <a:cs typeface="Aptos" pitchFamily="34" charset="-120"/>
              </a:rPr>
              <a:t>13</a:t>
            </a:r>
            <a:endParaRPr lang="ro-RO"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19" name="Title">
            <a:extLst>
              <a:ext uri="{FF2B5EF4-FFF2-40B4-BE49-F238E27FC236}">
                <a16:creationId xmlns:a16="http://schemas.microsoft.com/office/drawing/2014/main" id="{063C0756-9483-CA25-C84F-D16AE8B361EB}"/>
              </a:ext>
            </a:extLst>
          </p:cNvPr>
          <p:cNvSpPr txBox="1"/>
          <p:nvPr/>
        </p:nvSpPr>
        <p:spPr>
          <a:xfrm>
            <a:off x="571500" y="330200"/>
            <a:ext cx="11049000" cy="276999"/>
          </a:xfrm>
          <a:prstGeom prst="rect">
            <a:avLst/>
          </a:prstGeom>
          <a:noFill/>
        </p:spPr>
        <p:txBody>
          <a:bodyPr vert="horz" wrap="square" lIns="0" tIns="0" rIns="0" bIns="0" rtlCol="0">
            <a:noAutofit/>
          </a:bodyPr>
          <a:lstStyle/>
          <a:p>
            <a:pPr>
              <a:spcAft>
                <a:spcPts val="400"/>
              </a:spcAft>
            </a:pPr>
            <a:r>
              <a:rPr lang="ro-RO" sz="2800" b="1">
                <a:solidFill>
                  <a:srgbClr val="F4F7FB"/>
                </a:solidFill>
                <a:latin typeface="Aptos" panose="020B0004020202020204" pitchFamily="34" charset="0"/>
              </a:rPr>
              <a:t>Reconstrucția și analiza: ce se verifică?</a:t>
            </a:r>
            <a:endParaRPr lang="ro-RO" sz="2800" b="1" dirty="0">
              <a:solidFill>
                <a:srgbClr val="F4F7FB"/>
              </a:solidFill>
              <a:latin typeface="Aptos" panose="020B0004020202020204" pitchFamily="34" charset="0"/>
            </a:endParaRPr>
          </a:p>
        </p:txBody>
      </p:sp>
      <p:sp>
        <p:nvSpPr>
          <p:cNvPr id="21" name="Subtitle">
            <a:extLst>
              <a:ext uri="{FF2B5EF4-FFF2-40B4-BE49-F238E27FC236}">
                <a16:creationId xmlns:a16="http://schemas.microsoft.com/office/drawing/2014/main" id="{094A90D5-B026-AD29-4D2E-9E214D004EF3}"/>
              </a:ext>
            </a:extLst>
          </p:cNvPr>
          <p:cNvSpPr txBox="1"/>
          <p:nvPr/>
        </p:nvSpPr>
        <p:spPr>
          <a:xfrm>
            <a:off x="584200" y="977900"/>
            <a:ext cx="10985500" cy="276999"/>
          </a:xfrm>
          <a:prstGeom prst="rect">
            <a:avLst/>
          </a:prstGeom>
          <a:noFill/>
        </p:spPr>
        <p:txBody>
          <a:bodyPr vert="horz" wrap="square" lIns="0" tIns="0" rIns="0" bIns="0" rtlCol="0">
            <a:noAutofit/>
          </a:bodyPr>
          <a:lstStyle/>
          <a:p>
            <a:pPr>
              <a:spcAft>
                <a:spcPts val="400"/>
              </a:spcAft>
            </a:pPr>
            <a:r>
              <a:rPr lang="ro-RO" sz="1300">
                <a:solidFill>
                  <a:srgbClr val="B9C9DB"/>
                </a:solidFill>
                <a:latin typeface="Aptos" panose="020B0004020202020204" pitchFamily="34" charset="0"/>
              </a:rPr>
              <a:t>Măsurările rămân imagini LR; rețeaua învață să reconstruiască detaliile HR folosind și timpul.</a:t>
            </a:r>
            <a:endParaRPr lang="ro-RO" sz="1300" dirty="0">
              <a:solidFill>
                <a:srgbClr val="B9C9DB"/>
              </a:solidFill>
              <a:latin typeface="Aptos" panose="020B0004020202020204" pitchFamily="34" charset="0"/>
            </a:endParaRPr>
          </a:p>
        </p:txBody>
      </p:sp>
      <p:cxnSp>
        <p:nvCxnSpPr>
          <p:cNvPr id="22" name="Straight Connector 21">
            <a:extLst>
              <a:ext uri="{FF2B5EF4-FFF2-40B4-BE49-F238E27FC236}">
                <a16:creationId xmlns:a16="http://schemas.microsoft.com/office/drawing/2014/main" id="{EE066FD4-DA07-3946-2C15-4B8D5E3E68F8}"/>
              </a:ext>
            </a:extLst>
          </p:cNvPr>
          <p:cNvCxnSpPr/>
          <p:nvPr/>
        </p:nvCxnSpPr>
        <p:spPr>
          <a:xfrm>
            <a:off x="571500" y="1460500"/>
            <a:ext cx="11049000" cy="0"/>
          </a:xfrm>
          <a:prstGeom prst="line">
            <a:avLst/>
          </a:prstGeom>
          <a:ln>
            <a:solidFill>
              <a:srgbClr val="34475D"/>
            </a:solidFill>
          </a:ln>
        </p:spPr>
        <p:style>
          <a:lnRef idx="1">
            <a:schemeClr val="accent1"/>
          </a:lnRef>
          <a:fillRef idx="0">
            <a:schemeClr val="accent1"/>
          </a:fillRef>
          <a:effectRef idx="0">
            <a:schemeClr val="accent1"/>
          </a:effectRef>
          <a:fontRef idx="minor">
            <a:schemeClr val="tx1"/>
          </a:fontRef>
        </p:style>
      </p:cxnSp>
      <p:sp>
        <p:nvSpPr>
          <p:cNvPr id="23" name="Source">
            <a:extLst>
              <a:ext uri="{FF2B5EF4-FFF2-40B4-BE49-F238E27FC236}">
                <a16:creationId xmlns:a16="http://schemas.microsoft.com/office/drawing/2014/main" id="{80E7CF1E-DF28-28BA-4097-853BBC1759CA}"/>
              </a:ext>
            </a:extLst>
          </p:cNvPr>
          <p:cNvSpPr txBox="1"/>
          <p:nvPr/>
        </p:nvSpPr>
        <p:spPr>
          <a:xfrm>
            <a:off x="584200" y="6477000"/>
            <a:ext cx="10414000" cy="276999"/>
          </a:xfrm>
          <a:prstGeom prst="rect">
            <a:avLst/>
          </a:prstGeom>
          <a:noFill/>
        </p:spPr>
        <p:txBody>
          <a:bodyPr vert="horz" wrap="square" lIns="0" tIns="0" rIns="0" bIns="0" rtlCol="0">
            <a:noAutofit/>
          </a:bodyPr>
          <a:lstStyle/>
          <a:p>
            <a:pPr>
              <a:spcAft>
                <a:spcPts val="400"/>
              </a:spcAft>
            </a:pPr>
            <a:r>
              <a:rPr lang="ro-RO" sz="900">
                <a:solidFill>
                  <a:srgbClr val="B9C9DB"/>
                </a:solidFill>
                <a:latin typeface="Aptos" panose="020B0004020202020204" pitchFamily="34" charset="0"/>
              </a:rPr>
              <a:t>Sursa: Katz et al., Reconstruction; Figura 7. Detaliile numerice ale testelor comparative sunt în materialul suplimentar.</a:t>
            </a:r>
            <a:endParaRPr lang="ro-RO" sz="900" dirty="0">
              <a:solidFill>
                <a:srgbClr val="B9C9DB"/>
              </a:solidFill>
              <a:latin typeface="Aptos" panose="020B0004020202020204" pitchFamily="34" charset="0"/>
            </a:endParaRPr>
          </a:p>
        </p:txBody>
      </p:sp>
      <p:sp>
        <p:nvSpPr>
          <p:cNvPr id="24" name="Page">
            <a:extLst>
              <a:ext uri="{FF2B5EF4-FFF2-40B4-BE49-F238E27FC236}">
                <a16:creationId xmlns:a16="http://schemas.microsoft.com/office/drawing/2014/main" id="{A6888BC9-353A-6DEC-3A09-80FF4B834485}"/>
              </a:ext>
            </a:extLst>
          </p:cNvPr>
          <p:cNvSpPr txBox="1"/>
          <p:nvPr/>
        </p:nvSpPr>
        <p:spPr>
          <a:xfrm>
            <a:off x="11252200" y="6477000"/>
            <a:ext cx="381000" cy="276999"/>
          </a:xfrm>
          <a:prstGeom prst="rect">
            <a:avLst/>
          </a:prstGeom>
          <a:noFill/>
        </p:spPr>
        <p:txBody>
          <a:bodyPr vert="horz" wrap="square" lIns="0" tIns="0" rIns="0" bIns="0" rtlCol="0">
            <a:noAutofit/>
          </a:bodyPr>
          <a:lstStyle/>
          <a:p>
            <a:pPr>
              <a:spcAft>
                <a:spcPts val="400"/>
              </a:spcAft>
            </a:pPr>
            <a:r>
              <a:rPr lang="ro-RO" sz="1000" b="1">
                <a:solidFill>
                  <a:srgbClr val="52D6D3"/>
                </a:solidFill>
                <a:latin typeface="Aptos" panose="020B0004020202020204" pitchFamily="34" charset="0"/>
              </a:rPr>
              <a:t>14</a:t>
            </a:r>
            <a:endParaRPr lang="ro-RO" sz="1000" b="1" dirty="0">
              <a:solidFill>
                <a:srgbClr val="52D6D3"/>
              </a:solidFill>
              <a:latin typeface="Aptos" panose="020B0004020202020204" pitchFamily="34" charset="0"/>
            </a:endParaRPr>
          </a:p>
        </p:txBody>
      </p:sp>
      <p:sp>
        <p:nvSpPr>
          <p:cNvPr id="25" name="Rectangle 24">
            <a:extLst>
              <a:ext uri="{FF2B5EF4-FFF2-40B4-BE49-F238E27FC236}">
                <a16:creationId xmlns:a16="http://schemas.microsoft.com/office/drawing/2014/main" id="{04B4363E-ED45-0851-222E-4E62C144DC02}"/>
              </a:ext>
            </a:extLst>
          </p:cNvPr>
          <p:cNvSpPr/>
          <p:nvPr/>
        </p:nvSpPr>
        <p:spPr>
          <a:xfrm>
            <a:off x="571500" y="1689100"/>
            <a:ext cx="5410200" cy="2349500"/>
          </a:xfrm>
          <a:prstGeom prst="rect">
            <a:avLst/>
          </a:prstGeom>
          <a:solidFill>
            <a:srgbClr val="1725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ne input heading">
            <a:extLst>
              <a:ext uri="{FF2B5EF4-FFF2-40B4-BE49-F238E27FC236}">
                <a16:creationId xmlns:a16="http://schemas.microsoft.com/office/drawing/2014/main" id="{7ABE434B-2CAB-DE23-4999-6132E65E948A}"/>
              </a:ext>
            </a:extLst>
          </p:cNvPr>
          <p:cNvSpPr txBox="1"/>
          <p:nvPr/>
        </p:nvSpPr>
        <p:spPr>
          <a:xfrm>
            <a:off x="774700" y="1841500"/>
            <a:ext cx="5003800" cy="276999"/>
          </a:xfrm>
          <a:prstGeom prst="rect">
            <a:avLst/>
          </a:prstGeom>
          <a:noFill/>
        </p:spPr>
        <p:txBody>
          <a:bodyPr vert="horz" wrap="square" lIns="0" tIns="0" rIns="0" bIns="0" rtlCol="0">
            <a:noAutofit/>
          </a:bodyPr>
          <a:lstStyle/>
          <a:p>
            <a:pPr>
              <a:spcAft>
                <a:spcPts val="400"/>
              </a:spcAft>
            </a:pPr>
            <a:r>
              <a:rPr lang="ro-RO" sz="1900" b="1">
                <a:solidFill>
                  <a:srgbClr val="52D6D3"/>
                </a:solidFill>
                <a:latin typeface="Aptos" panose="020B0004020202020204" pitchFamily="34" charset="0"/>
              </a:rPr>
              <a:t>O singură măsurare: rețele nemodificate</a:t>
            </a:r>
            <a:endParaRPr lang="ro-RO" sz="1900" b="1" dirty="0">
              <a:solidFill>
                <a:srgbClr val="52D6D3"/>
              </a:solidFill>
              <a:latin typeface="Aptos" panose="020B0004020202020204" pitchFamily="34" charset="0"/>
            </a:endParaRPr>
          </a:p>
        </p:txBody>
      </p:sp>
      <p:sp>
        <p:nvSpPr>
          <p:cNvPr id="27" name="One input body">
            <a:extLst>
              <a:ext uri="{FF2B5EF4-FFF2-40B4-BE49-F238E27FC236}">
                <a16:creationId xmlns:a16="http://schemas.microsoft.com/office/drawing/2014/main" id="{72ADD950-95BB-ADFC-FEB9-449FAF845E52}"/>
              </a:ext>
            </a:extLst>
          </p:cNvPr>
          <p:cNvSpPr txBox="1"/>
          <p:nvPr/>
        </p:nvSpPr>
        <p:spPr>
          <a:xfrm>
            <a:off x="774700" y="2336800"/>
            <a:ext cx="5003800" cy="276999"/>
          </a:xfrm>
          <a:prstGeom prst="rect">
            <a:avLst/>
          </a:prstGeom>
          <a:noFill/>
        </p:spPr>
        <p:txBody>
          <a:bodyPr vert="horz" wrap="square" lIns="0" tIns="0" rIns="0" bIns="0" rtlCol="0">
            <a:noAutofit/>
          </a:bodyPr>
          <a:lstStyle/>
          <a:p>
            <a:pPr>
              <a:spcAft>
                <a:spcPts val="400"/>
              </a:spcAft>
            </a:pPr>
            <a:r>
              <a:rPr lang="ro-RO" sz="1700">
                <a:solidFill>
                  <a:srgbClr val="F4F7FB"/>
                </a:solidFill>
                <a:latin typeface="Aptos" panose="020B0004020202020204" pitchFamily="34" charset="0"/>
              </a:rPr>
              <a:t>O imagine RGB LR / cadru → BasicVSR, RVRT sau IART → RGB HR.</a:t>
            </a:r>
          </a:p>
          <a:p>
            <a:pPr>
              <a:spcAft>
                <a:spcPts val="400"/>
              </a:spcAft>
            </a:pPr>
            <a:r>
              <a:rPr lang="ro-RO" sz="1700">
                <a:solidFill>
                  <a:srgbClr val="F4F7FB"/>
                </a:solidFill>
                <a:latin typeface="Aptos" panose="020B0004020202020204" pitchFamily="34" charset="0"/>
              </a:rPr>
              <a:t>Fiecare model este antrenat pentru Bicubic, 16Sum și Random.</a:t>
            </a:r>
          </a:p>
          <a:p>
            <a:pPr>
              <a:spcAft>
                <a:spcPts val="400"/>
              </a:spcAft>
            </a:pPr>
            <a:r>
              <a:rPr lang="ro-RO" sz="1700">
                <a:solidFill>
                  <a:srgbClr val="F4F7FB"/>
                </a:solidFill>
                <a:latin typeface="Aptos" panose="020B0004020202020204" pitchFamily="34" charset="0"/>
              </a:rPr>
              <a:t>Testul urmărește efectul achiziției, fără schimbarea arhitecturii.</a:t>
            </a:r>
            <a:endParaRPr lang="ro-RO" sz="1700" dirty="0">
              <a:solidFill>
                <a:srgbClr val="F4F7FB"/>
              </a:solidFill>
              <a:latin typeface="Aptos" panose="020B0004020202020204" pitchFamily="34" charset="0"/>
            </a:endParaRPr>
          </a:p>
        </p:txBody>
      </p:sp>
      <p:sp>
        <p:nvSpPr>
          <p:cNvPr id="28" name="Rectangle 27">
            <a:extLst>
              <a:ext uri="{FF2B5EF4-FFF2-40B4-BE49-F238E27FC236}">
                <a16:creationId xmlns:a16="http://schemas.microsoft.com/office/drawing/2014/main" id="{B4E873D4-9BC0-BEFB-0805-5426183B9073}"/>
              </a:ext>
            </a:extLst>
          </p:cNvPr>
          <p:cNvSpPr/>
          <p:nvPr/>
        </p:nvSpPr>
        <p:spPr>
          <a:xfrm>
            <a:off x="6210300" y="1689100"/>
            <a:ext cx="5410200" cy="2349500"/>
          </a:xfrm>
          <a:prstGeom prst="rect">
            <a:avLst/>
          </a:prstGeom>
          <a:solidFill>
            <a:srgbClr val="1725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wo inputs heading">
            <a:extLst>
              <a:ext uri="{FF2B5EF4-FFF2-40B4-BE49-F238E27FC236}">
                <a16:creationId xmlns:a16="http://schemas.microsoft.com/office/drawing/2014/main" id="{8ADAB620-538E-D608-6A49-10202D842D81}"/>
              </a:ext>
            </a:extLst>
          </p:cNvPr>
          <p:cNvSpPr txBox="1"/>
          <p:nvPr/>
        </p:nvSpPr>
        <p:spPr>
          <a:xfrm>
            <a:off x="6413500" y="1841500"/>
            <a:ext cx="5003800" cy="276999"/>
          </a:xfrm>
          <a:prstGeom prst="rect">
            <a:avLst/>
          </a:prstGeom>
          <a:noFill/>
        </p:spPr>
        <p:txBody>
          <a:bodyPr vert="horz" wrap="square" lIns="0" tIns="0" rIns="0" bIns="0" rtlCol="0">
            <a:noAutofit/>
          </a:bodyPr>
          <a:lstStyle/>
          <a:p>
            <a:pPr>
              <a:spcAft>
                <a:spcPts val="400"/>
              </a:spcAft>
            </a:pPr>
            <a:r>
              <a:rPr lang="ro-RO" sz="1900" b="1">
                <a:solidFill>
                  <a:srgbClr val="FFC870"/>
                </a:solidFill>
                <a:latin typeface="Aptos" panose="020B0004020202020204" pitchFamily="34" charset="0"/>
              </a:rPr>
              <a:t>Două măsurări: BasicVSR adaptat</a:t>
            </a:r>
            <a:endParaRPr lang="ro-RO" sz="1900" b="1" dirty="0">
              <a:solidFill>
                <a:srgbClr val="FFC870"/>
              </a:solidFill>
              <a:latin typeface="Aptos" panose="020B0004020202020204" pitchFamily="34" charset="0"/>
            </a:endParaRPr>
          </a:p>
        </p:txBody>
      </p:sp>
      <p:sp>
        <p:nvSpPr>
          <p:cNvPr id="30" name="Two inputs body">
            <a:extLst>
              <a:ext uri="{FF2B5EF4-FFF2-40B4-BE49-F238E27FC236}">
                <a16:creationId xmlns:a16="http://schemas.microsoft.com/office/drawing/2014/main" id="{0B85BA0E-A44D-8519-BCA7-F4B5C54223C3}"/>
              </a:ext>
            </a:extLst>
          </p:cNvPr>
          <p:cNvSpPr txBox="1"/>
          <p:nvPr/>
        </p:nvSpPr>
        <p:spPr>
          <a:xfrm>
            <a:off x="6413500" y="2336800"/>
            <a:ext cx="5003800" cy="276999"/>
          </a:xfrm>
          <a:prstGeom prst="rect">
            <a:avLst/>
          </a:prstGeom>
          <a:noFill/>
        </p:spPr>
        <p:txBody>
          <a:bodyPr vert="horz" wrap="square" lIns="0" tIns="0" rIns="0" bIns="0" rtlCol="0">
            <a:noAutofit/>
          </a:bodyPr>
          <a:lstStyle/>
          <a:p>
            <a:pPr>
              <a:spcAft>
                <a:spcPts val="400"/>
              </a:spcAft>
            </a:pPr>
            <a:r>
              <a:rPr lang="ro-RO" sz="1700">
                <a:solidFill>
                  <a:srgbClr val="F4F7FB"/>
                </a:solidFill>
                <a:latin typeface="Aptos" panose="020B0004020202020204" pitchFamily="34" charset="0"/>
              </a:rPr>
              <a:t>Yo și Ye se concatenează pe canale: 3 + 3 = 6 canale / cadru.</a:t>
            </a:r>
          </a:p>
          <a:p>
            <a:pPr>
              <a:spcAft>
                <a:spcPts val="400"/>
              </a:spcAft>
            </a:pPr>
            <a:r>
              <a:rPr lang="ro-RO" sz="1700">
                <a:solidFill>
                  <a:srgbClr val="F4F7FB"/>
                </a:solidFill>
                <a:latin typeface="Aptos" panose="020B0004020202020204" pitchFamily="34" charset="0"/>
              </a:rPr>
              <a:t>Se adaptează primul și ultimul strat; o convoluție 1 × 1 readuce ieșirea la RGB.</a:t>
            </a:r>
          </a:p>
          <a:p>
            <a:pPr>
              <a:spcAft>
                <a:spcPts val="400"/>
              </a:spcAft>
            </a:pPr>
            <a:r>
              <a:rPr lang="ro-RO" sz="1700">
                <a:solidFill>
                  <a:srgbClr val="F4F7FB"/>
                </a:solidFill>
                <a:latin typeface="Aptos" panose="020B0004020202020204" pitchFamily="34" charset="0"/>
              </a:rPr>
              <a:t>Numărul de pași temporali rămâne același.</a:t>
            </a:r>
            <a:endParaRPr lang="ro-RO" sz="1700" dirty="0">
              <a:solidFill>
                <a:srgbClr val="F4F7FB"/>
              </a:solidFill>
              <a:latin typeface="Aptos" panose="020B0004020202020204" pitchFamily="34" charset="0"/>
            </a:endParaRPr>
          </a:p>
        </p:txBody>
      </p:sp>
      <p:sp>
        <p:nvSpPr>
          <p:cNvPr id="31" name="Rectangle 30">
            <a:extLst>
              <a:ext uri="{FF2B5EF4-FFF2-40B4-BE49-F238E27FC236}">
                <a16:creationId xmlns:a16="http://schemas.microsoft.com/office/drawing/2014/main" id="{EAC51EC8-F37C-B5FD-7898-EA83358EC95D}"/>
              </a:ext>
            </a:extLst>
          </p:cNvPr>
          <p:cNvSpPr/>
          <p:nvPr/>
        </p:nvSpPr>
        <p:spPr>
          <a:xfrm>
            <a:off x="546100" y="4256901"/>
            <a:ext cx="11049000" cy="2110032"/>
          </a:xfrm>
          <a:prstGeom prst="rect">
            <a:avLst/>
          </a:prstGeom>
          <a:solidFill>
            <a:srgbClr val="1725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blations heading">
            <a:extLst>
              <a:ext uri="{FF2B5EF4-FFF2-40B4-BE49-F238E27FC236}">
                <a16:creationId xmlns:a16="http://schemas.microsoft.com/office/drawing/2014/main" id="{10CEAD10-002F-B3F2-4FE5-C009D328FFD0}"/>
              </a:ext>
            </a:extLst>
          </p:cNvPr>
          <p:cNvSpPr txBox="1"/>
          <p:nvPr/>
        </p:nvSpPr>
        <p:spPr>
          <a:xfrm>
            <a:off x="774700" y="4368800"/>
            <a:ext cx="10642600" cy="276999"/>
          </a:xfrm>
          <a:prstGeom prst="rect">
            <a:avLst/>
          </a:prstGeom>
          <a:noFill/>
        </p:spPr>
        <p:txBody>
          <a:bodyPr vert="horz" wrap="square" lIns="0" tIns="0" rIns="0" bIns="0" rtlCol="0">
            <a:noAutofit/>
          </a:bodyPr>
          <a:lstStyle/>
          <a:p>
            <a:pPr>
              <a:spcAft>
                <a:spcPts val="400"/>
              </a:spcAft>
            </a:pPr>
            <a:r>
              <a:rPr lang="ro-RO" sz="1900" b="1">
                <a:solidFill>
                  <a:srgbClr val="52D6D3"/>
                </a:solidFill>
                <a:latin typeface="Aptos" panose="020B0004020202020204" pitchFamily="34" charset="0"/>
              </a:rPr>
              <a:t>Teste comparative prezentate în articol</a:t>
            </a:r>
            <a:endParaRPr lang="ro-RO" sz="1900" b="1" dirty="0">
              <a:solidFill>
                <a:srgbClr val="52D6D3"/>
              </a:solidFill>
              <a:latin typeface="Aptos" panose="020B0004020202020204" pitchFamily="34" charset="0"/>
            </a:endParaRPr>
          </a:p>
        </p:txBody>
      </p:sp>
      <p:sp>
        <p:nvSpPr>
          <p:cNvPr id="33" name="Ablations body">
            <a:extLst>
              <a:ext uri="{FF2B5EF4-FFF2-40B4-BE49-F238E27FC236}">
                <a16:creationId xmlns:a16="http://schemas.microsoft.com/office/drawing/2014/main" id="{6A39E7BE-0533-093C-17F3-5966C246625E}"/>
              </a:ext>
            </a:extLst>
          </p:cNvPr>
          <p:cNvSpPr txBox="1"/>
          <p:nvPr/>
        </p:nvSpPr>
        <p:spPr>
          <a:xfrm>
            <a:off x="774700" y="4864100"/>
            <a:ext cx="10642600" cy="1502833"/>
          </a:xfrm>
          <a:prstGeom prst="rect">
            <a:avLst/>
          </a:prstGeom>
          <a:noFill/>
        </p:spPr>
        <p:txBody>
          <a:bodyPr vert="horz" wrap="square" lIns="0" tIns="0" rIns="0" bIns="0" rtlCol="0">
            <a:noAutofit/>
          </a:bodyPr>
          <a:lstStyle/>
          <a:p>
            <a:pPr>
              <a:spcAft>
                <a:spcPts val="400"/>
              </a:spcAft>
            </a:pPr>
            <a:r>
              <a:rPr lang="ro-RO" sz="1700">
                <a:solidFill>
                  <a:schemeClr val="bg1"/>
                </a:solidFill>
              </a:rPr>
              <a:t>• Concatenarea măsurărilor pe canale de culoare</a:t>
            </a:r>
          </a:p>
          <a:p>
            <a:r>
              <a:rPr lang="ro-RO">
                <a:solidFill>
                  <a:schemeClr val="bg1"/>
                </a:solidFill>
              </a:rPr>
              <a:t>• </a:t>
            </a:r>
            <a:r>
              <a:rPr lang="ro-RO" sz="1700">
                <a:solidFill>
                  <a:schemeClr val="bg1"/>
                </a:solidFill>
                <a:latin typeface="+mj-lt"/>
              </a:rPr>
              <a:t>În configurația cu două măsurări pe cadru, fiecare mască produce o imagine RGB de rezoluție mică. </a:t>
            </a:r>
          </a:p>
          <a:p>
            <a:r>
              <a:rPr lang="ro-RO" sz="1600">
                <a:solidFill>
                  <a:schemeClr val="bg1"/>
                </a:solidFill>
              </a:rPr>
              <a:t>• </a:t>
            </a:r>
            <a:r>
              <a:rPr lang="ro-RO" sz="1700">
                <a:solidFill>
                  <a:schemeClr val="bg1"/>
                </a:solidFill>
                <a:latin typeface="+mj-lt"/>
              </a:rPr>
              <a:t>Rețeaua primește cele două imagini împreună, sub forma unei intrări cu 6 canale: [R₁, G₁, B₁, R₂, G₂, B₂]</a:t>
            </a:r>
          </a:p>
          <a:p>
            <a:r>
              <a:rPr lang="ro-RO">
                <a:solidFill>
                  <a:schemeClr val="bg1"/>
                </a:solidFill>
              </a:rPr>
              <a:t>• Comparativ cu celelalte adaptări testate, această variantă oferă o reconstrucție mai bună și un timp de procesare mai scurt.</a:t>
            </a:r>
            <a:endParaRPr lang="ro-RO" sz="1700">
              <a:solidFill>
                <a:schemeClr val="bg1"/>
              </a:solidFill>
              <a:latin typeface="+mj-lt"/>
            </a:endParaRPr>
          </a:p>
          <a:p>
            <a:endParaRPr lang="ro-RO" sz="1700">
              <a:solidFill>
                <a:schemeClr val="bg1"/>
              </a:solidFill>
              <a:latin typeface="+mj-lt"/>
            </a:endParaRPr>
          </a:p>
          <a:p>
            <a:pPr>
              <a:spcAft>
                <a:spcPts val="400"/>
              </a:spcAft>
            </a:pPr>
            <a:endParaRPr lang="ro-RO" sz="1700">
              <a:solidFill>
                <a:schemeClr val="bg1"/>
              </a:solidFill>
            </a:endParaRPr>
          </a:p>
          <a:p>
            <a:pPr>
              <a:spcAft>
                <a:spcPts val="400"/>
              </a:spcAft>
            </a:pPr>
            <a:endParaRPr lang="ro-RO" sz="1700" dirty="0">
              <a:solidFill>
                <a:schemeClr val="bg1"/>
              </a:solidFill>
              <a:latin typeface="Aptos" panose="020B0004020202020204" pitchFamily="34" charset="0"/>
            </a:endParaRPr>
          </a:p>
        </p:txBody>
      </p:sp>
      <p:sp xmlns:p="http://schemas.openxmlformats.org/presentationml/2006/main">
        <p:nvSpPr>
          <p:cNvPr id="34" name="Slide number"/>
          <p:cNvSpPr/>
          <p:nvPr/>
        </p:nvSpPr>
        <p:spPr>
          <a:xfrm xmlns:a="http://schemas.openxmlformats.org/drawingml/2006/main">
            <a:off x="11009376" y="6492240"/>
            <a:ext cx="475488" cy="228600"/>
          </a:xfrm>
          <a:prstGeom xmlns:a="http://schemas.openxmlformats.org/drawingml/2006/main" prst="rect">
            <a:avLst/>
          </a:prstGeom>
          <a:noFill xmlns:a="http://schemas.openxmlformats.org/drawingml/2006/main"/>
          <a:ln xmlns:a="http://schemas.openxmlformats.org/drawingml/2006/main"/>
        </p:spPr>
        <p:txBody>
          <a:bodyPr xmlns:a="http://schemas.openxmlformats.org/drawingml/2006/main" wrap="square" lIns="0" tIns="0" rIns="0" bIns="0" rtlCol="0" anchor="ctr"/>
          <a:lstStyle xmlns:a="http://schemas.openxmlformats.org/drawingml/2006/main"/>
          <a:p xmlns:a="http://schemas.openxmlformats.org/drawingml/2006/main">
            <a:pPr marL="0" indent="0" algn="r">
              <a:buNone/>
            </a:pPr>
            <a:r>
              <a:rPr lang="ro-RO" sz="1000" b="1">
                <a:solidFill>
                  <a:srgbClr val="52D6D3"/>
                </a:solidFill>
                <a:latin typeface="Aptos" pitchFamily="34" charset="0"/>
                <a:ea typeface="Aptos" pitchFamily="34" charset="-122"/>
                <a:cs typeface="Aptos" pitchFamily="34" charset="-120"/>
              </a:rPr>
              <a:t>14</a:t>
            </a:r>
            <a:endParaRPr lang="ro-RO" sz="1000" dirty="0"/>
          </a:p>
        </p:txBody>
      </p:sp>
    </p:spTree>
    <p:extLst>
      <p:ext uri="{BB962C8B-B14F-4D97-AF65-F5344CB8AC3E}">
        <p14:creationId xmlns:p14="http://schemas.microsoft.com/office/powerpoint/2010/main" val="2959588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F3EEF6DD-28AD-5F37-C936-8869EB85DFDF}"/>
              </a:ext>
            </a:extLst>
          </p:cNvPr>
          <p:cNvSpPr txBox="1"/>
          <p:nvPr/>
        </p:nvSpPr>
        <p:spPr>
          <a:xfrm>
            <a:off x="571500" y="330200"/>
            <a:ext cx="11049000" cy="276999"/>
          </a:xfrm>
          <a:prstGeom prst="rect">
            <a:avLst/>
          </a:prstGeom>
          <a:noFill/>
        </p:spPr>
        <p:txBody>
          <a:bodyPr vert="horz" wrap="square" lIns="0" tIns="0" rIns="0" bIns="0" rtlCol="0">
            <a:noAutofit/>
          </a:bodyPr>
          <a:lstStyle/>
          <a:p>
            <a:pPr>
              <a:spcAft>
                <a:spcPts val="400"/>
              </a:spcAft>
            </a:pPr>
            <a:r>
              <a:rPr lang="ro-RO" sz="2800" b="1">
                <a:solidFill>
                  <a:srgbClr val="F4F7FB"/>
                </a:solidFill>
                <a:latin typeface="Aptos" panose="020B0004020202020204" pitchFamily="34" charset="0"/>
              </a:rPr>
              <a:t>Experimentul 1: Bicubic vs 16Sum vs Random</a:t>
            </a:r>
            <a:endParaRPr lang="ro-RO" sz="2800" b="1" dirty="0">
              <a:solidFill>
                <a:srgbClr val="F4F7FB"/>
              </a:solidFill>
              <a:latin typeface="Aptos" panose="020B0004020202020204" pitchFamily="34" charset="0"/>
            </a:endParaRPr>
          </a:p>
        </p:txBody>
      </p:sp>
      <p:sp>
        <p:nvSpPr>
          <p:cNvPr id="49" name="Subtitle">
            <a:extLst>
              <a:ext uri="{FF2B5EF4-FFF2-40B4-BE49-F238E27FC236}">
                <a16:creationId xmlns:a16="http://schemas.microsoft.com/office/drawing/2014/main" id="{D7ED15AA-4ADE-FEBA-D555-BE1646313C2B}"/>
              </a:ext>
            </a:extLst>
          </p:cNvPr>
          <p:cNvSpPr txBox="1"/>
          <p:nvPr/>
        </p:nvSpPr>
        <p:spPr>
          <a:xfrm>
            <a:off x="584200" y="977900"/>
            <a:ext cx="10985500" cy="276999"/>
          </a:xfrm>
          <a:prstGeom prst="rect">
            <a:avLst/>
          </a:prstGeom>
          <a:noFill/>
        </p:spPr>
        <p:txBody>
          <a:bodyPr vert="horz" wrap="square" lIns="0" tIns="0" rIns="0" bIns="0" rtlCol="0">
            <a:noAutofit/>
          </a:bodyPr>
          <a:lstStyle/>
          <a:p>
            <a:pPr>
              <a:spcAft>
                <a:spcPts val="400"/>
              </a:spcAft>
            </a:pPr>
            <a:r>
              <a:rPr lang="ro-RO" sz="1300">
                <a:solidFill>
                  <a:srgbClr val="B9C9DB"/>
                </a:solidFill>
                <a:latin typeface="Aptos" panose="020B0004020202020204" pitchFamily="34" charset="0"/>
              </a:rPr>
              <a:t>O măsurare / bloc / cadru • CR = 1/16 • PSNR în dB ↑ • fiecare model este antrenat pentru fiecare schemă.</a:t>
            </a:r>
            <a:endParaRPr lang="ro-RO" sz="1300" dirty="0">
              <a:solidFill>
                <a:srgbClr val="B9C9DB"/>
              </a:solidFill>
              <a:latin typeface="Aptos" panose="020B0004020202020204" pitchFamily="34" charset="0"/>
            </a:endParaRPr>
          </a:p>
        </p:txBody>
      </p:sp>
      <p:cxnSp>
        <p:nvCxnSpPr>
          <p:cNvPr id="50" name="Straight Connector 49">
            <a:extLst>
              <a:ext uri="{FF2B5EF4-FFF2-40B4-BE49-F238E27FC236}">
                <a16:creationId xmlns:a16="http://schemas.microsoft.com/office/drawing/2014/main" id="{8A830E62-3665-B07E-4A99-3C0C906E69F2}"/>
              </a:ext>
            </a:extLst>
          </p:cNvPr>
          <p:cNvCxnSpPr/>
          <p:nvPr/>
        </p:nvCxnSpPr>
        <p:spPr>
          <a:xfrm>
            <a:off x="571500" y="1460500"/>
            <a:ext cx="11049000" cy="0"/>
          </a:xfrm>
          <a:prstGeom prst="line">
            <a:avLst/>
          </a:prstGeom>
          <a:ln>
            <a:solidFill>
              <a:srgbClr val="34475D"/>
            </a:solidFill>
          </a:ln>
        </p:spPr>
        <p:style>
          <a:lnRef idx="1">
            <a:schemeClr val="accent1"/>
          </a:lnRef>
          <a:fillRef idx="0">
            <a:schemeClr val="accent1"/>
          </a:fillRef>
          <a:effectRef idx="0">
            <a:schemeClr val="accent1"/>
          </a:effectRef>
          <a:fontRef idx="minor">
            <a:schemeClr val="tx1"/>
          </a:fontRef>
        </p:style>
      </p:cxnSp>
      <p:sp>
        <p:nvSpPr>
          <p:cNvPr id="51" name="Source">
            <a:extLst>
              <a:ext uri="{FF2B5EF4-FFF2-40B4-BE49-F238E27FC236}">
                <a16:creationId xmlns:a16="http://schemas.microsoft.com/office/drawing/2014/main" id="{4CC3E142-B094-7118-A0CD-786402F0D525}"/>
              </a:ext>
            </a:extLst>
          </p:cNvPr>
          <p:cNvSpPr txBox="1"/>
          <p:nvPr/>
        </p:nvSpPr>
        <p:spPr>
          <a:xfrm>
            <a:off x="584200" y="6477000"/>
            <a:ext cx="10414000" cy="276999"/>
          </a:xfrm>
          <a:prstGeom prst="rect">
            <a:avLst/>
          </a:prstGeom>
          <a:noFill/>
        </p:spPr>
        <p:txBody>
          <a:bodyPr vert="horz" wrap="square" lIns="0" tIns="0" rIns="0" bIns="0" rtlCol="0">
            <a:noAutofit/>
          </a:bodyPr>
          <a:lstStyle/>
          <a:p>
            <a:pPr>
              <a:spcAft>
                <a:spcPts val="400"/>
              </a:spcAft>
            </a:pPr>
            <a:r>
              <a:rPr lang="ro-RO" sz="900">
                <a:solidFill>
                  <a:srgbClr val="B9C9DB"/>
                </a:solidFill>
                <a:latin typeface="Aptos" panose="020B0004020202020204" pitchFamily="34" charset="0"/>
              </a:rPr>
              <a:t>Sursa: Katz et al., Tabelul 1 și Figura 9. Δ = Random − 16Sum; valori PSNR rotunjite la 2 zecimale.</a:t>
            </a:r>
            <a:endParaRPr lang="ro-RO" sz="900" dirty="0">
              <a:solidFill>
                <a:srgbClr val="B9C9DB"/>
              </a:solidFill>
              <a:latin typeface="Aptos" panose="020B0004020202020204" pitchFamily="34" charset="0"/>
            </a:endParaRPr>
          </a:p>
        </p:txBody>
      </p:sp>
      <p:sp>
        <p:nvSpPr>
          <p:cNvPr id="52" name="Page">
            <a:extLst>
              <a:ext uri="{FF2B5EF4-FFF2-40B4-BE49-F238E27FC236}">
                <a16:creationId xmlns:a16="http://schemas.microsoft.com/office/drawing/2014/main" id="{41EB17E1-BDC5-8894-A737-1CAEBE2D3832}"/>
              </a:ext>
            </a:extLst>
          </p:cNvPr>
          <p:cNvSpPr txBox="1"/>
          <p:nvPr/>
        </p:nvSpPr>
        <p:spPr>
          <a:xfrm>
            <a:off x="11252200" y="6477000"/>
            <a:ext cx="381000" cy="276999"/>
          </a:xfrm>
          <a:prstGeom prst="rect">
            <a:avLst/>
          </a:prstGeom>
          <a:noFill/>
        </p:spPr>
        <p:txBody>
          <a:bodyPr vert="horz" wrap="square" lIns="0" tIns="0" rIns="0" bIns="0" rtlCol="0">
            <a:noAutofit/>
          </a:bodyPr>
          <a:lstStyle/>
          <a:p>
            <a:pPr>
              <a:spcAft>
                <a:spcPts val="400"/>
              </a:spcAft>
            </a:pPr>
            <a:r>
              <a:rPr lang="ro-RO" sz="1000" b="1">
                <a:solidFill>
                  <a:srgbClr val="52D6D3"/>
                </a:solidFill>
                <a:latin typeface="Aptos" panose="020B0004020202020204" pitchFamily="34" charset="0"/>
              </a:rPr>
              <a:t>15</a:t>
            </a:r>
            <a:endParaRPr lang="ro-RO" sz="1000" b="1" dirty="0">
              <a:solidFill>
                <a:srgbClr val="52D6D3"/>
              </a:solidFill>
              <a:latin typeface="Aptos" panose="020B0004020202020204" pitchFamily="34" charset="0"/>
            </a:endParaRPr>
          </a:p>
        </p:txBody>
      </p:sp>
      <p:graphicFrame>
        <p:nvGraphicFramePr>
          <p:cNvPr id="53" name="Table 52">
            <a:extLst>
              <a:ext uri="{FF2B5EF4-FFF2-40B4-BE49-F238E27FC236}">
                <a16:creationId xmlns:a16="http://schemas.microsoft.com/office/drawing/2014/main" id="{35247F03-FFC1-587C-2602-114C316574D2}"/>
              </a:ext>
            </a:extLst>
          </p:cNvPr>
          <p:cNvGraphicFramePr>
            <a:graphicFrameLocks noGrp="1"/>
          </p:cNvGraphicFramePr>
          <p:nvPr>
            <p:extLst>
              <p:ext uri="{D42A27DB-BD31-4B8C-83A1-F6EECF244321}">
                <p14:modId xmlns:p14="http://schemas.microsoft.com/office/powerpoint/2010/main" val="1211659261"/>
              </p:ext>
            </p:extLst>
          </p:nvPr>
        </p:nvGraphicFramePr>
        <p:xfrm>
          <a:off x="571500" y="1790700"/>
          <a:ext cx="11049000" cy="31115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1770563373"/>
                    </a:ext>
                  </a:extLst>
                </a:gridCol>
                <a:gridCol w="2032000">
                  <a:extLst>
                    <a:ext uri="{9D8B030D-6E8A-4147-A177-3AD203B41FA5}">
                      <a16:colId xmlns:a16="http://schemas.microsoft.com/office/drawing/2014/main" val="2079223505"/>
                    </a:ext>
                  </a:extLst>
                </a:gridCol>
                <a:gridCol w="1587500">
                  <a:extLst>
                    <a:ext uri="{9D8B030D-6E8A-4147-A177-3AD203B41FA5}">
                      <a16:colId xmlns:a16="http://schemas.microsoft.com/office/drawing/2014/main" val="2419835438"/>
                    </a:ext>
                  </a:extLst>
                </a:gridCol>
                <a:gridCol w="1587500">
                  <a:extLst>
                    <a:ext uri="{9D8B030D-6E8A-4147-A177-3AD203B41FA5}">
                      <a16:colId xmlns:a16="http://schemas.microsoft.com/office/drawing/2014/main" val="3993745966"/>
                    </a:ext>
                  </a:extLst>
                </a:gridCol>
                <a:gridCol w="1841500">
                  <a:extLst>
                    <a:ext uri="{9D8B030D-6E8A-4147-A177-3AD203B41FA5}">
                      <a16:colId xmlns:a16="http://schemas.microsoft.com/office/drawing/2014/main" val="2645145127"/>
                    </a:ext>
                  </a:extLst>
                </a:gridCol>
                <a:gridCol w="1587500">
                  <a:extLst>
                    <a:ext uri="{9D8B030D-6E8A-4147-A177-3AD203B41FA5}">
                      <a16:colId xmlns:a16="http://schemas.microsoft.com/office/drawing/2014/main" val="2945907413"/>
                    </a:ext>
                  </a:extLst>
                </a:gridCol>
              </a:tblGrid>
              <a:tr h="444500">
                <a:tc>
                  <a:txBody>
                    <a:bodyPr/>
                    <a:lstStyle/>
                    <a:p>
                      <a:r>
                        <a:rPr lang="ro-RO" sz="1600" b="1">
                          <a:solidFill>
                            <a:srgbClr val="52D6D3"/>
                          </a:solidFill>
                          <a:latin typeface="Aptos" panose="020B0004020202020204" pitchFamily="34" charset="0"/>
                        </a:rPr>
                        <a:t>Set de date</a:t>
                      </a:r>
                      <a:endParaRPr lang="ro-RO" sz="1600" b="1" dirty="0">
                        <a:solidFill>
                          <a:srgbClr val="52D6D3"/>
                        </a:solidFill>
                        <a:latin typeface="Aptos" panose="020B0004020202020204" pitchFamily="34" charset="0"/>
                      </a:endParaRPr>
                    </a:p>
                  </a:txBody>
                  <a:tcPr marL="114300" marR="63500" marT="50800" marB="25400" anchor="ctr">
                    <a:solidFill>
                      <a:srgbClr val="1C304A"/>
                    </a:solidFill>
                  </a:tcPr>
                </a:tc>
                <a:tc>
                  <a:txBody>
                    <a:bodyPr/>
                    <a:lstStyle/>
                    <a:p>
                      <a:r>
                        <a:rPr lang="ro-RO" sz="1600" b="1">
                          <a:solidFill>
                            <a:srgbClr val="52D6D3"/>
                          </a:solidFill>
                          <a:latin typeface="Aptos" panose="020B0004020202020204" pitchFamily="34" charset="0"/>
                        </a:rPr>
                        <a:t>Rețea</a:t>
                      </a:r>
                      <a:endParaRPr lang="ro-RO" sz="1600" b="1" dirty="0">
                        <a:solidFill>
                          <a:srgbClr val="52D6D3"/>
                        </a:solidFill>
                        <a:latin typeface="Aptos" panose="020B0004020202020204" pitchFamily="34" charset="0"/>
                      </a:endParaRPr>
                    </a:p>
                  </a:txBody>
                  <a:tcPr marL="114300" marR="63500" marT="50800" marB="25400" anchor="ctr">
                    <a:solidFill>
                      <a:srgbClr val="1C304A"/>
                    </a:solidFill>
                  </a:tcPr>
                </a:tc>
                <a:tc>
                  <a:txBody>
                    <a:bodyPr/>
                    <a:lstStyle/>
                    <a:p>
                      <a:r>
                        <a:rPr lang="ro-RO" sz="1600" b="1">
                          <a:solidFill>
                            <a:srgbClr val="52D6D3"/>
                          </a:solidFill>
                          <a:latin typeface="Aptos" panose="020B0004020202020204" pitchFamily="34" charset="0"/>
                        </a:rPr>
                        <a:t>Bicubic</a:t>
                      </a:r>
                      <a:endParaRPr lang="ro-RO" sz="1600" b="1" dirty="0">
                        <a:solidFill>
                          <a:srgbClr val="52D6D3"/>
                        </a:solidFill>
                        <a:latin typeface="Aptos" panose="020B0004020202020204" pitchFamily="34" charset="0"/>
                      </a:endParaRPr>
                    </a:p>
                  </a:txBody>
                  <a:tcPr marL="114300" marR="63500" marT="50800" marB="25400" anchor="ctr">
                    <a:solidFill>
                      <a:srgbClr val="1C304A"/>
                    </a:solidFill>
                  </a:tcPr>
                </a:tc>
                <a:tc>
                  <a:txBody>
                    <a:bodyPr/>
                    <a:lstStyle/>
                    <a:p>
                      <a:r>
                        <a:rPr lang="ro-RO" sz="1600" b="1">
                          <a:solidFill>
                            <a:srgbClr val="52D6D3"/>
                          </a:solidFill>
                          <a:latin typeface="Aptos" panose="020B0004020202020204" pitchFamily="34" charset="0"/>
                        </a:rPr>
                        <a:t>16Sum</a:t>
                      </a:r>
                      <a:endParaRPr lang="ro-RO" sz="1600" b="1" dirty="0">
                        <a:solidFill>
                          <a:srgbClr val="52D6D3"/>
                        </a:solidFill>
                        <a:latin typeface="Aptos" panose="020B0004020202020204" pitchFamily="34" charset="0"/>
                      </a:endParaRPr>
                    </a:p>
                  </a:txBody>
                  <a:tcPr marL="114300" marR="63500" marT="50800" marB="25400" anchor="ctr">
                    <a:solidFill>
                      <a:srgbClr val="1C304A"/>
                    </a:solidFill>
                  </a:tcPr>
                </a:tc>
                <a:tc>
                  <a:txBody>
                    <a:bodyPr/>
                    <a:lstStyle/>
                    <a:p>
                      <a:r>
                        <a:rPr lang="ro-RO" sz="1600" b="1">
                          <a:solidFill>
                            <a:srgbClr val="52D6D3"/>
                          </a:solidFill>
                          <a:latin typeface="Aptos" panose="020B0004020202020204" pitchFamily="34" charset="0"/>
                        </a:rPr>
                        <a:t>Random</a:t>
                      </a:r>
                      <a:endParaRPr lang="ro-RO" sz="1600" b="1" dirty="0">
                        <a:solidFill>
                          <a:srgbClr val="52D6D3"/>
                        </a:solidFill>
                        <a:latin typeface="Aptos" panose="020B0004020202020204" pitchFamily="34" charset="0"/>
                      </a:endParaRPr>
                    </a:p>
                  </a:txBody>
                  <a:tcPr marL="114300" marR="63500" marT="50800" marB="25400" anchor="ctr">
                    <a:solidFill>
                      <a:srgbClr val="1C304A"/>
                    </a:solidFill>
                  </a:tcPr>
                </a:tc>
                <a:tc>
                  <a:txBody>
                    <a:bodyPr/>
                    <a:lstStyle/>
                    <a:p>
                      <a:r>
                        <a:rPr lang="ro-RO" sz="1600" b="1">
                          <a:solidFill>
                            <a:srgbClr val="52D6D3"/>
                          </a:solidFill>
                          <a:latin typeface="Aptos" panose="020B0004020202020204" pitchFamily="34" charset="0"/>
                        </a:rPr>
                        <a:t>Δ (dB)</a:t>
                      </a:r>
                      <a:endParaRPr lang="ro-RO" sz="1600" b="1" dirty="0">
                        <a:solidFill>
                          <a:srgbClr val="52D6D3"/>
                        </a:solidFill>
                        <a:latin typeface="Aptos" panose="020B0004020202020204" pitchFamily="34" charset="0"/>
                      </a:endParaRPr>
                    </a:p>
                  </a:txBody>
                  <a:tcPr marL="114300" marR="63500" marT="50800" marB="25400" anchor="ctr">
                    <a:solidFill>
                      <a:srgbClr val="1C304A"/>
                    </a:solidFill>
                  </a:tcPr>
                </a:tc>
                <a:extLst>
                  <a:ext uri="{0D108BD9-81ED-4DB2-BD59-A6C34878D82A}">
                    <a16:rowId xmlns:a16="http://schemas.microsoft.com/office/drawing/2014/main" val="504289811"/>
                  </a:ext>
                </a:extLst>
              </a:tr>
              <a:tr h="444500">
                <a:tc>
                  <a:txBody>
                    <a:bodyPr/>
                    <a:lstStyle/>
                    <a:p>
                      <a:r>
                        <a:rPr lang="ro-RO" sz="1600" b="0">
                          <a:solidFill>
                            <a:srgbClr val="F4F7FB"/>
                          </a:solidFill>
                          <a:latin typeface="Aptos" panose="020B0004020202020204" pitchFamily="34" charset="0"/>
                        </a:rPr>
                        <a:t>Vimeo-90K-T</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BasicVSR</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37,30</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37,82</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39,00</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+1,18</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extLst>
                  <a:ext uri="{0D108BD9-81ED-4DB2-BD59-A6C34878D82A}">
                    <a16:rowId xmlns:a16="http://schemas.microsoft.com/office/drawing/2014/main" val="1428710100"/>
                  </a:ext>
                </a:extLst>
              </a:tr>
              <a:tr h="444500">
                <a:tc>
                  <a:txBody>
                    <a:bodyPr/>
                    <a:lstStyle/>
                    <a:p>
                      <a:r>
                        <a:rPr lang="ro-RO" sz="1600" b="0">
                          <a:solidFill>
                            <a:srgbClr val="F4F7FB"/>
                          </a:solidFill>
                          <a:latin typeface="Aptos" panose="020B0004020202020204" pitchFamily="34" charset="0"/>
                        </a:rPr>
                        <a:t>Vimeo-90K-T</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600" b="0">
                          <a:solidFill>
                            <a:srgbClr val="F4F7FB"/>
                          </a:solidFill>
                          <a:latin typeface="Aptos" panose="020B0004020202020204" pitchFamily="34" charset="0"/>
                        </a:rPr>
                        <a:t>RVRT</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600" b="0">
                          <a:solidFill>
                            <a:srgbClr val="F4F7FB"/>
                          </a:solidFill>
                          <a:latin typeface="Aptos" panose="020B0004020202020204" pitchFamily="34" charset="0"/>
                        </a:rPr>
                        <a:t>38,10</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600" b="0">
                          <a:solidFill>
                            <a:srgbClr val="F4F7FB"/>
                          </a:solidFill>
                          <a:latin typeface="Aptos" panose="020B0004020202020204" pitchFamily="34" charset="0"/>
                        </a:rPr>
                        <a:t>39,07</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600" b="0">
                          <a:solidFill>
                            <a:srgbClr val="F4F7FB"/>
                          </a:solidFill>
                          <a:latin typeface="Aptos" panose="020B0004020202020204" pitchFamily="34" charset="0"/>
                        </a:rPr>
                        <a:t>40,65</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600" b="0">
                          <a:solidFill>
                            <a:srgbClr val="F4F7FB"/>
                          </a:solidFill>
                          <a:latin typeface="Aptos" panose="020B0004020202020204" pitchFamily="34" charset="0"/>
                        </a:rPr>
                        <a:t>+1,58</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extLst>
                  <a:ext uri="{0D108BD9-81ED-4DB2-BD59-A6C34878D82A}">
                    <a16:rowId xmlns:a16="http://schemas.microsoft.com/office/drawing/2014/main" val="1515457251"/>
                  </a:ext>
                </a:extLst>
              </a:tr>
              <a:tr h="444500">
                <a:tc>
                  <a:txBody>
                    <a:bodyPr/>
                    <a:lstStyle/>
                    <a:p>
                      <a:r>
                        <a:rPr lang="ro-RO" sz="1600" b="0">
                          <a:solidFill>
                            <a:srgbClr val="F4F7FB"/>
                          </a:solidFill>
                          <a:latin typeface="Aptos" panose="020B0004020202020204" pitchFamily="34" charset="0"/>
                        </a:rPr>
                        <a:t>Vimeo-90K-T</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IART</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38,09</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39,37</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40,99</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+1,62</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extLst>
                  <a:ext uri="{0D108BD9-81ED-4DB2-BD59-A6C34878D82A}">
                    <a16:rowId xmlns:a16="http://schemas.microsoft.com/office/drawing/2014/main" val="2422867890"/>
                  </a:ext>
                </a:extLst>
              </a:tr>
              <a:tr h="444500">
                <a:tc>
                  <a:txBody>
                    <a:bodyPr/>
                    <a:lstStyle/>
                    <a:p>
                      <a:r>
                        <a:rPr lang="ro-RO" sz="1600" b="0">
                          <a:solidFill>
                            <a:srgbClr val="F4F7FB"/>
                          </a:solidFill>
                          <a:latin typeface="Aptos" panose="020B0004020202020204" pitchFamily="34" charset="0"/>
                        </a:rPr>
                        <a:t>Vid4</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600" b="0">
                          <a:solidFill>
                            <a:srgbClr val="F4F7FB"/>
                          </a:solidFill>
                          <a:latin typeface="Aptos" panose="020B0004020202020204" pitchFamily="34" charset="0"/>
                        </a:rPr>
                        <a:t>BasicVSR</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600" b="0">
                          <a:solidFill>
                            <a:srgbClr val="F4F7FB"/>
                          </a:solidFill>
                          <a:latin typeface="Aptos" panose="020B0004020202020204" pitchFamily="34" charset="0"/>
                        </a:rPr>
                        <a:t>27,16</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600" b="0">
                          <a:solidFill>
                            <a:srgbClr val="F4F7FB"/>
                          </a:solidFill>
                          <a:latin typeface="Aptos" panose="020B0004020202020204" pitchFamily="34" charset="0"/>
                        </a:rPr>
                        <a:t>27,88</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600" b="0">
                          <a:solidFill>
                            <a:srgbClr val="F4F7FB"/>
                          </a:solidFill>
                          <a:latin typeface="Aptos" panose="020B0004020202020204" pitchFamily="34" charset="0"/>
                        </a:rPr>
                        <a:t>28,91</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600" b="0">
                          <a:solidFill>
                            <a:srgbClr val="F4F7FB"/>
                          </a:solidFill>
                          <a:latin typeface="Aptos" panose="020B0004020202020204" pitchFamily="34" charset="0"/>
                        </a:rPr>
                        <a:t>+1,03</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extLst>
                  <a:ext uri="{0D108BD9-81ED-4DB2-BD59-A6C34878D82A}">
                    <a16:rowId xmlns:a16="http://schemas.microsoft.com/office/drawing/2014/main" val="1028192599"/>
                  </a:ext>
                </a:extLst>
              </a:tr>
              <a:tr h="444500">
                <a:tc>
                  <a:txBody>
                    <a:bodyPr/>
                    <a:lstStyle/>
                    <a:p>
                      <a:r>
                        <a:rPr lang="ro-RO" sz="1600" b="0">
                          <a:solidFill>
                            <a:srgbClr val="F4F7FB"/>
                          </a:solidFill>
                          <a:latin typeface="Aptos" panose="020B0004020202020204" pitchFamily="34" charset="0"/>
                        </a:rPr>
                        <a:t>Vid4</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RVRT</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27,62</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29,30</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30,27</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+0,97</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extLst>
                  <a:ext uri="{0D108BD9-81ED-4DB2-BD59-A6C34878D82A}">
                    <a16:rowId xmlns:a16="http://schemas.microsoft.com/office/drawing/2014/main" val="1157709694"/>
                  </a:ext>
                </a:extLst>
              </a:tr>
              <a:tr h="444500">
                <a:tc>
                  <a:txBody>
                    <a:bodyPr/>
                    <a:lstStyle/>
                    <a:p>
                      <a:r>
                        <a:rPr lang="ro-RO" sz="1600" b="0">
                          <a:solidFill>
                            <a:srgbClr val="F4F7FB"/>
                          </a:solidFill>
                          <a:latin typeface="Aptos" panose="020B0004020202020204" pitchFamily="34" charset="0"/>
                        </a:rPr>
                        <a:t>Vid4</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600" b="0">
                          <a:solidFill>
                            <a:srgbClr val="F4F7FB"/>
                          </a:solidFill>
                          <a:latin typeface="Aptos" panose="020B0004020202020204" pitchFamily="34" charset="0"/>
                        </a:rPr>
                        <a:t>IART</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600" b="0">
                          <a:solidFill>
                            <a:srgbClr val="F4F7FB"/>
                          </a:solidFill>
                          <a:latin typeface="Aptos" panose="020B0004020202020204" pitchFamily="34" charset="0"/>
                        </a:rPr>
                        <a:t>27,63</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600" b="0">
                          <a:solidFill>
                            <a:srgbClr val="F4F7FB"/>
                          </a:solidFill>
                          <a:latin typeface="Aptos" panose="020B0004020202020204" pitchFamily="34" charset="0"/>
                        </a:rPr>
                        <a:t>29,05</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600" b="0">
                          <a:solidFill>
                            <a:srgbClr val="F4F7FB"/>
                          </a:solidFill>
                          <a:latin typeface="Aptos" panose="020B0004020202020204" pitchFamily="34" charset="0"/>
                        </a:rPr>
                        <a:t>30,71</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600" b="0">
                          <a:solidFill>
                            <a:srgbClr val="F4F7FB"/>
                          </a:solidFill>
                          <a:latin typeface="Aptos" panose="020B0004020202020204" pitchFamily="34" charset="0"/>
                        </a:rPr>
                        <a:t>+1,66</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extLst>
                  <a:ext uri="{0D108BD9-81ED-4DB2-BD59-A6C34878D82A}">
                    <a16:rowId xmlns:a16="http://schemas.microsoft.com/office/drawing/2014/main" val="3888421880"/>
                  </a:ext>
                </a:extLst>
              </a:tr>
            </a:tbl>
          </a:graphicData>
        </a:graphic>
      </p:graphicFrame>
      <p:sp>
        <p:nvSpPr>
          <p:cNvPr id="54" name="Results interpretation">
            <a:extLst>
              <a:ext uri="{FF2B5EF4-FFF2-40B4-BE49-F238E27FC236}">
                <a16:creationId xmlns:a16="http://schemas.microsoft.com/office/drawing/2014/main" id="{3039DA41-D632-044A-6F21-4053E8C9BAA7}"/>
              </a:ext>
            </a:extLst>
          </p:cNvPr>
          <p:cNvSpPr txBox="1"/>
          <p:nvPr/>
        </p:nvSpPr>
        <p:spPr>
          <a:xfrm>
            <a:off x="673100" y="5105400"/>
            <a:ext cx="10820400" cy="276999"/>
          </a:xfrm>
          <a:prstGeom prst="rect">
            <a:avLst/>
          </a:prstGeom>
          <a:noFill/>
        </p:spPr>
        <p:txBody>
          <a:bodyPr vert="horz" wrap="square" lIns="0" tIns="0" rIns="0" bIns="0" rtlCol="0">
            <a:noAutofit/>
          </a:bodyPr>
          <a:lstStyle/>
          <a:p>
            <a:pPr>
              <a:spcAft>
                <a:spcPts val="400"/>
              </a:spcAft>
            </a:pPr>
            <a:r>
              <a:rPr lang="ro-RO" sz="1700">
                <a:solidFill>
                  <a:srgbClr val="F4F7FB"/>
                </a:solidFill>
                <a:latin typeface="Aptos" panose="020B0004020202020204" pitchFamily="34" charset="0"/>
              </a:rPr>
              <a:t>16Sum este testat explicit: însumează toți cei 16 pixeli ai blocului. Random folosește doar 8, dar schimbă selecția între cadre. Random câștigă pentru toate cele 3 rețele și ambele seturi de date; aceeași tendință apare în SSIM și LPIPS.</a:t>
            </a:r>
            <a:endParaRPr lang="ro-RO" sz="1700" dirty="0">
              <a:solidFill>
                <a:srgbClr val="F4F7FB"/>
              </a:solidFill>
              <a:latin typeface="Aptos" panose="020B0004020202020204" pitchFamily="34" charset="0"/>
            </a:endParaRPr>
          </a:p>
        </p:txBody>
      </p:sp>
      <p:sp>
        <p:nvSpPr>
          <p:cNvPr id="55" name="Rectangle 54">
            <a:extLst>
              <a:ext uri="{FF2B5EF4-FFF2-40B4-BE49-F238E27FC236}">
                <a16:creationId xmlns:a16="http://schemas.microsoft.com/office/drawing/2014/main" id="{6596CA96-7379-2266-8CB4-0B3699AC5954}"/>
              </a:ext>
            </a:extLst>
          </p:cNvPr>
          <p:cNvSpPr/>
          <p:nvPr/>
        </p:nvSpPr>
        <p:spPr>
          <a:xfrm>
            <a:off x="571500" y="5994400"/>
            <a:ext cx="11049000" cy="431800"/>
          </a:xfrm>
          <a:prstGeom prst="rect">
            <a:avLst/>
          </a:prstGeom>
          <a:solidFill>
            <a:srgbClr val="1C30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akeaway">
            <a:extLst>
              <a:ext uri="{FF2B5EF4-FFF2-40B4-BE49-F238E27FC236}">
                <a16:creationId xmlns:a16="http://schemas.microsoft.com/office/drawing/2014/main" id="{8F3A4ADB-6CD9-2851-EE11-52CC4CC403F0}"/>
              </a:ext>
            </a:extLst>
          </p:cNvPr>
          <p:cNvSpPr txBox="1"/>
          <p:nvPr/>
        </p:nvSpPr>
        <p:spPr>
          <a:xfrm>
            <a:off x="723900" y="6070600"/>
            <a:ext cx="10744200" cy="276999"/>
          </a:xfrm>
          <a:prstGeom prst="rect">
            <a:avLst/>
          </a:prstGeom>
          <a:noFill/>
        </p:spPr>
        <p:txBody>
          <a:bodyPr vert="horz" wrap="square" lIns="0" tIns="0" rIns="0" bIns="0" rtlCol="0">
            <a:noAutofit/>
          </a:bodyPr>
          <a:lstStyle/>
          <a:p>
            <a:pPr>
              <a:spcAft>
                <a:spcPts val="400"/>
              </a:spcAft>
            </a:pPr>
            <a:r>
              <a:rPr lang="ro-RO" sz="1600" b="1">
                <a:solidFill>
                  <a:srgbClr val="FFC870"/>
                </a:solidFill>
                <a:latin typeface="Aptos" panose="020B0004020202020204" pitchFamily="34" charset="0"/>
              </a:rPr>
              <a:t>La același număr de măsurări, modul de selecție a pixelilor contează.</a:t>
            </a:r>
            <a:endParaRPr lang="ro-RO" sz="1600" b="1" dirty="0">
              <a:solidFill>
                <a:srgbClr val="FFC870"/>
              </a:solidFill>
              <a:latin typeface="Aptos" panose="020B0004020202020204" pitchFamily="34" charset="0"/>
            </a:endParaRPr>
          </a:p>
        </p:txBody>
      </p:sp>
      <p:sp xmlns:p="http://schemas.openxmlformats.org/presentationml/2006/main">
        <p:nvSpPr>
          <p:cNvPr id="57" name="Slide number"/>
          <p:cNvSpPr/>
          <p:nvPr/>
        </p:nvSpPr>
        <p:spPr>
          <a:xfrm xmlns:a="http://schemas.openxmlformats.org/drawingml/2006/main">
            <a:off x="11009376" y="6492240"/>
            <a:ext cx="475488" cy="228600"/>
          </a:xfrm>
          <a:prstGeom xmlns:a="http://schemas.openxmlformats.org/drawingml/2006/main" prst="rect">
            <a:avLst/>
          </a:prstGeom>
          <a:noFill xmlns:a="http://schemas.openxmlformats.org/drawingml/2006/main"/>
          <a:ln xmlns:a="http://schemas.openxmlformats.org/drawingml/2006/main"/>
        </p:spPr>
        <p:txBody>
          <a:bodyPr xmlns:a="http://schemas.openxmlformats.org/drawingml/2006/main" wrap="square" lIns="0" tIns="0" rIns="0" bIns="0" rtlCol="0" anchor="ctr"/>
          <a:lstStyle xmlns:a="http://schemas.openxmlformats.org/drawingml/2006/main"/>
          <a:p xmlns:a="http://schemas.openxmlformats.org/drawingml/2006/main">
            <a:pPr marL="0" indent="0" algn="r">
              <a:buNone/>
            </a:pPr>
            <a:r>
              <a:rPr lang="ro-RO" sz="1000" b="1">
                <a:solidFill>
                  <a:srgbClr val="52D6D3"/>
                </a:solidFill>
                <a:latin typeface="Aptos" pitchFamily="34" charset="0"/>
                <a:ea typeface="Aptos" pitchFamily="34" charset="-122"/>
                <a:cs typeface="Aptos" pitchFamily="34" charset="-120"/>
              </a:rPr>
              <a:t>15</a:t>
            </a:r>
            <a:endParaRPr lang="ro-RO"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A871A45D-CC6A-F4B1-B0EB-2D0738539204}"/>
              </a:ext>
            </a:extLst>
          </p:cNvPr>
          <p:cNvSpPr txBox="1"/>
          <p:nvPr/>
        </p:nvSpPr>
        <p:spPr>
          <a:xfrm>
            <a:off x="571500" y="330200"/>
            <a:ext cx="11049000" cy="276999"/>
          </a:xfrm>
          <a:prstGeom prst="rect">
            <a:avLst/>
          </a:prstGeom>
          <a:noFill/>
        </p:spPr>
        <p:txBody>
          <a:bodyPr vert="horz" wrap="square" lIns="0" tIns="0" rIns="0" bIns="0" rtlCol="0">
            <a:noAutofit/>
          </a:bodyPr>
          <a:lstStyle/>
          <a:p>
            <a:pPr>
              <a:spcAft>
                <a:spcPts val="400"/>
              </a:spcAft>
            </a:pPr>
            <a:r>
              <a:rPr lang="ro-RO" sz="2800" b="1">
                <a:solidFill>
                  <a:srgbClr val="F4F7FB"/>
                </a:solidFill>
                <a:latin typeface="Aptos" panose="020B0004020202020204" pitchFamily="34" charset="0"/>
              </a:rPr>
              <a:t>Experimentul 2: formă și dinamică temporală</a:t>
            </a:r>
            <a:endParaRPr lang="ro-RO" sz="2800" b="1" dirty="0">
              <a:solidFill>
                <a:srgbClr val="F4F7FB"/>
              </a:solidFill>
              <a:latin typeface="Aptos" panose="020B0004020202020204" pitchFamily="34" charset="0"/>
            </a:endParaRPr>
          </a:p>
        </p:txBody>
      </p:sp>
      <p:sp>
        <p:nvSpPr>
          <p:cNvPr id="24" name="Subtitle">
            <a:extLst>
              <a:ext uri="{FF2B5EF4-FFF2-40B4-BE49-F238E27FC236}">
                <a16:creationId xmlns:a16="http://schemas.microsoft.com/office/drawing/2014/main" id="{DEDB996D-37CF-E6DB-D081-1CF801C3867D}"/>
              </a:ext>
            </a:extLst>
          </p:cNvPr>
          <p:cNvSpPr txBox="1"/>
          <p:nvPr/>
        </p:nvSpPr>
        <p:spPr>
          <a:xfrm>
            <a:off x="584200" y="977900"/>
            <a:ext cx="10985500" cy="276999"/>
          </a:xfrm>
          <a:prstGeom prst="rect">
            <a:avLst/>
          </a:prstGeom>
          <a:noFill/>
        </p:spPr>
        <p:txBody>
          <a:bodyPr vert="horz" wrap="square" lIns="0" tIns="0" rIns="0" bIns="0" rtlCol="0">
            <a:noAutofit/>
          </a:bodyPr>
          <a:lstStyle/>
          <a:p>
            <a:pPr>
              <a:spcAft>
                <a:spcPts val="400"/>
              </a:spcAft>
            </a:pPr>
            <a:r>
              <a:rPr lang="ro-RO" sz="1300">
                <a:solidFill>
                  <a:srgbClr val="B9C9DB"/>
                </a:solidFill>
                <a:latin typeface="Aptos" panose="020B0004020202020204" pitchFamily="34" charset="0"/>
              </a:rPr>
              <a:t>BasicVSR adaptat • două măsurări complementare • CR = 1/8 • fill-factor 100% • PSNR (dB) ↑.</a:t>
            </a:r>
            <a:endParaRPr lang="ro-RO" sz="1300" dirty="0">
              <a:solidFill>
                <a:srgbClr val="B9C9DB"/>
              </a:solidFill>
              <a:latin typeface="Aptos" panose="020B0004020202020204" pitchFamily="34" charset="0"/>
            </a:endParaRPr>
          </a:p>
        </p:txBody>
      </p:sp>
      <p:cxnSp>
        <p:nvCxnSpPr>
          <p:cNvPr id="25" name="Straight Connector 24">
            <a:extLst>
              <a:ext uri="{FF2B5EF4-FFF2-40B4-BE49-F238E27FC236}">
                <a16:creationId xmlns:a16="http://schemas.microsoft.com/office/drawing/2014/main" id="{843C87E1-F14A-4B9D-DCFE-0A1FE0B72A74}"/>
              </a:ext>
            </a:extLst>
          </p:cNvPr>
          <p:cNvCxnSpPr/>
          <p:nvPr/>
        </p:nvCxnSpPr>
        <p:spPr>
          <a:xfrm>
            <a:off x="571500" y="1460500"/>
            <a:ext cx="11049000" cy="0"/>
          </a:xfrm>
          <a:prstGeom prst="line">
            <a:avLst/>
          </a:prstGeom>
          <a:ln>
            <a:solidFill>
              <a:srgbClr val="34475D"/>
            </a:solidFill>
          </a:ln>
        </p:spPr>
        <p:style>
          <a:lnRef idx="1">
            <a:schemeClr val="accent1"/>
          </a:lnRef>
          <a:fillRef idx="0">
            <a:schemeClr val="accent1"/>
          </a:fillRef>
          <a:effectRef idx="0">
            <a:schemeClr val="accent1"/>
          </a:effectRef>
          <a:fontRef idx="minor">
            <a:schemeClr val="tx1"/>
          </a:fontRef>
        </p:style>
      </p:cxnSp>
      <p:sp>
        <p:nvSpPr>
          <p:cNvPr id="26" name="Source">
            <a:extLst>
              <a:ext uri="{FF2B5EF4-FFF2-40B4-BE49-F238E27FC236}">
                <a16:creationId xmlns:a16="http://schemas.microsoft.com/office/drawing/2014/main" id="{F925489A-6711-C3F7-F8F2-E225D90DF777}"/>
              </a:ext>
            </a:extLst>
          </p:cNvPr>
          <p:cNvSpPr txBox="1"/>
          <p:nvPr/>
        </p:nvSpPr>
        <p:spPr>
          <a:xfrm>
            <a:off x="584200" y="6477000"/>
            <a:ext cx="10414000" cy="276999"/>
          </a:xfrm>
          <a:prstGeom prst="rect">
            <a:avLst/>
          </a:prstGeom>
          <a:noFill/>
        </p:spPr>
        <p:txBody>
          <a:bodyPr vert="horz" wrap="square" lIns="0" tIns="0" rIns="0" bIns="0" rtlCol="0">
            <a:noAutofit/>
          </a:bodyPr>
          <a:lstStyle/>
          <a:p>
            <a:pPr>
              <a:spcAft>
                <a:spcPts val="400"/>
              </a:spcAft>
            </a:pPr>
            <a:r>
              <a:rPr lang="ro-RO" sz="900">
                <a:solidFill>
                  <a:srgbClr val="B9C9DB"/>
                </a:solidFill>
                <a:latin typeface="Aptos" panose="020B0004020202020204" pitchFamily="34" charset="0"/>
              </a:rPr>
              <a:t>Sursa: Katz et al., Tabelul 2 și Figura 8. Valori rotunjite; toate cele 7 configurații sunt incluse.</a:t>
            </a:r>
            <a:endParaRPr lang="ro-RO" sz="900" dirty="0">
              <a:solidFill>
                <a:srgbClr val="B9C9DB"/>
              </a:solidFill>
              <a:latin typeface="Aptos" panose="020B0004020202020204" pitchFamily="34" charset="0"/>
            </a:endParaRPr>
          </a:p>
        </p:txBody>
      </p:sp>
      <p:sp>
        <p:nvSpPr>
          <p:cNvPr id="27" name="Page">
            <a:extLst>
              <a:ext uri="{FF2B5EF4-FFF2-40B4-BE49-F238E27FC236}">
                <a16:creationId xmlns:a16="http://schemas.microsoft.com/office/drawing/2014/main" id="{A561E7FA-53C3-BA7B-239F-6DD680E0AA65}"/>
              </a:ext>
            </a:extLst>
          </p:cNvPr>
          <p:cNvSpPr txBox="1"/>
          <p:nvPr/>
        </p:nvSpPr>
        <p:spPr>
          <a:xfrm>
            <a:off x="11252200" y="6477000"/>
            <a:ext cx="381000" cy="276999"/>
          </a:xfrm>
          <a:prstGeom prst="rect">
            <a:avLst/>
          </a:prstGeom>
          <a:noFill/>
        </p:spPr>
        <p:txBody>
          <a:bodyPr vert="horz" wrap="square" lIns="0" tIns="0" rIns="0" bIns="0" rtlCol="0">
            <a:noAutofit/>
          </a:bodyPr>
          <a:lstStyle/>
          <a:p>
            <a:pPr>
              <a:spcAft>
                <a:spcPts val="400"/>
              </a:spcAft>
            </a:pPr>
            <a:r>
              <a:rPr lang="ro-RO" sz="1000" b="1">
                <a:solidFill>
                  <a:srgbClr val="52D6D3"/>
                </a:solidFill>
                <a:latin typeface="Aptos" panose="020B0004020202020204" pitchFamily="34" charset="0"/>
              </a:rPr>
              <a:t>16</a:t>
            </a:r>
            <a:endParaRPr lang="ro-RO" sz="1000" b="1" dirty="0">
              <a:solidFill>
                <a:srgbClr val="52D6D3"/>
              </a:solidFill>
              <a:latin typeface="Aptos" panose="020B0004020202020204" pitchFamily="34" charset="0"/>
            </a:endParaRPr>
          </a:p>
        </p:txBody>
      </p:sp>
      <p:graphicFrame>
        <p:nvGraphicFramePr>
          <p:cNvPr id="28" name="Table 27">
            <a:extLst>
              <a:ext uri="{FF2B5EF4-FFF2-40B4-BE49-F238E27FC236}">
                <a16:creationId xmlns:a16="http://schemas.microsoft.com/office/drawing/2014/main" id="{7CE71383-E643-7F00-D86D-E6C2789F16AF}"/>
              </a:ext>
            </a:extLst>
          </p:cNvPr>
          <p:cNvGraphicFramePr>
            <a:graphicFrameLocks noGrp="1"/>
          </p:cNvGraphicFramePr>
          <p:nvPr>
            <p:extLst>
              <p:ext uri="{D42A27DB-BD31-4B8C-83A1-F6EECF244321}">
                <p14:modId xmlns:p14="http://schemas.microsoft.com/office/powerpoint/2010/main" val="1767601271"/>
              </p:ext>
            </p:extLst>
          </p:nvPr>
        </p:nvGraphicFramePr>
        <p:xfrm>
          <a:off x="571500" y="1739900"/>
          <a:ext cx="11049000" cy="3352800"/>
        </p:xfrm>
        <a:graphic>
          <a:graphicData uri="http://schemas.openxmlformats.org/drawingml/2006/table">
            <a:tbl>
              <a:tblPr firstRow="1" bandRow="1">
                <a:tableStyleId>{5C22544A-7EE6-4342-B048-85BDC9FD1C3A}</a:tableStyleId>
              </a:tblPr>
              <a:tblGrid>
                <a:gridCol w="3619500">
                  <a:extLst>
                    <a:ext uri="{9D8B030D-6E8A-4147-A177-3AD203B41FA5}">
                      <a16:colId xmlns:a16="http://schemas.microsoft.com/office/drawing/2014/main" val="2801749387"/>
                    </a:ext>
                  </a:extLst>
                </a:gridCol>
                <a:gridCol w="2603500">
                  <a:extLst>
                    <a:ext uri="{9D8B030D-6E8A-4147-A177-3AD203B41FA5}">
                      <a16:colId xmlns:a16="http://schemas.microsoft.com/office/drawing/2014/main" val="2786898443"/>
                    </a:ext>
                  </a:extLst>
                </a:gridCol>
                <a:gridCol w="2413000">
                  <a:extLst>
                    <a:ext uri="{9D8B030D-6E8A-4147-A177-3AD203B41FA5}">
                      <a16:colId xmlns:a16="http://schemas.microsoft.com/office/drawing/2014/main" val="2916642517"/>
                    </a:ext>
                  </a:extLst>
                </a:gridCol>
                <a:gridCol w="2413000">
                  <a:extLst>
                    <a:ext uri="{9D8B030D-6E8A-4147-A177-3AD203B41FA5}">
                      <a16:colId xmlns:a16="http://schemas.microsoft.com/office/drawing/2014/main" val="1220147545"/>
                    </a:ext>
                  </a:extLst>
                </a:gridCol>
              </a:tblGrid>
              <a:tr h="419100">
                <a:tc>
                  <a:txBody>
                    <a:bodyPr/>
                    <a:lstStyle/>
                    <a:p>
                      <a:r>
                        <a:rPr lang="ro-RO" sz="1600" b="1">
                          <a:solidFill>
                            <a:srgbClr val="52D6D3"/>
                          </a:solidFill>
                          <a:latin typeface="Aptos" panose="020B0004020202020204" pitchFamily="34" charset="0"/>
                        </a:rPr>
                        <a:t>Eșantionare</a:t>
                      </a:r>
                      <a:endParaRPr lang="ro-RO" sz="1600" b="1" dirty="0">
                        <a:solidFill>
                          <a:srgbClr val="52D6D3"/>
                        </a:solidFill>
                        <a:latin typeface="Aptos" panose="020B0004020202020204" pitchFamily="34" charset="0"/>
                      </a:endParaRPr>
                    </a:p>
                  </a:txBody>
                  <a:tcPr marL="114300" marR="63500" marT="50800" marB="25400" anchor="ctr">
                    <a:solidFill>
                      <a:srgbClr val="1C304A"/>
                    </a:solidFill>
                  </a:tcPr>
                </a:tc>
                <a:tc>
                  <a:txBody>
                    <a:bodyPr/>
                    <a:lstStyle/>
                    <a:p>
                      <a:r>
                        <a:rPr lang="ro-RO" sz="1600" b="1">
                          <a:solidFill>
                            <a:srgbClr val="52D6D3"/>
                          </a:solidFill>
                          <a:latin typeface="Aptos" panose="020B0004020202020204" pitchFamily="34" charset="0"/>
                        </a:rPr>
                        <a:t>Variază în timp?</a:t>
                      </a:r>
                      <a:endParaRPr lang="ro-RO" sz="1600" b="1" dirty="0">
                        <a:solidFill>
                          <a:srgbClr val="52D6D3"/>
                        </a:solidFill>
                        <a:latin typeface="Aptos" panose="020B0004020202020204" pitchFamily="34" charset="0"/>
                      </a:endParaRPr>
                    </a:p>
                  </a:txBody>
                  <a:tcPr marL="114300" marR="63500" marT="50800" marB="25400" anchor="ctr">
                    <a:solidFill>
                      <a:srgbClr val="1C304A"/>
                    </a:solidFill>
                  </a:tcPr>
                </a:tc>
                <a:tc>
                  <a:txBody>
                    <a:bodyPr/>
                    <a:lstStyle/>
                    <a:p>
                      <a:r>
                        <a:rPr lang="ro-RO" sz="1600" b="1">
                          <a:solidFill>
                            <a:srgbClr val="52D6D3"/>
                          </a:solidFill>
                          <a:latin typeface="Aptos" panose="020B0004020202020204" pitchFamily="34" charset="0"/>
                        </a:rPr>
                        <a:t>Vimeo-90K-T</a:t>
                      </a:r>
                      <a:endParaRPr lang="ro-RO" sz="1600" b="1" dirty="0">
                        <a:solidFill>
                          <a:srgbClr val="52D6D3"/>
                        </a:solidFill>
                        <a:latin typeface="Aptos" panose="020B0004020202020204" pitchFamily="34" charset="0"/>
                      </a:endParaRPr>
                    </a:p>
                  </a:txBody>
                  <a:tcPr marL="114300" marR="63500" marT="50800" marB="25400" anchor="ctr">
                    <a:solidFill>
                      <a:srgbClr val="1C304A"/>
                    </a:solidFill>
                  </a:tcPr>
                </a:tc>
                <a:tc>
                  <a:txBody>
                    <a:bodyPr/>
                    <a:lstStyle/>
                    <a:p>
                      <a:r>
                        <a:rPr lang="ro-RO" sz="1600" b="1">
                          <a:solidFill>
                            <a:srgbClr val="52D6D3"/>
                          </a:solidFill>
                          <a:latin typeface="Aptos" panose="020B0004020202020204" pitchFamily="34" charset="0"/>
                        </a:rPr>
                        <a:t>Vid4</a:t>
                      </a:r>
                      <a:endParaRPr lang="ro-RO" sz="1600" b="1" dirty="0">
                        <a:solidFill>
                          <a:srgbClr val="52D6D3"/>
                        </a:solidFill>
                        <a:latin typeface="Aptos" panose="020B0004020202020204" pitchFamily="34" charset="0"/>
                      </a:endParaRPr>
                    </a:p>
                  </a:txBody>
                  <a:tcPr marL="114300" marR="63500" marT="50800" marB="25400" anchor="ctr">
                    <a:solidFill>
                      <a:srgbClr val="1C304A"/>
                    </a:solidFill>
                  </a:tcPr>
                </a:tc>
                <a:extLst>
                  <a:ext uri="{0D108BD9-81ED-4DB2-BD59-A6C34878D82A}">
                    <a16:rowId xmlns:a16="http://schemas.microsoft.com/office/drawing/2014/main" val="2148750231"/>
                  </a:ext>
                </a:extLst>
              </a:tr>
              <a:tr h="419100">
                <a:tc>
                  <a:txBody>
                    <a:bodyPr/>
                    <a:lstStyle/>
                    <a:p>
                      <a:r>
                        <a:rPr lang="ro-RO" sz="1600" b="0">
                          <a:solidFill>
                            <a:srgbClr val="F4F7FB"/>
                          </a:solidFill>
                          <a:latin typeface="Aptos" panose="020B0004020202020204" pitchFamily="34" charset="0"/>
                        </a:rPr>
                        <a:t>8Sum fix</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Nu</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39,22</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28,98</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extLst>
                  <a:ext uri="{0D108BD9-81ED-4DB2-BD59-A6C34878D82A}">
                    <a16:rowId xmlns:a16="http://schemas.microsoft.com/office/drawing/2014/main" val="3045395366"/>
                  </a:ext>
                </a:extLst>
              </a:tr>
              <a:tr h="419100">
                <a:tc>
                  <a:txBody>
                    <a:bodyPr/>
                    <a:lstStyle/>
                    <a:p>
                      <a:r>
                        <a:rPr lang="ro-RO" sz="1600" b="0">
                          <a:solidFill>
                            <a:srgbClr val="F4F7FB"/>
                          </a:solidFill>
                          <a:latin typeface="Aptos" panose="020B0004020202020204" pitchFamily="34" charset="0"/>
                        </a:rPr>
                        <a:t>Tetromino constant</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600" b="0">
                          <a:solidFill>
                            <a:srgbClr val="F4F7FB"/>
                          </a:solidFill>
                          <a:latin typeface="Aptos" panose="020B0004020202020204" pitchFamily="34" charset="0"/>
                        </a:rPr>
                        <a:t>Nu</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600" b="0">
                          <a:solidFill>
                            <a:srgbClr val="F4F7FB"/>
                          </a:solidFill>
                          <a:latin typeface="Aptos" panose="020B0004020202020204" pitchFamily="34" charset="0"/>
                        </a:rPr>
                        <a:t>40,09</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600" b="0">
                          <a:solidFill>
                            <a:srgbClr val="F4F7FB"/>
                          </a:solidFill>
                          <a:latin typeface="Aptos" panose="020B0004020202020204" pitchFamily="34" charset="0"/>
                        </a:rPr>
                        <a:t>29,92</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extLst>
                  <a:ext uri="{0D108BD9-81ED-4DB2-BD59-A6C34878D82A}">
                    <a16:rowId xmlns:a16="http://schemas.microsoft.com/office/drawing/2014/main" val="1272761097"/>
                  </a:ext>
                </a:extLst>
              </a:tr>
              <a:tr h="419100">
                <a:tc>
                  <a:txBody>
                    <a:bodyPr/>
                    <a:lstStyle/>
                    <a:p>
                      <a:r>
                        <a:rPr lang="ro-RO" sz="1600" b="0">
                          <a:solidFill>
                            <a:srgbClr val="F4F7FB"/>
                          </a:solidFill>
                          <a:latin typeface="Aptos" panose="020B0004020202020204" pitchFamily="34" charset="0"/>
                        </a:rPr>
                        <a:t>Random constant</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Nu</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40,29</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30,83</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extLst>
                  <a:ext uri="{0D108BD9-81ED-4DB2-BD59-A6C34878D82A}">
                    <a16:rowId xmlns:a16="http://schemas.microsoft.com/office/drawing/2014/main" val="2269552483"/>
                  </a:ext>
                </a:extLst>
              </a:tr>
              <a:tr h="419100">
                <a:tc>
                  <a:txBody>
                    <a:bodyPr/>
                    <a:lstStyle/>
                    <a:p>
                      <a:r>
                        <a:rPr lang="ro-RO" sz="1600" b="0">
                          <a:solidFill>
                            <a:srgbClr val="F4F7FB"/>
                          </a:solidFill>
                          <a:latin typeface="Aptos" panose="020B0004020202020204" pitchFamily="34" charset="0"/>
                        </a:rPr>
                        <a:t>8Sum alternant</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600" b="0">
                          <a:solidFill>
                            <a:srgbClr val="F4F7FB"/>
                          </a:solidFill>
                          <a:latin typeface="Aptos" panose="020B0004020202020204" pitchFamily="34" charset="0"/>
                        </a:rPr>
                        <a:t>Da</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600" b="0">
                          <a:solidFill>
                            <a:srgbClr val="F4F7FB"/>
                          </a:solidFill>
                          <a:latin typeface="Aptos" panose="020B0004020202020204" pitchFamily="34" charset="0"/>
                        </a:rPr>
                        <a:t>40,79</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600" b="0">
                          <a:solidFill>
                            <a:srgbClr val="F4F7FB"/>
                          </a:solidFill>
                          <a:latin typeface="Aptos" panose="020B0004020202020204" pitchFamily="34" charset="0"/>
                        </a:rPr>
                        <a:t>31,24</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extLst>
                  <a:ext uri="{0D108BD9-81ED-4DB2-BD59-A6C34878D82A}">
                    <a16:rowId xmlns:a16="http://schemas.microsoft.com/office/drawing/2014/main" val="2455564264"/>
                  </a:ext>
                </a:extLst>
              </a:tr>
              <a:tr h="419100">
                <a:tc>
                  <a:txBody>
                    <a:bodyPr/>
                    <a:lstStyle/>
                    <a:p>
                      <a:r>
                        <a:rPr lang="ro-RO" sz="1600" b="0">
                          <a:solidFill>
                            <a:srgbClr val="F4F7FB"/>
                          </a:solidFill>
                          <a:latin typeface="Aptos" panose="020B0004020202020204" pitchFamily="34" charset="0"/>
                        </a:rPr>
                        <a:t>Tetromino basic</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Da</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41,44</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31,86</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extLst>
                  <a:ext uri="{0D108BD9-81ED-4DB2-BD59-A6C34878D82A}">
                    <a16:rowId xmlns:a16="http://schemas.microsoft.com/office/drawing/2014/main" val="2283593530"/>
                  </a:ext>
                </a:extLst>
              </a:tr>
              <a:tr h="419100">
                <a:tc>
                  <a:txBody>
                    <a:bodyPr/>
                    <a:lstStyle/>
                    <a:p>
                      <a:r>
                        <a:rPr lang="ro-RO" sz="1600" b="0">
                          <a:solidFill>
                            <a:srgbClr val="F4F7FB"/>
                          </a:solidFill>
                          <a:latin typeface="Aptos" panose="020B0004020202020204" pitchFamily="34" charset="0"/>
                        </a:rPr>
                        <a:t>Tetromino extended</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600" b="0">
                          <a:solidFill>
                            <a:srgbClr val="F4F7FB"/>
                          </a:solidFill>
                          <a:latin typeface="Aptos" panose="020B0004020202020204" pitchFamily="34" charset="0"/>
                        </a:rPr>
                        <a:t>Da</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600" b="0">
                          <a:solidFill>
                            <a:srgbClr val="F4F7FB"/>
                          </a:solidFill>
                          <a:latin typeface="Aptos" panose="020B0004020202020204" pitchFamily="34" charset="0"/>
                        </a:rPr>
                        <a:t>41,57</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tc>
                  <a:txBody>
                    <a:bodyPr/>
                    <a:lstStyle/>
                    <a:p>
                      <a:r>
                        <a:rPr lang="ro-RO" sz="1600" b="0">
                          <a:solidFill>
                            <a:srgbClr val="F4F7FB"/>
                          </a:solidFill>
                          <a:latin typeface="Aptos" panose="020B0004020202020204" pitchFamily="34" charset="0"/>
                        </a:rPr>
                        <a:t>31,86</a:t>
                      </a:r>
                      <a:endParaRPr lang="ro-RO" sz="1600" b="0" dirty="0">
                        <a:solidFill>
                          <a:srgbClr val="F4F7FB"/>
                        </a:solidFill>
                        <a:latin typeface="Aptos" panose="020B0004020202020204" pitchFamily="34" charset="0"/>
                      </a:endParaRPr>
                    </a:p>
                  </a:txBody>
                  <a:tcPr marL="114300" marR="63500" marT="50800" marB="25400" anchor="ctr">
                    <a:solidFill>
                      <a:srgbClr val="101D30"/>
                    </a:solidFill>
                  </a:tcPr>
                </a:tc>
                <a:extLst>
                  <a:ext uri="{0D108BD9-81ED-4DB2-BD59-A6C34878D82A}">
                    <a16:rowId xmlns:a16="http://schemas.microsoft.com/office/drawing/2014/main" val="1813694055"/>
                  </a:ext>
                </a:extLst>
              </a:tr>
              <a:tr h="419100">
                <a:tc>
                  <a:txBody>
                    <a:bodyPr/>
                    <a:lstStyle/>
                    <a:p>
                      <a:r>
                        <a:rPr lang="ro-RO" sz="1600" b="0">
                          <a:solidFill>
                            <a:srgbClr val="F4F7FB"/>
                          </a:solidFill>
                          <a:latin typeface="Aptos" panose="020B0004020202020204" pitchFamily="34" charset="0"/>
                        </a:rPr>
                        <a:t>Random dinamic</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Da</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41,04</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tc>
                  <a:txBody>
                    <a:bodyPr/>
                    <a:lstStyle/>
                    <a:p>
                      <a:r>
                        <a:rPr lang="ro-RO" sz="1600" b="0">
                          <a:solidFill>
                            <a:srgbClr val="F4F7FB"/>
                          </a:solidFill>
                          <a:latin typeface="Aptos" panose="020B0004020202020204" pitchFamily="34" charset="0"/>
                        </a:rPr>
                        <a:t>31,28</a:t>
                      </a:r>
                      <a:endParaRPr lang="ro-RO" sz="1600" b="0" dirty="0">
                        <a:solidFill>
                          <a:srgbClr val="F4F7FB"/>
                        </a:solidFill>
                        <a:latin typeface="Aptos" panose="020B0004020202020204" pitchFamily="34" charset="0"/>
                      </a:endParaRPr>
                    </a:p>
                  </a:txBody>
                  <a:tcPr marL="114300" marR="63500" marT="50800" marB="25400" anchor="ctr">
                    <a:solidFill>
                      <a:srgbClr val="17253B"/>
                    </a:solidFill>
                  </a:tcPr>
                </a:tc>
                <a:extLst>
                  <a:ext uri="{0D108BD9-81ED-4DB2-BD59-A6C34878D82A}">
                    <a16:rowId xmlns:a16="http://schemas.microsoft.com/office/drawing/2014/main" val="4071051878"/>
                  </a:ext>
                </a:extLst>
              </a:tr>
            </a:tbl>
          </a:graphicData>
        </a:graphic>
      </p:graphicFrame>
      <p:sp>
        <p:nvSpPr>
          <p:cNvPr id="29" name="Two sample interpretation">
            <a:extLst>
              <a:ext uri="{FF2B5EF4-FFF2-40B4-BE49-F238E27FC236}">
                <a16:creationId xmlns:a16="http://schemas.microsoft.com/office/drawing/2014/main" id="{A88B5DE8-52A3-2AC2-D4F2-C62B001CDE9E}"/>
              </a:ext>
            </a:extLst>
          </p:cNvPr>
          <p:cNvSpPr txBox="1"/>
          <p:nvPr/>
        </p:nvSpPr>
        <p:spPr>
          <a:xfrm>
            <a:off x="673100" y="5232400"/>
            <a:ext cx="10820400" cy="276999"/>
          </a:xfrm>
          <a:prstGeom prst="rect">
            <a:avLst/>
          </a:prstGeom>
          <a:noFill/>
        </p:spPr>
        <p:txBody>
          <a:bodyPr vert="horz" wrap="square" lIns="0" tIns="0" rIns="0" bIns="0" rtlCol="0">
            <a:noAutofit/>
          </a:bodyPr>
          <a:lstStyle/>
          <a:p>
            <a:pPr>
              <a:spcAft>
                <a:spcPts val="400"/>
              </a:spcAft>
            </a:pPr>
            <a:r>
              <a:rPr lang="ro-RO" sz="1700">
                <a:solidFill>
                  <a:srgbClr val="F4F7FB"/>
                </a:solidFill>
                <a:latin typeface="Aptos" panose="020B0004020202020204" pitchFamily="34" charset="0"/>
              </a:rPr>
              <a:t>Controalele constante depășesc 8Sum fix, dar toate variantele dinamice le depășesc în PSNR. Tetromino extended are cel mai bun PSNR: +2,35 dB pe Vimeo și +2,89 dB pe Vid4 față de 8Sum fix (din valorile nerotunjite).</a:t>
            </a:r>
            <a:endParaRPr lang="ro-RO" sz="1700" dirty="0">
              <a:solidFill>
                <a:srgbClr val="F4F7FB"/>
              </a:solidFill>
              <a:latin typeface="Aptos" panose="020B0004020202020204" pitchFamily="34" charset="0"/>
            </a:endParaRPr>
          </a:p>
        </p:txBody>
      </p:sp>
      <p:sp xmlns:p="http://schemas.openxmlformats.org/presentationml/2006/main">
        <p:nvSpPr>
          <p:cNvPr id="30" name="Slide number"/>
          <p:cNvSpPr/>
          <p:nvPr/>
        </p:nvSpPr>
        <p:spPr>
          <a:xfrm xmlns:a="http://schemas.openxmlformats.org/drawingml/2006/main">
            <a:off x="11009376" y="6492240"/>
            <a:ext cx="475488" cy="228600"/>
          </a:xfrm>
          <a:prstGeom xmlns:a="http://schemas.openxmlformats.org/drawingml/2006/main" prst="rect">
            <a:avLst/>
          </a:prstGeom>
          <a:noFill xmlns:a="http://schemas.openxmlformats.org/drawingml/2006/main"/>
          <a:ln xmlns:a="http://schemas.openxmlformats.org/drawingml/2006/main"/>
        </p:spPr>
        <p:txBody>
          <a:bodyPr xmlns:a="http://schemas.openxmlformats.org/drawingml/2006/main" wrap="square" lIns="0" tIns="0" rIns="0" bIns="0" rtlCol="0" anchor="ctr"/>
          <a:lstStyle xmlns:a="http://schemas.openxmlformats.org/drawingml/2006/main"/>
          <a:p xmlns:a="http://schemas.openxmlformats.org/drawingml/2006/main">
            <a:pPr marL="0" indent="0" algn="r">
              <a:buNone/>
            </a:pPr>
            <a:r>
              <a:rPr lang="ro-RO" sz="1000" b="1">
                <a:solidFill>
                  <a:srgbClr val="52D6D3"/>
                </a:solidFill>
                <a:latin typeface="Aptos" pitchFamily="34" charset="0"/>
                <a:ea typeface="Aptos" pitchFamily="34" charset="-122"/>
                <a:cs typeface="Aptos" pitchFamily="34" charset="-120"/>
              </a:rPr>
              <a:t>16</a:t>
            </a:r>
            <a:endParaRPr lang="ro-RO"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BF4D7973-4CB9-7D14-C520-29D04ED3319F}"/>
              </a:ext>
            </a:extLst>
          </p:cNvPr>
          <p:cNvSpPr txBox="1"/>
          <p:nvPr/>
        </p:nvSpPr>
        <p:spPr>
          <a:xfrm>
            <a:off x="571500" y="330200"/>
            <a:ext cx="11049000" cy="276999"/>
          </a:xfrm>
          <a:prstGeom prst="rect">
            <a:avLst/>
          </a:prstGeom>
          <a:noFill/>
        </p:spPr>
        <p:txBody>
          <a:bodyPr vert="horz" wrap="square" lIns="0" tIns="0" rIns="0" bIns="0" rtlCol="0">
            <a:noAutofit/>
          </a:bodyPr>
          <a:lstStyle/>
          <a:p>
            <a:pPr>
              <a:spcAft>
                <a:spcPts val="400"/>
              </a:spcAft>
            </a:pPr>
            <a:r>
              <a:rPr lang="ro-RO" sz="2800" b="1">
                <a:solidFill>
                  <a:srgbClr val="F4F7FB"/>
                </a:solidFill>
                <a:latin typeface="Aptos" panose="020B0004020202020204" pitchFamily="34" charset="0"/>
              </a:rPr>
              <a:t>Dincolo de PSNR: percepție și detalii vizuale</a:t>
            </a:r>
            <a:endParaRPr lang="ro-RO" sz="2800" b="1" dirty="0">
              <a:solidFill>
                <a:srgbClr val="F4F7FB"/>
              </a:solidFill>
              <a:latin typeface="Aptos" panose="020B0004020202020204" pitchFamily="34" charset="0"/>
            </a:endParaRPr>
          </a:p>
        </p:txBody>
      </p:sp>
      <p:sp>
        <p:nvSpPr>
          <p:cNvPr id="16" name="Subtitle">
            <a:extLst>
              <a:ext uri="{FF2B5EF4-FFF2-40B4-BE49-F238E27FC236}">
                <a16:creationId xmlns:a16="http://schemas.microsoft.com/office/drawing/2014/main" id="{8CF8BD3D-3CD0-87FA-91D0-75F798BEFDBF}"/>
              </a:ext>
            </a:extLst>
          </p:cNvPr>
          <p:cNvSpPr txBox="1"/>
          <p:nvPr/>
        </p:nvSpPr>
        <p:spPr>
          <a:xfrm>
            <a:off x="584200" y="977900"/>
            <a:ext cx="10985500" cy="276999"/>
          </a:xfrm>
          <a:prstGeom prst="rect">
            <a:avLst/>
          </a:prstGeom>
          <a:noFill/>
        </p:spPr>
        <p:txBody>
          <a:bodyPr vert="horz" wrap="square" lIns="0" tIns="0" rIns="0" bIns="0" rtlCol="0">
            <a:noAutofit/>
          </a:bodyPr>
          <a:lstStyle/>
          <a:p>
            <a:pPr>
              <a:spcAft>
                <a:spcPts val="400"/>
              </a:spcAft>
            </a:pPr>
            <a:r>
              <a:rPr lang="ro-RO" sz="1300">
                <a:solidFill>
                  <a:srgbClr val="B9C9DB"/>
                </a:solidFill>
                <a:latin typeface="Aptos" panose="020B0004020202020204" pitchFamily="34" charset="0"/>
              </a:rPr>
              <a:t>Articolul raportează PSNR, SSIM și LPIPS; o singură metrică nu descrie complet calitatea.</a:t>
            </a:r>
            <a:endParaRPr lang="ro-RO" sz="1300" dirty="0">
              <a:solidFill>
                <a:srgbClr val="B9C9DB"/>
              </a:solidFill>
              <a:latin typeface="Aptos" panose="020B0004020202020204" pitchFamily="34" charset="0"/>
            </a:endParaRPr>
          </a:p>
        </p:txBody>
      </p:sp>
      <p:cxnSp>
        <p:nvCxnSpPr>
          <p:cNvPr id="17" name="Straight Connector 16">
            <a:extLst>
              <a:ext uri="{FF2B5EF4-FFF2-40B4-BE49-F238E27FC236}">
                <a16:creationId xmlns:a16="http://schemas.microsoft.com/office/drawing/2014/main" id="{98E4DA40-9790-76AA-4CA8-5B2716E9AC85}"/>
              </a:ext>
            </a:extLst>
          </p:cNvPr>
          <p:cNvCxnSpPr/>
          <p:nvPr/>
        </p:nvCxnSpPr>
        <p:spPr>
          <a:xfrm>
            <a:off x="571500" y="1460500"/>
            <a:ext cx="11049000" cy="0"/>
          </a:xfrm>
          <a:prstGeom prst="line">
            <a:avLst/>
          </a:prstGeom>
          <a:ln>
            <a:solidFill>
              <a:srgbClr val="34475D"/>
            </a:solidFill>
          </a:ln>
        </p:spPr>
        <p:style>
          <a:lnRef idx="1">
            <a:schemeClr val="accent1"/>
          </a:lnRef>
          <a:fillRef idx="0">
            <a:schemeClr val="accent1"/>
          </a:fillRef>
          <a:effectRef idx="0">
            <a:schemeClr val="accent1"/>
          </a:effectRef>
          <a:fontRef idx="minor">
            <a:schemeClr val="tx1"/>
          </a:fontRef>
        </p:style>
      </p:cxnSp>
      <p:sp>
        <p:nvSpPr>
          <p:cNvPr id="18" name="Source">
            <a:extLst>
              <a:ext uri="{FF2B5EF4-FFF2-40B4-BE49-F238E27FC236}">
                <a16:creationId xmlns:a16="http://schemas.microsoft.com/office/drawing/2014/main" id="{C9F580E1-CB28-9B70-DAD8-091915781E87}"/>
              </a:ext>
            </a:extLst>
          </p:cNvPr>
          <p:cNvSpPr txBox="1"/>
          <p:nvPr/>
        </p:nvSpPr>
        <p:spPr>
          <a:xfrm>
            <a:off x="584200" y="6477000"/>
            <a:ext cx="10414000" cy="276999"/>
          </a:xfrm>
          <a:prstGeom prst="rect">
            <a:avLst/>
          </a:prstGeom>
          <a:noFill/>
        </p:spPr>
        <p:txBody>
          <a:bodyPr vert="horz" wrap="square" lIns="0" tIns="0" rIns="0" bIns="0" rtlCol="0">
            <a:noAutofit/>
          </a:bodyPr>
          <a:lstStyle/>
          <a:p>
            <a:pPr>
              <a:spcAft>
                <a:spcPts val="400"/>
              </a:spcAft>
            </a:pPr>
            <a:r>
              <a:rPr lang="ro-RO" sz="900">
                <a:solidFill>
                  <a:srgbClr val="B9C9DB"/>
                </a:solidFill>
                <a:latin typeface="Aptos" panose="020B0004020202020204" pitchFamily="34" charset="0"/>
              </a:rPr>
              <a:t>Sursa: Katz et al., Tabelele 1–2; Figurile 8–9; Qualitative comparison.</a:t>
            </a:r>
            <a:endParaRPr lang="ro-RO" sz="900" dirty="0">
              <a:solidFill>
                <a:srgbClr val="B9C9DB"/>
              </a:solidFill>
              <a:latin typeface="Aptos" panose="020B0004020202020204" pitchFamily="34" charset="0"/>
            </a:endParaRPr>
          </a:p>
        </p:txBody>
      </p:sp>
      <p:sp>
        <p:nvSpPr>
          <p:cNvPr id="19" name="Page">
            <a:extLst>
              <a:ext uri="{FF2B5EF4-FFF2-40B4-BE49-F238E27FC236}">
                <a16:creationId xmlns:a16="http://schemas.microsoft.com/office/drawing/2014/main" id="{49BD5E9F-A373-3A56-10D0-A64E73F66A81}"/>
              </a:ext>
            </a:extLst>
          </p:cNvPr>
          <p:cNvSpPr txBox="1"/>
          <p:nvPr/>
        </p:nvSpPr>
        <p:spPr>
          <a:xfrm>
            <a:off x="11252200" y="6477000"/>
            <a:ext cx="381000" cy="276999"/>
          </a:xfrm>
          <a:prstGeom prst="rect">
            <a:avLst/>
          </a:prstGeom>
          <a:noFill/>
        </p:spPr>
        <p:txBody>
          <a:bodyPr vert="horz" wrap="square" lIns="0" tIns="0" rIns="0" bIns="0" rtlCol="0">
            <a:noAutofit/>
          </a:bodyPr>
          <a:lstStyle/>
          <a:p>
            <a:pPr>
              <a:spcAft>
                <a:spcPts val="400"/>
              </a:spcAft>
            </a:pPr>
            <a:r>
              <a:rPr lang="ro-RO" sz="1000" b="1">
                <a:solidFill>
                  <a:srgbClr val="52D6D3"/>
                </a:solidFill>
                <a:latin typeface="Aptos" panose="020B0004020202020204" pitchFamily="34" charset="0"/>
              </a:rPr>
              <a:t>17</a:t>
            </a:r>
            <a:endParaRPr lang="ro-RO" sz="1000" b="1" dirty="0">
              <a:solidFill>
                <a:srgbClr val="52D6D3"/>
              </a:solidFill>
              <a:latin typeface="Aptos" panose="020B0004020202020204" pitchFamily="34" charset="0"/>
            </a:endParaRPr>
          </a:p>
        </p:txBody>
      </p:sp>
      <p:sp>
        <p:nvSpPr>
          <p:cNvPr id="20" name="Rectangle 19">
            <a:extLst>
              <a:ext uri="{FF2B5EF4-FFF2-40B4-BE49-F238E27FC236}">
                <a16:creationId xmlns:a16="http://schemas.microsoft.com/office/drawing/2014/main" id="{497CF2A7-3206-99EA-BB18-009F0ABA84F6}"/>
              </a:ext>
            </a:extLst>
          </p:cNvPr>
          <p:cNvSpPr/>
          <p:nvPr/>
        </p:nvSpPr>
        <p:spPr>
          <a:xfrm>
            <a:off x="571500" y="1689100"/>
            <a:ext cx="5410200" cy="2514600"/>
          </a:xfrm>
          <a:prstGeom prst="rect">
            <a:avLst/>
          </a:prstGeom>
          <a:solidFill>
            <a:srgbClr val="1725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Metrics example heading">
            <a:extLst>
              <a:ext uri="{FF2B5EF4-FFF2-40B4-BE49-F238E27FC236}">
                <a16:creationId xmlns:a16="http://schemas.microsoft.com/office/drawing/2014/main" id="{9B5B9D64-7586-8ABC-1EDB-EFF67FF20C3A}"/>
              </a:ext>
            </a:extLst>
          </p:cNvPr>
          <p:cNvSpPr txBox="1"/>
          <p:nvPr/>
        </p:nvSpPr>
        <p:spPr>
          <a:xfrm>
            <a:off x="774700" y="1841500"/>
            <a:ext cx="5003800" cy="276999"/>
          </a:xfrm>
          <a:prstGeom prst="rect">
            <a:avLst/>
          </a:prstGeom>
          <a:noFill/>
        </p:spPr>
        <p:txBody>
          <a:bodyPr vert="horz" wrap="square" lIns="0" tIns="0" rIns="0" bIns="0" rtlCol="0">
            <a:noAutofit/>
          </a:bodyPr>
          <a:lstStyle/>
          <a:p>
            <a:pPr>
              <a:spcAft>
                <a:spcPts val="400"/>
              </a:spcAft>
            </a:pPr>
            <a:r>
              <a:rPr lang="ro-RO" sz="1900" b="1">
                <a:solidFill>
                  <a:srgbClr val="52D6D3"/>
                </a:solidFill>
                <a:latin typeface="Aptos" panose="020B0004020202020204" pitchFamily="34" charset="0"/>
              </a:rPr>
              <a:t>Exemplu: Vimeo-90K-T, Tabelul 2</a:t>
            </a:r>
            <a:endParaRPr lang="ro-RO" sz="1900" b="1" dirty="0">
              <a:solidFill>
                <a:srgbClr val="52D6D3"/>
              </a:solidFill>
              <a:latin typeface="Aptos" panose="020B0004020202020204" pitchFamily="34" charset="0"/>
            </a:endParaRPr>
          </a:p>
        </p:txBody>
      </p:sp>
      <p:sp>
        <p:nvSpPr>
          <p:cNvPr id="22" name="Metrics example body">
            <a:extLst>
              <a:ext uri="{FF2B5EF4-FFF2-40B4-BE49-F238E27FC236}">
                <a16:creationId xmlns:a16="http://schemas.microsoft.com/office/drawing/2014/main" id="{84B2973D-39D1-FEAE-63F0-2A06DFA0085C}"/>
              </a:ext>
            </a:extLst>
          </p:cNvPr>
          <p:cNvSpPr txBox="1"/>
          <p:nvPr/>
        </p:nvSpPr>
        <p:spPr>
          <a:xfrm>
            <a:off x="774700" y="2336800"/>
            <a:ext cx="5003800" cy="276999"/>
          </a:xfrm>
          <a:prstGeom prst="rect">
            <a:avLst/>
          </a:prstGeom>
          <a:noFill/>
        </p:spPr>
        <p:txBody>
          <a:bodyPr vert="horz" wrap="square" lIns="0" tIns="0" rIns="0" bIns="0" rtlCol="0">
            <a:noAutofit/>
          </a:bodyPr>
          <a:lstStyle/>
          <a:p>
            <a:pPr>
              <a:spcAft>
                <a:spcPts val="400"/>
              </a:spcAft>
            </a:pPr>
            <a:r>
              <a:rPr lang="ro-RO" sz="1700">
                <a:solidFill>
                  <a:srgbClr val="F4F7FB"/>
                </a:solidFill>
                <a:latin typeface="Aptos" panose="020B0004020202020204" pitchFamily="34" charset="0"/>
              </a:rPr>
              <a:t>8Sum fix → Tetromino extended:</a:t>
            </a:r>
          </a:p>
          <a:p>
            <a:pPr>
              <a:spcAft>
                <a:spcPts val="400"/>
              </a:spcAft>
            </a:pPr>
            <a:r>
              <a:rPr lang="ro-RO" sz="1700">
                <a:solidFill>
                  <a:srgbClr val="F4F7FB"/>
                </a:solidFill>
                <a:latin typeface="Aptos" panose="020B0004020202020204" pitchFamily="34" charset="0"/>
              </a:rPr>
              <a:t>PSNR: 39,2199 → 41,5675 dB ↑</a:t>
            </a:r>
          </a:p>
          <a:p>
            <a:pPr>
              <a:spcAft>
                <a:spcPts val="400"/>
              </a:spcAft>
            </a:pPr>
            <a:r>
              <a:rPr lang="ro-RO" sz="1700">
                <a:solidFill>
                  <a:srgbClr val="F4F7FB"/>
                </a:solidFill>
                <a:latin typeface="Aptos" panose="020B0004020202020204" pitchFamily="34" charset="0"/>
              </a:rPr>
              <a:t>SSIM: 0,9652 → 0,9799 ↑</a:t>
            </a:r>
          </a:p>
          <a:p>
            <a:pPr>
              <a:spcAft>
                <a:spcPts val="400"/>
              </a:spcAft>
            </a:pPr>
            <a:r>
              <a:rPr lang="ro-RO" sz="1700">
                <a:solidFill>
                  <a:srgbClr val="F4F7FB"/>
                </a:solidFill>
                <a:latin typeface="Aptos" panose="020B0004020202020204" pitchFamily="34" charset="0"/>
              </a:rPr>
              <a:t>LPIPS: 0,0555 → 0,0312 ↓</a:t>
            </a:r>
          </a:p>
          <a:p>
            <a:pPr>
              <a:spcAft>
                <a:spcPts val="400"/>
              </a:spcAft>
            </a:pPr>
            <a:r>
              <a:rPr lang="ro-RO" sz="1700">
                <a:solidFill>
                  <a:srgbClr val="F4F7FB"/>
                </a:solidFill>
                <a:latin typeface="Aptos" panose="020B0004020202020204" pitchFamily="34" charset="0"/>
              </a:rPr>
              <a:t>Toate indică o îmbunătățire în acest exemplu.</a:t>
            </a:r>
            <a:endParaRPr lang="ro-RO" sz="1700" dirty="0">
              <a:solidFill>
                <a:srgbClr val="F4F7FB"/>
              </a:solidFill>
              <a:latin typeface="Aptos" panose="020B0004020202020204" pitchFamily="34" charset="0"/>
            </a:endParaRPr>
          </a:p>
        </p:txBody>
      </p:sp>
      <p:sp>
        <p:nvSpPr>
          <p:cNvPr id="23" name="Rectangle 22">
            <a:extLst>
              <a:ext uri="{FF2B5EF4-FFF2-40B4-BE49-F238E27FC236}">
                <a16:creationId xmlns:a16="http://schemas.microsoft.com/office/drawing/2014/main" id="{73A42FAB-E766-3532-53F9-CD527A32DFCF}"/>
              </a:ext>
            </a:extLst>
          </p:cNvPr>
          <p:cNvSpPr/>
          <p:nvPr/>
        </p:nvSpPr>
        <p:spPr>
          <a:xfrm>
            <a:off x="6210300" y="1689100"/>
            <a:ext cx="5410200" cy="2514600"/>
          </a:xfrm>
          <a:prstGeom prst="rect">
            <a:avLst/>
          </a:prstGeom>
          <a:solidFill>
            <a:srgbClr val="1725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Visual comparisons heading">
            <a:extLst>
              <a:ext uri="{FF2B5EF4-FFF2-40B4-BE49-F238E27FC236}">
                <a16:creationId xmlns:a16="http://schemas.microsoft.com/office/drawing/2014/main" id="{EEADC780-E74E-A148-C605-6115CF53D2AB}"/>
              </a:ext>
            </a:extLst>
          </p:cNvPr>
          <p:cNvSpPr txBox="1"/>
          <p:nvPr/>
        </p:nvSpPr>
        <p:spPr>
          <a:xfrm>
            <a:off x="6413500" y="1841500"/>
            <a:ext cx="5003800" cy="276999"/>
          </a:xfrm>
          <a:prstGeom prst="rect">
            <a:avLst/>
          </a:prstGeom>
          <a:noFill/>
        </p:spPr>
        <p:txBody>
          <a:bodyPr vert="horz" wrap="square" lIns="0" tIns="0" rIns="0" bIns="0" rtlCol="0">
            <a:noAutofit/>
          </a:bodyPr>
          <a:lstStyle/>
          <a:p>
            <a:pPr>
              <a:spcAft>
                <a:spcPts val="400"/>
              </a:spcAft>
            </a:pPr>
            <a:r>
              <a:rPr lang="ro-RO" sz="1900" b="1">
                <a:solidFill>
                  <a:srgbClr val="FFC870"/>
                </a:solidFill>
                <a:latin typeface="Aptos" panose="020B0004020202020204" pitchFamily="34" charset="0"/>
              </a:rPr>
              <a:t>Ce urmăresc comparațiile vizuale?</a:t>
            </a:r>
            <a:endParaRPr lang="ro-RO" sz="1900" b="1" dirty="0">
              <a:solidFill>
                <a:srgbClr val="FFC870"/>
              </a:solidFill>
              <a:latin typeface="Aptos" panose="020B0004020202020204" pitchFamily="34" charset="0"/>
            </a:endParaRPr>
          </a:p>
        </p:txBody>
      </p:sp>
      <p:sp>
        <p:nvSpPr>
          <p:cNvPr id="25" name="Visual comparisons body">
            <a:extLst>
              <a:ext uri="{FF2B5EF4-FFF2-40B4-BE49-F238E27FC236}">
                <a16:creationId xmlns:a16="http://schemas.microsoft.com/office/drawing/2014/main" id="{2E5EA081-C5BD-3D70-AA6C-408A2D8DFE73}"/>
              </a:ext>
            </a:extLst>
          </p:cNvPr>
          <p:cNvSpPr txBox="1"/>
          <p:nvPr/>
        </p:nvSpPr>
        <p:spPr>
          <a:xfrm>
            <a:off x="6413500" y="2336800"/>
            <a:ext cx="5003800" cy="276999"/>
          </a:xfrm>
          <a:prstGeom prst="rect">
            <a:avLst/>
          </a:prstGeom>
          <a:noFill/>
        </p:spPr>
        <p:txBody>
          <a:bodyPr vert="horz" wrap="square" lIns="0" tIns="0" rIns="0" bIns="0" rtlCol="0">
            <a:noAutofit/>
          </a:bodyPr>
          <a:lstStyle/>
          <a:p>
            <a:pPr>
              <a:spcAft>
                <a:spcPts val="400"/>
              </a:spcAft>
            </a:pPr>
            <a:r>
              <a:rPr lang="ro-RO" sz="1700">
                <a:solidFill>
                  <a:srgbClr val="F4F7FB"/>
                </a:solidFill>
                <a:latin typeface="Aptos" panose="020B0004020202020204" pitchFamily="34" charset="0"/>
              </a:rPr>
              <a:t>Figura 9 (o măsurare): Bicubic și 16Sum pierd detalii fine; Random le recuperează mai bine.</a:t>
            </a:r>
          </a:p>
          <a:p>
            <a:pPr>
              <a:spcAft>
                <a:spcPts val="400"/>
              </a:spcAft>
            </a:pPr>
            <a:r>
              <a:rPr lang="ro-RO" sz="1700">
                <a:solidFill>
                  <a:srgbClr val="F4F7FB"/>
                </a:solidFill>
                <a:latin typeface="Aptos" panose="020B0004020202020204" pitchFamily="34" charset="0"/>
              </a:rPr>
              <a:t>Figura 8 (două măsurări): 8Sum alternant reduce neclaritatea față de 8Sum fix; diferențele Random–Tetromino sunt mai subtile.</a:t>
            </a:r>
            <a:endParaRPr lang="ro-RO" sz="1700" dirty="0">
              <a:solidFill>
                <a:srgbClr val="F4F7FB"/>
              </a:solidFill>
              <a:latin typeface="Aptos" panose="020B0004020202020204" pitchFamily="34" charset="0"/>
            </a:endParaRPr>
          </a:p>
        </p:txBody>
      </p:sp>
      <p:sp>
        <p:nvSpPr>
          <p:cNvPr id="26" name="Rectangle 25">
            <a:extLst>
              <a:ext uri="{FF2B5EF4-FFF2-40B4-BE49-F238E27FC236}">
                <a16:creationId xmlns:a16="http://schemas.microsoft.com/office/drawing/2014/main" id="{131B75E0-E32F-8E9F-0222-4F2346966C0B}"/>
              </a:ext>
            </a:extLst>
          </p:cNvPr>
          <p:cNvSpPr/>
          <p:nvPr/>
        </p:nvSpPr>
        <p:spPr>
          <a:xfrm>
            <a:off x="571500" y="4381500"/>
            <a:ext cx="11049000" cy="1816100"/>
          </a:xfrm>
          <a:prstGeom prst="rect">
            <a:avLst/>
          </a:prstGeom>
          <a:solidFill>
            <a:srgbClr val="1725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Metric nuance heading">
            <a:extLst>
              <a:ext uri="{FF2B5EF4-FFF2-40B4-BE49-F238E27FC236}">
                <a16:creationId xmlns:a16="http://schemas.microsoft.com/office/drawing/2014/main" id="{76888BDC-8858-657A-E8E6-B0E61C799C5E}"/>
              </a:ext>
            </a:extLst>
          </p:cNvPr>
          <p:cNvSpPr txBox="1"/>
          <p:nvPr/>
        </p:nvSpPr>
        <p:spPr>
          <a:xfrm>
            <a:off x="774700" y="4533900"/>
            <a:ext cx="10642600" cy="276999"/>
          </a:xfrm>
          <a:prstGeom prst="rect">
            <a:avLst/>
          </a:prstGeom>
          <a:noFill/>
        </p:spPr>
        <p:txBody>
          <a:bodyPr vert="horz" wrap="square" lIns="0" tIns="0" rIns="0" bIns="0" rtlCol="0">
            <a:noAutofit/>
          </a:bodyPr>
          <a:lstStyle/>
          <a:p>
            <a:pPr>
              <a:spcAft>
                <a:spcPts val="400"/>
              </a:spcAft>
            </a:pPr>
            <a:r>
              <a:rPr lang="ro-RO" sz="1900" b="1">
                <a:solidFill>
                  <a:srgbClr val="52D6D3"/>
                </a:solidFill>
                <a:latin typeface="Aptos" panose="020B0004020202020204" pitchFamily="34" charset="0"/>
              </a:rPr>
              <a:t>Clasamentul depinde și de metrică / set de date</a:t>
            </a:r>
            <a:endParaRPr lang="ro-RO" sz="1900" b="1" dirty="0">
              <a:solidFill>
                <a:srgbClr val="52D6D3"/>
              </a:solidFill>
              <a:latin typeface="Aptos" panose="020B0004020202020204" pitchFamily="34" charset="0"/>
            </a:endParaRPr>
          </a:p>
        </p:txBody>
      </p:sp>
      <p:sp>
        <p:nvSpPr>
          <p:cNvPr id="28" name="Metric nuance body">
            <a:extLst>
              <a:ext uri="{FF2B5EF4-FFF2-40B4-BE49-F238E27FC236}">
                <a16:creationId xmlns:a16="http://schemas.microsoft.com/office/drawing/2014/main" id="{B8E58E9B-8B25-CD03-32F1-935CFEF73CA8}"/>
              </a:ext>
            </a:extLst>
          </p:cNvPr>
          <p:cNvSpPr txBox="1"/>
          <p:nvPr/>
        </p:nvSpPr>
        <p:spPr>
          <a:xfrm>
            <a:off x="774700" y="5029200"/>
            <a:ext cx="10642600" cy="276999"/>
          </a:xfrm>
          <a:prstGeom prst="rect">
            <a:avLst/>
          </a:prstGeom>
          <a:noFill/>
        </p:spPr>
        <p:txBody>
          <a:bodyPr vert="horz" wrap="square" lIns="0" tIns="0" rIns="0" bIns="0" rtlCol="0">
            <a:noAutofit/>
          </a:bodyPr>
          <a:lstStyle/>
          <a:p>
            <a:pPr>
              <a:spcAft>
                <a:spcPts val="400"/>
              </a:spcAft>
            </a:pPr>
            <a:r>
              <a:rPr lang="ro-RO" sz="1700">
                <a:solidFill>
                  <a:srgbClr val="F4F7FB"/>
                </a:solidFill>
                <a:latin typeface="Aptos" panose="020B0004020202020204" pitchFamily="34" charset="0"/>
              </a:rPr>
              <a:t>Pe Vid4, 8Sum alternant are PSNR mai bun decât Random constant (31,24 vs 30,83 dB), dar LPIPS mai slab (0,0945 vs 0,0841). Dinamica îmbunătățește clar PSNR în aceste comparații; nu înseamnă că fiecare variantă câștigă la fiecare metrică.</a:t>
            </a:r>
            <a:endParaRPr lang="ro-RO" sz="1700" dirty="0">
              <a:solidFill>
                <a:srgbClr val="F4F7FB"/>
              </a:solidFill>
              <a:latin typeface="Aptos" panose="020B0004020202020204" pitchFamily="34" charset="0"/>
            </a:endParaRPr>
          </a:p>
        </p:txBody>
      </p:sp>
      <p:sp xmlns:p="http://schemas.openxmlformats.org/presentationml/2006/main">
        <p:nvSpPr>
          <p:cNvPr id="29" name="Slide number"/>
          <p:cNvSpPr/>
          <p:nvPr/>
        </p:nvSpPr>
        <p:spPr>
          <a:xfrm xmlns:a="http://schemas.openxmlformats.org/drawingml/2006/main">
            <a:off x="11009376" y="6492240"/>
            <a:ext cx="475488" cy="228600"/>
          </a:xfrm>
          <a:prstGeom xmlns:a="http://schemas.openxmlformats.org/drawingml/2006/main" prst="rect">
            <a:avLst/>
          </a:prstGeom>
          <a:noFill xmlns:a="http://schemas.openxmlformats.org/drawingml/2006/main"/>
          <a:ln xmlns:a="http://schemas.openxmlformats.org/drawingml/2006/main"/>
        </p:spPr>
        <p:txBody>
          <a:bodyPr xmlns:a="http://schemas.openxmlformats.org/drawingml/2006/main" wrap="square" lIns="0" tIns="0" rIns="0" bIns="0" rtlCol="0" anchor="ctr"/>
          <a:lstStyle xmlns:a="http://schemas.openxmlformats.org/drawingml/2006/main"/>
          <a:p xmlns:a="http://schemas.openxmlformats.org/drawingml/2006/main">
            <a:pPr marL="0" indent="0" algn="r">
              <a:buNone/>
            </a:pPr>
            <a:r>
              <a:rPr lang="ro-RO" sz="1000" b="1">
                <a:solidFill>
                  <a:srgbClr val="52D6D3"/>
                </a:solidFill>
                <a:latin typeface="Aptos" pitchFamily="34" charset="0"/>
                <a:ea typeface="Aptos" pitchFamily="34" charset="-122"/>
                <a:cs typeface="Aptos" pitchFamily="34" charset="-120"/>
              </a:rPr>
              <a:t>17</a:t>
            </a:r>
            <a:endParaRPr lang="ro-RO"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A230B4F2-0A9F-291A-EE34-DFECC6C886B1}"/>
              </a:ext>
            </a:extLst>
          </p:cNvPr>
          <p:cNvSpPr txBox="1"/>
          <p:nvPr/>
        </p:nvSpPr>
        <p:spPr>
          <a:xfrm>
            <a:off x="571500" y="330200"/>
            <a:ext cx="11049000" cy="276999"/>
          </a:xfrm>
          <a:prstGeom prst="rect">
            <a:avLst/>
          </a:prstGeom>
          <a:noFill/>
        </p:spPr>
        <p:txBody>
          <a:bodyPr vert="horz" wrap="square" lIns="0" tIns="0" rIns="0" bIns="0" rtlCol="0">
            <a:noAutofit/>
          </a:bodyPr>
          <a:lstStyle/>
          <a:p>
            <a:pPr>
              <a:spcAft>
                <a:spcPts val="400"/>
              </a:spcAft>
            </a:pPr>
            <a:r>
              <a:rPr lang="ro-RO" sz="2800" b="1">
                <a:solidFill>
                  <a:srgbClr val="F4F7FB"/>
                </a:solidFill>
                <a:latin typeface="Aptos" panose="020B0004020202020204" pitchFamily="34" charset="0"/>
              </a:rPr>
              <a:t>Ce demonstrează testele și unde sunt limitele?</a:t>
            </a:r>
            <a:endParaRPr lang="ro-RO" sz="2800" b="1" dirty="0">
              <a:solidFill>
                <a:srgbClr val="F4F7FB"/>
              </a:solidFill>
              <a:latin typeface="Aptos" panose="020B0004020202020204" pitchFamily="34" charset="0"/>
            </a:endParaRPr>
          </a:p>
        </p:txBody>
      </p:sp>
      <p:sp>
        <p:nvSpPr>
          <p:cNvPr id="20" name="Subtitle">
            <a:extLst>
              <a:ext uri="{FF2B5EF4-FFF2-40B4-BE49-F238E27FC236}">
                <a16:creationId xmlns:a16="http://schemas.microsoft.com/office/drawing/2014/main" id="{FDBEB53B-553A-B680-3B7F-1C4128044226}"/>
              </a:ext>
            </a:extLst>
          </p:cNvPr>
          <p:cNvSpPr txBox="1"/>
          <p:nvPr/>
        </p:nvSpPr>
        <p:spPr>
          <a:xfrm>
            <a:off x="584200" y="977900"/>
            <a:ext cx="10985500" cy="276999"/>
          </a:xfrm>
          <a:prstGeom prst="rect">
            <a:avLst/>
          </a:prstGeom>
          <a:noFill/>
        </p:spPr>
        <p:txBody>
          <a:bodyPr vert="horz" wrap="square" lIns="0" tIns="0" rIns="0" bIns="0" rtlCol="0">
            <a:noAutofit/>
          </a:bodyPr>
          <a:lstStyle/>
          <a:p>
            <a:pPr>
              <a:spcAft>
                <a:spcPts val="400"/>
              </a:spcAft>
            </a:pPr>
            <a:r>
              <a:rPr lang="ro-RO" sz="1300">
                <a:solidFill>
                  <a:srgbClr val="B9C9DB"/>
                </a:solidFill>
                <a:latin typeface="Aptos" panose="020B0004020202020204" pitchFamily="34" charset="0"/>
              </a:rPr>
              <a:t>Concluziile trebuie raportate la rețelele, datele și bugetele de măsurare evaluate.</a:t>
            </a:r>
            <a:endParaRPr lang="ro-RO" sz="1300" dirty="0">
              <a:solidFill>
                <a:srgbClr val="B9C9DB"/>
              </a:solidFill>
              <a:latin typeface="Aptos" panose="020B0004020202020204" pitchFamily="34" charset="0"/>
            </a:endParaRPr>
          </a:p>
        </p:txBody>
      </p:sp>
      <p:cxnSp>
        <p:nvCxnSpPr>
          <p:cNvPr id="21" name="Straight Connector 20">
            <a:extLst>
              <a:ext uri="{FF2B5EF4-FFF2-40B4-BE49-F238E27FC236}">
                <a16:creationId xmlns:a16="http://schemas.microsoft.com/office/drawing/2014/main" id="{FFAF8187-A1A1-E413-797A-DCB6D2FAC3E8}"/>
              </a:ext>
            </a:extLst>
          </p:cNvPr>
          <p:cNvCxnSpPr/>
          <p:nvPr/>
        </p:nvCxnSpPr>
        <p:spPr>
          <a:xfrm>
            <a:off x="571500" y="1460500"/>
            <a:ext cx="11049000" cy="0"/>
          </a:xfrm>
          <a:prstGeom prst="line">
            <a:avLst/>
          </a:prstGeom>
          <a:ln>
            <a:solidFill>
              <a:srgbClr val="34475D"/>
            </a:solidFill>
          </a:ln>
        </p:spPr>
        <p:style>
          <a:lnRef idx="1">
            <a:schemeClr val="accent1"/>
          </a:lnRef>
          <a:fillRef idx="0">
            <a:schemeClr val="accent1"/>
          </a:fillRef>
          <a:effectRef idx="0">
            <a:schemeClr val="accent1"/>
          </a:effectRef>
          <a:fontRef idx="minor">
            <a:schemeClr val="tx1"/>
          </a:fontRef>
        </p:style>
      </p:cxnSp>
      <p:sp>
        <p:nvSpPr>
          <p:cNvPr id="22" name="Source">
            <a:extLst>
              <a:ext uri="{FF2B5EF4-FFF2-40B4-BE49-F238E27FC236}">
                <a16:creationId xmlns:a16="http://schemas.microsoft.com/office/drawing/2014/main" id="{2334D126-F882-C4D3-3B70-AED4D966AEF1}"/>
              </a:ext>
            </a:extLst>
          </p:cNvPr>
          <p:cNvSpPr txBox="1"/>
          <p:nvPr/>
        </p:nvSpPr>
        <p:spPr>
          <a:xfrm>
            <a:off x="584200" y="6477000"/>
            <a:ext cx="10414000" cy="276999"/>
          </a:xfrm>
          <a:prstGeom prst="rect">
            <a:avLst/>
          </a:prstGeom>
          <a:noFill/>
        </p:spPr>
        <p:txBody>
          <a:bodyPr vert="horz" wrap="square" lIns="0" tIns="0" rIns="0" bIns="0" rtlCol="0">
            <a:noAutofit/>
          </a:bodyPr>
          <a:lstStyle/>
          <a:p>
            <a:pPr>
              <a:spcAft>
                <a:spcPts val="400"/>
              </a:spcAft>
            </a:pPr>
            <a:r>
              <a:rPr lang="ro-RO" sz="900">
                <a:solidFill>
                  <a:srgbClr val="B9C9DB"/>
                </a:solidFill>
                <a:latin typeface="Aptos" panose="020B0004020202020204" pitchFamily="34" charset="0"/>
              </a:rPr>
              <a:t>Referință: Katz et al., Rethinking Compressive Sensing: A Compression Framework for Video Super-Resolution, CVPRW 2025.</a:t>
            </a:r>
            <a:endParaRPr lang="ro-RO" sz="900" dirty="0">
              <a:solidFill>
                <a:srgbClr val="B9C9DB"/>
              </a:solidFill>
              <a:latin typeface="Aptos" panose="020B0004020202020204" pitchFamily="34" charset="0"/>
            </a:endParaRPr>
          </a:p>
        </p:txBody>
      </p:sp>
      <p:sp>
        <p:nvSpPr>
          <p:cNvPr id="23" name="Page">
            <a:extLst>
              <a:ext uri="{FF2B5EF4-FFF2-40B4-BE49-F238E27FC236}">
                <a16:creationId xmlns:a16="http://schemas.microsoft.com/office/drawing/2014/main" id="{D46DE1EB-945E-D5B3-8A4E-94C02FFB929E}"/>
              </a:ext>
            </a:extLst>
          </p:cNvPr>
          <p:cNvSpPr txBox="1"/>
          <p:nvPr/>
        </p:nvSpPr>
        <p:spPr>
          <a:xfrm>
            <a:off x="11252200" y="6477000"/>
            <a:ext cx="381000" cy="276999"/>
          </a:xfrm>
          <a:prstGeom prst="rect">
            <a:avLst/>
          </a:prstGeom>
          <a:noFill/>
        </p:spPr>
        <p:txBody>
          <a:bodyPr vert="horz" wrap="square" lIns="0" tIns="0" rIns="0" bIns="0" rtlCol="0">
            <a:noAutofit/>
          </a:bodyPr>
          <a:lstStyle/>
          <a:p>
            <a:pPr>
              <a:spcAft>
                <a:spcPts val="400"/>
              </a:spcAft>
            </a:pPr>
            <a:r>
              <a:rPr lang="ro-RO" sz="1000" b="1">
                <a:solidFill>
                  <a:srgbClr val="52D6D3"/>
                </a:solidFill>
                <a:latin typeface="Aptos" panose="020B0004020202020204" pitchFamily="34" charset="0"/>
              </a:rPr>
              <a:t>18</a:t>
            </a:r>
            <a:endParaRPr lang="ro-RO" sz="1000" b="1" dirty="0">
              <a:solidFill>
                <a:srgbClr val="52D6D3"/>
              </a:solidFill>
              <a:latin typeface="Aptos" panose="020B0004020202020204" pitchFamily="34" charset="0"/>
            </a:endParaRPr>
          </a:p>
        </p:txBody>
      </p:sp>
      <p:sp>
        <p:nvSpPr>
          <p:cNvPr id="24" name="Rectangle 23">
            <a:extLst>
              <a:ext uri="{FF2B5EF4-FFF2-40B4-BE49-F238E27FC236}">
                <a16:creationId xmlns:a16="http://schemas.microsoft.com/office/drawing/2014/main" id="{412009CE-ACD8-EB63-1F23-0A183A196CA1}"/>
              </a:ext>
            </a:extLst>
          </p:cNvPr>
          <p:cNvSpPr/>
          <p:nvPr/>
        </p:nvSpPr>
        <p:spPr>
          <a:xfrm>
            <a:off x="571500" y="1689100"/>
            <a:ext cx="5410200" cy="3263900"/>
          </a:xfrm>
          <a:prstGeom prst="rect">
            <a:avLst/>
          </a:prstGeom>
          <a:solidFill>
            <a:srgbClr val="1725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Evidence heading">
            <a:extLst>
              <a:ext uri="{FF2B5EF4-FFF2-40B4-BE49-F238E27FC236}">
                <a16:creationId xmlns:a16="http://schemas.microsoft.com/office/drawing/2014/main" id="{7D62D959-31DC-AA8B-14E5-F4F822688822}"/>
              </a:ext>
            </a:extLst>
          </p:cNvPr>
          <p:cNvSpPr txBox="1"/>
          <p:nvPr/>
        </p:nvSpPr>
        <p:spPr>
          <a:xfrm>
            <a:off x="774700" y="1841500"/>
            <a:ext cx="5003800" cy="276999"/>
          </a:xfrm>
          <a:prstGeom prst="rect">
            <a:avLst/>
          </a:prstGeom>
          <a:noFill/>
        </p:spPr>
        <p:txBody>
          <a:bodyPr vert="horz" wrap="square" lIns="0" tIns="0" rIns="0" bIns="0" rtlCol="0">
            <a:noAutofit/>
          </a:bodyPr>
          <a:lstStyle/>
          <a:p>
            <a:pPr>
              <a:spcAft>
                <a:spcPts val="400"/>
              </a:spcAft>
            </a:pPr>
            <a:r>
              <a:rPr lang="ro-RO" sz="1900" b="1">
                <a:solidFill>
                  <a:srgbClr val="52D6D3"/>
                </a:solidFill>
                <a:latin typeface="Aptos" panose="020B0004020202020204" pitchFamily="34" charset="0"/>
              </a:rPr>
              <a:t>Concluzii susținute de experimente</a:t>
            </a:r>
            <a:endParaRPr lang="ro-RO" sz="1900" b="1" dirty="0">
              <a:solidFill>
                <a:srgbClr val="52D6D3"/>
              </a:solidFill>
              <a:latin typeface="Aptos" panose="020B0004020202020204" pitchFamily="34" charset="0"/>
            </a:endParaRPr>
          </a:p>
        </p:txBody>
      </p:sp>
      <p:sp>
        <p:nvSpPr>
          <p:cNvPr id="26" name="Evidence body">
            <a:extLst>
              <a:ext uri="{FF2B5EF4-FFF2-40B4-BE49-F238E27FC236}">
                <a16:creationId xmlns:a16="http://schemas.microsoft.com/office/drawing/2014/main" id="{382EC1F0-FB66-CA82-FD47-394BBACFC6C8}"/>
              </a:ext>
            </a:extLst>
          </p:cNvPr>
          <p:cNvSpPr txBox="1"/>
          <p:nvPr/>
        </p:nvSpPr>
        <p:spPr>
          <a:xfrm>
            <a:off x="774700" y="2336800"/>
            <a:ext cx="5003800" cy="276999"/>
          </a:xfrm>
          <a:prstGeom prst="rect">
            <a:avLst/>
          </a:prstGeom>
          <a:noFill/>
        </p:spPr>
        <p:txBody>
          <a:bodyPr vert="horz" wrap="square" lIns="0" tIns="0" rIns="0" bIns="0" rtlCol="0">
            <a:noAutofit/>
          </a:bodyPr>
          <a:lstStyle/>
          <a:p>
            <a:pPr>
              <a:spcAft>
                <a:spcPts val="400"/>
              </a:spcAft>
            </a:pPr>
            <a:r>
              <a:rPr lang="ro-RO" sz="1700">
                <a:solidFill>
                  <a:srgbClr val="F4F7FB"/>
                </a:solidFill>
                <a:latin typeface="Aptos" panose="020B0004020202020204" pitchFamily="34" charset="0"/>
              </a:rPr>
              <a:t>• La CR = 1/16, Random depășește Bicubic și 16Sum pentru 3 rețele, pe 2 seturi de date.</a:t>
            </a:r>
          </a:p>
          <a:p>
            <a:pPr>
              <a:spcAft>
                <a:spcPts val="400"/>
              </a:spcAft>
            </a:pPr>
            <a:r>
              <a:rPr lang="ro-RO" sz="1700">
                <a:solidFill>
                  <a:srgbClr val="F4F7FB"/>
                </a:solidFill>
                <a:latin typeface="Aptos" panose="020B0004020202020204" pitchFamily="34" charset="0"/>
              </a:rPr>
              <a:t>• La CR = 1/8, testele cu măști constante și dinamice arată contribuția formei și a timpului.</a:t>
            </a:r>
          </a:p>
          <a:p>
            <a:pPr>
              <a:spcAft>
                <a:spcPts val="400"/>
              </a:spcAft>
            </a:pPr>
            <a:r>
              <a:rPr lang="ro-RO" sz="1700">
                <a:solidFill>
                  <a:srgbClr val="F4F7FB"/>
                </a:solidFill>
                <a:latin typeface="Aptos" panose="020B0004020202020204" pitchFamily="34" charset="0"/>
              </a:rPr>
              <a:t>• Tetromino extended obține cel mai bun PSNR din Tabelul 2, cu toți pixelii utilizați.</a:t>
            </a:r>
            <a:endParaRPr lang="ro-RO" sz="1700" dirty="0">
              <a:solidFill>
                <a:srgbClr val="F4F7FB"/>
              </a:solidFill>
              <a:latin typeface="Aptos" panose="020B0004020202020204" pitchFamily="34" charset="0"/>
            </a:endParaRPr>
          </a:p>
        </p:txBody>
      </p:sp>
      <p:sp>
        <p:nvSpPr>
          <p:cNvPr id="27" name="Rectangle 26">
            <a:extLst>
              <a:ext uri="{FF2B5EF4-FFF2-40B4-BE49-F238E27FC236}">
                <a16:creationId xmlns:a16="http://schemas.microsoft.com/office/drawing/2014/main" id="{60288031-CB7F-031E-A1A2-510355B246B0}"/>
              </a:ext>
            </a:extLst>
          </p:cNvPr>
          <p:cNvSpPr/>
          <p:nvPr/>
        </p:nvSpPr>
        <p:spPr>
          <a:xfrm>
            <a:off x="6210300" y="1689100"/>
            <a:ext cx="5410200" cy="3263900"/>
          </a:xfrm>
          <a:prstGeom prst="rect">
            <a:avLst/>
          </a:prstGeom>
          <a:solidFill>
            <a:srgbClr val="1725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Limits heading">
            <a:extLst>
              <a:ext uri="{FF2B5EF4-FFF2-40B4-BE49-F238E27FC236}">
                <a16:creationId xmlns:a16="http://schemas.microsoft.com/office/drawing/2014/main" id="{4926F9CC-0353-275F-2E98-EA427CE5B100}"/>
              </a:ext>
            </a:extLst>
          </p:cNvPr>
          <p:cNvSpPr txBox="1"/>
          <p:nvPr/>
        </p:nvSpPr>
        <p:spPr>
          <a:xfrm>
            <a:off x="6413500" y="1841500"/>
            <a:ext cx="5003800" cy="276999"/>
          </a:xfrm>
          <a:prstGeom prst="rect">
            <a:avLst/>
          </a:prstGeom>
          <a:noFill/>
        </p:spPr>
        <p:txBody>
          <a:bodyPr vert="horz" wrap="square" lIns="0" tIns="0" rIns="0" bIns="0" rtlCol="0">
            <a:noAutofit/>
          </a:bodyPr>
          <a:lstStyle/>
          <a:p>
            <a:pPr>
              <a:spcAft>
                <a:spcPts val="400"/>
              </a:spcAft>
            </a:pPr>
            <a:r>
              <a:rPr lang="ro-RO" sz="1900" b="1">
                <a:solidFill>
                  <a:srgbClr val="FFC870"/>
                </a:solidFill>
                <a:latin typeface="Aptos" panose="020B0004020202020204" pitchFamily="34" charset="0"/>
              </a:rPr>
              <a:t>Domeniu de validare și cost practic</a:t>
            </a:r>
            <a:endParaRPr lang="ro-RO" sz="1900" b="1" dirty="0">
              <a:solidFill>
                <a:srgbClr val="FFC870"/>
              </a:solidFill>
              <a:latin typeface="Aptos" panose="020B0004020202020204" pitchFamily="34" charset="0"/>
            </a:endParaRPr>
          </a:p>
        </p:txBody>
      </p:sp>
      <p:sp>
        <p:nvSpPr>
          <p:cNvPr id="29" name="Limits body">
            <a:extLst>
              <a:ext uri="{FF2B5EF4-FFF2-40B4-BE49-F238E27FC236}">
                <a16:creationId xmlns:a16="http://schemas.microsoft.com/office/drawing/2014/main" id="{B7604900-DAFC-9E34-E76B-1D25CE5A2608}"/>
              </a:ext>
            </a:extLst>
          </p:cNvPr>
          <p:cNvSpPr txBox="1"/>
          <p:nvPr/>
        </p:nvSpPr>
        <p:spPr>
          <a:xfrm>
            <a:off x="6413500" y="2336800"/>
            <a:ext cx="5003800" cy="276999"/>
          </a:xfrm>
          <a:prstGeom prst="rect">
            <a:avLst/>
          </a:prstGeom>
          <a:noFill/>
        </p:spPr>
        <p:txBody>
          <a:bodyPr vert="horz" wrap="square" lIns="0" tIns="0" rIns="0" bIns="0" rtlCol="0">
            <a:noAutofit/>
          </a:bodyPr>
          <a:lstStyle/>
          <a:p>
            <a:pPr>
              <a:spcAft>
                <a:spcPts val="400"/>
              </a:spcAft>
            </a:pPr>
            <a:r>
              <a:rPr lang="ro-RO" sz="1700">
                <a:solidFill>
                  <a:srgbClr val="F4F7FB"/>
                </a:solidFill>
                <a:latin typeface="Aptos" panose="020B0004020202020204" pitchFamily="34" charset="0"/>
              </a:rPr>
              <a:t>• Evaluare pe secvențe video și măsurări simulate; articolul propune adaptări hardware.</a:t>
            </a:r>
          </a:p>
          <a:p>
            <a:pPr>
              <a:spcAft>
                <a:spcPts val="400"/>
              </a:spcAft>
            </a:pPr>
            <a:r>
              <a:rPr lang="ro-RO" sz="1700">
                <a:solidFill>
                  <a:srgbClr val="F4F7FB"/>
                </a:solidFill>
                <a:latin typeface="Aptos" panose="020B0004020202020204" pitchFamily="34" charset="0"/>
              </a:rPr>
              <a:t>• Cele două măsurări dublează datele față de una și cer resurse suplimentare de citire.</a:t>
            </a:r>
          </a:p>
          <a:p>
            <a:pPr>
              <a:spcAft>
                <a:spcPts val="400"/>
              </a:spcAft>
            </a:pPr>
            <a:r>
              <a:rPr lang="ro-RO" sz="1700">
                <a:solidFill>
                  <a:srgbClr val="F4F7FB"/>
                </a:solidFill>
                <a:latin typeface="Aptos" panose="020B0004020202020204" pitchFamily="34" charset="0"/>
              </a:rPr>
              <a:t>• Rezultatele depind de date și antrenare; nu demonstrează automat aceeași performanță pe orice senzor sau scenă.</a:t>
            </a:r>
            <a:endParaRPr lang="ro-RO" sz="1700" dirty="0">
              <a:solidFill>
                <a:srgbClr val="F4F7FB"/>
              </a:solidFill>
              <a:latin typeface="Aptos" panose="020B0004020202020204" pitchFamily="34" charset="0"/>
            </a:endParaRPr>
          </a:p>
        </p:txBody>
      </p:sp>
      <p:sp>
        <p:nvSpPr>
          <p:cNvPr id="30" name="Final message">
            <a:extLst>
              <a:ext uri="{FF2B5EF4-FFF2-40B4-BE49-F238E27FC236}">
                <a16:creationId xmlns:a16="http://schemas.microsoft.com/office/drawing/2014/main" id="{DB262193-79DF-485F-CFE0-C014C3BACC9C}"/>
              </a:ext>
            </a:extLst>
          </p:cNvPr>
          <p:cNvSpPr txBox="1"/>
          <p:nvPr/>
        </p:nvSpPr>
        <p:spPr>
          <a:xfrm>
            <a:off x="673100" y="5219700"/>
            <a:ext cx="10820400" cy="276999"/>
          </a:xfrm>
          <a:prstGeom prst="rect">
            <a:avLst/>
          </a:prstGeom>
          <a:noFill/>
        </p:spPr>
        <p:txBody>
          <a:bodyPr vert="horz" wrap="square" lIns="0" tIns="0" rIns="0" bIns="0" rtlCol="0">
            <a:noAutofit/>
          </a:bodyPr>
          <a:lstStyle/>
          <a:p>
            <a:pPr>
              <a:spcAft>
                <a:spcPts val="400"/>
              </a:spcAft>
            </a:pPr>
            <a:r>
              <a:rPr lang="ro-RO">
                <a:solidFill>
                  <a:srgbClr val="F4F7FB"/>
                </a:solidFill>
                <a:latin typeface="Aptos" panose="020B0004020202020204" pitchFamily="34" charset="0"/>
              </a:rPr>
              <a:t>Ideea centrală: achiziția și reconstrucția se proiectează împreună. Nu doar numărul de pixeli utilizați, ci și diversitatea informației păstrate între cadre influențează rezultatul VSR.</a:t>
            </a:r>
            <a:endParaRPr lang="ro-RO" dirty="0">
              <a:solidFill>
                <a:srgbClr val="F4F7FB"/>
              </a:solidFill>
              <a:latin typeface="Aptos" panose="020B0004020202020204" pitchFamily="34" charset="0"/>
            </a:endParaRPr>
          </a:p>
        </p:txBody>
      </p:sp>
      <p:sp xmlns:p="http://schemas.openxmlformats.org/presentationml/2006/main">
        <p:nvSpPr>
          <p:cNvPr id="31" name="Slide number"/>
          <p:cNvSpPr/>
          <p:nvPr/>
        </p:nvSpPr>
        <p:spPr>
          <a:xfrm xmlns:a="http://schemas.openxmlformats.org/drawingml/2006/main">
            <a:off x="11009376" y="6492240"/>
            <a:ext cx="475488" cy="228600"/>
          </a:xfrm>
          <a:prstGeom xmlns:a="http://schemas.openxmlformats.org/drawingml/2006/main" prst="rect">
            <a:avLst/>
          </a:prstGeom>
          <a:noFill xmlns:a="http://schemas.openxmlformats.org/drawingml/2006/main"/>
          <a:ln xmlns:a="http://schemas.openxmlformats.org/drawingml/2006/main"/>
        </p:spPr>
        <p:txBody>
          <a:bodyPr xmlns:a="http://schemas.openxmlformats.org/drawingml/2006/main" wrap="square" lIns="0" tIns="0" rIns="0" bIns="0" rtlCol="0" anchor="ctr"/>
          <a:lstStyle xmlns:a="http://schemas.openxmlformats.org/drawingml/2006/main"/>
          <a:p xmlns:a="http://schemas.openxmlformats.org/drawingml/2006/main">
            <a:pPr marL="0" indent="0" algn="r">
              <a:buNone/>
            </a:pPr>
            <a:r>
              <a:rPr lang="ro-RO" sz="1000" b="1">
                <a:solidFill>
                  <a:srgbClr val="52D6D3"/>
                </a:solidFill>
                <a:latin typeface="Aptos" pitchFamily="34" charset="0"/>
                <a:ea typeface="Aptos" pitchFamily="34" charset="-122"/>
                <a:cs typeface="Aptos" pitchFamily="34" charset="-120"/>
              </a:rPr>
              <a:t>18</a:t>
            </a:r>
            <a:endParaRPr lang="ro-RO"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TotalTime>
  <Words>3459</Words>
  <Application>Microsoft Office PowerPoint</Application>
  <PresentationFormat>Widescreen</PresentationFormat>
  <Paragraphs>368</Paragraphs>
  <Slides>18</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Eșantionare compresivă pentru super-rezoluția video</dc:title>
  <dc:subject>Katz et al. — Rethinking Compressive Sensing, CVPRW 2025</dc:subject>
  <dc:creator>Prezentare academică</dc:creator>
  <cp:lastModifiedBy>Bogdan I</cp:lastModifiedBy>
  <cp:revision>30</cp:revision>
  <dcterms:created xsi:type="dcterms:W3CDTF">2026-10-13T05:41:26Z</dcterms:created>
  <dcterms:modified xsi:type="dcterms:W3CDTF">2026-10-14T08:02:57Z</dcterms:modified>
</cp:coreProperties>
</file>