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4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ordan" userId="bac7033a9188d49b" providerId="LiveId" clId="{8D4F0023-3298-4279-9587-451113B39170}"/>
    <pc:docChg chg="undo custSel modSld">
      <pc:chgData name="Iordan" userId="bac7033a9188d49b" providerId="LiveId" clId="{8D4F0023-3298-4279-9587-451113B39170}" dt="2026-10-12T11:24:15.687" v="369" actId="20577"/>
      <pc:docMkLst>
        <pc:docMk/>
      </pc:docMkLst>
      <pc:sldChg chg="modSp mod">
        <pc:chgData name="Iordan" userId="bac7033a9188d49b" providerId="LiveId" clId="{8D4F0023-3298-4279-9587-451113B39170}" dt="2026-10-12T11:19:35.158" v="60" actId="20577"/>
        <pc:sldMkLst>
          <pc:docMk/>
          <pc:sldMk cId="0" sldId="256"/>
        </pc:sldMkLst>
        <pc:spChg chg="mod">
          <ac:chgData name="Iordan" userId="bac7033a9188d49b" providerId="LiveId" clId="{8D4F0023-3298-4279-9587-451113B39170}" dt="2026-10-12T11:19:35.158" v="6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Iordan" userId="bac7033a9188d49b" providerId="LiveId" clId="{8D4F0023-3298-4279-9587-451113B39170}" dt="2026-10-12T11:22:52.567" v="270" actId="20577"/>
        <pc:sldMkLst>
          <pc:docMk/>
          <pc:sldMk cId="0" sldId="257"/>
        </pc:sldMkLst>
        <pc:spChg chg="mod">
          <ac:chgData name="Iordan" userId="bac7033a9188d49b" providerId="LiveId" clId="{8D4F0023-3298-4279-9587-451113B39170}" dt="2026-10-12T11:22:52.567" v="27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Iordan" userId="bac7033a9188d49b" providerId="LiveId" clId="{8D4F0023-3298-4279-9587-451113B39170}" dt="2026-10-12T11:24:15.687" v="369" actId="20577"/>
        <pc:sldMkLst>
          <pc:docMk/>
          <pc:sldMk cId="0" sldId="258"/>
        </pc:sldMkLst>
        <pc:spChg chg="mod">
          <ac:chgData name="Iordan" userId="bac7033a9188d49b" providerId="LiveId" clId="{8D4F0023-3298-4279-9587-451113B39170}" dt="2026-10-12T11:24:15.687" v="369" actId="20577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270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Bună ziua. Timp total ~12 minute: primele 4 minute fundamente de compressive sensing, apoi lucrarea. Termenii tehnici rămân în engleză.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minut. Explicați binning-ul ca mediere hardware: ieftin, dar distruge definitiv detaliul. De aici nevoia unui sampling mai deștept.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minut. y = Φx pe tablă dacă se poate. Intuiția: o imagine naturală are puțini coeficienți mari în wavelet, deci puține măsurători aleatoare ajung.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minut. Acesta e saltul conceptual: în loc să măsori un cadru de mai multe ori (imposibil), măsori cadre consecutive o singură dată fiecare.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secunde. Pipeline-ul: cadru HR → măști pe blocuri → cadre LR → rețea VSR → cadru HR. Accent pe «măști care se schimbă în timp».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minut. Desenați un bloc 4×4 cu 8 pixeli A și 8 complementari B. Complementaritatea e trucul care împacă CS cu SNR-ul.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minut. Ierarhia de ținut minte: static &lt; dinamic, regulat &lt; non-regulat. Tetromino = piesele T care grupează câte 4 pixeli vecini.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minut. Mesajul forte: nu inventează o rețea nouă, ci arată că sampling-ul mai bun hrănește rețelele existente.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minut. Citiți un rând: IART sare de la 38.09 la 40.99 doar schimbând sampling-ul. Random bate binning-ul standard cu fill-factor înjumătățit.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minut. Ordinea e lecția: static-blurat la coadă, Tetromino dinamic în frunte. Menționați și SSIM/LPIPS din paper — același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secunde. Dacă proiectați, deschideți figurile din paper aici și dați zoom pe aceleași regiuni.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minut de încheiere. Takeaway într-o frază: sampling non-regulat + dinamic în timp, cu cost hardware minim, ridică orice model VSR cu ~1–3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972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3357"/>
                </a:solidFill>
              </a:defRPr>
            </a:pPr>
            <a:r>
              <a:t>Rethinking Compressive Sensing:</a:t>
            </a:r>
            <a:br/>
            <a:r>
              <a:t>A Compression Framework for Video Super-Resolution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88136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/>
              <a:t>•  </a:t>
            </a:r>
            <a:r>
              <a:rPr sz="2000" dirty="0" err="1"/>
              <a:t>Ruthy</a:t>
            </a:r>
            <a:r>
              <a:rPr sz="2000" dirty="0"/>
              <a:t> Katz et al., </a:t>
            </a:r>
            <a:r>
              <a:rPr sz="2000" dirty="0" err="1"/>
              <a:t>Corephotonics</a:t>
            </a:r>
            <a:r>
              <a:rPr sz="2000" dirty="0"/>
              <a:t>, Israel — CVPR Workshop 2025</a:t>
            </a:r>
          </a:p>
          <a:p>
            <a:pPr>
              <a:spcAft>
                <a:spcPts val="800"/>
              </a:spcAft>
            </a:pPr>
            <a:r>
              <a:rPr sz="2000" dirty="0"/>
              <a:t>•  Idee </a:t>
            </a:r>
            <a:r>
              <a:rPr sz="2000" dirty="0" err="1"/>
              <a:t>centrală</a:t>
            </a:r>
            <a:r>
              <a:rPr sz="2000" dirty="0"/>
              <a:t>: </a:t>
            </a:r>
            <a:r>
              <a:rPr sz="2000" dirty="0" err="1"/>
              <a:t>eșantionare</a:t>
            </a:r>
            <a:r>
              <a:rPr sz="2000" dirty="0"/>
              <a:t> on-sensor </a:t>
            </a:r>
            <a:r>
              <a:rPr sz="2000" dirty="0" err="1"/>
              <a:t>inspirată</a:t>
            </a:r>
            <a:r>
              <a:rPr sz="2000" dirty="0"/>
              <a:t> din compressive sensing + </a:t>
            </a:r>
            <a:r>
              <a:rPr sz="2000" dirty="0" err="1"/>
              <a:t>reconstrucție</a:t>
            </a:r>
            <a:r>
              <a:rPr sz="2000" dirty="0"/>
              <a:t> VSR</a:t>
            </a:r>
            <a:endParaRPr lang="en-US" sz="2000" dirty="0"/>
          </a:p>
          <a:p>
            <a:pPr>
              <a:spcAft>
                <a:spcPts val="800"/>
              </a:spcAft>
            </a:pPr>
            <a:r>
              <a:rPr sz="2000" dirty="0"/>
              <a:t>•  </a:t>
            </a:r>
            <a:r>
              <a:rPr sz="2000" dirty="0" err="1"/>
              <a:t>Prezentare</a:t>
            </a:r>
            <a:r>
              <a:rPr sz="2000" dirty="0"/>
              <a:t>: </a:t>
            </a:r>
            <a:r>
              <a:rPr lang="en-US" sz="2000" dirty="0"/>
              <a:t>I</a:t>
            </a:r>
            <a:r>
              <a:rPr sz="2000" dirty="0"/>
              <a:t>ntro </a:t>
            </a:r>
            <a:r>
              <a:rPr sz="2000" dirty="0" err="1"/>
              <a:t>în</a:t>
            </a:r>
            <a:r>
              <a:rPr sz="2000" dirty="0"/>
              <a:t> compressive sensing</a:t>
            </a:r>
            <a:r>
              <a:rPr lang="en-US" sz="2000" dirty="0"/>
              <a:t> + </a:t>
            </a:r>
            <a:r>
              <a:rPr lang="en-US" sz="2000" dirty="0" err="1"/>
              <a:t>Articol</a:t>
            </a:r>
            <a:r>
              <a:rPr lang="en-US" sz="2000" dirty="0"/>
              <a:t> </a:t>
            </a:r>
            <a:r>
              <a:rPr lang="ro-RO" sz="2000" dirty="0"/>
              <a:t>stiintific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F3357"/>
                </a:solidFill>
              </a:defRPr>
            </a:pPr>
            <a:r>
              <a:rPr dirty="0"/>
              <a:t>1  </a:t>
            </a:r>
            <a:r>
              <a:rPr dirty="0" err="1"/>
              <a:t>Problema</a:t>
            </a:r>
            <a:r>
              <a:rPr dirty="0"/>
              <a:t>: </a:t>
            </a:r>
            <a:r>
              <a:rPr dirty="0" err="1"/>
              <a:t>senzori</a:t>
            </a:r>
            <a:r>
              <a:rPr dirty="0"/>
              <a:t> </a:t>
            </a:r>
            <a:r>
              <a:rPr dirty="0" err="1"/>
              <a:t>uriași</a:t>
            </a:r>
            <a:r>
              <a:rPr dirty="0"/>
              <a:t>, </a:t>
            </a:r>
            <a:r>
              <a:rPr dirty="0" err="1"/>
              <a:t>ieșiri</a:t>
            </a:r>
            <a:r>
              <a:rPr dirty="0"/>
              <a:t> </a:t>
            </a:r>
            <a:r>
              <a:rPr dirty="0" err="1"/>
              <a:t>mici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 dirty="0"/>
              <a:t>•  </a:t>
            </a:r>
            <a:r>
              <a:rPr sz="1900" b="1" dirty="0" err="1"/>
              <a:t>Senzori</a:t>
            </a:r>
            <a:r>
              <a:rPr sz="1900" b="1" dirty="0"/>
              <a:t> de 200 MP </a:t>
            </a:r>
            <a:r>
              <a:rPr sz="1900" b="1" dirty="0" err="1"/>
              <a:t>în</a:t>
            </a:r>
            <a:r>
              <a:rPr sz="1900" b="1" dirty="0"/>
              <a:t> </a:t>
            </a:r>
            <a:r>
              <a:rPr sz="1900" b="1" dirty="0" err="1"/>
              <a:t>telefoane</a:t>
            </a:r>
            <a:r>
              <a:rPr sz="1900" b="1" dirty="0"/>
              <a:t>, </a:t>
            </a:r>
            <a:r>
              <a:rPr sz="1900" dirty="0" err="1"/>
              <a:t>însă</a:t>
            </a:r>
            <a:r>
              <a:rPr sz="1900" dirty="0"/>
              <a:t> </a:t>
            </a:r>
            <a:r>
              <a:rPr sz="1900" dirty="0" err="1"/>
              <a:t>pozele</a:t>
            </a:r>
            <a:r>
              <a:rPr sz="1900" dirty="0"/>
              <a:t>/video </a:t>
            </a:r>
            <a:r>
              <a:rPr sz="1900" dirty="0" err="1"/>
              <a:t>salvate</a:t>
            </a:r>
            <a:r>
              <a:rPr sz="1900" dirty="0"/>
              <a:t> au</a:t>
            </a:r>
            <a:r>
              <a:rPr lang="ro-RO" sz="1900" dirty="0"/>
              <a:t> de regula</a:t>
            </a:r>
            <a:r>
              <a:rPr sz="1900" dirty="0"/>
              <a:t> </a:t>
            </a:r>
            <a:r>
              <a:rPr sz="1900" dirty="0" err="1"/>
              <a:t>rezoluție</a:t>
            </a:r>
            <a:r>
              <a:rPr sz="1900" dirty="0"/>
              <a:t> </a:t>
            </a:r>
            <a:r>
              <a:rPr sz="1900" dirty="0" err="1"/>
              <a:t>mult</a:t>
            </a:r>
            <a:r>
              <a:rPr sz="1900" dirty="0"/>
              <a:t> </a:t>
            </a:r>
            <a:r>
              <a:rPr sz="1900" dirty="0" err="1"/>
              <a:t>mai</a:t>
            </a:r>
            <a:r>
              <a:rPr sz="1900" dirty="0"/>
              <a:t> </a:t>
            </a:r>
            <a:r>
              <a:rPr sz="1900" dirty="0" err="1"/>
              <a:t>mică</a:t>
            </a:r>
            <a:r>
              <a:rPr sz="1900" dirty="0"/>
              <a:t> (</a:t>
            </a:r>
            <a:r>
              <a:rPr lang="ro-RO" sz="1900" dirty="0"/>
              <a:t>limitari de </a:t>
            </a:r>
            <a:r>
              <a:rPr sz="1900" dirty="0" err="1"/>
              <a:t>memorie</a:t>
            </a:r>
            <a:r>
              <a:rPr sz="1900" dirty="0"/>
              <a:t>, bandwidth, SNR).</a:t>
            </a:r>
            <a:endParaRPr lang="ro-RO" sz="1900" dirty="0"/>
          </a:p>
          <a:p>
            <a:pPr>
              <a:spcAft>
                <a:spcPts val="800"/>
              </a:spcAft>
            </a:pPr>
            <a:r>
              <a:rPr lang="it-IT" sz="1900" b="1" dirty="0"/>
              <a:t>•  Dilema: </a:t>
            </a:r>
            <a:r>
              <a:rPr lang="it-IT" sz="1900" dirty="0"/>
              <a:t>pixeli mai mici =</a:t>
            </a:r>
            <a:r>
              <a:rPr lang="ro-RO" sz="1900" dirty="0"/>
              <a:t> </a:t>
            </a:r>
            <a:r>
              <a:rPr lang="it-IT" sz="1900" dirty="0"/>
              <a:t>rezoluție</a:t>
            </a:r>
            <a:r>
              <a:rPr lang="ro-RO" sz="1900" dirty="0"/>
              <a:t> mai mare</a:t>
            </a:r>
            <a:r>
              <a:rPr lang="it-IT" sz="1900" dirty="0"/>
              <a:t> dar mai puțin</a:t>
            </a:r>
            <a:r>
              <a:rPr lang="ro-RO" sz="1900" dirty="0"/>
              <a:t>a informatie</a:t>
            </a:r>
            <a:r>
              <a:rPr lang="it-IT" sz="1900" dirty="0"/>
              <a:t> per pixel = SNR mai slab</a:t>
            </a:r>
            <a:r>
              <a:rPr lang="ro-RO" sz="1900" dirty="0"/>
              <a:t>, performanta scazuta in luminozitate slaba</a:t>
            </a:r>
            <a:endParaRPr sz="1900" dirty="0"/>
          </a:p>
          <a:p>
            <a:pPr>
              <a:spcAft>
                <a:spcPts val="800"/>
              </a:spcAft>
            </a:pPr>
            <a:r>
              <a:rPr sz="1900" b="1" dirty="0"/>
              <a:t>•  </a:t>
            </a:r>
            <a:r>
              <a:rPr lang="ro-RO" sz="1900" b="1" dirty="0"/>
              <a:t>Solutie propusa Ș p</a:t>
            </a:r>
            <a:r>
              <a:rPr sz="1900" b="1" dirty="0" err="1"/>
              <a:t>ixel</a:t>
            </a:r>
            <a:r>
              <a:rPr sz="1900" b="1" dirty="0"/>
              <a:t> binning </a:t>
            </a:r>
            <a:r>
              <a:rPr lang="ro-RO" sz="1900" b="1" dirty="0"/>
              <a:t>+ super rezolution </a:t>
            </a:r>
            <a:r>
              <a:rPr sz="1900" b="1" dirty="0"/>
              <a:t>(ex. 16Sum, 16:1): </a:t>
            </a:r>
            <a:r>
              <a:rPr sz="1900" dirty="0"/>
              <a:t>16 </a:t>
            </a:r>
            <a:r>
              <a:rPr sz="1900" dirty="0" err="1"/>
              <a:t>pixeli</a:t>
            </a:r>
            <a:r>
              <a:rPr sz="1900" dirty="0"/>
              <a:t> </a:t>
            </a:r>
            <a:r>
              <a:rPr lang="ro-RO" sz="1900" dirty="0"/>
              <a:t>combinati</a:t>
            </a:r>
            <a:r>
              <a:rPr sz="1900" dirty="0"/>
              <a:t> </a:t>
            </a:r>
            <a:r>
              <a:rPr sz="1900" dirty="0" err="1"/>
              <a:t>într-unul</a:t>
            </a:r>
            <a:r>
              <a:rPr sz="1900" dirty="0"/>
              <a:t> </a:t>
            </a:r>
            <a:r>
              <a:rPr sz="1900" dirty="0" err="1"/>
              <a:t>singur</a:t>
            </a:r>
            <a:r>
              <a:rPr sz="1900" dirty="0"/>
              <a:t> → </a:t>
            </a:r>
            <a:r>
              <a:rPr lang="ro-RO" sz="1900" dirty="0"/>
              <a:t>un still de </a:t>
            </a:r>
            <a:r>
              <a:rPr sz="1900" dirty="0"/>
              <a:t>200 MP </a:t>
            </a:r>
            <a:r>
              <a:rPr sz="1900" dirty="0" err="1"/>
              <a:t>devin</a:t>
            </a:r>
            <a:r>
              <a:rPr lang="ro-RO" sz="1900" dirty="0"/>
              <a:t>e</a:t>
            </a:r>
            <a:r>
              <a:rPr sz="1900" dirty="0"/>
              <a:t> 12.5 MP. </a:t>
            </a:r>
            <a:r>
              <a:rPr sz="1900" dirty="0" err="1"/>
              <a:t>Compresie</a:t>
            </a:r>
            <a:r>
              <a:rPr sz="1900" dirty="0"/>
              <a:t> </a:t>
            </a:r>
            <a:r>
              <a:rPr sz="1900" dirty="0" err="1"/>
              <a:t>spațială</a:t>
            </a:r>
            <a:r>
              <a:rPr sz="1900" dirty="0"/>
              <a:t> </a:t>
            </a:r>
            <a:r>
              <a:rPr sz="1900" dirty="0" err="1"/>
              <a:t>ireversibilă</a:t>
            </a:r>
            <a:r>
              <a:rPr sz="1900" dirty="0"/>
              <a:t>.</a:t>
            </a:r>
          </a:p>
          <a:p>
            <a:pPr>
              <a:spcAft>
                <a:spcPts val="800"/>
              </a:spcAft>
            </a:pPr>
            <a:r>
              <a:rPr sz="1900" b="1" dirty="0"/>
              <a:t>•  </a:t>
            </a:r>
            <a:r>
              <a:rPr lang="ro-RO" sz="1900" b="1" dirty="0"/>
              <a:t>Provocari </a:t>
            </a:r>
            <a:r>
              <a:rPr sz="1900" b="1" dirty="0"/>
              <a:t>Video Super-Resolution (VSR) </a:t>
            </a:r>
            <a:r>
              <a:rPr sz="1900" dirty="0" err="1"/>
              <a:t>poate</a:t>
            </a:r>
            <a:r>
              <a:rPr sz="1900" dirty="0"/>
              <a:t> </a:t>
            </a:r>
            <a:r>
              <a:rPr sz="1900" dirty="0" err="1"/>
              <a:t>reconstrui</a:t>
            </a:r>
            <a:r>
              <a:rPr sz="1900" dirty="0"/>
              <a:t> cadre HR din cadre LR consecutive, </a:t>
            </a:r>
            <a:r>
              <a:rPr sz="1900" dirty="0" err="1"/>
              <a:t>dar</a:t>
            </a:r>
            <a:r>
              <a:rPr sz="1900" dirty="0"/>
              <a:t> </a:t>
            </a:r>
            <a:r>
              <a:rPr sz="1900" dirty="0" err="1"/>
              <a:t>intrările</a:t>
            </a:r>
            <a:r>
              <a:rPr sz="1900" dirty="0"/>
              <a:t> </a:t>
            </a:r>
            <a:r>
              <a:rPr sz="1900" dirty="0" err="1"/>
              <a:t>puternic</a:t>
            </a:r>
            <a:r>
              <a:rPr sz="1900" dirty="0"/>
              <a:t> </a:t>
            </a:r>
            <a:r>
              <a:rPr sz="1900" dirty="0" err="1"/>
              <a:t>comprimate</a:t>
            </a:r>
            <a:r>
              <a:rPr sz="1900" dirty="0"/>
              <a:t> </a:t>
            </a:r>
            <a:r>
              <a:rPr sz="1900" dirty="0" err="1"/>
              <a:t>limitează</a:t>
            </a:r>
            <a:r>
              <a:rPr sz="1900" dirty="0"/>
              <a:t> </a:t>
            </a:r>
            <a:r>
              <a:rPr sz="1900" dirty="0" err="1"/>
              <a:t>calitatea</a:t>
            </a:r>
            <a:r>
              <a:rPr sz="19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F3357"/>
                </a:solidFill>
              </a:defRPr>
            </a:pPr>
            <a:r>
              <a:t>2  Compressive sensing pe scurt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 dirty="0"/>
              <a:t>•  </a:t>
            </a:r>
            <a:r>
              <a:rPr sz="1900" b="1" dirty="0" err="1"/>
              <a:t>Teorema</a:t>
            </a:r>
            <a:r>
              <a:rPr sz="1900" b="1" dirty="0"/>
              <a:t> </a:t>
            </a:r>
            <a:r>
              <a:rPr sz="1900" b="1" dirty="0" err="1"/>
              <a:t>clasică</a:t>
            </a:r>
            <a:r>
              <a:rPr sz="1900" b="1" dirty="0"/>
              <a:t> (Nyquist): </a:t>
            </a:r>
            <a:r>
              <a:rPr sz="1900" dirty="0" err="1"/>
              <a:t>eșantionezi</a:t>
            </a:r>
            <a:r>
              <a:rPr sz="1900" dirty="0"/>
              <a:t> la </a:t>
            </a:r>
            <a:r>
              <a:rPr sz="1900" dirty="0" err="1"/>
              <a:t>dublul</a:t>
            </a:r>
            <a:r>
              <a:rPr sz="1900" dirty="0"/>
              <a:t> </a:t>
            </a:r>
            <a:r>
              <a:rPr sz="1900" dirty="0" err="1"/>
              <a:t>frecvenței</a:t>
            </a:r>
            <a:r>
              <a:rPr sz="1900" dirty="0"/>
              <a:t> </a:t>
            </a:r>
            <a:r>
              <a:rPr sz="1900" dirty="0" err="1"/>
              <a:t>maxime</a:t>
            </a:r>
            <a:r>
              <a:rPr sz="1900" dirty="0"/>
              <a:t> — </a:t>
            </a:r>
            <a:r>
              <a:rPr sz="1900" dirty="0" err="1"/>
              <a:t>presupunere</a:t>
            </a:r>
            <a:r>
              <a:rPr sz="1900" dirty="0"/>
              <a:t> </a:t>
            </a:r>
            <a:r>
              <a:rPr sz="1900" dirty="0" err="1"/>
              <a:t>pesimistă</a:t>
            </a:r>
            <a:r>
              <a:rPr sz="1900" dirty="0"/>
              <a:t> </a:t>
            </a:r>
            <a:r>
              <a:rPr sz="1900" dirty="0" err="1"/>
              <a:t>pentru</a:t>
            </a:r>
            <a:r>
              <a:rPr sz="1900" dirty="0"/>
              <a:t> </a:t>
            </a:r>
            <a:r>
              <a:rPr sz="1900" dirty="0" err="1"/>
              <a:t>semnale</a:t>
            </a:r>
            <a:r>
              <a:rPr sz="1900" dirty="0"/>
              <a:t> </a:t>
            </a:r>
            <a:r>
              <a:rPr lang="en-US" sz="1900" dirty="0" err="1"/>
              <a:t>structurate</a:t>
            </a:r>
            <a:r>
              <a:rPr lang="ro-RO" sz="1900" dirty="0"/>
              <a:t> complet necunoscute</a:t>
            </a:r>
            <a:r>
              <a:rPr sz="1900" dirty="0"/>
              <a:t>.</a:t>
            </a:r>
          </a:p>
          <a:p>
            <a:pPr>
              <a:spcAft>
                <a:spcPts val="800"/>
              </a:spcAft>
            </a:pPr>
            <a:r>
              <a:rPr sz="1900" b="1" dirty="0"/>
              <a:t>•  CS: </a:t>
            </a:r>
            <a:r>
              <a:rPr sz="1900" dirty="0" err="1"/>
              <a:t>dacă</a:t>
            </a:r>
            <a:r>
              <a:rPr sz="1900" dirty="0"/>
              <a:t> </a:t>
            </a:r>
            <a:r>
              <a:rPr sz="1900" dirty="0" err="1"/>
              <a:t>semnalul</a:t>
            </a:r>
            <a:r>
              <a:rPr sz="1900" dirty="0"/>
              <a:t> x </a:t>
            </a:r>
            <a:r>
              <a:rPr lang="ro-RO" sz="1900" dirty="0"/>
              <a:t>are o reprezentare rara</a:t>
            </a:r>
            <a:r>
              <a:rPr sz="1900" dirty="0"/>
              <a:t> </a:t>
            </a:r>
            <a:r>
              <a:rPr sz="1900" dirty="0" err="1"/>
              <a:t>într</a:t>
            </a:r>
            <a:r>
              <a:rPr sz="1900" dirty="0"/>
              <a:t>-o </a:t>
            </a:r>
            <a:r>
              <a:rPr sz="1900" dirty="0" err="1"/>
              <a:t>bază</a:t>
            </a:r>
            <a:r>
              <a:rPr sz="1900" dirty="0"/>
              <a:t> (DCT, wavelet), </a:t>
            </a:r>
            <a:r>
              <a:rPr sz="1900" dirty="0" err="1"/>
              <a:t>îl</a:t>
            </a:r>
            <a:r>
              <a:rPr sz="1900" dirty="0"/>
              <a:t> </a:t>
            </a:r>
            <a:r>
              <a:rPr lang="ro-RO" sz="1900" dirty="0"/>
              <a:t>recuoeran</a:t>
            </a:r>
            <a:r>
              <a:rPr sz="1900" dirty="0"/>
              <a:t> din M &lt;&lt; N </a:t>
            </a:r>
            <a:r>
              <a:rPr sz="1900" dirty="0" err="1"/>
              <a:t>măsurători</a:t>
            </a:r>
            <a:r>
              <a:rPr sz="1900" dirty="0"/>
              <a:t> </a:t>
            </a:r>
            <a:r>
              <a:rPr sz="1900" dirty="0" err="1"/>
              <a:t>liniare</a:t>
            </a:r>
            <a:r>
              <a:rPr sz="1900" dirty="0"/>
              <a:t> y = </a:t>
            </a:r>
            <a:r>
              <a:rPr sz="1900" dirty="0" err="1"/>
              <a:t>Φx</a:t>
            </a:r>
            <a:r>
              <a:rPr sz="1900" dirty="0"/>
              <a:t>.</a:t>
            </a:r>
          </a:p>
          <a:p>
            <a:pPr>
              <a:spcAft>
                <a:spcPts val="800"/>
              </a:spcAft>
            </a:pPr>
            <a:r>
              <a:rPr sz="1900" b="1" dirty="0"/>
              <a:t>•  </a:t>
            </a:r>
            <a:r>
              <a:rPr sz="1900" b="1" dirty="0" err="1"/>
              <a:t>Condiții</a:t>
            </a:r>
            <a:r>
              <a:rPr sz="1900" b="1" dirty="0"/>
              <a:t>: </a:t>
            </a:r>
            <a:r>
              <a:rPr sz="1900" dirty="0"/>
              <a:t>sparsity + incoherence </a:t>
            </a:r>
            <a:r>
              <a:rPr sz="1900" dirty="0" err="1"/>
              <a:t>între</a:t>
            </a:r>
            <a:r>
              <a:rPr sz="1900" dirty="0"/>
              <a:t> </a:t>
            </a:r>
            <a:r>
              <a:rPr sz="1900" dirty="0" err="1"/>
              <a:t>matricea</a:t>
            </a:r>
            <a:r>
              <a:rPr sz="1900" dirty="0"/>
              <a:t> de sampling Φ </a:t>
            </a:r>
            <a:r>
              <a:rPr sz="1900" dirty="0" err="1"/>
              <a:t>și</a:t>
            </a:r>
            <a:r>
              <a:rPr sz="1900" dirty="0"/>
              <a:t> </a:t>
            </a:r>
            <a:r>
              <a:rPr sz="1900" dirty="0" err="1"/>
              <a:t>baza</a:t>
            </a:r>
            <a:r>
              <a:rPr sz="1900" dirty="0"/>
              <a:t> de </a:t>
            </a:r>
            <a:r>
              <a:rPr sz="1900" dirty="0" err="1"/>
              <a:t>sparsitate</a:t>
            </a:r>
            <a:r>
              <a:rPr sz="1900" dirty="0"/>
              <a:t>; </a:t>
            </a:r>
            <a:r>
              <a:rPr sz="1900" dirty="0" err="1"/>
              <a:t>reconstrucție</a:t>
            </a:r>
            <a:r>
              <a:rPr sz="1900" dirty="0"/>
              <a:t> </a:t>
            </a:r>
            <a:r>
              <a:rPr sz="1900" dirty="0" err="1"/>
              <a:t>prin</a:t>
            </a:r>
            <a:r>
              <a:rPr sz="1900" dirty="0"/>
              <a:t> </a:t>
            </a:r>
            <a:r>
              <a:rPr sz="1900" dirty="0" err="1"/>
              <a:t>optimizare</a:t>
            </a:r>
            <a:r>
              <a:rPr sz="1900" dirty="0"/>
              <a:t> L1.</a:t>
            </a:r>
          </a:p>
          <a:p>
            <a:pPr>
              <a:spcAft>
                <a:spcPts val="800"/>
              </a:spcAft>
            </a:pPr>
            <a:r>
              <a:rPr sz="1900" b="1" dirty="0"/>
              <a:t>•  Block CS (BCS): </a:t>
            </a:r>
            <a:r>
              <a:rPr sz="1900" dirty="0" err="1"/>
              <a:t>imaginea</a:t>
            </a:r>
            <a:r>
              <a:rPr sz="1900" dirty="0"/>
              <a:t> se </a:t>
            </a:r>
            <a:r>
              <a:rPr sz="1900" dirty="0" err="1"/>
              <a:t>împarte</a:t>
            </a:r>
            <a:r>
              <a:rPr sz="1900" dirty="0"/>
              <a:t> </a:t>
            </a:r>
            <a:r>
              <a:rPr sz="1900" dirty="0" err="1"/>
              <a:t>în</a:t>
            </a:r>
            <a:r>
              <a:rPr sz="1900" dirty="0"/>
              <a:t> </a:t>
            </a:r>
            <a:r>
              <a:rPr sz="1900" dirty="0" err="1"/>
              <a:t>blocuri</a:t>
            </a:r>
            <a:r>
              <a:rPr sz="1900" dirty="0"/>
              <a:t> B×B, </a:t>
            </a:r>
            <a:r>
              <a:rPr sz="1900" dirty="0" err="1"/>
              <a:t>fiecare</a:t>
            </a:r>
            <a:r>
              <a:rPr sz="1900" dirty="0"/>
              <a:t> bloc </a:t>
            </a:r>
            <a:r>
              <a:rPr sz="1900" dirty="0" err="1"/>
              <a:t>eșantionat</a:t>
            </a:r>
            <a:r>
              <a:rPr sz="1900" dirty="0"/>
              <a:t> </a:t>
            </a:r>
            <a:r>
              <a:rPr sz="1900" dirty="0" err="1"/>
              <a:t>separat</a:t>
            </a:r>
            <a:r>
              <a:rPr sz="1900" dirty="0"/>
              <a:t> — </a:t>
            </a:r>
            <a:r>
              <a:rPr sz="1900" dirty="0" err="1"/>
              <a:t>varianta</a:t>
            </a:r>
            <a:r>
              <a:rPr sz="1900" dirty="0"/>
              <a:t> </a:t>
            </a:r>
            <a:r>
              <a:rPr sz="1900" dirty="0" err="1"/>
              <a:t>practică</a:t>
            </a:r>
            <a:r>
              <a:rPr sz="1900" dirty="0"/>
              <a:t> </a:t>
            </a:r>
            <a:r>
              <a:rPr sz="1900" dirty="0" err="1"/>
              <a:t>pentru</a:t>
            </a:r>
            <a:r>
              <a:rPr sz="1900" dirty="0"/>
              <a:t> </a:t>
            </a:r>
            <a:r>
              <a:rPr sz="1900" dirty="0" err="1"/>
              <a:t>imagini</a:t>
            </a:r>
            <a:r>
              <a:rPr sz="19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F3357"/>
                </a:solidFill>
              </a:defRPr>
            </a:pPr>
            <a:r>
              <a:t>3  De ce CS clasic nu merge pe senzor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/>
              <a:t>•  Fiecare pixel poate fi citit o singură dată, </a:t>
            </a:r>
            <a:r>
              <a:rPr sz="1900"/>
              <a:t>în timp real, la zeci de cadre pe secundă — măsurătorile multiple ale aceluiași semnal sunt impracticabile.</a:t>
            </a:r>
          </a:p>
          <a:p>
            <a:pPr>
              <a:spcAft>
                <a:spcPts val="800"/>
              </a:spcAft>
            </a:pPr>
            <a:r>
              <a:rPr sz="1900" b="1"/>
              <a:t>•  Măsurătorile CS clasice nu arată ca o imagine </a:t>
            </a:r>
            <a:r>
              <a:rPr sz="1900"/>
              <a:t>(combinații aleatoare dense) — nu pot fi vizualizate sau refolosite în pipeline-ul foto.</a:t>
            </a:r>
          </a:p>
          <a:p>
            <a:pPr>
              <a:spcAft>
                <a:spcPts val="800"/>
              </a:spcAft>
            </a:pPr>
            <a:r>
              <a:rPr sz="1900" b="1"/>
              <a:t>•  Blocurile tipice din CS (B = 32) </a:t>
            </a:r>
            <a:r>
              <a:rPr sz="1900"/>
              <a:t>nu se potrivesc cu geometria senzorului (downscale ×4 → B = 4).</a:t>
            </a:r>
          </a:p>
          <a:p>
            <a:pPr>
              <a:spcAft>
                <a:spcPts val="800"/>
              </a:spcAft>
            </a:pPr>
            <a:r>
              <a:rPr sz="1900" b="1"/>
              <a:t>•  Soluția lucrării: </a:t>
            </a:r>
            <a:r>
              <a:rPr sz="1900"/>
              <a:t>eșantionăm secvența video — regiunile statice devin «același semnal cu noise diferit», iar măsurătorile rămân imagini.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F3357"/>
                </a:solidFill>
              </a:defRPr>
            </a:pPr>
            <a:r>
              <a:t>4  Ideea: sampling dinamic + VSR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/>
              <a:t>•  Fiecare cadru HR e eșantionat block-wise </a:t>
            </a:r>
            <a:r>
              <a:rPr sz="1900"/>
              <a:t>cu măști binare non-overlapping (yb = Φxb); cadrele LR rezultate intră într-o rețea VSR nemodificată.</a:t>
            </a:r>
          </a:p>
          <a:p>
            <a:pPr>
              <a:spcAft>
                <a:spcPts val="800"/>
              </a:spcAft>
            </a:pPr>
            <a:r>
              <a:rPr sz="1900" b="1"/>
              <a:t>•  Măști binare, 50% sparse, </a:t>
            </a:r>
            <a:r>
              <a:rPr sz="1900"/>
              <a:t>care se schimbă de la cadru la cadru (temporal dynamics) — diversitate maximă a măsurătorilor.</a:t>
            </a:r>
          </a:p>
          <a:p>
            <a:pPr>
              <a:spcAft>
                <a:spcPts val="800"/>
              </a:spcAft>
            </a:pPr>
            <a:r>
              <a:rPr sz="1900" b="1"/>
              <a:t>•  Compatibil cu hardware existent: </a:t>
            </a:r>
            <a:r>
              <a:rPr sz="1900"/>
              <a:t>fără tehnologii noi, doar pattern-uri de binning dinamice.</a:t>
            </a:r>
          </a:p>
          <a:p>
            <a:pPr>
              <a:spcAft>
                <a:spcPts val="800"/>
              </a:spcAft>
            </a:pPr>
            <a:r>
              <a:rPr sz="1900" b="1"/>
              <a:t>•  Premiera revendicată: </a:t>
            </a:r>
            <a:r>
              <a:rPr sz="1900"/>
              <a:t>prima formulare CS pentru compresia spațială a cadrelor video cu reconstrucție VSR.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F3357"/>
                </a:solidFill>
              </a:defRPr>
            </a:pPr>
            <a:r>
              <a:t>5  Două scheme de sampling (B = 4, F = 7 cadre)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/>
              <a:t>•  Single sample per frame: </a:t>
            </a:r>
            <a:r>
              <a:rPr sz="1900"/>
              <a:t>o măsurătoare pe cadru (M = F), compression ratio 1/16 — direct comparabil cu bicubic și 16Sum. Fill-factor 50%, SNR mai slab.</a:t>
            </a:r>
          </a:p>
          <a:p>
            <a:pPr>
              <a:spcAft>
                <a:spcPts val="800"/>
              </a:spcAft>
            </a:pPr>
            <a:r>
              <a:rPr sz="1900" b="1"/>
              <a:t>•  Two samples per frame: </a:t>
            </a:r>
            <a:r>
              <a:rPr sz="1900"/>
              <a:t>fiecare cadru eșantionat de 2 ori, cu o mască și complementara ei (M = 2F) — fiecare pixel e folosit o dată: fill-factor 100%.</a:t>
            </a:r>
          </a:p>
          <a:p>
            <a:pPr>
              <a:spcAft>
                <a:spcPts val="800"/>
              </a:spcAft>
            </a:pPr>
            <a:r>
              <a:rPr sz="1900" b="1"/>
              <a:t>•  Two-sample păstrează structura de imagine: </a:t>
            </a:r>
            <a:r>
              <a:rPr sz="1900"/>
              <a:t>suma celor două măsurători ≡ 16Sum, deci SNR mare și vizualizare directă.</a:t>
            </a:r>
          </a:p>
          <a:p>
            <a:pPr>
              <a:spcAft>
                <a:spcPts val="800"/>
              </a:spcAft>
            </a:pPr>
            <a:r>
              <a:rPr sz="1900" b="1"/>
              <a:t>•  CR devine 1/8; </a:t>
            </a:r>
            <a:r>
              <a:rPr sz="1900"/>
              <a:t>cele două măsurători se concatenează pe canale (6 canale RGB), nu se dublează durata secvenței.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F3357"/>
                </a:solidFill>
              </a:defRPr>
            </a:pPr>
            <a:r>
              <a:t>6  Designul măștilor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/>
              <a:t>•  Single-sample: </a:t>
            </a:r>
            <a:r>
              <a:rPr sz="1900"/>
              <a:t>16Sum (baseline, toți 1) vs Random (8 poziții aleatoare per cadru, din teoria CS).</a:t>
            </a:r>
          </a:p>
          <a:p>
            <a:pPr>
              <a:spcAft>
                <a:spcPts val="800"/>
              </a:spcAft>
            </a:pPr>
            <a:r>
              <a:rPr sz="1900" b="1"/>
              <a:t>•  Two-sample statice: </a:t>
            </a:r>
            <a:r>
              <a:rPr sz="1900"/>
              <a:t>8Sum (pe coloane, ca în senzori) vs Tetromino basic/extended (pattern-uri T non-regulate) vs Random constant.</a:t>
            </a:r>
          </a:p>
          <a:p>
            <a:pPr>
              <a:spcAft>
                <a:spcPts val="800"/>
              </a:spcAft>
            </a:pPr>
            <a:r>
              <a:rPr sz="1900" b="1"/>
              <a:t>•  Two-sample dinamice: </a:t>
            </a:r>
            <a:r>
              <a:rPr sz="1900"/>
              <a:t>8Sum alternate (coloane/rânduri alternativ), Tetromino basic/extended, Random — masca se schimbă la fiecare cadru.</a:t>
            </a:r>
          </a:p>
          <a:p>
            <a:pPr>
              <a:spcAft>
                <a:spcPts val="800"/>
              </a:spcAft>
            </a:pPr>
            <a:r>
              <a:rPr sz="1900" b="1"/>
              <a:t>•  F = 7 cadre </a:t>
            </a:r>
            <a:r>
              <a:rPr sz="1900"/>
              <a:t>pentru compatibilitate cu Vimeo-90K; pattern-urile Tetromino favorizează muchiile (pixeli adiacenți).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F3357"/>
                </a:solidFill>
              </a:defRPr>
            </a:pPr>
            <a:r>
              <a:t>7  Reconstrucția: VSR off-the-shelf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/>
              <a:t>•  Single-sample: </a:t>
            </a:r>
            <a:r>
              <a:rPr sz="1900"/>
              <a:t>modelele VSR (BasicVSR, RVRT, IART) rulează nemodificate — comparație directă cu bicubic.</a:t>
            </a:r>
          </a:p>
          <a:p>
            <a:pPr>
              <a:spcAft>
                <a:spcPts val="800"/>
              </a:spcAft>
            </a:pPr>
            <a:r>
              <a:rPr sz="1900" b="1"/>
              <a:t>•  Two-sample: </a:t>
            </a:r>
            <a:r>
              <a:rPr sz="1900"/>
              <a:t>intrare 6 canale (două măsurători RGB concatenate) + primul/ultimul strat adaptat + pointwise convolution înapoi la RGB.</a:t>
            </a:r>
          </a:p>
          <a:p>
            <a:pPr>
              <a:spcAft>
                <a:spcPts val="800"/>
              </a:spcAft>
            </a:pPr>
            <a:r>
              <a:rPr sz="1900" b="1"/>
              <a:t>•  Channel stacking </a:t>
            </a:r>
            <a:r>
              <a:rPr sz="1900"/>
              <a:t>bate alternativele (secvență dublată) la calitate și timp de inferență — modelul «înțelege» că măsurătorile vin din același cadru.</a:t>
            </a:r>
          </a:p>
          <a:p>
            <a:pPr>
              <a:spcAft>
                <a:spcPts val="800"/>
              </a:spcAft>
            </a:pPr>
            <a:r>
              <a:rPr sz="1900" b="1"/>
              <a:t>•  Surpriza plăcută: </a:t>
            </a:r>
            <a:r>
              <a:rPr sz="1900"/>
              <a:t>interpolarea bilineară inițială e suficientă; rețeaua LFCR dedicată n-a adus câștig — abordare mai simplă și mai rapidă.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F3357"/>
                </a:solidFill>
              </a:defRPr>
            </a:pPr>
            <a:r>
              <a:t>8  Rezultate: single-sample (CR 1/16, PSNR pe Vimeo-90K-T)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10896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Model (params)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Bicubic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16Sum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Random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 b="1"/>
                        <a:t>BasicVSR (6.3M)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37.30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37.82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39.00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 b="1"/>
                        <a:t>RVRT (10.8M)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38.10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39.07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40.65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 b="1"/>
                        <a:t>IART (13.4M)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38.09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39.37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40.99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120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/>
              <a:t>•  Trend consistent pe toate modelele și pe Vid4: bicubic cel mai slab (atenuează frecvențele), random +1–2 dB peste 16Sum — deși folosește doar jumătate din pixeli.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F3357"/>
                </a:solidFill>
              </a:defRPr>
            </a:pPr>
            <a:r>
              <a:t>9  Rezultate: two-sample + BasicVSR (PSNR Vimeo-90K-T / Vid4)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Mască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Vimeo-90K-T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Vid4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Dinamică?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00" b="1"/>
                        <a:t>8Sum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28.98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00" b="1"/>
                        <a:t>Random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00" b="1"/>
                        <a:t>8Sum alternate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00" b="1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00" b="1"/>
                        <a:t>Tetromino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41.44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31.86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600" b="1"/>
                        <a:t>Tetromino extended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31.86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4864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•  Non-dinamicul 8Sum e cel mai slab; orice dinamică ajută; Tetromino (non-regulat + dinamic) câștigă. Diferența random→tetromino: muchii mai bine păstrate.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F3357"/>
                </a:solidFill>
              </a:defRPr>
            </a:pPr>
            <a:r>
              <a:t>10  Calitativ: unde se vede diferența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/>
              <a:t>•  Detalii fine și zone low-motion: </a:t>
            </a:r>
            <a:r>
              <a:rPr sz="1900"/>
              <a:t>bicubic/16Sum se încețoșează; măștile random dinamice reconstruiesc textura deși eșantionează jumătate din pixeli.</a:t>
            </a:r>
          </a:p>
          <a:p>
            <a:pPr>
              <a:spcAft>
                <a:spcPts val="800"/>
              </a:spcAft>
            </a:pPr>
            <a:r>
              <a:rPr sz="1900" b="1"/>
              <a:t>•  8Sum → 8Sum alternate: </a:t>
            </a:r>
            <a:r>
              <a:rPr sz="1900"/>
              <a:t>salt vizual mare doar din alternarea direcției de binning — dovada că dinamica temporală contează.</a:t>
            </a:r>
          </a:p>
          <a:p>
            <a:pPr>
              <a:spcAft>
                <a:spcPts val="800"/>
              </a:spcAft>
            </a:pPr>
            <a:r>
              <a:rPr sz="1900" b="1"/>
              <a:t>•  Random vs Tetromino: </a:t>
            </a:r>
            <a:r>
              <a:rPr sz="1900"/>
              <a:t>global similare, diferențe subtile la muchii fine (pixelii adiacenți din piesele T păstrează contururile).</a:t>
            </a:r>
          </a:p>
          <a:p>
            <a:pPr>
              <a:spcAft>
                <a:spcPts val="800"/>
              </a:spcAft>
            </a:pPr>
            <a:r>
              <a:rPr sz="1900" b="1"/>
              <a:t>•  Figurile 8–9 din paper </a:t>
            </a:r>
            <a:r>
              <a:rPr sz="1900"/>
              <a:t>merită arătate mărite: comparații pe Vimeo-90K-T și Vid4, cu numărul cadrului.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F3357"/>
                </a:solidFill>
              </a:defRPr>
            </a:pPr>
            <a:r>
              <a:t>11  Hardware și concluzii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/>
              <a:t>•  Implementabil azi: </a:t>
            </a:r>
            <a:r>
              <a:rPr sz="1900"/>
              <a:t>multiplexere care actualizează masca la fiecare cadru, ΣΔ ADC-uri, 2× ADC-uri pentru two-sample — fără tehnologii noi.</a:t>
            </a:r>
          </a:p>
          <a:p>
            <a:pPr>
              <a:spcAft>
                <a:spcPts val="800"/>
              </a:spcAft>
            </a:pPr>
            <a:r>
              <a:rPr sz="1900" b="1"/>
              <a:t>•  Măsurătorile rămân imagini: </a:t>
            </a:r>
            <a:r>
              <a:rPr sz="1900"/>
              <a:t>vizualizabile și reutilizabile în pipeline, spre deosebire de CS clasic.</a:t>
            </a:r>
          </a:p>
          <a:p>
            <a:pPr>
              <a:spcAft>
                <a:spcPts val="800"/>
              </a:spcAft>
            </a:pPr>
            <a:r>
              <a:rPr sz="1900" b="1"/>
              <a:t>•  Cost mic: </a:t>
            </a:r>
            <a:r>
              <a:rPr sz="1900"/>
              <a:t>complexitatea modelului nu crește proporțional cu informația dublă (doar canale concatenate + un strat pointwise).</a:t>
            </a:r>
          </a:p>
          <a:p>
            <a:pPr>
              <a:spcAft>
                <a:spcPts val="800"/>
              </a:spcAft>
            </a:pPr>
            <a:r>
              <a:rPr sz="1900" b="1"/>
              <a:t>•  Future work: </a:t>
            </a:r>
            <a:r>
              <a:rPr sz="1900"/>
              <a:t>robustețe la ordinea măștilor (cyclic shift), includerea măștii în reconstrucție și învățarea măștilor odată cu antrenarea.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1446</Words>
  <Application>Microsoft Office PowerPoint</Application>
  <PresentationFormat>Widescreen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Iordan</cp:lastModifiedBy>
  <cp:revision>1</cp:revision>
  <dcterms:created xsi:type="dcterms:W3CDTF">2013-01-27T09:14:16Z</dcterms:created>
  <dcterms:modified xsi:type="dcterms:W3CDTF">2026-10-12T13:39:22Z</dcterms:modified>
  <cp:category/>
</cp:coreProperties>
</file>