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71" r:id="rId5"/>
    <p:sldId id="259" r:id="rId6"/>
    <p:sldId id="260" r:id="rId7"/>
    <p:sldId id="261" r:id="rId8"/>
    <p:sldId id="262" r:id="rId9"/>
    <p:sldId id="263" r:id="rId10"/>
    <p:sldId id="269" r:id="rId11"/>
    <p:sldId id="264" r:id="rId12"/>
    <p:sldId id="270" r:id="rId13"/>
    <p:sldId id="265" r:id="rId14"/>
    <p:sldId id="266" r:id="rId15"/>
    <p:sldId id="267" r:id="rId16"/>
    <p:sldId id="268"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AF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7413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aproximativ 35 de secunde. Articolul propune schimbarea modului în care senzorul comprimă video-ul, astfel încât reconstrucția ulterioară să primească informație mai utilă. Voi începe cu noțiunea de eșantionare compresivă și voi ajunge la schema propusă, apoi la rezultatele experimentale.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55 de secunde. Senzorii de telefon pot avea aproximativ 200 de megapixeli, dar rezoluția obișnuită pentru filmare este mult mai mică. Binningul adună charge din grupuri de pixeli și ajută atât sensibilitatea, cât și lățimea de bandă. Dacă însă am însumat aceiași pixeli în fiecare cadru, informația spațială fină eliminată nu mai apare în date. Ideea este să proiectăm compresia împreună cu reconstrucția.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75 de secunde. Compressive sensing, sau eșantionarea compresivă, este ideea de a face măsurări liniare mai puține decât numărul de valori din semnal, și totuși de a-l reconstrui aproximativ dacă are structură, de exemplu este rar într-un dicționar. Litera Phi reprezintă modul în care măsurăm. Contează nu doar cât măsurăm, ci și câtă informație independentă aduc măsurările. În acest articol reconstrucția este învățată de o rețea de super-rezoluție video; nu se rezolvă explicit un program clasic de minimizare L1.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60 de secunde. În teoria clasică luăm diverse proiecții ale aceluiași obiect. Camera trebuie însă să livreze cadre la ritmul ei, nu să citească același cadru de multe ori. Autorii înlocuiesc citirile repetate cu măsurări în cadre succesive, folosind asemănarea temporală. Nu este o identitate exactă pentru scene care se schimbă rapid; este o aproximație exploatată de modelul VSR. Acest lucru este deosebit de util pentru zone statice, unde mișcarea nu furnizează singură decalări sub-pixel.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65 de secunde. Imaginea de înaltă rezoluție este împărțită în blocuri de patru pe patru pixeli. Senzorul face sume selective în fiecare bloc. Pentru fiecare cadru avem una sau două măsurări per bloc și obținem imagini cu dimensiunile spațiale de patru ori mai mici. Apoi aceste imagini joacă rolul intrării într-un sistem standard de video super-resolution. Avantajul este că datele comprimate se pot reprezenta tot ca imagini și pot fi prelucrate de infrastructura VSR.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70 de secunde. În cazul unei singure măsurări, binningul standard 16Sum însumează toți cei 16 pixeli din bloc. O mască aleatoare folosește doar opt, iar configurația sa se schimbă între cadre. Ambele dau o valoare per bloc per cadru: raportul de măsurări este o șaisprezecime. Masca aleatoare furnizează diversitate pentru reconstrucție, dar la nivelul unui cadru renunță la jumătate din pixeli. Fill-factor redus înseamnă sensibilitate și SNR potențial mai slabe, deci autorii propun și soluția complementară.</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70 de secunde. Fiecare pixel participă la exact una dintre cele două măsurări. Prima sumă folosește masca A, a doua folosește complementul său B; împreună reproduc 16Sum. Astfel păstrăm tot semnalul colectat, adică fill-factor sută la sută, iar perechea conține mai multe informații pentru rețea decât suma finală unică. Avem două măsurări pentru 16 pixeli, deci raportul este o optime și fluxul de date se dublează față de varianta 1 pe 16. Implementarea hardware cere suplimentar elemente de citire și conversie.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60 de secunde. Configurația 8Sum fix corespunde unei împărțiri regulate; autorii o folosesc drept reper. Apoi alternează grupările pe coloane și rânduri. Măștile aleatoare oferă diversitate temporală. Tetromino folosește grupări în formă de T: sunt tipare cu pixeli adiacenți; în versiunea extinsă cresc posibilitățile între cadre. Testul compară nu doar neregularitatea spațială, ci și caracterul static ori dinamic al măștii.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75 de secunde. Pentru o măsurare pe cadru, se pot folosi direct arhitecturi consacrate precum BasicVSR, RVRT și IART, cu instruire adecvată datelor de intrare. Pentru două măsurări, două imagini RGB sunt concatenate pe canale: în loc de trei sunt șase canale. BasicVSR este adaptat la intrare și ieșire; o convoluție punctuală reduce ieșirea la RGB. Secvența nu devine de două ori mai lungă. Autorii arată în ablațiile din materialul suplimentar că interpolarea biliniară inițială este suficientă.</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70 de secunde. Aceste numere sunt PSNR, în decibeli, pe setul Vimeo-90K-T. La același raport de măsurări de o șaisprezecime, Random este mai bun decât 16Sum cu aproximativ 1,18 până la 1,62 dB, în funcție de model. Rezultatul se repetă și pe Vid4 și în ceilalți indicatori raportați, SSIM și LPIPS. Important: beneficiul reconstrucției este observat într-o simulare comparativă, însă măștile Random folosesc doar jumătate din pixeli pe cadru. Pentru păstrarea sensibilității trecem la două măsurări complementare.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75 de secunde. Aici comparăm numai variante cu două măsurări, deci același raport, o optime, și aceeași rețea BasicVSR. 8Sum fix obține 39,22 dB pe Vimeo-90K-T, alternarea simplă ajunge la 40,79, Random dinamic la 41,04, iar Tetromino extins la 41,57 dB: un câștig de 2,35 decibeli față de 8Sum fix. Pe Vid4 avem 31,86 versus 28,98 decibeli. Tabelul arată și că Tetromino static sau Random static sunt sub versiunile dinamice, semn că variația între cadre contează.</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70 de secunde. Rezultatele susțin ipoteza că modul de achiziție contează. Metoda are măsurări reprezentabile ca imagini și varianta complementară valorifică toți pixelii. Totuși, lucrarea evaluează experimental pe seturi de date video, nu raportează un senzor fizic complet demonstrat; măștile schimbate de la cadru la cadru cer adaptarea electronicii. Două măsurări per bloc înseamnă mai mult trafic decât una și componente de citire suplimentare. Ca orice metodă VSR, depinde de relația dintre cadre și de condițiile în care modelul a fost antrenat.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45 de secunde. Concluzia este că nu trebuie tratată achiziția ca un pas fix și reconstrucția ca singura problemă de optimizat. Eșantionarea dinamică poate păstra informație complementară de la un cadru la altul, inclusiv acolo unde mișcarea scenei nu ajută mult. Varianta cu două măști complementare elimină pierderea sensibilității asociată măștilor parțiale, în schimbul unui volum de măsurări mai mare și al unor cerințe suplimentare pentru senzor. Mulțumesc.</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41184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4" name="Text 2"/>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01</a:t>
            </a:r>
            <a:endParaRPr lang="en-US" sz="1000" dirty="0"/>
          </a:p>
        </p:txBody>
      </p:sp>
      <p:sp>
        <p:nvSpPr>
          <p:cNvPr id="5" name="Shape 3"/>
          <p:cNvSpPr/>
          <p:nvPr/>
        </p:nvSpPr>
        <p:spPr>
          <a:xfrm>
            <a:off x="685800" y="658368"/>
            <a:ext cx="2834640" cy="338328"/>
          </a:xfrm>
          <a:prstGeom prst="roundRect">
            <a:avLst>
              <a:gd name="adj" fmla="val 32432"/>
            </a:avLst>
          </a:prstGeom>
          <a:solidFill>
            <a:srgbClr val="1C304A"/>
          </a:solidFill>
          <a:ln w="10160">
            <a:solidFill>
              <a:srgbClr val="1C304A"/>
            </a:solidFill>
            <a:prstDash val="solid"/>
          </a:ln>
        </p:spPr>
        <p:txBody>
          <a:bodyPr/>
          <a:lstStyle/>
          <a:p>
            <a:endParaRPr lang="en-US"/>
          </a:p>
        </p:txBody>
      </p:sp>
      <p:sp>
        <p:nvSpPr>
          <p:cNvPr id="6" name="Text 4"/>
          <p:cNvSpPr/>
          <p:nvPr/>
        </p:nvSpPr>
        <p:spPr>
          <a:xfrm>
            <a:off x="786384" y="676656"/>
            <a:ext cx="2633472" cy="292608"/>
          </a:xfrm>
          <a:prstGeom prst="rect">
            <a:avLst/>
          </a:prstGeom>
          <a:noFill/>
          <a:ln/>
        </p:spPr>
        <p:txBody>
          <a:bodyPr wrap="square" lIns="0" tIns="0" rIns="0" bIns="0" rtlCol="0" anchor="ctr"/>
          <a:lstStyle/>
          <a:p>
            <a:pPr marL="0" indent="0" algn="ctr">
              <a:buNone/>
            </a:pPr>
            <a:r>
              <a:rPr lang="en-US" sz="1300" b="1" dirty="0">
                <a:solidFill>
                  <a:srgbClr val="52D6D3"/>
                </a:solidFill>
                <a:latin typeface="Aptos" pitchFamily="34" charset="0"/>
                <a:ea typeface="Aptos" pitchFamily="34" charset="-122"/>
                <a:cs typeface="Aptos" pitchFamily="34" charset="-120"/>
              </a:rPr>
              <a:t>PREZENTARE  •  ~14–16 MIN</a:t>
            </a:r>
            <a:endParaRPr lang="en-US" sz="1300" dirty="0"/>
          </a:p>
        </p:txBody>
      </p:sp>
      <p:sp>
        <p:nvSpPr>
          <p:cNvPr id="7" name="Text 5"/>
          <p:cNvSpPr/>
          <p:nvPr/>
        </p:nvSpPr>
        <p:spPr>
          <a:xfrm>
            <a:off x="685800" y="1426463"/>
            <a:ext cx="10853928" cy="1917863"/>
          </a:xfrm>
          <a:prstGeom prst="rect">
            <a:avLst/>
          </a:prstGeom>
          <a:noFill/>
          <a:ln/>
        </p:spPr>
        <p:txBody>
          <a:bodyPr wrap="square" lIns="0" tIns="0" rIns="0" bIns="0" rtlCol="0" anchor="ctr"/>
          <a:lstStyle/>
          <a:p>
            <a:r>
              <a:rPr lang="en-US" sz="4000" dirty="0">
                <a:solidFill>
                  <a:schemeClr val="bg1"/>
                </a:solidFill>
                <a:latin typeface="Aptos" pitchFamily="34" charset="0"/>
                <a:ea typeface="Aptos" pitchFamily="34" charset="-122"/>
                <a:cs typeface="Aptos" pitchFamily="34" charset="-120"/>
              </a:rPr>
              <a:t>Compressive sensing </a:t>
            </a:r>
            <a:r>
              <a:rPr lang="en-US" sz="4000" dirty="0" err="1">
                <a:solidFill>
                  <a:schemeClr val="bg1"/>
                </a:solidFill>
                <a:latin typeface="Aptos" pitchFamily="34" charset="0"/>
                <a:ea typeface="Aptos" pitchFamily="34" charset="-122"/>
                <a:cs typeface="Aptos" pitchFamily="34" charset="-120"/>
              </a:rPr>
              <a:t>pentru</a:t>
            </a:r>
            <a:r>
              <a:rPr lang="en-US" sz="4000" dirty="0">
                <a:solidFill>
                  <a:schemeClr val="bg1"/>
                </a:solidFill>
                <a:latin typeface="Aptos" pitchFamily="34" charset="0"/>
                <a:ea typeface="Aptos" pitchFamily="34" charset="-122"/>
                <a:cs typeface="Aptos" pitchFamily="34" charset="-120"/>
              </a:rPr>
              <a:t> super-</a:t>
            </a:r>
            <a:r>
              <a:rPr lang="en-US" sz="4000" dirty="0" err="1">
                <a:solidFill>
                  <a:schemeClr val="bg1"/>
                </a:solidFill>
                <a:latin typeface="Aptos" pitchFamily="34" charset="0"/>
                <a:ea typeface="Aptos" pitchFamily="34" charset="-122"/>
                <a:cs typeface="Aptos" pitchFamily="34" charset="-120"/>
              </a:rPr>
              <a:t>rezoluție</a:t>
            </a:r>
            <a:r>
              <a:rPr lang="en-US" sz="4000" dirty="0">
                <a:solidFill>
                  <a:schemeClr val="bg1"/>
                </a:solidFill>
                <a:latin typeface="Aptos" pitchFamily="34" charset="0"/>
                <a:ea typeface="Aptos" pitchFamily="34" charset="-122"/>
                <a:cs typeface="Aptos" pitchFamily="34" charset="-120"/>
              </a:rPr>
              <a:t> video</a:t>
            </a:r>
            <a:endParaRPr lang="en-US" sz="4000" dirty="0">
              <a:solidFill>
                <a:schemeClr val="bg1"/>
              </a:solidFill>
            </a:endParaRPr>
          </a:p>
        </p:txBody>
      </p:sp>
      <p:sp>
        <p:nvSpPr>
          <p:cNvPr id="9" name="Shape 7"/>
          <p:cNvSpPr/>
          <p:nvPr/>
        </p:nvSpPr>
        <p:spPr>
          <a:xfrm>
            <a:off x="694944" y="4096512"/>
            <a:ext cx="10789920" cy="1033272"/>
          </a:xfrm>
          <a:prstGeom prst="roundRect">
            <a:avLst>
              <a:gd name="adj" fmla="val 14159"/>
            </a:avLst>
          </a:prstGeom>
          <a:solidFill>
            <a:srgbClr val="17253B"/>
          </a:solidFill>
          <a:ln w="10160">
            <a:solidFill>
              <a:srgbClr val="17253B"/>
            </a:solidFill>
            <a:prstDash val="solid"/>
          </a:ln>
        </p:spPr>
        <p:txBody>
          <a:bodyPr/>
          <a:lstStyle/>
          <a:p>
            <a:endParaRPr lang="en-US"/>
          </a:p>
        </p:txBody>
      </p:sp>
      <p:sp>
        <p:nvSpPr>
          <p:cNvPr id="10" name="Text 8"/>
          <p:cNvSpPr/>
          <p:nvPr/>
        </p:nvSpPr>
        <p:spPr>
          <a:xfrm>
            <a:off x="950976" y="4297680"/>
            <a:ext cx="10287000" cy="274320"/>
          </a:xfrm>
          <a:prstGeom prst="rect">
            <a:avLst/>
          </a:prstGeom>
          <a:noFill/>
          <a:ln/>
        </p:spPr>
        <p:txBody>
          <a:bodyPr wrap="square" lIns="0" tIns="0" rIns="0" bIns="0" rtlCol="0" anchor="ctr"/>
          <a:lstStyle/>
          <a:p>
            <a:pPr marL="0" indent="0">
              <a:buNone/>
            </a:pPr>
            <a:r>
              <a:rPr lang="en-US" sz="1800" dirty="0">
                <a:solidFill>
                  <a:srgbClr val="F4F7FB"/>
                </a:solidFill>
                <a:latin typeface="Aptos" pitchFamily="34" charset="0"/>
                <a:ea typeface="Aptos" pitchFamily="34" charset="-122"/>
                <a:cs typeface="Aptos" pitchFamily="34" charset="-120"/>
              </a:rPr>
              <a:t>Ruthy Katz, Adi Teitel, Moran Mordechay, Adi Falik, Eli Bery, Maya Mayberg</a:t>
            </a:r>
            <a:endParaRPr lang="en-US" sz="1800" dirty="0"/>
          </a:p>
        </p:txBody>
      </p:sp>
      <p:sp>
        <p:nvSpPr>
          <p:cNvPr id="11" name="Text 9"/>
          <p:cNvSpPr/>
          <p:nvPr/>
        </p:nvSpPr>
        <p:spPr>
          <a:xfrm>
            <a:off x="950976" y="4645152"/>
            <a:ext cx="10241280" cy="283464"/>
          </a:xfrm>
          <a:prstGeom prst="rect">
            <a:avLst/>
          </a:prstGeom>
          <a:noFill/>
          <a:ln/>
        </p:spPr>
        <p:txBody>
          <a:bodyPr wrap="square" lIns="0" tIns="0" rIns="0" bIns="0" rtlCol="0" anchor="ctr"/>
          <a:lstStyle/>
          <a:p>
            <a:pPr marL="0" indent="0">
              <a:buNone/>
            </a:pPr>
            <a:r>
              <a:rPr lang="en-US" sz="1400" dirty="0">
                <a:solidFill>
                  <a:srgbClr val="B9C9DB"/>
                </a:solidFill>
                <a:latin typeface="Aptos" pitchFamily="34" charset="0"/>
                <a:ea typeface="Aptos" pitchFamily="34" charset="-122"/>
                <a:cs typeface="Aptos" pitchFamily="34" charset="-120"/>
              </a:rPr>
              <a:t>„Rethinking Compressive Sensing: A Compression Framework for Video Super-Resolution” • CVPR Workshops 2025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763524" y="402338"/>
            <a:ext cx="10972800" cy="896110"/>
          </a:xfrm>
          <a:prstGeom prst="rect">
            <a:avLst/>
          </a:prstGeom>
          <a:noFill/>
          <a:ln/>
        </p:spPr>
        <p:txBody>
          <a:bodyPr wrap="square" lIns="0" tIns="0" rIns="0" bIns="0" rtlCol="0" anchor="ctr"/>
          <a:lstStyle/>
          <a:p>
            <a:r>
              <a:rPr lang="it-IT" sz="3200" b="1">
                <a:solidFill>
                  <a:schemeClr val="bg1"/>
                </a:solidFill>
                <a:latin typeface="Aptos" pitchFamily="34" charset="0"/>
                <a:ea typeface="Aptos" pitchFamily="34" charset="-122"/>
                <a:cs typeface="Aptos" pitchFamily="34" charset="-120"/>
              </a:rPr>
              <a:t>Un senzor cu foarte mulți pixeli nu se traduce automat într-o calitate superioară</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02</a:t>
            </a:r>
            <a:endParaRPr lang="en-US" sz="1000" dirty="0"/>
          </a:p>
        </p:txBody>
      </p:sp>
      <p:sp>
        <p:nvSpPr>
          <p:cNvPr id="7" name="Shape 5"/>
          <p:cNvSpPr/>
          <p:nvPr/>
        </p:nvSpPr>
        <p:spPr>
          <a:xfrm>
            <a:off x="749808" y="1627631"/>
            <a:ext cx="3447288" cy="3337560"/>
          </a:xfrm>
          <a:prstGeom prst="roundRect">
            <a:avLst>
              <a:gd name="adj" fmla="val 4384"/>
            </a:avLst>
          </a:prstGeom>
          <a:solidFill>
            <a:srgbClr val="17253B"/>
          </a:solidFill>
          <a:ln w="10160">
            <a:solidFill>
              <a:srgbClr val="17253B"/>
            </a:solidFill>
            <a:prstDash val="solid"/>
          </a:ln>
        </p:spPr>
        <p:txBody>
          <a:bodyPr/>
          <a:lstStyle/>
          <a:p>
            <a:endParaRPr lang="en-US"/>
          </a:p>
        </p:txBody>
      </p:sp>
      <p:sp>
        <p:nvSpPr>
          <p:cNvPr id="8" name="Shape 6"/>
          <p:cNvSpPr/>
          <p:nvPr/>
        </p:nvSpPr>
        <p:spPr>
          <a:xfrm>
            <a:off x="713232" y="1673352"/>
            <a:ext cx="50292" cy="3337560"/>
          </a:xfrm>
          <a:prstGeom prst="roundRect">
            <a:avLst>
              <a:gd name="adj" fmla="val 290909"/>
            </a:avLst>
          </a:prstGeom>
          <a:solidFill>
            <a:srgbClr val="52D6D3"/>
          </a:solidFill>
          <a:ln w="10160">
            <a:solidFill>
              <a:srgbClr val="52D6D3"/>
            </a:solidFill>
            <a:prstDash val="solid"/>
          </a:ln>
        </p:spPr>
        <p:txBody>
          <a:bodyPr/>
          <a:lstStyle/>
          <a:p>
            <a:endParaRPr lang="en-US"/>
          </a:p>
        </p:txBody>
      </p:sp>
      <p:sp>
        <p:nvSpPr>
          <p:cNvPr id="9" name="Text 7"/>
          <p:cNvSpPr/>
          <p:nvPr/>
        </p:nvSpPr>
        <p:spPr>
          <a:xfrm>
            <a:off x="914400" y="1828800"/>
            <a:ext cx="3063240" cy="402336"/>
          </a:xfrm>
          <a:prstGeom prst="rect">
            <a:avLst/>
          </a:prstGeom>
          <a:noFill/>
          <a:ln/>
        </p:spPr>
        <p:txBody>
          <a:bodyPr wrap="square" lIns="0" tIns="0" rIns="0" bIns="0" rtlCol="0" anchor="ctr"/>
          <a:lstStyle/>
          <a:p>
            <a:pPr marL="0" indent="0">
              <a:buNone/>
            </a:pPr>
            <a:r>
              <a:rPr lang="en-US" sz="2000" b="1" dirty="0">
                <a:solidFill>
                  <a:srgbClr val="52D6D3"/>
                </a:solidFill>
                <a:latin typeface="Aptos" pitchFamily="34" charset="0"/>
                <a:ea typeface="Aptos" pitchFamily="34" charset="-122"/>
                <a:cs typeface="Aptos" pitchFamily="34" charset="-120"/>
              </a:rPr>
              <a:t>Senzor</a:t>
            </a:r>
            <a:endParaRPr lang="en-US" sz="2000" dirty="0"/>
          </a:p>
        </p:txBody>
      </p:sp>
      <p:sp>
        <p:nvSpPr>
          <p:cNvPr id="10" name="Text 8"/>
          <p:cNvSpPr/>
          <p:nvPr/>
        </p:nvSpPr>
        <p:spPr>
          <a:xfrm>
            <a:off x="914400" y="2350008"/>
            <a:ext cx="3044952" cy="2560320"/>
          </a:xfrm>
          <a:prstGeom prst="rect">
            <a:avLst/>
          </a:prstGeom>
          <a:noFill/>
          <a:ln/>
        </p:spPr>
        <p:txBody>
          <a:bodyPr wrap="square" lIns="0" tIns="0" rIns="0" bIns="0" rtlCol="0" anchor="ctr"/>
          <a:lstStyle/>
          <a:p>
            <a:pPr marL="0" indent="0">
              <a:buNone/>
            </a:pPr>
            <a:r>
              <a:rPr lang="en-US" sz="1600" dirty="0" err="1">
                <a:solidFill>
                  <a:srgbClr val="F4F7FB"/>
                </a:solidFill>
                <a:latin typeface="Aptos" pitchFamily="34" charset="0"/>
                <a:ea typeface="Aptos" pitchFamily="34" charset="-122"/>
                <a:cs typeface="Aptos" pitchFamily="34" charset="-120"/>
              </a:rPr>
              <a:t>Senzori</a:t>
            </a:r>
            <a:r>
              <a:rPr lang="en-US" sz="1600" dirty="0">
                <a:solidFill>
                  <a:srgbClr val="F4F7FB"/>
                </a:solidFill>
                <a:latin typeface="Aptos" pitchFamily="34" charset="0"/>
                <a:ea typeface="Aptos" pitchFamily="34" charset="-122"/>
                <a:cs typeface="Aptos" pitchFamily="34" charset="-120"/>
              </a:rPr>
              <a:t> de </a:t>
            </a:r>
            <a:r>
              <a:rPr lang="en-US" sz="1600" dirty="0" err="1">
                <a:solidFill>
                  <a:srgbClr val="F4F7FB"/>
                </a:solidFill>
                <a:latin typeface="Aptos" pitchFamily="34" charset="0"/>
                <a:ea typeface="Aptos" pitchFamily="34" charset="-122"/>
                <a:cs typeface="Aptos" pitchFamily="34" charset="-120"/>
              </a:rPr>
              <a:t>până</a:t>
            </a:r>
            <a:r>
              <a:rPr lang="en-US" sz="1600" dirty="0">
                <a:solidFill>
                  <a:srgbClr val="F4F7FB"/>
                </a:solidFill>
                <a:latin typeface="Aptos" pitchFamily="34" charset="0"/>
                <a:ea typeface="Aptos" pitchFamily="34" charset="-122"/>
                <a:cs typeface="Aptos" pitchFamily="34" charset="-120"/>
              </a:rPr>
              <a:t> la ~200 MP în telefoanele moderne; </a:t>
            </a:r>
            <a:r>
              <a:rPr lang="en-US" sz="1600" dirty="0" err="1">
                <a:solidFill>
                  <a:srgbClr val="F4F7FB"/>
                </a:solidFill>
                <a:latin typeface="Aptos" pitchFamily="34" charset="0"/>
                <a:ea typeface="Aptos" pitchFamily="34" charset="-122"/>
                <a:cs typeface="Aptos" pitchFamily="34" charset="-120"/>
              </a:rPr>
              <a:t>volum</a:t>
            </a:r>
            <a:r>
              <a:rPr lang="en-US" sz="1600" dirty="0">
                <a:solidFill>
                  <a:srgbClr val="F4F7FB"/>
                </a:solidFill>
                <a:latin typeface="Aptos" pitchFamily="34" charset="0"/>
                <a:ea typeface="Aptos" pitchFamily="34" charset="-122"/>
                <a:cs typeface="Aptos" pitchFamily="34" charset="-120"/>
              </a:rPr>
              <a:t> potențial </a:t>
            </a:r>
            <a:r>
              <a:rPr lang="en-US" sz="1600" dirty="0" err="1">
                <a:solidFill>
                  <a:srgbClr val="F4F7FB"/>
                </a:solidFill>
                <a:latin typeface="Aptos" pitchFamily="34" charset="0"/>
                <a:ea typeface="Aptos" pitchFamily="34" charset="-122"/>
                <a:cs typeface="Aptos" pitchFamily="34" charset="-120"/>
              </a:rPr>
              <a:t>enorm</a:t>
            </a:r>
            <a:r>
              <a:rPr lang="en-US" sz="1600" dirty="0">
                <a:solidFill>
                  <a:srgbClr val="F4F7FB"/>
                </a:solidFill>
                <a:latin typeface="Aptos" pitchFamily="34" charset="0"/>
                <a:ea typeface="Aptos" pitchFamily="34" charset="-122"/>
                <a:cs typeface="Aptos" pitchFamily="34" charset="-120"/>
              </a:rPr>
              <a:t> de date la </a:t>
            </a:r>
            <a:r>
              <a:rPr lang="en-US" sz="1600" dirty="0" err="1">
                <a:solidFill>
                  <a:srgbClr val="F4F7FB"/>
                </a:solidFill>
                <a:latin typeface="Aptos" pitchFamily="34" charset="0"/>
                <a:ea typeface="Aptos" pitchFamily="34" charset="-122"/>
                <a:cs typeface="Aptos" pitchFamily="34" charset="-120"/>
              </a:rPr>
              <a:t>nivel</a:t>
            </a:r>
            <a:r>
              <a:rPr lang="en-US" sz="1600" dirty="0">
                <a:solidFill>
                  <a:srgbClr val="F4F7FB"/>
                </a:solidFill>
                <a:latin typeface="Aptos" pitchFamily="34" charset="0"/>
                <a:ea typeface="Aptos" pitchFamily="34" charset="-122"/>
                <a:cs typeface="Aptos" pitchFamily="34" charset="-120"/>
              </a:rPr>
              <a:t> de </a:t>
            </a:r>
            <a:r>
              <a:rPr lang="en-US" sz="1600" dirty="0" err="1">
                <a:solidFill>
                  <a:srgbClr val="F4F7FB"/>
                </a:solidFill>
                <a:latin typeface="Aptos" pitchFamily="34" charset="0"/>
                <a:ea typeface="Aptos" pitchFamily="34" charset="-122"/>
                <a:cs typeface="Aptos" pitchFamily="34" charset="-120"/>
              </a:rPr>
              <a:t>achiziție</a:t>
            </a:r>
            <a:r>
              <a:rPr lang="en-US" sz="1600" dirty="0">
                <a:solidFill>
                  <a:srgbClr val="F4F7FB"/>
                </a:solidFill>
                <a:latin typeface="Aptos" pitchFamily="34" charset="0"/>
                <a:ea typeface="Aptos" pitchFamily="34" charset="-122"/>
                <a:cs typeface="Aptos" pitchFamily="34" charset="-120"/>
              </a:rPr>
              <a:t>.</a:t>
            </a:r>
            <a:endParaRPr lang="en-US" sz="1600" dirty="0"/>
          </a:p>
        </p:txBody>
      </p:sp>
      <p:sp>
        <p:nvSpPr>
          <p:cNvPr id="11" name="Shape 9"/>
          <p:cNvSpPr/>
          <p:nvPr/>
        </p:nvSpPr>
        <p:spPr>
          <a:xfrm>
            <a:off x="4379976" y="1673352"/>
            <a:ext cx="3438144" cy="3337560"/>
          </a:xfrm>
          <a:prstGeom prst="roundRect">
            <a:avLst>
              <a:gd name="adj" fmla="val 4384"/>
            </a:avLst>
          </a:prstGeom>
          <a:solidFill>
            <a:srgbClr val="17253B"/>
          </a:solidFill>
          <a:ln w="10160">
            <a:solidFill>
              <a:srgbClr val="17253B"/>
            </a:solidFill>
            <a:prstDash val="solid"/>
          </a:ln>
        </p:spPr>
        <p:txBody>
          <a:bodyPr/>
          <a:lstStyle/>
          <a:p>
            <a:endParaRPr lang="en-US"/>
          </a:p>
        </p:txBody>
      </p:sp>
      <p:sp>
        <p:nvSpPr>
          <p:cNvPr id="12" name="Shape 10"/>
          <p:cNvSpPr/>
          <p:nvPr/>
        </p:nvSpPr>
        <p:spPr>
          <a:xfrm>
            <a:off x="4379976" y="1673352"/>
            <a:ext cx="50292" cy="3337560"/>
          </a:xfrm>
          <a:prstGeom prst="roundRect">
            <a:avLst>
              <a:gd name="adj" fmla="val 290909"/>
            </a:avLst>
          </a:prstGeom>
          <a:solidFill>
            <a:srgbClr val="FFC870"/>
          </a:solidFill>
          <a:ln w="10160">
            <a:solidFill>
              <a:srgbClr val="FFC870"/>
            </a:solidFill>
            <a:prstDash val="solid"/>
          </a:ln>
        </p:spPr>
        <p:txBody>
          <a:bodyPr/>
          <a:lstStyle/>
          <a:p>
            <a:endParaRPr lang="en-US"/>
          </a:p>
        </p:txBody>
      </p:sp>
      <p:sp>
        <p:nvSpPr>
          <p:cNvPr id="13" name="Text 11"/>
          <p:cNvSpPr/>
          <p:nvPr/>
        </p:nvSpPr>
        <p:spPr>
          <a:xfrm>
            <a:off x="4581144" y="1828800"/>
            <a:ext cx="3054096" cy="402336"/>
          </a:xfrm>
          <a:prstGeom prst="rect">
            <a:avLst/>
          </a:prstGeom>
          <a:noFill/>
          <a:ln/>
        </p:spPr>
        <p:txBody>
          <a:bodyPr wrap="square" lIns="0" tIns="0" rIns="0" bIns="0" rtlCol="0" anchor="ctr"/>
          <a:lstStyle/>
          <a:p>
            <a:pPr marL="0" indent="0">
              <a:buNone/>
            </a:pPr>
            <a:r>
              <a:rPr lang="en-US" sz="2000" b="1" dirty="0">
                <a:solidFill>
                  <a:srgbClr val="FFC870"/>
                </a:solidFill>
                <a:latin typeface="Aptos" pitchFamily="34" charset="0"/>
                <a:ea typeface="Aptos" pitchFamily="34" charset="-122"/>
                <a:cs typeface="Aptos" pitchFamily="34" charset="-120"/>
              </a:rPr>
              <a:t>Compresie pe senzor</a:t>
            </a:r>
            <a:endParaRPr lang="en-US" sz="2000" dirty="0"/>
          </a:p>
        </p:txBody>
      </p:sp>
      <p:sp>
        <p:nvSpPr>
          <p:cNvPr id="14" name="Text 12"/>
          <p:cNvSpPr/>
          <p:nvPr/>
        </p:nvSpPr>
        <p:spPr>
          <a:xfrm>
            <a:off x="4581144" y="2350008"/>
            <a:ext cx="3035808" cy="2560320"/>
          </a:xfrm>
          <a:prstGeom prst="rect">
            <a:avLst/>
          </a:prstGeom>
          <a:noFill/>
          <a:ln/>
        </p:spPr>
        <p:txBody>
          <a:bodyPr wrap="square" lIns="0" tIns="0" rIns="0" bIns="0" rtlCol="0" anchor="ctr"/>
          <a:lstStyle/>
          <a:p>
            <a:pPr marL="0" indent="0">
              <a:buNone/>
            </a:pPr>
            <a:r>
              <a:rPr lang="en-US" sz="1600">
                <a:solidFill>
                  <a:srgbClr val="F4F7FB"/>
                </a:solidFill>
                <a:latin typeface="Aptos" pitchFamily="34" charset="0"/>
                <a:ea typeface="Aptos" pitchFamily="34" charset="-122"/>
                <a:cs typeface="Aptos" pitchFamily="34" charset="-120"/>
              </a:rPr>
              <a:t>Dacă deja avem un senzor de 200 MP, care este rolul compresiei la nivel de achiziție de date și ce ne-ar ajuta?</a:t>
            </a:r>
          </a:p>
          <a:p>
            <a:pPr marL="0" indent="0">
              <a:buNone/>
            </a:pPr>
            <a:endParaRPr lang="en-US" sz="1600">
              <a:solidFill>
                <a:srgbClr val="F4F7FB"/>
              </a:solidFill>
              <a:latin typeface="Aptos" pitchFamily="34" charset="0"/>
              <a:ea typeface="Aptos" pitchFamily="34" charset="-122"/>
              <a:cs typeface="Aptos" pitchFamily="34" charset="-120"/>
            </a:endParaRPr>
          </a:p>
          <a:p>
            <a:pPr marL="0" indent="0">
              <a:buNone/>
            </a:pPr>
            <a:r>
              <a:rPr lang="en-US" sz="1600">
                <a:solidFill>
                  <a:srgbClr val="F4F7FB"/>
                </a:solidFill>
                <a:latin typeface="Aptos" pitchFamily="34" charset="0"/>
                <a:ea typeface="Aptos" pitchFamily="34" charset="-122"/>
                <a:cs typeface="Aptos" pitchFamily="34" charset="-120"/>
              </a:rPr>
              <a:t>Pixel binning: mai mulți pixeli sunt combinați într-unul singur, SNR îmbunătățit + performanță mai bună în luminozitate scăzută</a:t>
            </a:r>
            <a:endParaRPr lang="en-US" sz="1600" dirty="0"/>
          </a:p>
        </p:txBody>
      </p:sp>
      <p:sp>
        <p:nvSpPr>
          <p:cNvPr id="15" name="Shape 13"/>
          <p:cNvSpPr/>
          <p:nvPr/>
        </p:nvSpPr>
        <p:spPr>
          <a:xfrm>
            <a:off x="8046720" y="1673352"/>
            <a:ext cx="3429000" cy="3337560"/>
          </a:xfrm>
          <a:prstGeom prst="roundRect">
            <a:avLst>
              <a:gd name="adj" fmla="val 4384"/>
            </a:avLst>
          </a:prstGeom>
          <a:solidFill>
            <a:srgbClr val="17253B"/>
          </a:solidFill>
          <a:ln w="10160">
            <a:solidFill>
              <a:srgbClr val="17253B"/>
            </a:solidFill>
            <a:prstDash val="solid"/>
          </a:ln>
        </p:spPr>
        <p:txBody>
          <a:bodyPr/>
          <a:lstStyle/>
          <a:p>
            <a:endParaRPr lang="en-US"/>
          </a:p>
        </p:txBody>
      </p:sp>
      <p:sp>
        <p:nvSpPr>
          <p:cNvPr id="16" name="Shape 14"/>
          <p:cNvSpPr/>
          <p:nvPr/>
        </p:nvSpPr>
        <p:spPr>
          <a:xfrm>
            <a:off x="8046720" y="1673352"/>
            <a:ext cx="50292" cy="3337560"/>
          </a:xfrm>
          <a:prstGeom prst="roundRect">
            <a:avLst>
              <a:gd name="adj" fmla="val 290909"/>
            </a:avLst>
          </a:prstGeom>
          <a:solidFill>
            <a:srgbClr val="80E2B0"/>
          </a:solidFill>
          <a:ln w="10160">
            <a:solidFill>
              <a:srgbClr val="80E2B0"/>
            </a:solidFill>
            <a:prstDash val="solid"/>
          </a:ln>
        </p:spPr>
        <p:txBody>
          <a:bodyPr/>
          <a:lstStyle/>
          <a:p>
            <a:endParaRPr lang="en-US"/>
          </a:p>
        </p:txBody>
      </p:sp>
      <p:sp>
        <p:nvSpPr>
          <p:cNvPr id="17" name="Text 15"/>
          <p:cNvSpPr/>
          <p:nvPr/>
        </p:nvSpPr>
        <p:spPr>
          <a:xfrm>
            <a:off x="8247888" y="1828800"/>
            <a:ext cx="3044952" cy="402336"/>
          </a:xfrm>
          <a:prstGeom prst="rect">
            <a:avLst/>
          </a:prstGeom>
          <a:noFill/>
          <a:ln/>
        </p:spPr>
        <p:txBody>
          <a:bodyPr wrap="square" lIns="0" tIns="0" rIns="0" bIns="0" rtlCol="0" anchor="ctr"/>
          <a:lstStyle/>
          <a:p>
            <a:pPr marL="0" indent="0">
              <a:buNone/>
            </a:pPr>
            <a:r>
              <a:rPr lang="en-US" sz="2000" b="1" dirty="0">
                <a:solidFill>
                  <a:srgbClr val="80E2B0"/>
                </a:solidFill>
                <a:latin typeface="Aptos" pitchFamily="34" charset="0"/>
                <a:ea typeface="Aptos" pitchFamily="34" charset="-122"/>
                <a:cs typeface="Aptos" pitchFamily="34" charset="-120"/>
              </a:rPr>
              <a:t>Video rezultat</a:t>
            </a:r>
            <a:endParaRPr lang="en-US" sz="2000" dirty="0"/>
          </a:p>
        </p:txBody>
      </p:sp>
      <p:sp>
        <p:nvSpPr>
          <p:cNvPr id="18" name="Text 16"/>
          <p:cNvSpPr/>
          <p:nvPr/>
        </p:nvSpPr>
        <p:spPr>
          <a:xfrm>
            <a:off x="8247888" y="2350008"/>
            <a:ext cx="3026664" cy="2560320"/>
          </a:xfrm>
          <a:prstGeom prst="rect">
            <a:avLst/>
          </a:prstGeom>
          <a:noFill/>
          <a:ln/>
        </p:spPr>
        <p:txBody>
          <a:bodyPr wrap="square" lIns="0" tIns="0" rIns="0" bIns="0" rtlCol="0" anchor="ctr"/>
          <a:lstStyle/>
          <a:p>
            <a:pPr marL="0" indent="0">
              <a:buNone/>
            </a:pPr>
            <a:r>
              <a:rPr lang="en-US" sz="1600" dirty="0" err="1">
                <a:solidFill>
                  <a:srgbClr val="F4F7FB"/>
                </a:solidFill>
                <a:latin typeface="Aptos" pitchFamily="34" charset="0"/>
                <a:ea typeface="Aptos" pitchFamily="34" charset="-122"/>
                <a:cs typeface="Aptos" pitchFamily="34" charset="-120"/>
              </a:rPr>
              <a:t>Încercăm</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să</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recuperăm</a:t>
            </a:r>
            <a:r>
              <a:rPr lang="en-US" sz="1600" dirty="0">
                <a:solidFill>
                  <a:srgbClr val="F4F7FB"/>
                </a:solidFill>
                <a:latin typeface="Aptos" pitchFamily="34" charset="0"/>
                <a:ea typeface="Aptos" pitchFamily="34" charset="-122"/>
                <a:cs typeface="Aptos" pitchFamily="34" charset="-120"/>
              </a:rPr>
              <a:t> un </a:t>
            </a:r>
            <a:r>
              <a:rPr lang="en-US" sz="1600" dirty="0" err="1">
                <a:solidFill>
                  <a:srgbClr val="F4F7FB"/>
                </a:solidFill>
                <a:latin typeface="Aptos" pitchFamily="34" charset="0"/>
                <a:ea typeface="Aptos" pitchFamily="34" charset="-122"/>
                <a:cs typeface="Aptos" pitchFamily="34" charset="-120"/>
              </a:rPr>
              <a:t>semnal</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deja</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comprimat</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printr</a:t>
            </a:r>
            <a:r>
              <a:rPr lang="en-US" sz="1600" dirty="0">
                <a:solidFill>
                  <a:srgbClr val="F4F7FB"/>
                </a:solidFill>
                <a:latin typeface="Aptos" pitchFamily="34" charset="0"/>
                <a:ea typeface="Aptos" pitchFamily="34" charset="-122"/>
                <a:cs typeface="Aptos" pitchFamily="34" charset="-120"/>
              </a:rPr>
              <a:t>-un </a:t>
            </a:r>
            <a:r>
              <a:rPr lang="en-US" sz="1600" dirty="0" err="1">
                <a:solidFill>
                  <a:srgbClr val="F4F7FB"/>
                </a:solidFill>
                <a:latin typeface="Aptos" pitchFamily="34" charset="0"/>
                <a:ea typeface="Aptos" pitchFamily="34" charset="-122"/>
                <a:cs typeface="Aptos" pitchFamily="34" charset="-120"/>
              </a:rPr>
              <a:t>algoritm</a:t>
            </a:r>
            <a:r>
              <a:rPr lang="en-US" sz="1600" dirty="0">
                <a:solidFill>
                  <a:srgbClr val="F4F7FB"/>
                </a:solidFill>
                <a:latin typeface="Aptos" pitchFamily="34" charset="0"/>
                <a:ea typeface="Aptos" pitchFamily="34" charset="-122"/>
                <a:cs typeface="Aptos" pitchFamily="34" charset="-120"/>
              </a:rPr>
              <a:t> de super-</a:t>
            </a:r>
            <a:r>
              <a:rPr lang="en-US" sz="1600" dirty="0" err="1">
                <a:solidFill>
                  <a:srgbClr val="F4F7FB"/>
                </a:solidFill>
                <a:latin typeface="Aptos" pitchFamily="34" charset="0"/>
                <a:ea typeface="Aptos" pitchFamily="34" charset="-122"/>
                <a:cs typeface="Aptos" pitchFamily="34" charset="-120"/>
              </a:rPr>
              <a:t>rezoluție</a:t>
            </a:r>
            <a:r>
              <a:rPr lang="en-US" sz="1600" dirty="0">
                <a:solidFill>
                  <a:srgbClr val="F4F7FB"/>
                </a:solidFill>
                <a:latin typeface="Aptos" pitchFamily="34" charset="0"/>
                <a:ea typeface="Aptos" pitchFamily="34" charset="-122"/>
                <a:cs typeface="Aptos" pitchFamily="34" charset="-120"/>
              </a:rPr>
              <a:t>.</a:t>
            </a:r>
          </a:p>
          <a:p>
            <a:pPr marL="0" indent="0">
              <a:buNone/>
            </a:pPr>
            <a:endParaRPr lang="en-US" sz="1600" dirty="0">
              <a:solidFill>
                <a:srgbClr val="F4F7FB"/>
              </a:solidFill>
              <a:latin typeface="Aptos" pitchFamily="34" charset="0"/>
              <a:ea typeface="Aptos" pitchFamily="34" charset="-122"/>
              <a:cs typeface="Aptos" pitchFamily="34" charset="-120"/>
            </a:endParaRPr>
          </a:p>
          <a:p>
            <a:pPr marL="0" indent="0">
              <a:buNone/>
            </a:pPr>
            <a:r>
              <a:rPr lang="en-US" sz="1600" dirty="0" err="1">
                <a:solidFill>
                  <a:srgbClr val="F4F7FB"/>
                </a:solidFill>
                <a:latin typeface="Aptos" pitchFamily="34" charset="0"/>
                <a:ea typeface="Aptos" pitchFamily="34" charset="-122"/>
                <a:cs typeface="Aptos" pitchFamily="34" charset="-120"/>
              </a:rPr>
              <a:t>Dificultăți</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prin</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intermediul</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binningului</a:t>
            </a:r>
            <a:r>
              <a:rPr lang="en-US" sz="1600" dirty="0">
                <a:solidFill>
                  <a:srgbClr val="F4F7FB"/>
                </a:solidFill>
                <a:latin typeface="Aptos" pitchFamily="34" charset="0"/>
                <a:ea typeface="Aptos" pitchFamily="34" charset="-122"/>
                <a:cs typeface="Aptos" pitchFamily="34" charset="-120"/>
              </a:rPr>
              <a:t> se poate pierde ireversibil informație.</a:t>
            </a:r>
            <a:endParaRPr lang="en-US" sz="1600" dirty="0"/>
          </a:p>
        </p:txBody>
      </p:sp>
      <p:sp>
        <p:nvSpPr>
          <p:cNvPr id="19" name="Text 17"/>
          <p:cNvSpPr/>
          <p:nvPr/>
        </p:nvSpPr>
        <p:spPr>
          <a:xfrm>
            <a:off x="923544" y="5440680"/>
            <a:ext cx="10424160" cy="502920"/>
          </a:xfrm>
          <a:prstGeom prst="rect">
            <a:avLst/>
          </a:prstGeom>
          <a:noFill/>
          <a:ln/>
        </p:spPr>
        <p:txBody>
          <a:bodyPr wrap="square" lIns="0" tIns="0" rIns="0" bIns="0" rtlCol="0" anchor="ctr"/>
          <a:lstStyle/>
          <a:p>
            <a:pPr marL="0" indent="0" algn="ctr">
              <a:buNone/>
            </a:pPr>
            <a:r>
              <a:rPr lang="en-US" sz="2200" b="1" dirty="0">
                <a:solidFill>
                  <a:srgbClr val="F4F7FB"/>
                </a:solidFill>
                <a:latin typeface="Aptos" pitchFamily="34" charset="0"/>
                <a:ea typeface="Aptos" pitchFamily="34" charset="-122"/>
                <a:cs typeface="Aptos" pitchFamily="34" charset="-120"/>
              </a:rPr>
              <a:t>Întrebarea articolului: putem comprima mai inteligent, fără a crește rezoluția fluxului video?</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err="1">
                <a:solidFill>
                  <a:srgbClr val="F4F7FB"/>
                </a:solidFill>
                <a:latin typeface="Aptos" pitchFamily="34" charset="0"/>
                <a:ea typeface="Aptos" pitchFamily="34" charset="-122"/>
                <a:cs typeface="Aptos" pitchFamily="34" charset="-120"/>
              </a:rPr>
              <a:t>Introducere</a:t>
            </a:r>
            <a:r>
              <a:rPr lang="en-US" sz="3000" b="1" dirty="0">
                <a:solidFill>
                  <a:srgbClr val="F4F7FB"/>
                </a:solidFill>
                <a:latin typeface="Aptos" pitchFamily="34" charset="0"/>
                <a:ea typeface="Aptos" pitchFamily="34" charset="-122"/>
                <a:cs typeface="Aptos" pitchFamily="34" charset="-120"/>
              </a:rPr>
              <a:t> în compressive sensing</a:t>
            </a:r>
            <a:endParaRPr lang="en-US" sz="30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03</a:t>
            </a:r>
            <a:endParaRPr lang="en-US" sz="1000" dirty="0"/>
          </a:p>
        </p:txBody>
      </p:sp>
      <p:sp>
        <p:nvSpPr>
          <p:cNvPr id="7" name="Shape 5"/>
          <p:cNvSpPr/>
          <p:nvPr/>
        </p:nvSpPr>
        <p:spPr>
          <a:xfrm>
            <a:off x="667512" y="1712214"/>
            <a:ext cx="10671048" cy="1257299"/>
          </a:xfrm>
          <a:prstGeom prst="roundRect">
            <a:avLst>
              <a:gd name="adj" fmla="val 14286"/>
            </a:avLst>
          </a:prstGeom>
          <a:solidFill>
            <a:srgbClr val="1C304A"/>
          </a:solidFill>
          <a:ln w="10160">
            <a:solidFill>
              <a:srgbClr val="1C304A"/>
            </a:solidFill>
            <a:prstDash val="solid"/>
          </a:ln>
        </p:spPr>
        <p:txBody>
          <a:bodyPr/>
          <a:lstStyle/>
          <a:p>
            <a:endParaRPr lang="en-US" dirty="0"/>
          </a:p>
        </p:txBody>
      </p:sp>
      <p:sp>
        <p:nvSpPr>
          <p:cNvPr id="8" name="Text 6"/>
          <p:cNvSpPr/>
          <p:nvPr/>
        </p:nvSpPr>
        <p:spPr>
          <a:xfrm>
            <a:off x="1051560" y="1929384"/>
            <a:ext cx="3566160" cy="965200"/>
          </a:xfrm>
          <a:prstGeom prst="rect">
            <a:avLst/>
          </a:prstGeom>
          <a:noFill/>
          <a:ln/>
        </p:spPr>
        <p:txBody>
          <a:bodyPr wrap="square" lIns="0" tIns="0" rIns="0" bIns="0" rtlCol="0" anchor="ctr"/>
          <a:lstStyle/>
          <a:p>
            <a:r>
              <a:rPr lang="pt-BR" sz="2800" b="1" dirty="0">
                <a:solidFill>
                  <a:srgbClr val="52D6D3"/>
                </a:solidFill>
                <a:latin typeface="Aptos" pitchFamily="34" charset="0"/>
                <a:ea typeface="Aptos" pitchFamily="34" charset="-122"/>
                <a:cs typeface="Aptos" pitchFamily="34" charset="-120"/>
              </a:rPr>
              <a:t>b = θx = θΨα</a:t>
            </a:r>
          </a:p>
          <a:p>
            <a:pPr marL="0" indent="0">
              <a:buNone/>
            </a:pPr>
            <a:r>
              <a:rPr lang="pt-BR" sz="2800" b="1" dirty="0">
                <a:solidFill>
                  <a:srgbClr val="52D6D3"/>
                </a:solidFill>
                <a:latin typeface="Aptos" pitchFamily="34" charset="0"/>
                <a:ea typeface="Aptos" pitchFamily="34" charset="-122"/>
                <a:cs typeface="Aptos" pitchFamily="34" charset="-120"/>
              </a:rPr>
              <a:t>A = θΨ</a:t>
            </a:r>
            <a:endParaRPr lang="en-US" sz="2800" dirty="0">
              <a:solidFill>
                <a:srgbClr val="52D6D3"/>
              </a:solidFill>
            </a:endParaRPr>
          </a:p>
        </p:txBody>
      </p:sp>
      <p:sp>
        <p:nvSpPr>
          <p:cNvPr id="9" name="Text 7"/>
          <p:cNvSpPr/>
          <p:nvPr/>
        </p:nvSpPr>
        <p:spPr>
          <a:xfrm>
            <a:off x="3217333" y="1668781"/>
            <a:ext cx="7094728" cy="1051560"/>
          </a:xfrm>
          <a:prstGeom prst="rect">
            <a:avLst/>
          </a:prstGeom>
          <a:noFill/>
          <a:ln/>
        </p:spPr>
        <p:txBody>
          <a:bodyPr wrap="square" lIns="0" tIns="0" rIns="0" bIns="0" rtlCol="0" anchor="ctr"/>
          <a:lstStyle/>
          <a:p>
            <a:r>
              <a:rPr lang="en-US" sz="1600" dirty="0">
                <a:solidFill>
                  <a:srgbClr val="F4F7FB"/>
                </a:solidFill>
                <a:latin typeface="Aptos" pitchFamily="34" charset="0"/>
                <a:ea typeface="Aptos" pitchFamily="34" charset="-122"/>
                <a:cs typeface="Aptos" pitchFamily="34" charset="-120"/>
              </a:rPr>
              <a:t>x: </a:t>
            </a:r>
            <a:r>
              <a:rPr lang="en-US" sz="1600" dirty="0" err="1">
                <a:solidFill>
                  <a:srgbClr val="F4F7FB"/>
                </a:solidFill>
                <a:latin typeface="Aptos" pitchFamily="34" charset="0"/>
                <a:ea typeface="Aptos" pitchFamily="34" charset="-122"/>
                <a:cs typeface="Aptos" pitchFamily="34" charset="-120"/>
              </a:rPr>
              <a:t>semnalul</a:t>
            </a:r>
            <a:r>
              <a:rPr lang="en-US" sz="1600" dirty="0">
                <a:solidFill>
                  <a:srgbClr val="F4F7FB"/>
                </a:solidFill>
                <a:latin typeface="Aptos" pitchFamily="34" charset="0"/>
                <a:ea typeface="Aptos" pitchFamily="34" charset="-122"/>
                <a:cs typeface="Aptos" pitchFamily="34" charset="-120"/>
              </a:rPr>
              <a:t> original • b: </a:t>
            </a:r>
            <a:r>
              <a:rPr lang="en-US" sz="1600" dirty="0" err="1">
                <a:solidFill>
                  <a:srgbClr val="F4F7FB"/>
                </a:solidFill>
                <a:latin typeface="Aptos" pitchFamily="34" charset="0"/>
                <a:ea typeface="Aptos" pitchFamily="34" charset="-122"/>
                <a:cs typeface="Aptos" pitchFamily="34" charset="-120"/>
              </a:rPr>
              <a:t>măsurători</a:t>
            </a:r>
            <a:r>
              <a:rPr lang="en-US" sz="1600" dirty="0">
                <a:solidFill>
                  <a:srgbClr val="F4F7FB"/>
                </a:solidFill>
                <a:latin typeface="Aptos" pitchFamily="34" charset="0"/>
                <a:ea typeface="Aptos" pitchFamily="34" charset="-122"/>
                <a:cs typeface="Aptos" pitchFamily="34" charset="-120"/>
              </a:rPr>
              <a:t> • </a:t>
            </a:r>
            <a:r>
              <a:rPr lang="pt-BR" sz="1600" b="1" dirty="0">
                <a:solidFill>
                  <a:schemeClr val="bg1"/>
                </a:solidFill>
                <a:latin typeface="Aptos" pitchFamily="34" charset="0"/>
                <a:ea typeface="Aptos" pitchFamily="34" charset="-122"/>
                <a:cs typeface="Aptos" pitchFamily="34" charset="-120"/>
              </a:rPr>
              <a:t>θ</a:t>
            </a:r>
            <a:r>
              <a:rPr lang="en-US" sz="1600" dirty="0">
                <a:solidFill>
                  <a:srgbClr val="F4F7FB"/>
                </a:solidFill>
                <a:latin typeface="Aptos" pitchFamily="34" charset="0"/>
                <a:ea typeface="Aptos" pitchFamily="34" charset="-122"/>
                <a:cs typeface="Aptos" pitchFamily="34" charset="-120"/>
              </a:rPr>
              <a:t> : </a:t>
            </a:r>
            <a:r>
              <a:rPr lang="en-US" sz="1600" dirty="0" err="1">
                <a:solidFill>
                  <a:srgbClr val="F4F7FB"/>
                </a:solidFill>
                <a:latin typeface="Aptos" pitchFamily="34" charset="0"/>
                <a:ea typeface="Aptos" pitchFamily="34" charset="-122"/>
                <a:cs typeface="Aptos" pitchFamily="34" charset="-120"/>
              </a:rPr>
              <a:t>dic</a:t>
            </a:r>
            <a:r>
              <a:rPr lang="en-US" sz="1600" dirty="0" err="1">
                <a:solidFill>
                  <a:srgbClr val="F4F7FA"/>
                </a:solidFill>
                <a:latin typeface="Aptos" panose="020B0004020202020204" pitchFamily="34" charset="0"/>
              </a:rPr>
              <a:t>ț</a:t>
            </a:r>
            <a:r>
              <a:rPr lang="en-US" sz="1600" dirty="0" err="1">
                <a:solidFill>
                  <a:srgbClr val="F4F7FB"/>
                </a:solidFill>
                <a:latin typeface="Aptos" pitchFamily="34" charset="0"/>
                <a:ea typeface="Aptos" pitchFamily="34" charset="-122"/>
                <a:cs typeface="Aptos" pitchFamily="34" charset="-120"/>
              </a:rPr>
              <a:t>ionar</a:t>
            </a:r>
            <a:endParaRPr lang="en-US" sz="1600" dirty="0">
              <a:solidFill>
                <a:srgbClr val="F4F7FB"/>
              </a:solidFill>
            </a:endParaRPr>
          </a:p>
        </p:txBody>
      </p:sp>
      <p:sp>
        <p:nvSpPr>
          <p:cNvPr id="10" name="Shape 8"/>
          <p:cNvSpPr/>
          <p:nvPr/>
        </p:nvSpPr>
        <p:spPr>
          <a:xfrm>
            <a:off x="1005840" y="3465576"/>
            <a:ext cx="82296" cy="82296"/>
          </a:xfrm>
          <a:prstGeom prst="roundRect">
            <a:avLst>
              <a:gd name="adj" fmla="val 177778"/>
            </a:avLst>
          </a:prstGeom>
          <a:solidFill>
            <a:srgbClr val="52D6D3"/>
          </a:solidFill>
          <a:ln w="10160">
            <a:solidFill>
              <a:srgbClr val="52D6D3"/>
            </a:solidFill>
            <a:prstDash val="solid"/>
          </a:ln>
        </p:spPr>
        <p:txBody>
          <a:bodyPr/>
          <a:lstStyle/>
          <a:p>
            <a:endParaRPr lang="en-US"/>
          </a:p>
        </p:txBody>
      </p:sp>
      <p:sp>
        <p:nvSpPr>
          <p:cNvPr id="11" name="Text 9"/>
          <p:cNvSpPr/>
          <p:nvPr/>
        </p:nvSpPr>
        <p:spPr>
          <a:xfrm>
            <a:off x="1234440" y="3104388"/>
            <a:ext cx="10012680" cy="804672"/>
          </a:xfrm>
          <a:prstGeom prst="rect">
            <a:avLst/>
          </a:prstGeom>
          <a:noFill/>
          <a:ln/>
        </p:spPr>
        <p:txBody>
          <a:bodyPr wrap="square" lIns="0" tIns="0" rIns="0" bIns="0" rtlCol="0" anchor="ctr"/>
          <a:lstStyle/>
          <a:p>
            <a:pPr marL="0" indent="0">
              <a:buNone/>
            </a:pPr>
            <a:r>
              <a:rPr lang="en-US" sz="2100" dirty="0">
                <a:solidFill>
                  <a:srgbClr val="F4F7FB"/>
                </a:solidFill>
                <a:latin typeface="Aptos" pitchFamily="34" charset="0"/>
                <a:ea typeface="Aptos" pitchFamily="34" charset="-122"/>
                <a:cs typeface="Aptos" pitchFamily="34" charset="-120"/>
              </a:rPr>
              <a:t>Dacă x este rar sau compresibil într-o bază Ψ, îl putem aproxima din M &lt; N măsurători.</a:t>
            </a:r>
            <a:endParaRPr lang="en-US" sz="2100" dirty="0"/>
          </a:p>
        </p:txBody>
      </p:sp>
      <p:sp>
        <p:nvSpPr>
          <p:cNvPr id="12" name="Shape 10"/>
          <p:cNvSpPr/>
          <p:nvPr/>
        </p:nvSpPr>
        <p:spPr>
          <a:xfrm>
            <a:off x="1005840" y="4206238"/>
            <a:ext cx="82296" cy="82296"/>
          </a:xfrm>
          <a:prstGeom prst="roundRect">
            <a:avLst>
              <a:gd name="adj" fmla="val 177778"/>
            </a:avLst>
          </a:prstGeom>
          <a:solidFill>
            <a:srgbClr val="52D6D3"/>
          </a:solidFill>
          <a:ln w="10160">
            <a:solidFill>
              <a:srgbClr val="52D6D3"/>
            </a:solidFill>
            <a:prstDash val="solid"/>
          </a:ln>
        </p:spPr>
        <p:txBody>
          <a:bodyPr/>
          <a:lstStyle/>
          <a:p>
            <a:endParaRPr lang="en-US"/>
          </a:p>
        </p:txBody>
      </p:sp>
      <p:sp>
        <p:nvSpPr>
          <p:cNvPr id="13" name="Text 11"/>
          <p:cNvSpPr/>
          <p:nvPr/>
        </p:nvSpPr>
        <p:spPr>
          <a:xfrm>
            <a:off x="1234440" y="3995928"/>
            <a:ext cx="10012680" cy="804672"/>
          </a:xfrm>
          <a:prstGeom prst="rect">
            <a:avLst/>
          </a:prstGeom>
          <a:noFill/>
          <a:ln/>
        </p:spPr>
        <p:txBody>
          <a:bodyPr wrap="square" lIns="0" tIns="0" rIns="0" bIns="0" rtlCol="0" anchor="ctr"/>
          <a:lstStyle/>
          <a:p>
            <a:pPr marL="0" indent="0">
              <a:buNone/>
            </a:pPr>
            <a:r>
              <a:rPr lang="en-US" sz="2100" dirty="0" err="1">
                <a:solidFill>
                  <a:srgbClr val="F4F7FB"/>
                </a:solidFill>
                <a:latin typeface="Aptos" pitchFamily="34" charset="0"/>
                <a:ea typeface="Aptos" pitchFamily="34" charset="-122"/>
                <a:cs typeface="Aptos" pitchFamily="34" charset="-120"/>
              </a:rPr>
              <a:t>Eșantioanele</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măsurate</a:t>
            </a:r>
            <a:r>
              <a:rPr lang="en-US" sz="2100" dirty="0">
                <a:solidFill>
                  <a:srgbClr val="F4F7FB"/>
                </a:solidFill>
                <a:latin typeface="Aptos" pitchFamily="34" charset="0"/>
                <a:ea typeface="Aptos" pitchFamily="34" charset="-122"/>
                <a:cs typeface="Aptos" pitchFamily="34" charset="-120"/>
              </a:rPr>
              <a:t> trebuie </a:t>
            </a:r>
            <a:r>
              <a:rPr lang="en-US" sz="2100" dirty="0" err="1">
                <a:solidFill>
                  <a:srgbClr val="F4F7FB"/>
                </a:solidFill>
                <a:latin typeface="Aptos" pitchFamily="34" charset="0"/>
                <a:ea typeface="Aptos" pitchFamily="34" charset="-122"/>
                <a:cs typeface="Aptos" pitchFamily="34" charset="-120"/>
              </a:rPr>
              <a:t>să</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reprezinte</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informație</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diversă,</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apoi</a:t>
            </a:r>
            <a:r>
              <a:rPr lang="en-US" sz="2100" dirty="0">
                <a:solidFill>
                  <a:srgbClr val="F4F7FB"/>
                </a:solidFill>
                <a:latin typeface="Aptos" pitchFamily="34" charset="0"/>
                <a:ea typeface="Aptos" pitchFamily="34" charset="-122"/>
                <a:cs typeface="Aptos" pitchFamily="34" charset="-120"/>
              </a:rPr>
              <a:t> un algoritm </a:t>
            </a:r>
            <a:r>
              <a:rPr lang="en-US" sz="2100" dirty="0" err="1">
                <a:solidFill>
                  <a:srgbClr val="F4F7FB"/>
                </a:solidFill>
                <a:latin typeface="Aptos" pitchFamily="34" charset="0"/>
                <a:ea typeface="Aptos" pitchFamily="34" charset="-122"/>
                <a:cs typeface="Aptos" pitchFamily="34" charset="-120"/>
              </a:rPr>
              <a:t>reconstruiește</a:t>
            </a:r>
            <a:r>
              <a:rPr lang="en-US" sz="2100" dirty="0">
                <a:solidFill>
                  <a:srgbClr val="F4F7FB"/>
                </a:solidFill>
                <a:latin typeface="Aptos" pitchFamily="34" charset="0"/>
                <a:ea typeface="Aptos" pitchFamily="34" charset="-122"/>
                <a:cs typeface="Aptos" pitchFamily="34" charset="-120"/>
              </a:rPr>
              <a:t> x’</a:t>
            </a:r>
            <a:endParaRPr lang="en-US" sz="2100" dirty="0"/>
          </a:p>
        </p:txBody>
      </p:sp>
      <p:sp>
        <p:nvSpPr>
          <p:cNvPr id="14" name="Shape 12"/>
          <p:cNvSpPr/>
          <p:nvPr/>
        </p:nvSpPr>
        <p:spPr>
          <a:xfrm>
            <a:off x="1010412" y="5070351"/>
            <a:ext cx="82296" cy="82296"/>
          </a:xfrm>
          <a:prstGeom prst="roundRect">
            <a:avLst>
              <a:gd name="adj" fmla="val 177778"/>
            </a:avLst>
          </a:prstGeom>
          <a:solidFill>
            <a:srgbClr val="52D6D3"/>
          </a:solidFill>
          <a:ln w="10160">
            <a:solidFill>
              <a:srgbClr val="52D6D3"/>
            </a:solidFill>
            <a:prstDash val="solid"/>
          </a:ln>
        </p:spPr>
        <p:txBody>
          <a:bodyPr/>
          <a:lstStyle/>
          <a:p>
            <a:endParaRPr lang="en-US"/>
          </a:p>
        </p:txBody>
      </p:sp>
      <p:sp>
        <p:nvSpPr>
          <p:cNvPr id="15" name="Text 13"/>
          <p:cNvSpPr/>
          <p:nvPr/>
        </p:nvSpPr>
        <p:spPr>
          <a:xfrm>
            <a:off x="1234440" y="4855464"/>
            <a:ext cx="10012680" cy="804672"/>
          </a:xfrm>
          <a:prstGeom prst="rect">
            <a:avLst/>
          </a:prstGeom>
          <a:noFill/>
          <a:ln/>
        </p:spPr>
        <p:txBody>
          <a:bodyPr wrap="square" lIns="0" tIns="0" rIns="0" bIns="0" rtlCol="0" anchor="ctr"/>
          <a:lstStyle/>
          <a:p>
            <a:r>
              <a:rPr lang="en-US" sz="2100">
                <a:solidFill>
                  <a:srgbClr val="F4F7FB"/>
                </a:solidFill>
                <a:latin typeface="Aptos" pitchFamily="34" charset="0"/>
                <a:ea typeface="Aptos" pitchFamily="34" charset="-122"/>
                <a:cs typeface="Aptos" pitchFamily="34" charset="-120"/>
              </a:rPr>
              <a:t>Sistem de ecuații subdeterminat: o infinitate de soluții. Căutăm o soluție cu puțini coeficienți nenuli în </a:t>
            </a:r>
            <a:r>
              <a:rPr lang="el-GR" sz="2100">
                <a:solidFill>
                  <a:srgbClr val="F4F7FB"/>
                </a:solidFill>
                <a:latin typeface="Aptos" pitchFamily="34" charset="0"/>
                <a:ea typeface="Aptos" pitchFamily="34" charset="-122"/>
                <a:cs typeface="Aptos" pitchFamily="34" charset="-120"/>
              </a:rPr>
              <a:t>α.</a:t>
            </a:r>
            <a:endParaRPr lang="en-US" sz="2100" dirty="0"/>
          </a:p>
        </p:txBody>
      </p:sp>
      <p:sp>
        <p:nvSpPr>
          <p:cNvPr id="4" name="TextBox 3">
            <a:extLst>
              <a:ext uri="{FF2B5EF4-FFF2-40B4-BE49-F238E27FC236}">
                <a16:creationId xmlns:a16="http://schemas.microsoft.com/office/drawing/2014/main" id="{F0B6935A-54C2-A47B-6D5E-BA6364E185E3}"/>
              </a:ext>
            </a:extLst>
          </p:cNvPr>
          <p:cNvSpPr txBox="1"/>
          <p:nvPr/>
        </p:nvSpPr>
        <p:spPr>
          <a:xfrm>
            <a:off x="3217333" y="2401301"/>
            <a:ext cx="10363200" cy="246221"/>
          </a:xfrm>
          <a:prstGeom prst="rect">
            <a:avLst/>
          </a:prstGeom>
          <a:noFill/>
        </p:spPr>
        <p:txBody>
          <a:bodyPr vert="horz" lIns="0" tIns="0" rIns="0" bIns="0" rtlCol="0">
            <a:spAutoFit/>
          </a:bodyPr>
          <a:lstStyle/>
          <a:p>
            <a:r>
              <a:rPr lang="el-GR" sz="1600" dirty="0">
                <a:solidFill>
                  <a:srgbClr val="F4F7FA"/>
                </a:solidFill>
                <a:latin typeface="Aptos" panose="020B0004020202020204" pitchFamily="34" charset="0"/>
              </a:rPr>
              <a:t>θ: </a:t>
            </a:r>
            <a:r>
              <a:rPr lang="en-US" sz="1600" dirty="0" err="1">
                <a:solidFill>
                  <a:srgbClr val="F4F7FA"/>
                </a:solidFill>
                <a:latin typeface="Aptos" panose="020B0004020202020204" pitchFamily="34" charset="0"/>
              </a:rPr>
              <a:t>matrice</a:t>
            </a:r>
            <a:r>
              <a:rPr lang="en-US" sz="1600" dirty="0">
                <a:solidFill>
                  <a:srgbClr val="F4F7FA"/>
                </a:solidFill>
                <a:latin typeface="Aptos" panose="020B0004020202020204" pitchFamily="34" charset="0"/>
              </a:rPr>
              <a:t> de </a:t>
            </a:r>
            <a:r>
              <a:rPr lang="en-US" sz="1600" dirty="0" err="1">
                <a:solidFill>
                  <a:srgbClr val="F4F7FA"/>
                </a:solidFill>
                <a:latin typeface="Aptos" panose="020B0004020202020204" pitchFamily="34" charset="0"/>
              </a:rPr>
              <a:t>măsurare</a:t>
            </a:r>
            <a:r>
              <a:rPr lang="en-US" sz="1600" dirty="0">
                <a:solidFill>
                  <a:srgbClr val="F4F7FA"/>
                </a:solidFill>
                <a:latin typeface="Aptos" panose="020B0004020202020204" pitchFamily="34" charset="0"/>
              </a:rPr>
              <a:t> • </a:t>
            </a:r>
            <a:r>
              <a:rPr lang="el-GR" sz="1600" dirty="0">
                <a:solidFill>
                  <a:srgbClr val="F4F7FA"/>
                </a:solidFill>
                <a:latin typeface="Aptos" panose="020B0004020202020204" pitchFamily="34" charset="0"/>
              </a:rPr>
              <a:t>Ψ: </a:t>
            </a:r>
            <a:r>
              <a:rPr lang="en-US" sz="1600" dirty="0" err="1">
                <a:solidFill>
                  <a:srgbClr val="F4F7FA"/>
                </a:solidFill>
                <a:latin typeface="Aptos" panose="020B0004020202020204" pitchFamily="34" charset="0"/>
              </a:rPr>
              <a:t>bază</a:t>
            </a:r>
            <a:r>
              <a:rPr lang="en-US" sz="1600" dirty="0">
                <a:solidFill>
                  <a:srgbClr val="F4F7FA"/>
                </a:solidFill>
                <a:latin typeface="Aptos" panose="020B0004020202020204" pitchFamily="34" charset="0"/>
              </a:rPr>
              <a:t> DCT/wavelet • </a:t>
            </a:r>
            <a:r>
              <a:rPr lang="el-GR" sz="1600" dirty="0">
                <a:solidFill>
                  <a:srgbClr val="F4F7FA"/>
                </a:solidFill>
                <a:latin typeface="Aptos" panose="020B0004020202020204" pitchFamily="34" charset="0"/>
              </a:rPr>
              <a:t>α: </a:t>
            </a:r>
            <a:r>
              <a:rPr lang="en-US" sz="1600" dirty="0" err="1">
                <a:solidFill>
                  <a:srgbClr val="F4F7FA"/>
                </a:solidFill>
                <a:latin typeface="Aptos" panose="020B0004020202020204" pitchFamily="34" charset="0"/>
              </a:rPr>
              <a:t>coeficienți</a:t>
            </a:r>
            <a:r>
              <a:rPr lang="en-US" sz="1600" dirty="0">
                <a:solidFill>
                  <a:srgbClr val="F4F7FA"/>
                </a:solidFill>
                <a:latin typeface="Aptos" panose="020B0004020202020204" pitchFamily="34" charset="0"/>
              </a:rPr>
              <a:t> </a:t>
            </a:r>
            <a:r>
              <a:rPr lang="en-US" sz="1600" dirty="0" err="1">
                <a:solidFill>
                  <a:srgbClr val="F4F7FA"/>
                </a:solidFill>
                <a:latin typeface="Aptos" panose="020B0004020202020204" pitchFamily="34" charset="0"/>
              </a:rPr>
              <a:t>rari</a:t>
            </a:r>
            <a:r>
              <a:rPr lang="en-US" sz="1600" dirty="0">
                <a:solidFill>
                  <a:srgbClr val="F4F7FA"/>
                </a:solidFill>
                <a:latin typeface="Aptos" panose="020B0004020202020204" pitchFamily="34" charset="0"/>
              </a:rPr>
              <a:t>; x = </a:t>
            </a:r>
            <a:r>
              <a:rPr lang="el-GR" sz="1600" dirty="0">
                <a:solidFill>
                  <a:srgbClr val="F4F7FA"/>
                </a:solidFill>
                <a:latin typeface="Aptos" panose="020B0004020202020204" pitchFamily="34" charset="0"/>
              </a:rPr>
              <a:t>Ψα</a:t>
            </a:r>
            <a:endParaRPr lang="en-US" sz="1600" dirty="0">
              <a:solidFill>
                <a:srgbClr val="F4F7FA"/>
              </a:solidFill>
              <a:latin typeface="Aptos" panose="020B00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019D1-F15D-16B3-4643-4979EFE02424}"/>
              </a:ext>
            </a:extLst>
          </p:cNvPr>
          <p:cNvSpPr txBox="1"/>
          <p:nvPr/>
        </p:nvSpPr>
        <p:spPr>
          <a:xfrm>
            <a:off x="660400" y="393700"/>
            <a:ext cx="8605946" cy="430887"/>
          </a:xfrm>
          <a:prstGeom prst="rect">
            <a:avLst/>
          </a:prstGeom>
          <a:noFill/>
        </p:spPr>
        <p:txBody>
          <a:bodyPr vert="horz" wrap="none" lIns="0" tIns="0" rIns="0" bIns="0" rtlCol="0">
            <a:spAutoFit/>
          </a:bodyPr>
          <a:lstStyle/>
          <a:p>
            <a:r>
              <a:rPr lang="it-IT" sz="2800" b="1">
                <a:solidFill>
                  <a:srgbClr val="F4F7FB"/>
                </a:solidFill>
                <a:latin typeface="Aptos Display" panose="020F0502020204030204" pitchFamily="34" charset="0"/>
              </a:rPr>
              <a:t>Eșantionarea compresivă: măsurare și reprezentare rară</a:t>
            </a:r>
            <a:endParaRPr lang="en-US" sz="2800" b="1">
              <a:solidFill>
                <a:srgbClr val="F4F7FB"/>
              </a:solidFill>
              <a:latin typeface="Aptos Display" panose="020F0502020204030204" pitchFamily="34" charset="0"/>
            </a:endParaRPr>
          </a:p>
        </p:txBody>
      </p:sp>
      <p:sp>
        <p:nvSpPr>
          <p:cNvPr id="3" name="TextBox 2">
            <a:extLst>
              <a:ext uri="{FF2B5EF4-FFF2-40B4-BE49-F238E27FC236}">
                <a16:creationId xmlns:a16="http://schemas.microsoft.com/office/drawing/2014/main" id="{7748DBBE-F693-5662-3C09-3EDE903494F9}"/>
              </a:ext>
            </a:extLst>
          </p:cNvPr>
          <p:cNvSpPr txBox="1"/>
          <p:nvPr/>
        </p:nvSpPr>
        <p:spPr>
          <a:xfrm>
            <a:off x="685800" y="965200"/>
            <a:ext cx="5053756" cy="200055"/>
          </a:xfrm>
          <a:prstGeom prst="rect">
            <a:avLst/>
          </a:prstGeom>
          <a:noFill/>
        </p:spPr>
        <p:txBody>
          <a:bodyPr vert="horz" wrap="none" lIns="0" tIns="0" rIns="0" bIns="0" rtlCol="0">
            <a:spAutoFit/>
          </a:bodyPr>
          <a:lstStyle/>
          <a:p>
            <a:r>
              <a:rPr lang="en-US" sz="1300">
                <a:solidFill>
                  <a:srgbClr val="B9C9DB"/>
                </a:solidFill>
                <a:latin typeface="Aptos" panose="020B0004020202020204" pitchFamily="34" charset="0"/>
              </a:rPr>
              <a:t>Aceeași schemă din imagine, redesenată pentru a fi lizibilă și editabilă.</a:t>
            </a:r>
          </a:p>
        </p:txBody>
      </p:sp>
      <p:sp>
        <p:nvSpPr>
          <p:cNvPr id="4" name="Rectangle 3">
            <a:extLst>
              <a:ext uri="{FF2B5EF4-FFF2-40B4-BE49-F238E27FC236}">
                <a16:creationId xmlns:a16="http://schemas.microsoft.com/office/drawing/2014/main" id="{C3784692-E2F4-FF09-3719-C933B87CC226}"/>
              </a:ext>
            </a:extLst>
          </p:cNvPr>
          <p:cNvSpPr/>
          <p:nvPr/>
        </p:nvSpPr>
        <p:spPr>
          <a:xfrm>
            <a:off x="660400" y="1384300"/>
            <a:ext cx="10871200" cy="12700"/>
          </a:xfrm>
          <a:prstGeom prst="rect">
            <a:avLst/>
          </a:prstGeom>
          <a:solidFill>
            <a:srgbClr val="3447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D1383CC-632B-EA3B-A672-0C6A0A03E825}"/>
              </a:ext>
            </a:extLst>
          </p:cNvPr>
          <p:cNvSpPr txBox="1"/>
          <p:nvPr/>
        </p:nvSpPr>
        <p:spPr>
          <a:xfrm>
            <a:off x="3022600" y="1511300"/>
            <a:ext cx="3375219" cy="569387"/>
          </a:xfrm>
          <a:prstGeom prst="rect">
            <a:avLst/>
          </a:prstGeom>
          <a:noFill/>
        </p:spPr>
        <p:txBody>
          <a:bodyPr vert="horz" wrap="none" lIns="0" tIns="0" rIns="0" bIns="0" rtlCol="0">
            <a:spAutoFit/>
          </a:bodyPr>
          <a:lstStyle/>
          <a:p>
            <a:pPr algn="ctr"/>
            <a:r>
              <a:rPr lang="en-US" sz="3700">
                <a:solidFill>
                  <a:srgbClr val="F4F7FB"/>
                </a:solidFill>
                <a:latin typeface="Cambria Math" panose="02040503050406030204" pitchFamily="18" charset="0"/>
              </a:rPr>
              <a:t>y  =  </a:t>
            </a:r>
            <a:r>
              <a:rPr lang="el-GR" sz="3700">
                <a:solidFill>
                  <a:srgbClr val="F4F7FB"/>
                </a:solidFill>
                <a:latin typeface="Cambria Math" panose="02040503050406030204" pitchFamily="18" charset="0"/>
              </a:rPr>
              <a:t>Φ</a:t>
            </a:r>
            <a:r>
              <a:rPr lang="en-US" sz="3700">
                <a:solidFill>
                  <a:srgbClr val="F4F7FB"/>
                </a:solidFill>
                <a:latin typeface="Cambria Math" panose="02040503050406030204" pitchFamily="18" charset="0"/>
              </a:rPr>
              <a:t>x  =  </a:t>
            </a:r>
            <a:r>
              <a:rPr lang="el-GR" sz="3700">
                <a:solidFill>
                  <a:srgbClr val="F4F7FB"/>
                </a:solidFill>
                <a:latin typeface="Cambria Math" panose="02040503050406030204" pitchFamily="18" charset="0"/>
              </a:rPr>
              <a:t>ΦΨα</a:t>
            </a:r>
            <a:endParaRPr lang="en-US" sz="3700">
              <a:solidFill>
                <a:srgbClr val="F4F7FB"/>
              </a:solidFill>
              <a:latin typeface="Cambria Math" panose="02040503050406030204" pitchFamily="18" charset="0"/>
            </a:endParaRPr>
          </a:p>
        </p:txBody>
      </p:sp>
      <p:sp>
        <p:nvSpPr>
          <p:cNvPr id="6" name="TextBox 5">
            <a:extLst>
              <a:ext uri="{FF2B5EF4-FFF2-40B4-BE49-F238E27FC236}">
                <a16:creationId xmlns:a16="http://schemas.microsoft.com/office/drawing/2014/main" id="{ABE133D9-63FD-2AF1-1A6A-E5B6487C5E7F}"/>
              </a:ext>
            </a:extLst>
          </p:cNvPr>
          <p:cNvSpPr txBox="1"/>
          <p:nvPr/>
        </p:nvSpPr>
        <p:spPr>
          <a:xfrm>
            <a:off x="1360498" y="2400300"/>
            <a:ext cx="161904" cy="384721"/>
          </a:xfrm>
          <a:prstGeom prst="rect">
            <a:avLst/>
          </a:prstGeom>
          <a:noFill/>
        </p:spPr>
        <p:txBody>
          <a:bodyPr vert="horz" wrap="none" lIns="0" tIns="0" rIns="0" bIns="0" rtlCol="0">
            <a:spAutoFit/>
          </a:bodyPr>
          <a:lstStyle/>
          <a:p>
            <a:pPr algn="ctr"/>
            <a:r>
              <a:rPr lang="en-US" sz="2500" b="1">
                <a:solidFill>
                  <a:srgbClr val="52D6D3"/>
                </a:solidFill>
                <a:latin typeface="Cambria Math" panose="02040503050406030204" pitchFamily="18" charset="0"/>
              </a:rPr>
              <a:t>y</a:t>
            </a:r>
          </a:p>
        </p:txBody>
      </p:sp>
      <p:sp>
        <p:nvSpPr>
          <p:cNvPr id="7" name="TextBox 6">
            <a:extLst>
              <a:ext uri="{FF2B5EF4-FFF2-40B4-BE49-F238E27FC236}">
                <a16:creationId xmlns:a16="http://schemas.microsoft.com/office/drawing/2014/main" id="{44E9D8B2-F9DE-48CA-6BB7-F9C41B27E3CC}"/>
              </a:ext>
            </a:extLst>
          </p:cNvPr>
          <p:cNvSpPr txBox="1"/>
          <p:nvPr/>
        </p:nvSpPr>
        <p:spPr>
          <a:xfrm>
            <a:off x="4027064" y="2400300"/>
            <a:ext cx="251672" cy="384721"/>
          </a:xfrm>
          <a:prstGeom prst="rect">
            <a:avLst/>
          </a:prstGeom>
          <a:noFill/>
        </p:spPr>
        <p:txBody>
          <a:bodyPr vert="horz" wrap="none" lIns="0" tIns="0" rIns="0" bIns="0" rtlCol="0">
            <a:spAutoFit/>
          </a:bodyPr>
          <a:lstStyle/>
          <a:p>
            <a:pPr algn="ctr"/>
            <a:r>
              <a:rPr lang="el-GR" sz="2500" b="1">
                <a:solidFill>
                  <a:srgbClr val="FFC870"/>
                </a:solidFill>
                <a:latin typeface="Cambria Math" panose="02040503050406030204" pitchFamily="18" charset="0"/>
              </a:rPr>
              <a:t>Φ</a:t>
            </a:r>
            <a:endParaRPr lang="en-US" sz="2500" b="1">
              <a:solidFill>
                <a:srgbClr val="FFC870"/>
              </a:solidFill>
              <a:latin typeface="Cambria Math" panose="02040503050406030204" pitchFamily="18" charset="0"/>
            </a:endParaRPr>
          </a:p>
        </p:txBody>
      </p:sp>
      <p:sp>
        <p:nvSpPr>
          <p:cNvPr id="8" name="TextBox 7">
            <a:extLst>
              <a:ext uri="{FF2B5EF4-FFF2-40B4-BE49-F238E27FC236}">
                <a16:creationId xmlns:a16="http://schemas.microsoft.com/office/drawing/2014/main" id="{08373E36-45F6-7ABE-A330-C7B6816DC9F5}"/>
              </a:ext>
            </a:extLst>
          </p:cNvPr>
          <p:cNvSpPr txBox="1"/>
          <p:nvPr/>
        </p:nvSpPr>
        <p:spPr>
          <a:xfrm>
            <a:off x="7240164" y="2400300"/>
            <a:ext cx="251672" cy="384721"/>
          </a:xfrm>
          <a:prstGeom prst="rect">
            <a:avLst/>
          </a:prstGeom>
          <a:noFill/>
        </p:spPr>
        <p:txBody>
          <a:bodyPr vert="horz" wrap="none" lIns="0" tIns="0" rIns="0" bIns="0" rtlCol="0">
            <a:spAutoFit/>
          </a:bodyPr>
          <a:lstStyle/>
          <a:p>
            <a:pPr algn="ctr"/>
            <a:r>
              <a:rPr lang="el-GR" sz="2500" b="1">
                <a:solidFill>
                  <a:srgbClr val="80E2B0"/>
                </a:solidFill>
                <a:latin typeface="Cambria Math" panose="02040503050406030204" pitchFamily="18" charset="0"/>
              </a:rPr>
              <a:t>Ψ</a:t>
            </a:r>
            <a:endParaRPr lang="en-US" sz="2500" b="1">
              <a:solidFill>
                <a:srgbClr val="80E2B0"/>
              </a:solidFill>
              <a:latin typeface="Cambria Math" panose="02040503050406030204" pitchFamily="18" charset="0"/>
            </a:endParaRPr>
          </a:p>
        </p:txBody>
      </p:sp>
      <p:sp>
        <p:nvSpPr>
          <p:cNvPr id="9" name="TextBox 8">
            <a:extLst>
              <a:ext uri="{FF2B5EF4-FFF2-40B4-BE49-F238E27FC236}">
                <a16:creationId xmlns:a16="http://schemas.microsoft.com/office/drawing/2014/main" id="{7AEAD064-E1D5-666B-F602-2F85FADEC818}"/>
              </a:ext>
            </a:extLst>
          </p:cNvPr>
          <p:cNvSpPr txBox="1"/>
          <p:nvPr/>
        </p:nvSpPr>
        <p:spPr>
          <a:xfrm>
            <a:off x="10264677" y="2400300"/>
            <a:ext cx="184346" cy="384721"/>
          </a:xfrm>
          <a:prstGeom prst="rect">
            <a:avLst/>
          </a:prstGeom>
          <a:noFill/>
        </p:spPr>
        <p:txBody>
          <a:bodyPr vert="horz" wrap="none" lIns="0" tIns="0" rIns="0" bIns="0" rtlCol="0">
            <a:spAutoFit/>
          </a:bodyPr>
          <a:lstStyle/>
          <a:p>
            <a:pPr algn="ctr"/>
            <a:r>
              <a:rPr lang="el-GR" sz="2500" b="1">
                <a:solidFill>
                  <a:srgbClr val="52D6D3"/>
                </a:solidFill>
                <a:latin typeface="Cambria Math" panose="02040503050406030204" pitchFamily="18" charset="0"/>
              </a:rPr>
              <a:t>α</a:t>
            </a:r>
            <a:endParaRPr lang="en-US" sz="2500" b="1">
              <a:solidFill>
                <a:srgbClr val="52D6D3"/>
              </a:solidFill>
              <a:latin typeface="Cambria Math" panose="02040503050406030204" pitchFamily="18" charset="0"/>
            </a:endParaRPr>
          </a:p>
        </p:txBody>
      </p:sp>
      <p:sp>
        <p:nvSpPr>
          <p:cNvPr id="10" name="Rectangle: Rounded Corners 9">
            <a:extLst>
              <a:ext uri="{FF2B5EF4-FFF2-40B4-BE49-F238E27FC236}">
                <a16:creationId xmlns:a16="http://schemas.microsoft.com/office/drawing/2014/main" id="{6AB2C1F3-3385-D39F-785C-6FB39AFB5894}"/>
              </a:ext>
            </a:extLst>
          </p:cNvPr>
          <p:cNvSpPr/>
          <p:nvPr/>
        </p:nvSpPr>
        <p:spPr>
          <a:xfrm>
            <a:off x="863600" y="2819400"/>
            <a:ext cx="1155700" cy="2298700"/>
          </a:xfrm>
          <a:prstGeom prst="roundRect">
            <a:avLst/>
          </a:prstGeom>
          <a:solidFill>
            <a:srgbClr val="17253B"/>
          </a:solidFill>
          <a:ln w="10160">
            <a:solidFill>
              <a:srgbClr val="3447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CC6E9CF6-DF0D-02DB-FABC-BD9E3ECEC5CA}"/>
              </a:ext>
            </a:extLst>
          </p:cNvPr>
          <p:cNvSpPr/>
          <p:nvPr/>
        </p:nvSpPr>
        <p:spPr>
          <a:xfrm>
            <a:off x="3048000" y="2819400"/>
            <a:ext cx="2209800" cy="2298700"/>
          </a:xfrm>
          <a:prstGeom prst="roundRect">
            <a:avLst/>
          </a:prstGeom>
          <a:solidFill>
            <a:srgbClr val="17253B"/>
          </a:solidFill>
          <a:ln w="10160">
            <a:solidFill>
              <a:srgbClr val="3447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81F0C883-81C8-35B5-B48A-E599E4930707}"/>
              </a:ext>
            </a:extLst>
          </p:cNvPr>
          <p:cNvSpPr/>
          <p:nvPr/>
        </p:nvSpPr>
        <p:spPr>
          <a:xfrm>
            <a:off x="6261100" y="2819400"/>
            <a:ext cx="2209800" cy="2298700"/>
          </a:xfrm>
          <a:prstGeom prst="roundRect">
            <a:avLst/>
          </a:prstGeom>
          <a:solidFill>
            <a:srgbClr val="17253B"/>
          </a:solidFill>
          <a:ln w="10160">
            <a:solidFill>
              <a:srgbClr val="3447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15976706-14B6-8613-E18C-7484C22C3B5A}"/>
              </a:ext>
            </a:extLst>
          </p:cNvPr>
          <p:cNvSpPr/>
          <p:nvPr/>
        </p:nvSpPr>
        <p:spPr>
          <a:xfrm>
            <a:off x="9740900" y="2819400"/>
            <a:ext cx="1231900" cy="2298700"/>
          </a:xfrm>
          <a:prstGeom prst="roundRect">
            <a:avLst/>
          </a:prstGeom>
          <a:solidFill>
            <a:srgbClr val="17253B"/>
          </a:solidFill>
          <a:ln w="10160">
            <a:solidFill>
              <a:srgbClr val="3447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47BD12-8B9D-325D-0DD4-04C8570A0014}"/>
              </a:ext>
            </a:extLst>
          </p:cNvPr>
          <p:cNvSpPr/>
          <p:nvPr/>
        </p:nvSpPr>
        <p:spPr>
          <a:xfrm>
            <a:off x="1376680" y="3086735"/>
            <a:ext cx="129540" cy="12954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C2FEA2C-14F4-0445-B0FE-94B0B5C3C597}"/>
              </a:ext>
            </a:extLst>
          </p:cNvPr>
          <p:cNvSpPr/>
          <p:nvPr/>
        </p:nvSpPr>
        <p:spPr>
          <a:xfrm>
            <a:off x="1376680" y="3235325"/>
            <a:ext cx="129540" cy="12954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4D6CE7E-9ED2-D454-EF59-A6A305FDB55C}"/>
              </a:ext>
            </a:extLst>
          </p:cNvPr>
          <p:cNvSpPr/>
          <p:nvPr/>
        </p:nvSpPr>
        <p:spPr>
          <a:xfrm>
            <a:off x="1376680" y="3383915"/>
            <a:ext cx="129540" cy="12954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9CA1C8F-C6C7-F074-8456-4D9105F8F444}"/>
              </a:ext>
            </a:extLst>
          </p:cNvPr>
          <p:cNvSpPr/>
          <p:nvPr/>
        </p:nvSpPr>
        <p:spPr>
          <a:xfrm>
            <a:off x="1376680" y="3532505"/>
            <a:ext cx="129540" cy="12954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6F25E8E-0B04-0E8E-8446-A071C103265A}"/>
              </a:ext>
            </a:extLst>
          </p:cNvPr>
          <p:cNvSpPr/>
          <p:nvPr/>
        </p:nvSpPr>
        <p:spPr>
          <a:xfrm>
            <a:off x="1376680" y="3681095"/>
            <a:ext cx="129540" cy="12954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A7687CF-DED1-FF2A-6F16-E7E90864728F}"/>
              </a:ext>
            </a:extLst>
          </p:cNvPr>
          <p:cNvSpPr/>
          <p:nvPr/>
        </p:nvSpPr>
        <p:spPr>
          <a:xfrm>
            <a:off x="1376680" y="3829685"/>
            <a:ext cx="129540" cy="12954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818A69E-4673-80C8-187F-775AD59DC25F}"/>
              </a:ext>
            </a:extLst>
          </p:cNvPr>
          <p:cNvSpPr/>
          <p:nvPr/>
        </p:nvSpPr>
        <p:spPr>
          <a:xfrm>
            <a:off x="1376680" y="3978275"/>
            <a:ext cx="129540" cy="12954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C2893BC-202F-8E68-0C07-1637C32E0322}"/>
              </a:ext>
            </a:extLst>
          </p:cNvPr>
          <p:cNvSpPr/>
          <p:nvPr/>
        </p:nvSpPr>
        <p:spPr>
          <a:xfrm>
            <a:off x="1376680" y="4126865"/>
            <a:ext cx="129540" cy="12954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F754958-9D95-15BA-58F0-B0D4C583066E}"/>
              </a:ext>
            </a:extLst>
          </p:cNvPr>
          <p:cNvSpPr/>
          <p:nvPr/>
        </p:nvSpPr>
        <p:spPr>
          <a:xfrm>
            <a:off x="1376680" y="4275455"/>
            <a:ext cx="129540" cy="12954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ACADB1A-A04F-BC47-38ED-A067925175A9}"/>
              </a:ext>
            </a:extLst>
          </p:cNvPr>
          <p:cNvSpPr/>
          <p:nvPr/>
        </p:nvSpPr>
        <p:spPr>
          <a:xfrm>
            <a:off x="1376680" y="4424045"/>
            <a:ext cx="129540" cy="12954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5081D51-5560-0D7C-DA21-1AAD09890F5E}"/>
              </a:ext>
            </a:extLst>
          </p:cNvPr>
          <p:cNvSpPr/>
          <p:nvPr/>
        </p:nvSpPr>
        <p:spPr>
          <a:xfrm>
            <a:off x="1376680" y="4572635"/>
            <a:ext cx="129540" cy="12954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19A7A3E-6BA3-53B7-B31A-7986EB118A81}"/>
              </a:ext>
            </a:extLst>
          </p:cNvPr>
          <p:cNvSpPr/>
          <p:nvPr/>
        </p:nvSpPr>
        <p:spPr>
          <a:xfrm>
            <a:off x="1376680" y="4721225"/>
            <a:ext cx="129540" cy="12954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46198FB-1F20-F98A-A84D-7F77AB602FF8}"/>
              </a:ext>
            </a:extLst>
          </p:cNvPr>
          <p:cNvSpPr/>
          <p:nvPr/>
        </p:nvSpPr>
        <p:spPr>
          <a:xfrm>
            <a:off x="3136265" y="320865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D060ACE-B17D-F4F5-5111-7AE16F2C3FDA}"/>
              </a:ext>
            </a:extLst>
          </p:cNvPr>
          <p:cNvSpPr/>
          <p:nvPr/>
        </p:nvSpPr>
        <p:spPr>
          <a:xfrm>
            <a:off x="3264535" y="320865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9BC7582-536D-0AAD-2DB2-FD43A9BBC415}"/>
              </a:ext>
            </a:extLst>
          </p:cNvPr>
          <p:cNvSpPr/>
          <p:nvPr/>
        </p:nvSpPr>
        <p:spPr>
          <a:xfrm>
            <a:off x="3392805" y="320865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E70B52F0-EC6D-A0BD-5ECF-3D9436F409E6}"/>
              </a:ext>
            </a:extLst>
          </p:cNvPr>
          <p:cNvSpPr/>
          <p:nvPr/>
        </p:nvSpPr>
        <p:spPr>
          <a:xfrm>
            <a:off x="3521075" y="320865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995267F-4333-2F2E-E661-85615F6F3EB3}"/>
              </a:ext>
            </a:extLst>
          </p:cNvPr>
          <p:cNvSpPr/>
          <p:nvPr/>
        </p:nvSpPr>
        <p:spPr>
          <a:xfrm>
            <a:off x="3649345" y="320865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034518D-15D6-076B-1305-629A5B56A506}"/>
              </a:ext>
            </a:extLst>
          </p:cNvPr>
          <p:cNvSpPr/>
          <p:nvPr/>
        </p:nvSpPr>
        <p:spPr>
          <a:xfrm>
            <a:off x="3777615" y="320865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7B5E708E-B6DA-348B-402C-DEC82636C434}"/>
              </a:ext>
            </a:extLst>
          </p:cNvPr>
          <p:cNvSpPr/>
          <p:nvPr/>
        </p:nvSpPr>
        <p:spPr>
          <a:xfrm>
            <a:off x="3905885" y="320865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33419300-088D-AD8B-3C13-1DA50E37B631}"/>
              </a:ext>
            </a:extLst>
          </p:cNvPr>
          <p:cNvSpPr/>
          <p:nvPr/>
        </p:nvSpPr>
        <p:spPr>
          <a:xfrm>
            <a:off x="4034155" y="320865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EFC787D4-A9CF-ACBF-8AB1-64943AC419DE}"/>
              </a:ext>
            </a:extLst>
          </p:cNvPr>
          <p:cNvSpPr/>
          <p:nvPr/>
        </p:nvSpPr>
        <p:spPr>
          <a:xfrm>
            <a:off x="4162425" y="320865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9BFDB651-23D5-A73E-8C3B-F03C0B3ABB74}"/>
              </a:ext>
            </a:extLst>
          </p:cNvPr>
          <p:cNvSpPr/>
          <p:nvPr/>
        </p:nvSpPr>
        <p:spPr>
          <a:xfrm>
            <a:off x="4290695" y="320865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E7FBC409-BC1E-61E0-8007-AB8F51FC9CC8}"/>
              </a:ext>
            </a:extLst>
          </p:cNvPr>
          <p:cNvSpPr/>
          <p:nvPr/>
        </p:nvSpPr>
        <p:spPr>
          <a:xfrm>
            <a:off x="4418965" y="320865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4F0A9C9C-3D50-9A89-75F7-93341460C0F0}"/>
              </a:ext>
            </a:extLst>
          </p:cNvPr>
          <p:cNvSpPr/>
          <p:nvPr/>
        </p:nvSpPr>
        <p:spPr>
          <a:xfrm>
            <a:off x="4547235" y="320865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BBE4CD2-1866-D8D9-A9A3-AF56D7710CE8}"/>
              </a:ext>
            </a:extLst>
          </p:cNvPr>
          <p:cNvSpPr/>
          <p:nvPr/>
        </p:nvSpPr>
        <p:spPr>
          <a:xfrm>
            <a:off x="4675505" y="320865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B372FE4B-54AA-5939-CD90-A6078D180467}"/>
              </a:ext>
            </a:extLst>
          </p:cNvPr>
          <p:cNvSpPr/>
          <p:nvPr/>
        </p:nvSpPr>
        <p:spPr>
          <a:xfrm>
            <a:off x="4803775" y="320865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F23E82C-EF65-7281-5738-ABED6D713561}"/>
              </a:ext>
            </a:extLst>
          </p:cNvPr>
          <p:cNvSpPr/>
          <p:nvPr/>
        </p:nvSpPr>
        <p:spPr>
          <a:xfrm>
            <a:off x="4932045" y="320865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DA80B44-0745-1EAF-852C-E731E23FE99D}"/>
              </a:ext>
            </a:extLst>
          </p:cNvPr>
          <p:cNvSpPr/>
          <p:nvPr/>
        </p:nvSpPr>
        <p:spPr>
          <a:xfrm>
            <a:off x="5060315" y="320865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2DDA9DE3-881C-3AD3-ED42-D9B96C9AA424}"/>
              </a:ext>
            </a:extLst>
          </p:cNvPr>
          <p:cNvSpPr/>
          <p:nvPr/>
        </p:nvSpPr>
        <p:spPr>
          <a:xfrm>
            <a:off x="3136265" y="333692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34659279-2409-5423-9782-BD47ADAEF690}"/>
              </a:ext>
            </a:extLst>
          </p:cNvPr>
          <p:cNvSpPr/>
          <p:nvPr/>
        </p:nvSpPr>
        <p:spPr>
          <a:xfrm>
            <a:off x="3264535" y="333692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4FDB6FC7-5B3D-12E0-F6DA-D61299B22746}"/>
              </a:ext>
            </a:extLst>
          </p:cNvPr>
          <p:cNvSpPr/>
          <p:nvPr/>
        </p:nvSpPr>
        <p:spPr>
          <a:xfrm>
            <a:off x="3392805" y="333692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37AD266E-CEAF-BDA4-5EA6-03DCC0FF8295}"/>
              </a:ext>
            </a:extLst>
          </p:cNvPr>
          <p:cNvSpPr/>
          <p:nvPr/>
        </p:nvSpPr>
        <p:spPr>
          <a:xfrm>
            <a:off x="3521075" y="333692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C1D35A1-0A56-670A-AE6A-4CE9279962FC}"/>
              </a:ext>
            </a:extLst>
          </p:cNvPr>
          <p:cNvSpPr/>
          <p:nvPr/>
        </p:nvSpPr>
        <p:spPr>
          <a:xfrm>
            <a:off x="3649345" y="333692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A10481C8-A700-0689-EE23-D4372AE24556}"/>
              </a:ext>
            </a:extLst>
          </p:cNvPr>
          <p:cNvSpPr/>
          <p:nvPr/>
        </p:nvSpPr>
        <p:spPr>
          <a:xfrm>
            <a:off x="3777615" y="333692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FB62D093-5951-1D21-E38F-F4D22D300C82}"/>
              </a:ext>
            </a:extLst>
          </p:cNvPr>
          <p:cNvSpPr/>
          <p:nvPr/>
        </p:nvSpPr>
        <p:spPr>
          <a:xfrm>
            <a:off x="3905885" y="333692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80CD1A56-C0DA-6463-2453-8B24731FDEFA}"/>
              </a:ext>
            </a:extLst>
          </p:cNvPr>
          <p:cNvSpPr/>
          <p:nvPr/>
        </p:nvSpPr>
        <p:spPr>
          <a:xfrm>
            <a:off x="4034155" y="333692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BAF9C0BD-6BDE-F618-624A-41CB42545A76}"/>
              </a:ext>
            </a:extLst>
          </p:cNvPr>
          <p:cNvSpPr/>
          <p:nvPr/>
        </p:nvSpPr>
        <p:spPr>
          <a:xfrm>
            <a:off x="4162425" y="333692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9EBCE02F-85DE-7A2C-2C28-A3AF0DED96F8}"/>
              </a:ext>
            </a:extLst>
          </p:cNvPr>
          <p:cNvSpPr/>
          <p:nvPr/>
        </p:nvSpPr>
        <p:spPr>
          <a:xfrm>
            <a:off x="4290695" y="333692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70863B2D-27C9-E0C2-14AB-9E42613BD16C}"/>
              </a:ext>
            </a:extLst>
          </p:cNvPr>
          <p:cNvSpPr/>
          <p:nvPr/>
        </p:nvSpPr>
        <p:spPr>
          <a:xfrm>
            <a:off x="4418965" y="333692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1170A804-CF75-C54F-62D8-8FDB9F50CBEC}"/>
              </a:ext>
            </a:extLst>
          </p:cNvPr>
          <p:cNvSpPr/>
          <p:nvPr/>
        </p:nvSpPr>
        <p:spPr>
          <a:xfrm>
            <a:off x="4547235" y="333692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EFCDED7E-D330-32C5-443B-E34DED7CBABA}"/>
              </a:ext>
            </a:extLst>
          </p:cNvPr>
          <p:cNvSpPr/>
          <p:nvPr/>
        </p:nvSpPr>
        <p:spPr>
          <a:xfrm>
            <a:off x="4675505" y="333692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39CD9583-BDF8-8AF8-4F0B-68F0FC473620}"/>
              </a:ext>
            </a:extLst>
          </p:cNvPr>
          <p:cNvSpPr/>
          <p:nvPr/>
        </p:nvSpPr>
        <p:spPr>
          <a:xfrm>
            <a:off x="4803775" y="333692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329BDF7C-14FD-5CA8-BA94-27527CF9C3BE}"/>
              </a:ext>
            </a:extLst>
          </p:cNvPr>
          <p:cNvSpPr/>
          <p:nvPr/>
        </p:nvSpPr>
        <p:spPr>
          <a:xfrm>
            <a:off x="4932045" y="333692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60B3AACB-1526-43FF-C130-578CB6C0F03A}"/>
              </a:ext>
            </a:extLst>
          </p:cNvPr>
          <p:cNvSpPr/>
          <p:nvPr/>
        </p:nvSpPr>
        <p:spPr>
          <a:xfrm>
            <a:off x="5060315" y="333692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F5E2B981-98CB-8F47-AF7D-BE9B79BED12D}"/>
              </a:ext>
            </a:extLst>
          </p:cNvPr>
          <p:cNvSpPr/>
          <p:nvPr/>
        </p:nvSpPr>
        <p:spPr>
          <a:xfrm>
            <a:off x="3136265" y="346519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6E99B9F0-FF93-AAE3-F4C4-6839521FEFDF}"/>
              </a:ext>
            </a:extLst>
          </p:cNvPr>
          <p:cNvSpPr/>
          <p:nvPr/>
        </p:nvSpPr>
        <p:spPr>
          <a:xfrm>
            <a:off x="3264535" y="346519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2418AFDC-333C-36D4-B218-EC9941EC51D3}"/>
              </a:ext>
            </a:extLst>
          </p:cNvPr>
          <p:cNvSpPr/>
          <p:nvPr/>
        </p:nvSpPr>
        <p:spPr>
          <a:xfrm>
            <a:off x="3392805" y="346519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CB421ABA-5C98-11EA-98FE-679B1D9A0C6B}"/>
              </a:ext>
            </a:extLst>
          </p:cNvPr>
          <p:cNvSpPr/>
          <p:nvPr/>
        </p:nvSpPr>
        <p:spPr>
          <a:xfrm>
            <a:off x="3521075" y="346519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097D554F-B374-0C61-84EB-A0233FF0C4B1}"/>
              </a:ext>
            </a:extLst>
          </p:cNvPr>
          <p:cNvSpPr/>
          <p:nvPr/>
        </p:nvSpPr>
        <p:spPr>
          <a:xfrm>
            <a:off x="3649345" y="346519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CCE4CBCB-E1E5-3D26-BBFA-F5B41C145321}"/>
              </a:ext>
            </a:extLst>
          </p:cNvPr>
          <p:cNvSpPr/>
          <p:nvPr/>
        </p:nvSpPr>
        <p:spPr>
          <a:xfrm>
            <a:off x="3777615" y="346519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71321301-F847-32DC-FA41-891F1F244D0E}"/>
              </a:ext>
            </a:extLst>
          </p:cNvPr>
          <p:cNvSpPr/>
          <p:nvPr/>
        </p:nvSpPr>
        <p:spPr>
          <a:xfrm>
            <a:off x="3905885" y="346519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9F47844B-DB0B-5249-D43E-966F9AD1BDCA}"/>
              </a:ext>
            </a:extLst>
          </p:cNvPr>
          <p:cNvSpPr/>
          <p:nvPr/>
        </p:nvSpPr>
        <p:spPr>
          <a:xfrm>
            <a:off x="4034155" y="346519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1B21A394-CE65-6DB3-714D-395548954BC7}"/>
              </a:ext>
            </a:extLst>
          </p:cNvPr>
          <p:cNvSpPr/>
          <p:nvPr/>
        </p:nvSpPr>
        <p:spPr>
          <a:xfrm>
            <a:off x="4162425" y="346519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08472D53-BC92-604A-B5F8-DDDE584F2130}"/>
              </a:ext>
            </a:extLst>
          </p:cNvPr>
          <p:cNvSpPr/>
          <p:nvPr/>
        </p:nvSpPr>
        <p:spPr>
          <a:xfrm>
            <a:off x="4290695" y="346519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4339B96B-34EC-5662-6428-291C6D2E3F76}"/>
              </a:ext>
            </a:extLst>
          </p:cNvPr>
          <p:cNvSpPr/>
          <p:nvPr/>
        </p:nvSpPr>
        <p:spPr>
          <a:xfrm>
            <a:off x="4418965" y="346519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F4A24AAF-E70A-AE3B-0014-3651B225BBB5}"/>
              </a:ext>
            </a:extLst>
          </p:cNvPr>
          <p:cNvSpPr/>
          <p:nvPr/>
        </p:nvSpPr>
        <p:spPr>
          <a:xfrm>
            <a:off x="4547235" y="346519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FBD75D34-7DF1-DA0E-3337-DE30FDF6C2F8}"/>
              </a:ext>
            </a:extLst>
          </p:cNvPr>
          <p:cNvSpPr/>
          <p:nvPr/>
        </p:nvSpPr>
        <p:spPr>
          <a:xfrm>
            <a:off x="4675505" y="346519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613837E8-9FB6-BD61-E41D-09DA99E920EC}"/>
              </a:ext>
            </a:extLst>
          </p:cNvPr>
          <p:cNvSpPr/>
          <p:nvPr/>
        </p:nvSpPr>
        <p:spPr>
          <a:xfrm>
            <a:off x="4803775" y="346519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744EB3B2-AE86-831E-85ED-942A2BBAD552}"/>
              </a:ext>
            </a:extLst>
          </p:cNvPr>
          <p:cNvSpPr/>
          <p:nvPr/>
        </p:nvSpPr>
        <p:spPr>
          <a:xfrm>
            <a:off x="4932045" y="346519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FF87A168-CBDA-0A89-9289-33136B568858}"/>
              </a:ext>
            </a:extLst>
          </p:cNvPr>
          <p:cNvSpPr/>
          <p:nvPr/>
        </p:nvSpPr>
        <p:spPr>
          <a:xfrm>
            <a:off x="5060315" y="346519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8117F96C-69CB-21D0-E858-DDAF7377C64D}"/>
              </a:ext>
            </a:extLst>
          </p:cNvPr>
          <p:cNvSpPr/>
          <p:nvPr/>
        </p:nvSpPr>
        <p:spPr>
          <a:xfrm>
            <a:off x="3136265" y="359346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199B6CA2-11D7-E4D7-606B-60C65A8C168A}"/>
              </a:ext>
            </a:extLst>
          </p:cNvPr>
          <p:cNvSpPr/>
          <p:nvPr/>
        </p:nvSpPr>
        <p:spPr>
          <a:xfrm>
            <a:off x="3264535" y="359346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7C6363B4-4F93-A4A2-73E5-CA7FF2329BCE}"/>
              </a:ext>
            </a:extLst>
          </p:cNvPr>
          <p:cNvSpPr/>
          <p:nvPr/>
        </p:nvSpPr>
        <p:spPr>
          <a:xfrm>
            <a:off x="3392805" y="359346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88F0E0F5-D772-7969-487C-786475623FAD}"/>
              </a:ext>
            </a:extLst>
          </p:cNvPr>
          <p:cNvSpPr/>
          <p:nvPr/>
        </p:nvSpPr>
        <p:spPr>
          <a:xfrm>
            <a:off x="3521075" y="359346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87ADD0E5-EC5D-596E-D780-0299C8938D8A}"/>
              </a:ext>
            </a:extLst>
          </p:cNvPr>
          <p:cNvSpPr/>
          <p:nvPr/>
        </p:nvSpPr>
        <p:spPr>
          <a:xfrm>
            <a:off x="3649345" y="359346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CF0E7E86-909F-B8FB-0EAF-7191DE7F5870}"/>
              </a:ext>
            </a:extLst>
          </p:cNvPr>
          <p:cNvSpPr/>
          <p:nvPr/>
        </p:nvSpPr>
        <p:spPr>
          <a:xfrm>
            <a:off x="3777615" y="359346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D769BC78-2934-B2EF-9BB9-AB372AF53B63}"/>
              </a:ext>
            </a:extLst>
          </p:cNvPr>
          <p:cNvSpPr/>
          <p:nvPr/>
        </p:nvSpPr>
        <p:spPr>
          <a:xfrm>
            <a:off x="3905885" y="359346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0B2F4A30-4634-ACE4-18EB-F708F902105F}"/>
              </a:ext>
            </a:extLst>
          </p:cNvPr>
          <p:cNvSpPr/>
          <p:nvPr/>
        </p:nvSpPr>
        <p:spPr>
          <a:xfrm>
            <a:off x="4034155" y="359346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604E3A00-3EEE-DC11-A8C2-6507D17B00B0}"/>
              </a:ext>
            </a:extLst>
          </p:cNvPr>
          <p:cNvSpPr/>
          <p:nvPr/>
        </p:nvSpPr>
        <p:spPr>
          <a:xfrm>
            <a:off x="4162425" y="359346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2B441AA3-EFD9-39EA-DFD7-F577B137291E}"/>
              </a:ext>
            </a:extLst>
          </p:cNvPr>
          <p:cNvSpPr/>
          <p:nvPr/>
        </p:nvSpPr>
        <p:spPr>
          <a:xfrm>
            <a:off x="4290695" y="359346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CC99F2B0-9E91-4421-FAC0-BE2D5F451F90}"/>
              </a:ext>
            </a:extLst>
          </p:cNvPr>
          <p:cNvSpPr/>
          <p:nvPr/>
        </p:nvSpPr>
        <p:spPr>
          <a:xfrm>
            <a:off x="4418965" y="359346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A7AA377A-96E5-DBDF-1268-6D816843600D}"/>
              </a:ext>
            </a:extLst>
          </p:cNvPr>
          <p:cNvSpPr/>
          <p:nvPr/>
        </p:nvSpPr>
        <p:spPr>
          <a:xfrm>
            <a:off x="4547235" y="359346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3F547ECD-31C4-99BE-45E8-F7455F6ABD1C}"/>
              </a:ext>
            </a:extLst>
          </p:cNvPr>
          <p:cNvSpPr/>
          <p:nvPr/>
        </p:nvSpPr>
        <p:spPr>
          <a:xfrm>
            <a:off x="4675505" y="359346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94B0E737-4D91-55E0-4584-17CB1539CBD2}"/>
              </a:ext>
            </a:extLst>
          </p:cNvPr>
          <p:cNvSpPr/>
          <p:nvPr/>
        </p:nvSpPr>
        <p:spPr>
          <a:xfrm>
            <a:off x="4803775" y="359346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60318DBF-853A-8041-E0D5-07062912A4F8}"/>
              </a:ext>
            </a:extLst>
          </p:cNvPr>
          <p:cNvSpPr/>
          <p:nvPr/>
        </p:nvSpPr>
        <p:spPr>
          <a:xfrm>
            <a:off x="4932045" y="359346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FF887F24-1793-0987-3CB1-D29A38CA3A58}"/>
              </a:ext>
            </a:extLst>
          </p:cNvPr>
          <p:cNvSpPr/>
          <p:nvPr/>
        </p:nvSpPr>
        <p:spPr>
          <a:xfrm>
            <a:off x="5060315" y="359346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B72FF157-E75B-8EA1-4DF7-7A839ACC8D83}"/>
              </a:ext>
            </a:extLst>
          </p:cNvPr>
          <p:cNvSpPr/>
          <p:nvPr/>
        </p:nvSpPr>
        <p:spPr>
          <a:xfrm>
            <a:off x="3136265" y="372173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F88EDEEE-D661-9525-78C4-64CC84CDD205}"/>
              </a:ext>
            </a:extLst>
          </p:cNvPr>
          <p:cNvSpPr/>
          <p:nvPr/>
        </p:nvSpPr>
        <p:spPr>
          <a:xfrm>
            <a:off x="3264535" y="372173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7299C94C-901C-9358-672B-7EC61B5C69E4}"/>
              </a:ext>
            </a:extLst>
          </p:cNvPr>
          <p:cNvSpPr/>
          <p:nvPr/>
        </p:nvSpPr>
        <p:spPr>
          <a:xfrm>
            <a:off x="3392805" y="372173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4D543A73-DDBA-436D-FD3F-F8B394AE1C38}"/>
              </a:ext>
            </a:extLst>
          </p:cNvPr>
          <p:cNvSpPr/>
          <p:nvPr/>
        </p:nvSpPr>
        <p:spPr>
          <a:xfrm>
            <a:off x="3521075" y="372173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B071412B-3911-2510-C327-BF764243A6F1}"/>
              </a:ext>
            </a:extLst>
          </p:cNvPr>
          <p:cNvSpPr/>
          <p:nvPr/>
        </p:nvSpPr>
        <p:spPr>
          <a:xfrm>
            <a:off x="3649345" y="372173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2527A967-5235-6FE2-77A8-C595CFBD0BAF}"/>
              </a:ext>
            </a:extLst>
          </p:cNvPr>
          <p:cNvSpPr/>
          <p:nvPr/>
        </p:nvSpPr>
        <p:spPr>
          <a:xfrm>
            <a:off x="3777615" y="372173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F6B3BCF2-E344-E202-8BDA-5B8B1F234E81}"/>
              </a:ext>
            </a:extLst>
          </p:cNvPr>
          <p:cNvSpPr/>
          <p:nvPr/>
        </p:nvSpPr>
        <p:spPr>
          <a:xfrm>
            <a:off x="3905885" y="372173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D5CC4EB8-6306-F5B7-9062-1A2816B66AC2}"/>
              </a:ext>
            </a:extLst>
          </p:cNvPr>
          <p:cNvSpPr/>
          <p:nvPr/>
        </p:nvSpPr>
        <p:spPr>
          <a:xfrm>
            <a:off x="4034155" y="372173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926E8DA5-82F4-5E59-A836-2921D4CC1931}"/>
              </a:ext>
            </a:extLst>
          </p:cNvPr>
          <p:cNvSpPr/>
          <p:nvPr/>
        </p:nvSpPr>
        <p:spPr>
          <a:xfrm>
            <a:off x="4162425" y="372173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03643493-C3B8-9387-3B48-1BAD8726630B}"/>
              </a:ext>
            </a:extLst>
          </p:cNvPr>
          <p:cNvSpPr/>
          <p:nvPr/>
        </p:nvSpPr>
        <p:spPr>
          <a:xfrm>
            <a:off x="4290695" y="372173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DD3847B6-382A-285E-8AA7-F18961BE9EAF}"/>
              </a:ext>
            </a:extLst>
          </p:cNvPr>
          <p:cNvSpPr/>
          <p:nvPr/>
        </p:nvSpPr>
        <p:spPr>
          <a:xfrm>
            <a:off x="4418965" y="372173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68BFE47B-2E5A-5529-8DBF-2A8CEEF15185}"/>
              </a:ext>
            </a:extLst>
          </p:cNvPr>
          <p:cNvSpPr/>
          <p:nvPr/>
        </p:nvSpPr>
        <p:spPr>
          <a:xfrm>
            <a:off x="4547235" y="372173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CE129BD5-3F7A-4A1B-BFBA-7EF6085E9BE4}"/>
              </a:ext>
            </a:extLst>
          </p:cNvPr>
          <p:cNvSpPr/>
          <p:nvPr/>
        </p:nvSpPr>
        <p:spPr>
          <a:xfrm>
            <a:off x="4675505" y="372173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1775FB71-743A-2CB4-277F-DF96AB1CCAFB}"/>
              </a:ext>
            </a:extLst>
          </p:cNvPr>
          <p:cNvSpPr/>
          <p:nvPr/>
        </p:nvSpPr>
        <p:spPr>
          <a:xfrm>
            <a:off x="4803775" y="372173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4F7F287E-BF4F-9EBF-6844-5E6A4FA88928}"/>
              </a:ext>
            </a:extLst>
          </p:cNvPr>
          <p:cNvSpPr/>
          <p:nvPr/>
        </p:nvSpPr>
        <p:spPr>
          <a:xfrm>
            <a:off x="4932045" y="372173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CD5014F2-9D07-CADD-3739-4B7636FCF24D}"/>
              </a:ext>
            </a:extLst>
          </p:cNvPr>
          <p:cNvSpPr/>
          <p:nvPr/>
        </p:nvSpPr>
        <p:spPr>
          <a:xfrm>
            <a:off x="5060315" y="372173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D0B984AD-7691-14A9-9122-395895809451}"/>
              </a:ext>
            </a:extLst>
          </p:cNvPr>
          <p:cNvSpPr/>
          <p:nvPr/>
        </p:nvSpPr>
        <p:spPr>
          <a:xfrm>
            <a:off x="3136265" y="385000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F96081DE-FD7D-628D-B1CE-E2288DFB1D3C}"/>
              </a:ext>
            </a:extLst>
          </p:cNvPr>
          <p:cNvSpPr/>
          <p:nvPr/>
        </p:nvSpPr>
        <p:spPr>
          <a:xfrm>
            <a:off x="3264535" y="385000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A23F5913-2799-11B2-A004-037F64E27635}"/>
              </a:ext>
            </a:extLst>
          </p:cNvPr>
          <p:cNvSpPr/>
          <p:nvPr/>
        </p:nvSpPr>
        <p:spPr>
          <a:xfrm>
            <a:off x="3392805" y="385000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B4296DF3-DD7C-C582-E23A-6E190572A755}"/>
              </a:ext>
            </a:extLst>
          </p:cNvPr>
          <p:cNvSpPr/>
          <p:nvPr/>
        </p:nvSpPr>
        <p:spPr>
          <a:xfrm>
            <a:off x="3521075" y="385000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E3D86D6C-BA96-E327-BF85-CBEFD9A20A68}"/>
              </a:ext>
            </a:extLst>
          </p:cNvPr>
          <p:cNvSpPr/>
          <p:nvPr/>
        </p:nvSpPr>
        <p:spPr>
          <a:xfrm>
            <a:off x="3649345" y="385000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FCE7D3B0-CAC2-38BF-3DDA-183FCB204AFC}"/>
              </a:ext>
            </a:extLst>
          </p:cNvPr>
          <p:cNvSpPr/>
          <p:nvPr/>
        </p:nvSpPr>
        <p:spPr>
          <a:xfrm>
            <a:off x="3777615" y="385000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1740512F-AE0F-08C7-4486-EFDCB8EBA76D}"/>
              </a:ext>
            </a:extLst>
          </p:cNvPr>
          <p:cNvSpPr/>
          <p:nvPr/>
        </p:nvSpPr>
        <p:spPr>
          <a:xfrm>
            <a:off x="3905885" y="385000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9B2BE005-FEFF-6A19-2200-2E14213BF90A}"/>
              </a:ext>
            </a:extLst>
          </p:cNvPr>
          <p:cNvSpPr/>
          <p:nvPr/>
        </p:nvSpPr>
        <p:spPr>
          <a:xfrm>
            <a:off x="4034155" y="385000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24DD6988-205B-92D5-021A-99FFA894687D}"/>
              </a:ext>
            </a:extLst>
          </p:cNvPr>
          <p:cNvSpPr/>
          <p:nvPr/>
        </p:nvSpPr>
        <p:spPr>
          <a:xfrm>
            <a:off x="4162425" y="385000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7E48ECBA-A0D3-4E3F-9D9E-65DF49AE3C47}"/>
              </a:ext>
            </a:extLst>
          </p:cNvPr>
          <p:cNvSpPr/>
          <p:nvPr/>
        </p:nvSpPr>
        <p:spPr>
          <a:xfrm>
            <a:off x="4290695" y="385000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a:extLst>
              <a:ext uri="{FF2B5EF4-FFF2-40B4-BE49-F238E27FC236}">
                <a16:creationId xmlns:a16="http://schemas.microsoft.com/office/drawing/2014/main" id="{B84958BF-F594-5BE6-BDE9-C9C2188C8BBA}"/>
              </a:ext>
            </a:extLst>
          </p:cNvPr>
          <p:cNvSpPr/>
          <p:nvPr/>
        </p:nvSpPr>
        <p:spPr>
          <a:xfrm>
            <a:off x="4418965" y="385000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99E6C98F-7E07-A39E-E25E-F07385D2613B}"/>
              </a:ext>
            </a:extLst>
          </p:cNvPr>
          <p:cNvSpPr/>
          <p:nvPr/>
        </p:nvSpPr>
        <p:spPr>
          <a:xfrm>
            <a:off x="4547235" y="385000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132A7151-5E93-8BD7-1D95-6A7F2667CCF6}"/>
              </a:ext>
            </a:extLst>
          </p:cNvPr>
          <p:cNvSpPr/>
          <p:nvPr/>
        </p:nvSpPr>
        <p:spPr>
          <a:xfrm>
            <a:off x="4675505" y="385000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9355C9B5-6872-0D82-E7D9-2C68EEE90F4D}"/>
              </a:ext>
            </a:extLst>
          </p:cNvPr>
          <p:cNvSpPr/>
          <p:nvPr/>
        </p:nvSpPr>
        <p:spPr>
          <a:xfrm>
            <a:off x="4803775" y="385000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51C75978-6B17-C9E7-15BE-CA9A9017C28D}"/>
              </a:ext>
            </a:extLst>
          </p:cNvPr>
          <p:cNvSpPr/>
          <p:nvPr/>
        </p:nvSpPr>
        <p:spPr>
          <a:xfrm>
            <a:off x="4932045" y="385000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D22B1F51-7D31-F7AF-332A-88755080870B}"/>
              </a:ext>
            </a:extLst>
          </p:cNvPr>
          <p:cNvSpPr/>
          <p:nvPr/>
        </p:nvSpPr>
        <p:spPr>
          <a:xfrm>
            <a:off x="5060315" y="385000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20EC13EB-2117-70B8-AD0A-04D848BDFE60}"/>
              </a:ext>
            </a:extLst>
          </p:cNvPr>
          <p:cNvSpPr/>
          <p:nvPr/>
        </p:nvSpPr>
        <p:spPr>
          <a:xfrm>
            <a:off x="3136265" y="397827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8F0A0D6F-BC90-1C1C-D846-BB0949550208}"/>
              </a:ext>
            </a:extLst>
          </p:cNvPr>
          <p:cNvSpPr/>
          <p:nvPr/>
        </p:nvSpPr>
        <p:spPr>
          <a:xfrm>
            <a:off x="3264535" y="397827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24BB2FFB-33C9-B2E4-4F2E-B92B9FFDAA9E}"/>
              </a:ext>
            </a:extLst>
          </p:cNvPr>
          <p:cNvSpPr/>
          <p:nvPr/>
        </p:nvSpPr>
        <p:spPr>
          <a:xfrm>
            <a:off x="3392805" y="397827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D2952D0E-77D1-051D-BDD2-2D1648C4B7BC}"/>
              </a:ext>
            </a:extLst>
          </p:cNvPr>
          <p:cNvSpPr/>
          <p:nvPr/>
        </p:nvSpPr>
        <p:spPr>
          <a:xfrm>
            <a:off x="3521075" y="397827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C2BEFC59-B60F-D865-D046-5C244C2F570A}"/>
              </a:ext>
            </a:extLst>
          </p:cNvPr>
          <p:cNvSpPr/>
          <p:nvPr/>
        </p:nvSpPr>
        <p:spPr>
          <a:xfrm>
            <a:off x="3649345" y="397827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a:extLst>
              <a:ext uri="{FF2B5EF4-FFF2-40B4-BE49-F238E27FC236}">
                <a16:creationId xmlns:a16="http://schemas.microsoft.com/office/drawing/2014/main" id="{E5FC19A7-7825-FB8F-C2AF-9D65195177F2}"/>
              </a:ext>
            </a:extLst>
          </p:cNvPr>
          <p:cNvSpPr/>
          <p:nvPr/>
        </p:nvSpPr>
        <p:spPr>
          <a:xfrm>
            <a:off x="3777615" y="397827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615BB2EA-9EBD-7146-D417-B37F3FAA623D}"/>
              </a:ext>
            </a:extLst>
          </p:cNvPr>
          <p:cNvSpPr/>
          <p:nvPr/>
        </p:nvSpPr>
        <p:spPr>
          <a:xfrm>
            <a:off x="3905885" y="397827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09CCE53C-8467-6C3F-6D5D-37BEEBB21246}"/>
              </a:ext>
            </a:extLst>
          </p:cNvPr>
          <p:cNvSpPr/>
          <p:nvPr/>
        </p:nvSpPr>
        <p:spPr>
          <a:xfrm>
            <a:off x="4034155" y="397827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00300F91-FCB5-7675-DE8E-BFF9C09D1050}"/>
              </a:ext>
            </a:extLst>
          </p:cNvPr>
          <p:cNvSpPr/>
          <p:nvPr/>
        </p:nvSpPr>
        <p:spPr>
          <a:xfrm>
            <a:off x="4162425" y="397827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BC5AF266-270B-C057-F04E-BEAA6008EAB9}"/>
              </a:ext>
            </a:extLst>
          </p:cNvPr>
          <p:cNvSpPr/>
          <p:nvPr/>
        </p:nvSpPr>
        <p:spPr>
          <a:xfrm>
            <a:off x="4290695" y="397827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1B46B493-424C-7F02-CDBC-6D950F25967A}"/>
              </a:ext>
            </a:extLst>
          </p:cNvPr>
          <p:cNvSpPr/>
          <p:nvPr/>
        </p:nvSpPr>
        <p:spPr>
          <a:xfrm>
            <a:off x="4418965" y="397827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1523205A-9B33-2D32-EBC5-943711C42930}"/>
              </a:ext>
            </a:extLst>
          </p:cNvPr>
          <p:cNvSpPr/>
          <p:nvPr/>
        </p:nvSpPr>
        <p:spPr>
          <a:xfrm>
            <a:off x="4547235" y="397827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C7CF6235-DB36-DB2A-A062-7E8505486494}"/>
              </a:ext>
            </a:extLst>
          </p:cNvPr>
          <p:cNvSpPr/>
          <p:nvPr/>
        </p:nvSpPr>
        <p:spPr>
          <a:xfrm>
            <a:off x="4675505" y="397827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EDB9F090-09A1-AC74-ADBB-C88D2B8F00FB}"/>
              </a:ext>
            </a:extLst>
          </p:cNvPr>
          <p:cNvSpPr/>
          <p:nvPr/>
        </p:nvSpPr>
        <p:spPr>
          <a:xfrm>
            <a:off x="4803775" y="397827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962E7226-43AC-D7CE-9BE1-D54F99FD87FE}"/>
              </a:ext>
            </a:extLst>
          </p:cNvPr>
          <p:cNvSpPr/>
          <p:nvPr/>
        </p:nvSpPr>
        <p:spPr>
          <a:xfrm>
            <a:off x="4932045" y="397827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A7844E1C-6305-B69B-91CE-1631DF4939C1}"/>
              </a:ext>
            </a:extLst>
          </p:cNvPr>
          <p:cNvSpPr/>
          <p:nvPr/>
        </p:nvSpPr>
        <p:spPr>
          <a:xfrm>
            <a:off x="5060315" y="397827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C1107193-344B-D124-1F03-0705430039BA}"/>
              </a:ext>
            </a:extLst>
          </p:cNvPr>
          <p:cNvSpPr/>
          <p:nvPr/>
        </p:nvSpPr>
        <p:spPr>
          <a:xfrm>
            <a:off x="3136265" y="410654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64E40E23-2A4F-BB25-2F16-E34E3541965D}"/>
              </a:ext>
            </a:extLst>
          </p:cNvPr>
          <p:cNvSpPr/>
          <p:nvPr/>
        </p:nvSpPr>
        <p:spPr>
          <a:xfrm>
            <a:off x="3264535" y="410654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C479CCE5-05C8-3E01-4191-D697D71AB00B}"/>
              </a:ext>
            </a:extLst>
          </p:cNvPr>
          <p:cNvSpPr/>
          <p:nvPr/>
        </p:nvSpPr>
        <p:spPr>
          <a:xfrm>
            <a:off x="3392805" y="410654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806C4EF7-462C-74BA-4880-B1FB7879AC58}"/>
              </a:ext>
            </a:extLst>
          </p:cNvPr>
          <p:cNvSpPr/>
          <p:nvPr/>
        </p:nvSpPr>
        <p:spPr>
          <a:xfrm>
            <a:off x="3521075" y="410654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AC4444F9-41FA-137D-1083-A72837260861}"/>
              </a:ext>
            </a:extLst>
          </p:cNvPr>
          <p:cNvSpPr/>
          <p:nvPr/>
        </p:nvSpPr>
        <p:spPr>
          <a:xfrm>
            <a:off x="3649345" y="410654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9BD9ECC6-CD25-BD9F-5FB1-D3DC7C8254FC}"/>
              </a:ext>
            </a:extLst>
          </p:cNvPr>
          <p:cNvSpPr/>
          <p:nvPr/>
        </p:nvSpPr>
        <p:spPr>
          <a:xfrm>
            <a:off x="3777615" y="410654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9AA687A2-7564-7558-1ED7-B64E4E767581}"/>
              </a:ext>
            </a:extLst>
          </p:cNvPr>
          <p:cNvSpPr/>
          <p:nvPr/>
        </p:nvSpPr>
        <p:spPr>
          <a:xfrm>
            <a:off x="3905885" y="410654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580D07E5-1EB4-86CF-ACD7-55386AA6C625}"/>
              </a:ext>
            </a:extLst>
          </p:cNvPr>
          <p:cNvSpPr/>
          <p:nvPr/>
        </p:nvSpPr>
        <p:spPr>
          <a:xfrm>
            <a:off x="4034155" y="410654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B7486C37-E624-DB1C-2A2C-34286FAC3B9C}"/>
              </a:ext>
            </a:extLst>
          </p:cNvPr>
          <p:cNvSpPr/>
          <p:nvPr/>
        </p:nvSpPr>
        <p:spPr>
          <a:xfrm>
            <a:off x="4162425" y="410654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94A1D690-CF72-3CFD-47CE-9A907BB6623B}"/>
              </a:ext>
            </a:extLst>
          </p:cNvPr>
          <p:cNvSpPr/>
          <p:nvPr/>
        </p:nvSpPr>
        <p:spPr>
          <a:xfrm>
            <a:off x="4290695" y="410654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12C702BB-50DB-DD9C-1CAB-4C9C889CDA84}"/>
              </a:ext>
            </a:extLst>
          </p:cNvPr>
          <p:cNvSpPr/>
          <p:nvPr/>
        </p:nvSpPr>
        <p:spPr>
          <a:xfrm>
            <a:off x="4418965" y="410654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B8DF7C6C-4A5D-84A6-A89D-467A0B11A592}"/>
              </a:ext>
            </a:extLst>
          </p:cNvPr>
          <p:cNvSpPr/>
          <p:nvPr/>
        </p:nvSpPr>
        <p:spPr>
          <a:xfrm>
            <a:off x="4547235" y="410654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3F62ADBD-25E1-E4A8-74C6-2C139889BADE}"/>
              </a:ext>
            </a:extLst>
          </p:cNvPr>
          <p:cNvSpPr/>
          <p:nvPr/>
        </p:nvSpPr>
        <p:spPr>
          <a:xfrm>
            <a:off x="4675505" y="410654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EB180FE2-3EB8-F546-7640-F4CF2DBD556F}"/>
              </a:ext>
            </a:extLst>
          </p:cNvPr>
          <p:cNvSpPr/>
          <p:nvPr/>
        </p:nvSpPr>
        <p:spPr>
          <a:xfrm>
            <a:off x="4803775" y="410654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7AB9C7D3-1061-439C-EF7E-FF83E3ACF6C1}"/>
              </a:ext>
            </a:extLst>
          </p:cNvPr>
          <p:cNvSpPr/>
          <p:nvPr/>
        </p:nvSpPr>
        <p:spPr>
          <a:xfrm>
            <a:off x="4932045" y="410654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067C2CE0-9BDA-0333-3A8D-A51CA5CD2C35}"/>
              </a:ext>
            </a:extLst>
          </p:cNvPr>
          <p:cNvSpPr/>
          <p:nvPr/>
        </p:nvSpPr>
        <p:spPr>
          <a:xfrm>
            <a:off x="5060315" y="410654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6D6020B4-893B-5398-6946-D6D34E477A8F}"/>
              </a:ext>
            </a:extLst>
          </p:cNvPr>
          <p:cNvSpPr/>
          <p:nvPr/>
        </p:nvSpPr>
        <p:spPr>
          <a:xfrm>
            <a:off x="3136265" y="423481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245846F0-85A7-C21F-5D9F-B0A02A5E64AD}"/>
              </a:ext>
            </a:extLst>
          </p:cNvPr>
          <p:cNvSpPr/>
          <p:nvPr/>
        </p:nvSpPr>
        <p:spPr>
          <a:xfrm>
            <a:off x="3264535" y="423481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954DA341-005F-B47E-2075-5D7727664F99}"/>
              </a:ext>
            </a:extLst>
          </p:cNvPr>
          <p:cNvSpPr/>
          <p:nvPr/>
        </p:nvSpPr>
        <p:spPr>
          <a:xfrm>
            <a:off x="3392805" y="423481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6BBE1C37-E0F0-28ED-BFAA-7A6A49C24422}"/>
              </a:ext>
            </a:extLst>
          </p:cNvPr>
          <p:cNvSpPr/>
          <p:nvPr/>
        </p:nvSpPr>
        <p:spPr>
          <a:xfrm>
            <a:off x="3521075" y="423481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54D6008A-FEE6-E1C9-5AA1-6FB6FD65469F}"/>
              </a:ext>
            </a:extLst>
          </p:cNvPr>
          <p:cNvSpPr/>
          <p:nvPr/>
        </p:nvSpPr>
        <p:spPr>
          <a:xfrm>
            <a:off x="3649345" y="423481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FF972430-9FEA-7676-23CB-4C9D8FA4501D}"/>
              </a:ext>
            </a:extLst>
          </p:cNvPr>
          <p:cNvSpPr/>
          <p:nvPr/>
        </p:nvSpPr>
        <p:spPr>
          <a:xfrm>
            <a:off x="3777615" y="423481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FC02B3C7-8525-C128-3CAE-5F16C2B91A2E}"/>
              </a:ext>
            </a:extLst>
          </p:cNvPr>
          <p:cNvSpPr/>
          <p:nvPr/>
        </p:nvSpPr>
        <p:spPr>
          <a:xfrm>
            <a:off x="3905885" y="423481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9BD1F7A8-63A3-C36A-C2F0-F1A925A350EB}"/>
              </a:ext>
            </a:extLst>
          </p:cNvPr>
          <p:cNvSpPr/>
          <p:nvPr/>
        </p:nvSpPr>
        <p:spPr>
          <a:xfrm>
            <a:off x="4034155" y="423481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AC744A99-DD35-0F3C-058D-DD6C4F8A7DDC}"/>
              </a:ext>
            </a:extLst>
          </p:cNvPr>
          <p:cNvSpPr/>
          <p:nvPr/>
        </p:nvSpPr>
        <p:spPr>
          <a:xfrm>
            <a:off x="4162425" y="423481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9F353A99-45EC-2262-6283-1F4B380E8546}"/>
              </a:ext>
            </a:extLst>
          </p:cNvPr>
          <p:cNvSpPr/>
          <p:nvPr/>
        </p:nvSpPr>
        <p:spPr>
          <a:xfrm>
            <a:off x="4290695" y="423481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CB473744-BE50-ABF8-B230-D01434EB3EF5}"/>
              </a:ext>
            </a:extLst>
          </p:cNvPr>
          <p:cNvSpPr/>
          <p:nvPr/>
        </p:nvSpPr>
        <p:spPr>
          <a:xfrm>
            <a:off x="4418965" y="423481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A7A9AC16-A8AD-D546-D710-80F7177480EA}"/>
              </a:ext>
            </a:extLst>
          </p:cNvPr>
          <p:cNvSpPr/>
          <p:nvPr/>
        </p:nvSpPr>
        <p:spPr>
          <a:xfrm>
            <a:off x="4547235" y="423481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81240E0A-0E7B-B282-B5FB-3C8E6DD6452C}"/>
              </a:ext>
            </a:extLst>
          </p:cNvPr>
          <p:cNvSpPr/>
          <p:nvPr/>
        </p:nvSpPr>
        <p:spPr>
          <a:xfrm>
            <a:off x="4675505" y="423481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310F7E01-EB45-665A-0AE9-93847C945EAD}"/>
              </a:ext>
            </a:extLst>
          </p:cNvPr>
          <p:cNvSpPr/>
          <p:nvPr/>
        </p:nvSpPr>
        <p:spPr>
          <a:xfrm>
            <a:off x="4803775" y="423481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A6F56633-AB17-FEFF-2432-90C7B320439B}"/>
              </a:ext>
            </a:extLst>
          </p:cNvPr>
          <p:cNvSpPr/>
          <p:nvPr/>
        </p:nvSpPr>
        <p:spPr>
          <a:xfrm>
            <a:off x="4932045" y="423481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46F2EB97-3491-7246-C5B0-84F94AA27FC1}"/>
              </a:ext>
            </a:extLst>
          </p:cNvPr>
          <p:cNvSpPr/>
          <p:nvPr/>
        </p:nvSpPr>
        <p:spPr>
          <a:xfrm>
            <a:off x="5060315" y="423481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028F5E44-7668-6196-A88C-635B0970A4AA}"/>
              </a:ext>
            </a:extLst>
          </p:cNvPr>
          <p:cNvSpPr/>
          <p:nvPr/>
        </p:nvSpPr>
        <p:spPr>
          <a:xfrm>
            <a:off x="3136265" y="436308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BF1000F3-ACB6-8823-0F84-0D6D6066E252}"/>
              </a:ext>
            </a:extLst>
          </p:cNvPr>
          <p:cNvSpPr/>
          <p:nvPr/>
        </p:nvSpPr>
        <p:spPr>
          <a:xfrm>
            <a:off x="3264535" y="436308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5ED98FBF-F36B-844C-EBBF-177E1A5FD381}"/>
              </a:ext>
            </a:extLst>
          </p:cNvPr>
          <p:cNvSpPr/>
          <p:nvPr/>
        </p:nvSpPr>
        <p:spPr>
          <a:xfrm>
            <a:off x="3392805" y="436308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373F6005-CC43-06A0-E34E-F4165E046513}"/>
              </a:ext>
            </a:extLst>
          </p:cNvPr>
          <p:cNvSpPr/>
          <p:nvPr/>
        </p:nvSpPr>
        <p:spPr>
          <a:xfrm>
            <a:off x="3521075" y="436308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918F2713-53E0-5AC0-F44D-12846504E81A}"/>
              </a:ext>
            </a:extLst>
          </p:cNvPr>
          <p:cNvSpPr/>
          <p:nvPr/>
        </p:nvSpPr>
        <p:spPr>
          <a:xfrm>
            <a:off x="3649345" y="436308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DE402A2E-E0B0-BB52-ECDE-552178A010C1}"/>
              </a:ext>
            </a:extLst>
          </p:cNvPr>
          <p:cNvSpPr/>
          <p:nvPr/>
        </p:nvSpPr>
        <p:spPr>
          <a:xfrm>
            <a:off x="3777615" y="436308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3FADAC5A-0B45-4306-2E2B-A91B8B5A0E4D}"/>
              </a:ext>
            </a:extLst>
          </p:cNvPr>
          <p:cNvSpPr/>
          <p:nvPr/>
        </p:nvSpPr>
        <p:spPr>
          <a:xfrm>
            <a:off x="3905885" y="436308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21CE84F2-08EC-2ABA-7167-9FC1C73C8BD0}"/>
              </a:ext>
            </a:extLst>
          </p:cNvPr>
          <p:cNvSpPr/>
          <p:nvPr/>
        </p:nvSpPr>
        <p:spPr>
          <a:xfrm>
            <a:off x="4034155" y="436308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5BE9E564-4C15-BFBB-3F70-08E95CF1590E}"/>
              </a:ext>
            </a:extLst>
          </p:cNvPr>
          <p:cNvSpPr/>
          <p:nvPr/>
        </p:nvSpPr>
        <p:spPr>
          <a:xfrm>
            <a:off x="4162425" y="436308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8523E652-1560-71F2-D2EE-163F6C3557C1}"/>
              </a:ext>
            </a:extLst>
          </p:cNvPr>
          <p:cNvSpPr/>
          <p:nvPr/>
        </p:nvSpPr>
        <p:spPr>
          <a:xfrm>
            <a:off x="4290695" y="436308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2C948582-795E-49D4-B853-04AAA03A4F8D}"/>
              </a:ext>
            </a:extLst>
          </p:cNvPr>
          <p:cNvSpPr/>
          <p:nvPr/>
        </p:nvSpPr>
        <p:spPr>
          <a:xfrm>
            <a:off x="4418965" y="436308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B65D477C-FB26-B02E-9C25-0E6347B05645}"/>
              </a:ext>
            </a:extLst>
          </p:cNvPr>
          <p:cNvSpPr/>
          <p:nvPr/>
        </p:nvSpPr>
        <p:spPr>
          <a:xfrm>
            <a:off x="4547235" y="436308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A64BE909-6A89-B6D5-A25E-AEA6443930F8}"/>
              </a:ext>
            </a:extLst>
          </p:cNvPr>
          <p:cNvSpPr/>
          <p:nvPr/>
        </p:nvSpPr>
        <p:spPr>
          <a:xfrm>
            <a:off x="4675505" y="436308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48AA2A7A-012C-6FF3-F314-EBCE8A5D39B6}"/>
              </a:ext>
            </a:extLst>
          </p:cNvPr>
          <p:cNvSpPr/>
          <p:nvPr/>
        </p:nvSpPr>
        <p:spPr>
          <a:xfrm>
            <a:off x="4803775" y="436308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D7C931FF-C0E0-03DA-49EA-98200A4F0F42}"/>
              </a:ext>
            </a:extLst>
          </p:cNvPr>
          <p:cNvSpPr/>
          <p:nvPr/>
        </p:nvSpPr>
        <p:spPr>
          <a:xfrm>
            <a:off x="4932045" y="436308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A3DB4FAF-735A-63EA-D856-5ECE934E123B}"/>
              </a:ext>
            </a:extLst>
          </p:cNvPr>
          <p:cNvSpPr/>
          <p:nvPr/>
        </p:nvSpPr>
        <p:spPr>
          <a:xfrm>
            <a:off x="5060315" y="436308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273BAE22-31B0-7BB9-BC31-95F44E954E09}"/>
              </a:ext>
            </a:extLst>
          </p:cNvPr>
          <p:cNvSpPr/>
          <p:nvPr/>
        </p:nvSpPr>
        <p:spPr>
          <a:xfrm>
            <a:off x="3136265" y="449135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82F3784D-E47F-B6C4-C423-40241CC10298}"/>
              </a:ext>
            </a:extLst>
          </p:cNvPr>
          <p:cNvSpPr/>
          <p:nvPr/>
        </p:nvSpPr>
        <p:spPr>
          <a:xfrm>
            <a:off x="3264535" y="449135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92DA7CFF-8E00-A395-841A-1E42515DE54B}"/>
              </a:ext>
            </a:extLst>
          </p:cNvPr>
          <p:cNvSpPr/>
          <p:nvPr/>
        </p:nvSpPr>
        <p:spPr>
          <a:xfrm>
            <a:off x="3392805" y="449135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F34AA21E-BE6E-48DF-6DDA-B6E928EDE469}"/>
              </a:ext>
            </a:extLst>
          </p:cNvPr>
          <p:cNvSpPr/>
          <p:nvPr/>
        </p:nvSpPr>
        <p:spPr>
          <a:xfrm>
            <a:off x="3521075" y="449135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F0C96983-E909-01A9-0272-E8B13E0B6AD4}"/>
              </a:ext>
            </a:extLst>
          </p:cNvPr>
          <p:cNvSpPr/>
          <p:nvPr/>
        </p:nvSpPr>
        <p:spPr>
          <a:xfrm>
            <a:off x="3649345" y="449135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91F871D7-0D4E-7B63-D9E4-762A379DADAC}"/>
              </a:ext>
            </a:extLst>
          </p:cNvPr>
          <p:cNvSpPr/>
          <p:nvPr/>
        </p:nvSpPr>
        <p:spPr>
          <a:xfrm>
            <a:off x="3777615" y="449135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FA1BB3C5-938B-AABE-581E-69AE2916DB84}"/>
              </a:ext>
            </a:extLst>
          </p:cNvPr>
          <p:cNvSpPr/>
          <p:nvPr/>
        </p:nvSpPr>
        <p:spPr>
          <a:xfrm>
            <a:off x="3905885" y="449135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187D773A-A7BE-DA38-923C-A2F77610B57F}"/>
              </a:ext>
            </a:extLst>
          </p:cNvPr>
          <p:cNvSpPr/>
          <p:nvPr/>
        </p:nvSpPr>
        <p:spPr>
          <a:xfrm>
            <a:off x="4034155" y="449135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7D8AD5C1-770D-75B4-C2F9-72968A1194AD}"/>
              </a:ext>
            </a:extLst>
          </p:cNvPr>
          <p:cNvSpPr/>
          <p:nvPr/>
        </p:nvSpPr>
        <p:spPr>
          <a:xfrm>
            <a:off x="4162425" y="449135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3D68D0AD-A131-4871-040D-2B68D3FDA68C}"/>
              </a:ext>
            </a:extLst>
          </p:cNvPr>
          <p:cNvSpPr/>
          <p:nvPr/>
        </p:nvSpPr>
        <p:spPr>
          <a:xfrm>
            <a:off x="4290695" y="449135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B02080CC-DEBB-B7AB-E951-1ADDA5A4759E}"/>
              </a:ext>
            </a:extLst>
          </p:cNvPr>
          <p:cNvSpPr/>
          <p:nvPr/>
        </p:nvSpPr>
        <p:spPr>
          <a:xfrm>
            <a:off x="4418965" y="449135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46C02965-A465-97BC-CC09-ACCA0B4FB6B5}"/>
              </a:ext>
            </a:extLst>
          </p:cNvPr>
          <p:cNvSpPr/>
          <p:nvPr/>
        </p:nvSpPr>
        <p:spPr>
          <a:xfrm>
            <a:off x="4547235" y="449135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56BCA3E9-A6DB-6FB0-D000-70FE19298A8D}"/>
              </a:ext>
            </a:extLst>
          </p:cNvPr>
          <p:cNvSpPr/>
          <p:nvPr/>
        </p:nvSpPr>
        <p:spPr>
          <a:xfrm>
            <a:off x="4675505" y="449135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B2F2840E-27E6-8E36-B5A1-451B039C84E7}"/>
              </a:ext>
            </a:extLst>
          </p:cNvPr>
          <p:cNvSpPr/>
          <p:nvPr/>
        </p:nvSpPr>
        <p:spPr>
          <a:xfrm>
            <a:off x="4803775" y="449135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CCA02871-EF89-1D8D-80A4-F5197B570136}"/>
              </a:ext>
            </a:extLst>
          </p:cNvPr>
          <p:cNvSpPr/>
          <p:nvPr/>
        </p:nvSpPr>
        <p:spPr>
          <a:xfrm>
            <a:off x="4932045" y="449135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F0D759D1-F2FA-5F48-9335-D0813B7DC621}"/>
              </a:ext>
            </a:extLst>
          </p:cNvPr>
          <p:cNvSpPr/>
          <p:nvPr/>
        </p:nvSpPr>
        <p:spPr>
          <a:xfrm>
            <a:off x="5060315" y="449135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5C23B6FA-228B-6E9D-1889-D65CDC261C08}"/>
              </a:ext>
            </a:extLst>
          </p:cNvPr>
          <p:cNvSpPr/>
          <p:nvPr/>
        </p:nvSpPr>
        <p:spPr>
          <a:xfrm>
            <a:off x="3136265" y="461962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CEF9052B-DD40-B51B-B5E9-808D4C3F86D7}"/>
              </a:ext>
            </a:extLst>
          </p:cNvPr>
          <p:cNvSpPr/>
          <p:nvPr/>
        </p:nvSpPr>
        <p:spPr>
          <a:xfrm>
            <a:off x="3264535" y="461962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2F1C3946-6B15-6821-9A5F-0D5E10BD1ABE}"/>
              </a:ext>
            </a:extLst>
          </p:cNvPr>
          <p:cNvSpPr/>
          <p:nvPr/>
        </p:nvSpPr>
        <p:spPr>
          <a:xfrm>
            <a:off x="3392805" y="461962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6B6D1A1C-1A10-1FC2-E677-CC90C3F7403C}"/>
              </a:ext>
            </a:extLst>
          </p:cNvPr>
          <p:cNvSpPr/>
          <p:nvPr/>
        </p:nvSpPr>
        <p:spPr>
          <a:xfrm>
            <a:off x="3521075" y="461962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D345C9B1-CEEA-6DD2-00BC-98B543DCCFAF}"/>
              </a:ext>
            </a:extLst>
          </p:cNvPr>
          <p:cNvSpPr/>
          <p:nvPr/>
        </p:nvSpPr>
        <p:spPr>
          <a:xfrm>
            <a:off x="3649345" y="461962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F61BAA19-DF08-3082-548D-C78DE1C18E27}"/>
              </a:ext>
            </a:extLst>
          </p:cNvPr>
          <p:cNvSpPr/>
          <p:nvPr/>
        </p:nvSpPr>
        <p:spPr>
          <a:xfrm>
            <a:off x="3777615" y="461962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A11AAB0B-880B-8319-D68E-2DCE73277878}"/>
              </a:ext>
            </a:extLst>
          </p:cNvPr>
          <p:cNvSpPr/>
          <p:nvPr/>
        </p:nvSpPr>
        <p:spPr>
          <a:xfrm>
            <a:off x="3905885" y="461962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9F74C7D8-86EE-D9A1-56D6-5E4A3EFAB883}"/>
              </a:ext>
            </a:extLst>
          </p:cNvPr>
          <p:cNvSpPr/>
          <p:nvPr/>
        </p:nvSpPr>
        <p:spPr>
          <a:xfrm>
            <a:off x="4034155" y="461962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E2B8F57E-DC9E-315C-E69F-26657E6AF5E3}"/>
              </a:ext>
            </a:extLst>
          </p:cNvPr>
          <p:cNvSpPr/>
          <p:nvPr/>
        </p:nvSpPr>
        <p:spPr>
          <a:xfrm>
            <a:off x="4162425" y="461962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37A6993A-D96D-5622-8EE0-B3A508FEE4F3}"/>
              </a:ext>
            </a:extLst>
          </p:cNvPr>
          <p:cNvSpPr/>
          <p:nvPr/>
        </p:nvSpPr>
        <p:spPr>
          <a:xfrm>
            <a:off x="4290695" y="461962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ectangle 211">
            <a:extLst>
              <a:ext uri="{FF2B5EF4-FFF2-40B4-BE49-F238E27FC236}">
                <a16:creationId xmlns:a16="http://schemas.microsoft.com/office/drawing/2014/main" id="{705C13EA-D705-9550-CDA7-A92CB7412D07}"/>
              </a:ext>
            </a:extLst>
          </p:cNvPr>
          <p:cNvSpPr/>
          <p:nvPr/>
        </p:nvSpPr>
        <p:spPr>
          <a:xfrm>
            <a:off x="4418965" y="461962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a:extLst>
              <a:ext uri="{FF2B5EF4-FFF2-40B4-BE49-F238E27FC236}">
                <a16:creationId xmlns:a16="http://schemas.microsoft.com/office/drawing/2014/main" id="{2773DB3E-55D4-20AF-DF08-D36342BDA86C}"/>
              </a:ext>
            </a:extLst>
          </p:cNvPr>
          <p:cNvSpPr/>
          <p:nvPr/>
        </p:nvSpPr>
        <p:spPr>
          <a:xfrm>
            <a:off x="4547235" y="461962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ectangle 213">
            <a:extLst>
              <a:ext uri="{FF2B5EF4-FFF2-40B4-BE49-F238E27FC236}">
                <a16:creationId xmlns:a16="http://schemas.microsoft.com/office/drawing/2014/main" id="{DC425953-4101-16CB-4BE7-CE635698BF5B}"/>
              </a:ext>
            </a:extLst>
          </p:cNvPr>
          <p:cNvSpPr/>
          <p:nvPr/>
        </p:nvSpPr>
        <p:spPr>
          <a:xfrm>
            <a:off x="4675505" y="461962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a:extLst>
              <a:ext uri="{FF2B5EF4-FFF2-40B4-BE49-F238E27FC236}">
                <a16:creationId xmlns:a16="http://schemas.microsoft.com/office/drawing/2014/main" id="{16C9744A-1CD3-99C9-D96D-C678FCEF9373}"/>
              </a:ext>
            </a:extLst>
          </p:cNvPr>
          <p:cNvSpPr/>
          <p:nvPr/>
        </p:nvSpPr>
        <p:spPr>
          <a:xfrm>
            <a:off x="4803775" y="461962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ectangle 215">
            <a:extLst>
              <a:ext uri="{FF2B5EF4-FFF2-40B4-BE49-F238E27FC236}">
                <a16:creationId xmlns:a16="http://schemas.microsoft.com/office/drawing/2014/main" id="{1926A874-69C8-AEC4-BD86-D22695650622}"/>
              </a:ext>
            </a:extLst>
          </p:cNvPr>
          <p:cNvSpPr/>
          <p:nvPr/>
        </p:nvSpPr>
        <p:spPr>
          <a:xfrm>
            <a:off x="4932045" y="461962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Rectangle 216">
            <a:extLst>
              <a:ext uri="{FF2B5EF4-FFF2-40B4-BE49-F238E27FC236}">
                <a16:creationId xmlns:a16="http://schemas.microsoft.com/office/drawing/2014/main" id="{8345FFCA-E5F8-B9D8-24EA-D07CEF96AF32}"/>
              </a:ext>
            </a:extLst>
          </p:cNvPr>
          <p:cNvSpPr/>
          <p:nvPr/>
        </p:nvSpPr>
        <p:spPr>
          <a:xfrm>
            <a:off x="5060315" y="461962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Rectangle 217">
            <a:extLst>
              <a:ext uri="{FF2B5EF4-FFF2-40B4-BE49-F238E27FC236}">
                <a16:creationId xmlns:a16="http://schemas.microsoft.com/office/drawing/2014/main" id="{BB33DE41-77EF-2B0C-383B-43F573A51500}"/>
              </a:ext>
            </a:extLst>
          </p:cNvPr>
          <p:cNvSpPr/>
          <p:nvPr/>
        </p:nvSpPr>
        <p:spPr>
          <a:xfrm>
            <a:off x="6349365" y="295211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F506A055-C5D0-507F-69A5-E4EAEE9FE414}"/>
              </a:ext>
            </a:extLst>
          </p:cNvPr>
          <p:cNvSpPr/>
          <p:nvPr/>
        </p:nvSpPr>
        <p:spPr>
          <a:xfrm>
            <a:off x="6477635" y="2952115"/>
            <a:ext cx="109219"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B5C9D7FB-3AB7-96E1-C24F-7823D1044D5F}"/>
              </a:ext>
            </a:extLst>
          </p:cNvPr>
          <p:cNvSpPr/>
          <p:nvPr/>
        </p:nvSpPr>
        <p:spPr>
          <a:xfrm>
            <a:off x="6605905" y="295211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778571A5-7593-7E98-00D6-DAC02765083A}"/>
              </a:ext>
            </a:extLst>
          </p:cNvPr>
          <p:cNvSpPr/>
          <p:nvPr/>
        </p:nvSpPr>
        <p:spPr>
          <a:xfrm>
            <a:off x="6734175" y="295211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C77CE60C-6818-C6B4-2233-F72FF3144407}"/>
              </a:ext>
            </a:extLst>
          </p:cNvPr>
          <p:cNvSpPr/>
          <p:nvPr/>
        </p:nvSpPr>
        <p:spPr>
          <a:xfrm>
            <a:off x="6862445" y="295211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11BD8516-7F00-7853-690A-1A1C0A6070F0}"/>
              </a:ext>
            </a:extLst>
          </p:cNvPr>
          <p:cNvSpPr/>
          <p:nvPr/>
        </p:nvSpPr>
        <p:spPr>
          <a:xfrm>
            <a:off x="6990715" y="295211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3A0E6013-DC40-0FFC-8043-DB1BD3411E96}"/>
              </a:ext>
            </a:extLst>
          </p:cNvPr>
          <p:cNvSpPr/>
          <p:nvPr/>
        </p:nvSpPr>
        <p:spPr>
          <a:xfrm>
            <a:off x="7118985" y="2952115"/>
            <a:ext cx="109219"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8822E427-FD9F-1C7D-5294-D1285A33BC8B}"/>
              </a:ext>
            </a:extLst>
          </p:cNvPr>
          <p:cNvSpPr/>
          <p:nvPr/>
        </p:nvSpPr>
        <p:spPr>
          <a:xfrm>
            <a:off x="7247255" y="295211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4E397A6E-09F4-3AD9-42A1-4577B62D3E09}"/>
              </a:ext>
            </a:extLst>
          </p:cNvPr>
          <p:cNvSpPr/>
          <p:nvPr/>
        </p:nvSpPr>
        <p:spPr>
          <a:xfrm>
            <a:off x="7375525" y="295211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D01A91AE-6A98-3B5D-6EEC-835F8DC5BD61}"/>
              </a:ext>
            </a:extLst>
          </p:cNvPr>
          <p:cNvSpPr/>
          <p:nvPr/>
        </p:nvSpPr>
        <p:spPr>
          <a:xfrm>
            <a:off x="7503795" y="295211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Rectangle 227">
            <a:extLst>
              <a:ext uri="{FF2B5EF4-FFF2-40B4-BE49-F238E27FC236}">
                <a16:creationId xmlns:a16="http://schemas.microsoft.com/office/drawing/2014/main" id="{F2CE1537-72E6-0D79-69FE-395347E3B210}"/>
              </a:ext>
            </a:extLst>
          </p:cNvPr>
          <p:cNvSpPr/>
          <p:nvPr/>
        </p:nvSpPr>
        <p:spPr>
          <a:xfrm>
            <a:off x="7632065" y="295211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Rectangle 228">
            <a:extLst>
              <a:ext uri="{FF2B5EF4-FFF2-40B4-BE49-F238E27FC236}">
                <a16:creationId xmlns:a16="http://schemas.microsoft.com/office/drawing/2014/main" id="{7E60579D-622A-D700-CA8E-E000697F8549}"/>
              </a:ext>
            </a:extLst>
          </p:cNvPr>
          <p:cNvSpPr/>
          <p:nvPr/>
        </p:nvSpPr>
        <p:spPr>
          <a:xfrm>
            <a:off x="7760335" y="2952115"/>
            <a:ext cx="109219"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Rectangle 229">
            <a:extLst>
              <a:ext uri="{FF2B5EF4-FFF2-40B4-BE49-F238E27FC236}">
                <a16:creationId xmlns:a16="http://schemas.microsoft.com/office/drawing/2014/main" id="{C18102BC-784C-AF90-05E8-631F3D465717}"/>
              </a:ext>
            </a:extLst>
          </p:cNvPr>
          <p:cNvSpPr/>
          <p:nvPr/>
        </p:nvSpPr>
        <p:spPr>
          <a:xfrm>
            <a:off x="7888605" y="295211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Rectangle 230">
            <a:extLst>
              <a:ext uri="{FF2B5EF4-FFF2-40B4-BE49-F238E27FC236}">
                <a16:creationId xmlns:a16="http://schemas.microsoft.com/office/drawing/2014/main" id="{6133171A-70D8-8EE0-623A-1D07A1163171}"/>
              </a:ext>
            </a:extLst>
          </p:cNvPr>
          <p:cNvSpPr/>
          <p:nvPr/>
        </p:nvSpPr>
        <p:spPr>
          <a:xfrm>
            <a:off x="8016875" y="295211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Rectangle 231">
            <a:extLst>
              <a:ext uri="{FF2B5EF4-FFF2-40B4-BE49-F238E27FC236}">
                <a16:creationId xmlns:a16="http://schemas.microsoft.com/office/drawing/2014/main" id="{6E5FC7EE-7BC4-4D22-AE51-469B8F962371}"/>
              </a:ext>
            </a:extLst>
          </p:cNvPr>
          <p:cNvSpPr/>
          <p:nvPr/>
        </p:nvSpPr>
        <p:spPr>
          <a:xfrm>
            <a:off x="8145145" y="295211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a:extLst>
              <a:ext uri="{FF2B5EF4-FFF2-40B4-BE49-F238E27FC236}">
                <a16:creationId xmlns:a16="http://schemas.microsoft.com/office/drawing/2014/main" id="{EDEAEE09-3517-EDE5-3F1B-36F0F01C967A}"/>
              </a:ext>
            </a:extLst>
          </p:cNvPr>
          <p:cNvSpPr/>
          <p:nvPr/>
        </p:nvSpPr>
        <p:spPr>
          <a:xfrm>
            <a:off x="8273415" y="2952115"/>
            <a:ext cx="109220"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8E06451F-D74D-02F2-C0FA-D4F421FFF4B4}"/>
              </a:ext>
            </a:extLst>
          </p:cNvPr>
          <p:cNvSpPr/>
          <p:nvPr/>
        </p:nvSpPr>
        <p:spPr>
          <a:xfrm>
            <a:off x="6349365" y="308038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93E2FF0E-8293-9C3B-0F73-7CDBB907CEC5}"/>
              </a:ext>
            </a:extLst>
          </p:cNvPr>
          <p:cNvSpPr/>
          <p:nvPr/>
        </p:nvSpPr>
        <p:spPr>
          <a:xfrm>
            <a:off x="6477635" y="3080385"/>
            <a:ext cx="109219"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3C1FB332-9F44-B573-7466-76A9BD2049B0}"/>
              </a:ext>
            </a:extLst>
          </p:cNvPr>
          <p:cNvSpPr/>
          <p:nvPr/>
        </p:nvSpPr>
        <p:spPr>
          <a:xfrm>
            <a:off x="6605905" y="308038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73DE2EC6-7322-E76D-5094-33B0450459A9}"/>
              </a:ext>
            </a:extLst>
          </p:cNvPr>
          <p:cNvSpPr/>
          <p:nvPr/>
        </p:nvSpPr>
        <p:spPr>
          <a:xfrm>
            <a:off x="6734175" y="308038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18202149-D2A7-4152-D394-E3D1A04DDD58}"/>
              </a:ext>
            </a:extLst>
          </p:cNvPr>
          <p:cNvSpPr/>
          <p:nvPr/>
        </p:nvSpPr>
        <p:spPr>
          <a:xfrm>
            <a:off x="6862445" y="308038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2720F93E-3A33-756F-804F-5AB6684D7CFD}"/>
              </a:ext>
            </a:extLst>
          </p:cNvPr>
          <p:cNvSpPr/>
          <p:nvPr/>
        </p:nvSpPr>
        <p:spPr>
          <a:xfrm>
            <a:off x="6990715" y="3080385"/>
            <a:ext cx="109220"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CF625C32-D29D-13A3-7DA8-C99E7CD34C94}"/>
              </a:ext>
            </a:extLst>
          </p:cNvPr>
          <p:cNvSpPr/>
          <p:nvPr/>
        </p:nvSpPr>
        <p:spPr>
          <a:xfrm>
            <a:off x="7118985" y="3080385"/>
            <a:ext cx="109219"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DA17609B-B80E-67CA-ECED-8040A7FDF9DE}"/>
              </a:ext>
            </a:extLst>
          </p:cNvPr>
          <p:cNvSpPr/>
          <p:nvPr/>
        </p:nvSpPr>
        <p:spPr>
          <a:xfrm>
            <a:off x="7247255" y="308038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Rectangle 241">
            <a:extLst>
              <a:ext uri="{FF2B5EF4-FFF2-40B4-BE49-F238E27FC236}">
                <a16:creationId xmlns:a16="http://schemas.microsoft.com/office/drawing/2014/main" id="{0AA749C1-AE2F-3991-385A-864008C5F11F}"/>
              </a:ext>
            </a:extLst>
          </p:cNvPr>
          <p:cNvSpPr/>
          <p:nvPr/>
        </p:nvSpPr>
        <p:spPr>
          <a:xfrm>
            <a:off x="7375525" y="308038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Rectangle 242">
            <a:extLst>
              <a:ext uri="{FF2B5EF4-FFF2-40B4-BE49-F238E27FC236}">
                <a16:creationId xmlns:a16="http://schemas.microsoft.com/office/drawing/2014/main" id="{3564883E-1DAD-BF77-3715-958F32698845}"/>
              </a:ext>
            </a:extLst>
          </p:cNvPr>
          <p:cNvSpPr/>
          <p:nvPr/>
        </p:nvSpPr>
        <p:spPr>
          <a:xfrm>
            <a:off x="7503795" y="308038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Rectangle 243">
            <a:extLst>
              <a:ext uri="{FF2B5EF4-FFF2-40B4-BE49-F238E27FC236}">
                <a16:creationId xmlns:a16="http://schemas.microsoft.com/office/drawing/2014/main" id="{7D2C436A-3F9E-25AA-FDAA-3B05D6015A1F}"/>
              </a:ext>
            </a:extLst>
          </p:cNvPr>
          <p:cNvSpPr/>
          <p:nvPr/>
        </p:nvSpPr>
        <p:spPr>
          <a:xfrm>
            <a:off x="7632065" y="308038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Rectangle 244">
            <a:extLst>
              <a:ext uri="{FF2B5EF4-FFF2-40B4-BE49-F238E27FC236}">
                <a16:creationId xmlns:a16="http://schemas.microsoft.com/office/drawing/2014/main" id="{E1D0446C-D032-EC73-43CE-BEB692D84CDA}"/>
              </a:ext>
            </a:extLst>
          </p:cNvPr>
          <p:cNvSpPr/>
          <p:nvPr/>
        </p:nvSpPr>
        <p:spPr>
          <a:xfrm>
            <a:off x="7760335" y="3080385"/>
            <a:ext cx="109219"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Rectangle 245">
            <a:extLst>
              <a:ext uri="{FF2B5EF4-FFF2-40B4-BE49-F238E27FC236}">
                <a16:creationId xmlns:a16="http://schemas.microsoft.com/office/drawing/2014/main" id="{C157F956-07DF-5B9D-2E15-FEF083639C60}"/>
              </a:ext>
            </a:extLst>
          </p:cNvPr>
          <p:cNvSpPr/>
          <p:nvPr/>
        </p:nvSpPr>
        <p:spPr>
          <a:xfrm>
            <a:off x="7888605" y="308038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Rectangle 246">
            <a:extLst>
              <a:ext uri="{FF2B5EF4-FFF2-40B4-BE49-F238E27FC236}">
                <a16:creationId xmlns:a16="http://schemas.microsoft.com/office/drawing/2014/main" id="{6CBCBA1D-EB2F-6B1F-4F04-ED4C0104CA9A}"/>
              </a:ext>
            </a:extLst>
          </p:cNvPr>
          <p:cNvSpPr/>
          <p:nvPr/>
        </p:nvSpPr>
        <p:spPr>
          <a:xfrm>
            <a:off x="8016875" y="308038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Rectangle 247">
            <a:extLst>
              <a:ext uri="{FF2B5EF4-FFF2-40B4-BE49-F238E27FC236}">
                <a16:creationId xmlns:a16="http://schemas.microsoft.com/office/drawing/2014/main" id="{DE9F6EC2-89C1-FB51-E8F7-59F7FEE1225D}"/>
              </a:ext>
            </a:extLst>
          </p:cNvPr>
          <p:cNvSpPr/>
          <p:nvPr/>
        </p:nvSpPr>
        <p:spPr>
          <a:xfrm>
            <a:off x="8145145" y="308038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Rectangle 248">
            <a:extLst>
              <a:ext uri="{FF2B5EF4-FFF2-40B4-BE49-F238E27FC236}">
                <a16:creationId xmlns:a16="http://schemas.microsoft.com/office/drawing/2014/main" id="{E6BD2BF8-901B-049B-946D-17804588A367}"/>
              </a:ext>
            </a:extLst>
          </p:cNvPr>
          <p:cNvSpPr/>
          <p:nvPr/>
        </p:nvSpPr>
        <p:spPr>
          <a:xfrm>
            <a:off x="8273415" y="308038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Rectangle 249">
            <a:extLst>
              <a:ext uri="{FF2B5EF4-FFF2-40B4-BE49-F238E27FC236}">
                <a16:creationId xmlns:a16="http://schemas.microsoft.com/office/drawing/2014/main" id="{43A66E59-0E28-F92D-9174-44CA53DE71D0}"/>
              </a:ext>
            </a:extLst>
          </p:cNvPr>
          <p:cNvSpPr/>
          <p:nvPr/>
        </p:nvSpPr>
        <p:spPr>
          <a:xfrm>
            <a:off x="6349365" y="320865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Rectangle 250">
            <a:extLst>
              <a:ext uri="{FF2B5EF4-FFF2-40B4-BE49-F238E27FC236}">
                <a16:creationId xmlns:a16="http://schemas.microsoft.com/office/drawing/2014/main" id="{31199443-5F09-725D-0684-5D997919E7C4}"/>
              </a:ext>
            </a:extLst>
          </p:cNvPr>
          <p:cNvSpPr/>
          <p:nvPr/>
        </p:nvSpPr>
        <p:spPr>
          <a:xfrm>
            <a:off x="6477635" y="3208655"/>
            <a:ext cx="109219"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Rectangle 251">
            <a:extLst>
              <a:ext uri="{FF2B5EF4-FFF2-40B4-BE49-F238E27FC236}">
                <a16:creationId xmlns:a16="http://schemas.microsoft.com/office/drawing/2014/main" id="{22E472D4-1832-8063-0E10-24AEFFEE5739}"/>
              </a:ext>
            </a:extLst>
          </p:cNvPr>
          <p:cNvSpPr/>
          <p:nvPr/>
        </p:nvSpPr>
        <p:spPr>
          <a:xfrm>
            <a:off x="6605905" y="320865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Rectangle 252">
            <a:extLst>
              <a:ext uri="{FF2B5EF4-FFF2-40B4-BE49-F238E27FC236}">
                <a16:creationId xmlns:a16="http://schemas.microsoft.com/office/drawing/2014/main" id="{142EF6C1-895C-3128-932D-15EEF8313BBC}"/>
              </a:ext>
            </a:extLst>
          </p:cNvPr>
          <p:cNvSpPr/>
          <p:nvPr/>
        </p:nvSpPr>
        <p:spPr>
          <a:xfrm>
            <a:off x="6734175" y="3208655"/>
            <a:ext cx="109220"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Rectangle 253">
            <a:extLst>
              <a:ext uri="{FF2B5EF4-FFF2-40B4-BE49-F238E27FC236}">
                <a16:creationId xmlns:a16="http://schemas.microsoft.com/office/drawing/2014/main" id="{C2AF25F5-9128-B540-49D9-8B462C8AC212}"/>
              </a:ext>
            </a:extLst>
          </p:cNvPr>
          <p:cNvSpPr/>
          <p:nvPr/>
        </p:nvSpPr>
        <p:spPr>
          <a:xfrm>
            <a:off x="6862445" y="320865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Rectangle 254">
            <a:extLst>
              <a:ext uri="{FF2B5EF4-FFF2-40B4-BE49-F238E27FC236}">
                <a16:creationId xmlns:a16="http://schemas.microsoft.com/office/drawing/2014/main" id="{6B7245DE-8775-261B-9509-DFD05FCC4116}"/>
              </a:ext>
            </a:extLst>
          </p:cNvPr>
          <p:cNvSpPr/>
          <p:nvPr/>
        </p:nvSpPr>
        <p:spPr>
          <a:xfrm>
            <a:off x="6990715" y="320865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Rectangle 255">
            <a:extLst>
              <a:ext uri="{FF2B5EF4-FFF2-40B4-BE49-F238E27FC236}">
                <a16:creationId xmlns:a16="http://schemas.microsoft.com/office/drawing/2014/main" id="{C438DFBC-4393-50FC-5303-D4B0A008E89D}"/>
              </a:ext>
            </a:extLst>
          </p:cNvPr>
          <p:cNvSpPr/>
          <p:nvPr/>
        </p:nvSpPr>
        <p:spPr>
          <a:xfrm>
            <a:off x="7118985" y="3208655"/>
            <a:ext cx="109219"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Rectangle 256">
            <a:extLst>
              <a:ext uri="{FF2B5EF4-FFF2-40B4-BE49-F238E27FC236}">
                <a16:creationId xmlns:a16="http://schemas.microsoft.com/office/drawing/2014/main" id="{B821F679-FA6C-FB3B-10B8-3F27DD9901C1}"/>
              </a:ext>
            </a:extLst>
          </p:cNvPr>
          <p:cNvSpPr/>
          <p:nvPr/>
        </p:nvSpPr>
        <p:spPr>
          <a:xfrm>
            <a:off x="7247255" y="320865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Rectangle 257">
            <a:extLst>
              <a:ext uri="{FF2B5EF4-FFF2-40B4-BE49-F238E27FC236}">
                <a16:creationId xmlns:a16="http://schemas.microsoft.com/office/drawing/2014/main" id="{F4FCBB25-86EF-7F19-12D1-550F707EF175}"/>
              </a:ext>
            </a:extLst>
          </p:cNvPr>
          <p:cNvSpPr/>
          <p:nvPr/>
        </p:nvSpPr>
        <p:spPr>
          <a:xfrm>
            <a:off x="7375525" y="320865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Rectangle 258">
            <a:extLst>
              <a:ext uri="{FF2B5EF4-FFF2-40B4-BE49-F238E27FC236}">
                <a16:creationId xmlns:a16="http://schemas.microsoft.com/office/drawing/2014/main" id="{3C2D1239-28FA-AC9C-5A27-D4D488AD2060}"/>
              </a:ext>
            </a:extLst>
          </p:cNvPr>
          <p:cNvSpPr/>
          <p:nvPr/>
        </p:nvSpPr>
        <p:spPr>
          <a:xfrm>
            <a:off x="7503795" y="320865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4F374D21-6001-12DD-1CE4-55D5E024A833}"/>
              </a:ext>
            </a:extLst>
          </p:cNvPr>
          <p:cNvSpPr/>
          <p:nvPr/>
        </p:nvSpPr>
        <p:spPr>
          <a:xfrm>
            <a:off x="7632065" y="320865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Rectangle 260">
            <a:extLst>
              <a:ext uri="{FF2B5EF4-FFF2-40B4-BE49-F238E27FC236}">
                <a16:creationId xmlns:a16="http://schemas.microsoft.com/office/drawing/2014/main" id="{A2F12D74-82E6-7A26-6DBE-64BA39FDAEF7}"/>
              </a:ext>
            </a:extLst>
          </p:cNvPr>
          <p:cNvSpPr/>
          <p:nvPr/>
        </p:nvSpPr>
        <p:spPr>
          <a:xfrm>
            <a:off x="7760335" y="3208655"/>
            <a:ext cx="109219"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a:extLst>
              <a:ext uri="{FF2B5EF4-FFF2-40B4-BE49-F238E27FC236}">
                <a16:creationId xmlns:a16="http://schemas.microsoft.com/office/drawing/2014/main" id="{CB842BB2-2548-5B35-43BF-C0CDAF83FFFA}"/>
              </a:ext>
            </a:extLst>
          </p:cNvPr>
          <p:cNvSpPr/>
          <p:nvPr/>
        </p:nvSpPr>
        <p:spPr>
          <a:xfrm>
            <a:off x="7888605" y="320865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Rectangle 262">
            <a:extLst>
              <a:ext uri="{FF2B5EF4-FFF2-40B4-BE49-F238E27FC236}">
                <a16:creationId xmlns:a16="http://schemas.microsoft.com/office/drawing/2014/main" id="{FF20CB6B-E605-077D-7338-8AF5A4742E4D}"/>
              </a:ext>
            </a:extLst>
          </p:cNvPr>
          <p:cNvSpPr/>
          <p:nvPr/>
        </p:nvSpPr>
        <p:spPr>
          <a:xfrm>
            <a:off x="8016875" y="320865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ectangle 263">
            <a:extLst>
              <a:ext uri="{FF2B5EF4-FFF2-40B4-BE49-F238E27FC236}">
                <a16:creationId xmlns:a16="http://schemas.microsoft.com/office/drawing/2014/main" id="{6B57A9F0-1BF4-152B-20BC-42C97551E519}"/>
              </a:ext>
            </a:extLst>
          </p:cNvPr>
          <p:cNvSpPr/>
          <p:nvPr/>
        </p:nvSpPr>
        <p:spPr>
          <a:xfrm>
            <a:off x="8145145" y="320865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F981EE0E-7011-930A-3A44-17B347809D5D}"/>
              </a:ext>
            </a:extLst>
          </p:cNvPr>
          <p:cNvSpPr/>
          <p:nvPr/>
        </p:nvSpPr>
        <p:spPr>
          <a:xfrm>
            <a:off x="8273415" y="320865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a:extLst>
              <a:ext uri="{FF2B5EF4-FFF2-40B4-BE49-F238E27FC236}">
                <a16:creationId xmlns:a16="http://schemas.microsoft.com/office/drawing/2014/main" id="{1079BD88-038A-36A9-52DE-0712FF560BCD}"/>
              </a:ext>
            </a:extLst>
          </p:cNvPr>
          <p:cNvSpPr/>
          <p:nvPr/>
        </p:nvSpPr>
        <p:spPr>
          <a:xfrm>
            <a:off x="6349365" y="333692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a:extLst>
              <a:ext uri="{FF2B5EF4-FFF2-40B4-BE49-F238E27FC236}">
                <a16:creationId xmlns:a16="http://schemas.microsoft.com/office/drawing/2014/main" id="{E699A805-7A1B-B1A3-0CC1-AC7DC5A5EDFB}"/>
              </a:ext>
            </a:extLst>
          </p:cNvPr>
          <p:cNvSpPr/>
          <p:nvPr/>
        </p:nvSpPr>
        <p:spPr>
          <a:xfrm>
            <a:off x="6477635" y="3336925"/>
            <a:ext cx="109219"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ectangle 267">
            <a:extLst>
              <a:ext uri="{FF2B5EF4-FFF2-40B4-BE49-F238E27FC236}">
                <a16:creationId xmlns:a16="http://schemas.microsoft.com/office/drawing/2014/main" id="{00A1CF87-F375-350A-47CE-212FE33F7A56}"/>
              </a:ext>
            </a:extLst>
          </p:cNvPr>
          <p:cNvSpPr/>
          <p:nvPr/>
        </p:nvSpPr>
        <p:spPr>
          <a:xfrm>
            <a:off x="6605905" y="333692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C372EA12-CEB7-C855-004E-53672AD4BCD5}"/>
              </a:ext>
            </a:extLst>
          </p:cNvPr>
          <p:cNvSpPr/>
          <p:nvPr/>
        </p:nvSpPr>
        <p:spPr>
          <a:xfrm>
            <a:off x="6734175" y="333692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7C1A265E-B709-99B9-898A-295C928AADB0}"/>
              </a:ext>
            </a:extLst>
          </p:cNvPr>
          <p:cNvSpPr/>
          <p:nvPr/>
        </p:nvSpPr>
        <p:spPr>
          <a:xfrm>
            <a:off x="6862445" y="333692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E33E5325-8187-F204-790E-FC45F812B485}"/>
              </a:ext>
            </a:extLst>
          </p:cNvPr>
          <p:cNvSpPr/>
          <p:nvPr/>
        </p:nvSpPr>
        <p:spPr>
          <a:xfrm>
            <a:off x="6990715" y="333692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8BF9273E-8B57-B46B-2198-D5FB567A0898}"/>
              </a:ext>
            </a:extLst>
          </p:cNvPr>
          <p:cNvSpPr/>
          <p:nvPr/>
        </p:nvSpPr>
        <p:spPr>
          <a:xfrm>
            <a:off x="7118985" y="3336925"/>
            <a:ext cx="109219"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a:extLst>
              <a:ext uri="{FF2B5EF4-FFF2-40B4-BE49-F238E27FC236}">
                <a16:creationId xmlns:a16="http://schemas.microsoft.com/office/drawing/2014/main" id="{A8A0A329-BDE6-955B-37D0-AC3614883977}"/>
              </a:ext>
            </a:extLst>
          </p:cNvPr>
          <p:cNvSpPr/>
          <p:nvPr/>
        </p:nvSpPr>
        <p:spPr>
          <a:xfrm>
            <a:off x="7247255" y="3336925"/>
            <a:ext cx="109220"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99E919B8-0591-5289-297A-21E8C14835CA}"/>
              </a:ext>
            </a:extLst>
          </p:cNvPr>
          <p:cNvSpPr/>
          <p:nvPr/>
        </p:nvSpPr>
        <p:spPr>
          <a:xfrm>
            <a:off x="7375525" y="333692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2EDE0B75-2F8A-1E99-A6CA-189C7CFA477D}"/>
              </a:ext>
            </a:extLst>
          </p:cNvPr>
          <p:cNvSpPr/>
          <p:nvPr/>
        </p:nvSpPr>
        <p:spPr>
          <a:xfrm>
            <a:off x="7503795" y="333692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Rectangle 275">
            <a:extLst>
              <a:ext uri="{FF2B5EF4-FFF2-40B4-BE49-F238E27FC236}">
                <a16:creationId xmlns:a16="http://schemas.microsoft.com/office/drawing/2014/main" id="{797ED257-DFA0-C228-029C-38BFA306D429}"/>
              </a:ext>
            </a:extLst>
          </p:cNvPr>
          <p:cNvSpPr/>
          <p:nvPr/>
        </p:nvSpPr>
        <p:spPr>
          <a:xfrm>
            <a:off x="7632065" y="333692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ectangle 276">
            <a:extLst>
              <a:ext uri="{FF2B5EF4-FFF2-40B4-BE49-F238E27FC236}">
                <a16:creationId xmlns:a16="http://schemas.microsoft.com/office/drawing/2014/main" id="{294A677E-DC0F-C468-C6A1-C2066602F5FE}"/>
              </a:ext>
            </a:extLst>
          </p:cNvPr>
          <p:cNvSpPr/>
          <p:nvPr/>
        </p:nvSpPr>
        <p:spPr>
          <a:xfrm>
            <a:off x="7760335" y="3336925"/>
            <a:ext cx="109219"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Rectangle 277">
            <a:extLst>
              <a:ext uri="{FF2B5EF4-FFF2-40B4-BE49-F238E27FC236}">
                <a16:creationId xmlns:a16="http://schemas.microsoft.com/office/drawing/2014/main" id="{81A4EEFB-9933-E12B-E09C-2E1526FC1D40}"/>
              </a:ext>
            </a:extLst>
          </p:cNvPr>
          <p:cNvSpPr/>
          <p:nvPr/>
        </p:nvSpPr>
        <p:spPr>
          <a:xfrm>
            <a:off x="7888605" y="333692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Rectangle 278">
            <a:extLst>
              <a:ext uri="{FF2B5EF4-FFF2-40B4-BE49-F238E27FC236}">
                <a16:creationId xmlns:a16="http://schemas.microsoft.com/office/drawing/2014/main" id="{D2211A29-831B-2685-631E-78345E5C8965}"/>
              </a:ext>
            </a:extLst>
          </p:cNvPr>
          <p:cNvSpPr/>
          <p:nvPr/>
        </p:nvSpPr>
        <p:spPr>
          <a:xfrm>
            <a:off x="8016875" y="333692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Rectangle 279">
            <a:extLst>
              <a:ext uri="{FF2B5EF4-FFF2-40B4-BE49-F238E27FC236}">
                <a16:creationId xmlns:a16="http://schemas.microsoft.com/office/drawing/2014/main" id="{A591AD34-6EB3-7266-70B4-65905B0767D7}"/>
              </a:ext>
            </a:extLst>
          </p:cNvPr>
          <p:cNvSpPr/>
          <p:nvPr/>
        </p:nvSpPr>
        <p:spPr>
          <a:xfrm>
            <a:off x="8145145" y="333692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Rectangle 280">
            <a:extLst>
              <a:ext uri="{FF2B5EF4-FFF2-40B4-BE49-F238E27FC236}">
                <a16:creationId xmlns:a16="http://schemas.microsoft.com/office/drawing/2014/main" id="{81655E77-31EB-ED6B-ECA1-2D29DB233AC6}"/>
              </a:ext>
            </a:extLst>
          </p:cNvPr>
          <p:cNvSpPr/>
          <p:nvPr/>
        </p:nvSpPr>
        <p:spPr>
          <a:xfrm>
            <a:off x="8273415" y="333692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FE8974B0-6240-2E1F-48E2-32836414DDED}"/>
              </a:ext>
            </a:extLst>
          </p:cNvPr>
          <p:cNvSpPr/>
          <p:nvPr/>
        </p:nvSpPr>
        <p:spPr>
          <a:xfrm>
            <a:off x="6349365" y="346519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1F420132-6318-E434-EDC9-220218F73637}"/>
              </a:ext>
            </a:extLst>
          </p:cNvPr>
          <p:cNvSpPr/>
          <p:nvPr/>
        </p:nvSpPr>
        <p:spPr>
          <a:xfrm>
            <a:off x="6477635" y="3465195"/>
            <a:ext cx="109219"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Rectangle 283">
            <a:extLst>
              <a:ext uri="{FF2B5EF4-FFF2-40B4-BE49-F238E27FC236}">
                <a16:creationId xmlns:a16="http://schemas.microsoft.com/office/drawing/2014/main" id="{C13964CB-CA9B-29BC-3A0A-B51C80473752}"/>
              </a:ext>
            </a:extLst>
          </p:cNvPr>
          <p:cNvSpPr/>
          <p:nvPr/>
        </p:nvSpPr>
        <p:spPr>
          <a:xfrm>
            <a:off x="6605905" y="346519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2BB360C3-8138-82D1-F836-2A8F80381281}"/>
              </a:ext>
            </a:extLst>
          </p:cNvPr>
          <p:cNvSpPr/>
          <p:nvPr/>
        </p:nvSpPr>
        <p:spPr>
          <a:xfrm>
            <a:off x="6734175" y="346519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Rectangle 285">
            <a:extLst>
              <a:ext uri="{FF2B5EF4-FFF2-40B4-BE49-F238E27FC236}">
                <a16:creationId xmlns:a16="http://schemas.microsoft.com/office/drawing/2014/main" id="{1E0A6CBB-8C2F-67D3-49F1-4F31F841D9AE}"/>
              </a:ext>
            </a:extLst>
          </p:cNvPr>
          <p:cNvSpPr/>
          <p:nvPr/>
        </p:nvSpPr>
        <p:spPr>
          <a:xfrm>
            <a:off x="6862445" y="346519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Rectangle 286">
            <a:extLst>
              <a:ext uri="{FF2B5EF4-FFF2-40B4-BE49-F238E27FC236}">
                <a16:creationId xmlns:a16="http://schemas.microsoft.com/office/drawing/2014/main" id="{D5ADF38F-2472-ED7B-635D-6A3CE46E554E}"/>
              </a:ext>
            </a:extLst>
          </p:cNvPr>
          <p:cNvSpPr/>
          <p:nvPr/>
        </p:nvSpPr>
        <p:spPr>
          <a:xfrm>
            <a:off x="6990715" y="346519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a:extLst>
              <a:ext uri="{FF2B5EF4-FFF2-40B4-BE49-F238E27FC236}">
                <a16:creationId xmlns:a16="http://schemas.microsoft.com/office/drawing/2014/main" id="{F65F8837-5B8C-21C4-0416-D3EBB981730B}"/>
              </a:ext>
            </a:extLst>
          </p:cNvPr>
          <p:cNvSpPr/>
          <p:nvPr/>
        </p:nvSpPr>
        <p:spPr>
          <a:xfrm>
            <a:off x="7118985" y="3465195"/>
            <a:ext cx="109219"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Rectangle 288">
            <a:extLst>
              <a:ext uri="{FF2B5EF4-FFF2-40B4-BE49-F238E27FC236}">
                <a16:creationId xmlns:a16="http://schemas.microsoft.com/office/drawing/2014/main" id="{7D7B659B-57F9-7500-3C76-4C2D15AF90B2}"/>
              </a:ext>
            </a:extLst>
          </p:cNvPr>
          <p:cNvSpPr/>
          <p:nvPr/>
        </p:nvSpPr>
        <p:spPr>
          <a:xfrm>
            <a:off x="7247255" y="346519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A55C4715-D232-8790-41D6-FDB37B8D1044}"/>
              </a:ext>
            </a:extLst>
          </p:cNvPr>
          <p:cNvSpPr/>
          <p:nvPr/>
        </p:nvSpPr>
        <p:spPr>
          <a:xfrm>
            <a:off x="7375525" y="346519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a:extLst>
              <a:ext uri="{FF2B5EF4-FFF2-40B4-BE49-F238E27FC236}">
                <a16:creationId xmlns:a16="http://schemas.microsoft.com/office/drawing/2014/main" id="{37CF91EE-511A-E8ED-9B5F-786ECC736C68}"/>
              </a:ext>
            </a:extLst>
          </p:cNvPr>
          <p:cNvSpPr/>
          <p:nvPr/>
        </p:nvSpPr>
        <p:spPr>
          <a:xfrm>
            <a:off x="7503795" y="3465195"/>
            <a:ext cx="109220"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291">
            <a:extLst>
              <a:ext uri="{FF2B5EF4-FFF2-40B4-BE49-F238E27FC236}">
                <a16:creationId xmlns:a16="http://schemas.microsoft.com/office/drawing/2014/main" id="{F42EA10F-6763-7416-315D-68F6E124C3AA}"/>
              </a:ext>
            </a:extLst>
          </p:cNvPr>
          <p:cNvSpPr/>
          <p:nvPr/>
        </p:nvSpPr>
        <p:spPr>
          <a:xfrm>
            <a:off x="7632065" y="346519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Rectangle 292">
            <a:extLst>
              <a:ext uri="{FF2B5EF4-FFF2-40B4-BE49-F238E27FC236}">
                <a16:creationId xmlns:a16="http://schemas.microsoft.com/office/drawing/2014/main" id="{0B177EB6-4B01-5E93-5C61-1AD0B1C02203}"/>
              </a:ext>
            </a:extLst>
          </p:cNvPr>
          <p:cNvSpPr/>
          <p:nvPr/>
        </p:nvSpPr>
        <p:spPr>
          <a:xfrm>
            <a:off x="7760335" y="3465195"/>
            <a:ext cx="109219"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D746BA24-4110-A00F-0C29-9F6BA3CE693B}"/>
              </a:ext>
            </a:extLst>
          </p:cNvPr>
          <p:cNvSpPr/>
          <p:nvPr/>
        </p:nvSpPr>
        <p:spPr>
          <a:xfrm>
            <a:off x="7888605" y="346519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28520A91-DA58-69D8-F697-A351DD61E881}"/>
              </a:ext>
            </a:extLst>
          </p:cNvPr>
          <p:cNvSpPr/>
          <p:nvPr/>
        </p:nvSpPr>
        <p:spPr>
          <a:xfrm>
            <a:off x="8016875" y="346519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Rectangle 295">
            <a:extLst>
              <a:ext uri="{FF2B5EF4-FFF2-40B4-BE49-F238E27FC236}">
                <a16:creationId xmlns:a16="http://schemas.microsoft.com/office/drawing/2014/main" id="{8E39A762-F6BE-A084-C2BE-A16906133023}"/>
              </a:ext>
            </a:extLst>
          </p:cNvPr>
          <p:cNvSpPr/>
          <p:nvPr/>
        </p:nvSpPr>
        <p:spPr>
          <a:xfrm>
            <a:off x="8145145" y="346519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Rectangle 296">
            <a:extLst>
              <a:ext uri="{FF2B5EF4-FFF2-40B4-BE49-F238E27FC236}">
                <a16:creationId xmlns:a16="http://schemas.microsoft.com/office/drawing/2014/main" id="{C0864C06-48B9-168D-1165-87EDF38AE648}"/>
              </a:ext>
            </a:extLst>
          </p:cNvPr>
          <p:cNvSpPr/>
          <p:nvPr/>
        </p:nvSpPr>
        <p:spPr>
          <a:xfrm>
            <a:off x="8273415" y="346519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Rectangle 297">
            <a:extLst>
              <a:ext uri="{FF2B5EF4-FFF2-40B4-BE49-F238E27FC236}">
                <a16:creationId xmlns:a16="http://schemas.microsoft.com/office/drawing/2014/main" id="{65E2FA02-4786-E0DF-F0EB-BDA091E33822}"/>
              </a:ext>
            </a:extLst>
          </p:cNvPr>
          <p:cNvSpPr/>
          <p:nvPr/>
        </p:nvSpPr>
        <p:spPr>
          <a:xfrm>
            <a:off x="6349365" y="359346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24C3EA91-3957-EA3C-8C51-4916EE916AF1}"/>
              </a:ext>
            </a:extLst>
          </p:cNvPr>
          <p:cNvSpPr/>
          <p:nvPr/>
        </p:nvSpPr>
        <p:spPr>
          <a:xfrm>
            <a:off x="6477635" y="3593465"/>
            <a:ext cx="109219"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ED16ACD3-6146-9A36-10C6-2BF58C32B29C}"/>
              </a:ext>
            </a:extLst>
          </p:cNvPr>
          <p:cNvSpPr/>
          <p:nvPr/>
        </p:nvSpPr>
        <p:spPr>
          <a:xfrm>
            <a:off x="6605905" y="359346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9F1B6205-CFEF-43D0-C83B-06F24ABA7843}"/>
              </a:ext>
            </a:extLst>
          </p:cNvPr>
          <p:cNvSpPr/>
          <p:nvPr/>
        </p:nvSpPr>
        <p:spPr>
          <a:xfrm>
            <a:off x="6734175" y="359346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2E895834-ECF5-D973-1F85-A8F0427FF5AA}"/>
              </a:ext>
            </a:extLst>
          </p:cNvPr>
          <p:cNvSpPr/>
          <p:nvPr/>
        </p:nvSpPr>
        <p:spPr>
          <a:xfrm>
            <a:off x="6862445" y="359346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Rectangle 302">
            <a:extLst>
              <a:ext uri="{FF2B5EF4-FFF2-40B4-BE49-F238E27FC236}">
                <a16:creationId xmlns:a16="http://schemas.microsoft.com/office/drawing/2014/main" id="{E9C71316-7956-F322-6E1D-50F1E6BBCBC7}"/>
              </a:ext>
            </a:extLst>
          </p:cNvPr>
          <p:cNvSpPr/>
          <p:nvPr/>
        </p:nvSpPr>
        <p:spPr>
          <a:xfrm>
            <a:off x="6990715" y="359346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Rectangle 303">
            <a:extLst>
              <a:ext uri="{FF2B5EF4-FFF2-40B4-BE49-F238E27FC236}">
                <a16:creationId xmlns:a16="http://schemas.microsoft.com/office/drawing/2014/main" id="{449E9A1C-B863-431C-DA36-AAAADEF5C0B1}"/>
              </a:ext>
            </a:extLst>
          </p:cNvPr>
          <p:cNvSpPr/>
          <p:nvPr/>
        </p:nvSpPr>
        <p:spPr>
          <a:xfrm>
            <a:off x="7118985" y="3593465"/>
            <a:ext cx="109219"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26E16531-5425-61C1-FE02-973BEEA70936}"/>
              </a:ext>
            </a:extLst>
          </p:cNvPr>
          <p:cNvSpPr/>
          <p:nvPr/>
        </p:nvSpPr>
        <p:spPr>
          <a:xfrm>
            <a:off x="7247255" y="359346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305">
            <a:extLst>
              <a:ext uri="{FF2B5EF4-FFF2-40B4-BE49-F238E27FC236}">
                <a16:creationId xmlns:a16="http://schemas.microsoft.com/office/drawing/2014/main" id="{BEA741BD-474E-3319-FC08-ECDA676BA33D}"/>
              </a:ext>
            </a:extLst>
          </p:cNvPr>
          <p:cNvSpPr/>
          <p:nvPr/>
        </p:nvSpPr>
        <p:spPr>
          <a:xfrm>
            <a:off x="7375525" y="359346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Rectangle 306">
            <a:extLst>
              <a:ext uri="{FF2B5EF4-FFF2-40B4-BE49-F238E27FC236}">
                <a16:creationId xmlns:a16="http://schemas.microsoft.com/office/drawing/2014/main" id="{8A2F7E45-1F83-0B25-CFC9-573F20C8EB19}"/>
              </a:ext>
            </a:extLst>
          </p:cNvPr>
          <p:cNvSpPr/>
          <p:nvPr/>
        </p:nvSpPr>
        <p:spPr>
          <a:xfrm>
            <a:off x="7503795" y="359346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Rectangle 307">
            <a:extLst>
              <a:ext uri="{FF2B5EF4-FFF2-40B4-BE49-F238E27FC236}">
                <a16:creationId xmlns:a16="http://schemas.microsoft.com/office/drawing/2014/main" id="{1EA45F2E-2D49-180B-6701-F7D18F1CE101}"/>
              </a:ext>
            </a:extLst>
          </p:cNvPr>
          <p:cNvSpPr/>
          <p:nvPr/>
        </p:nvSpPr>
        <p:spPr>
          <a:xfrm>
            <a:off x="7632065" y="359346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Rectangle 308">
            <a:extLst>
              <a:ext uri="{FF2B5EF4-FFF2-40B4-BE49-F238E27FC236}">
                <a16:creationId xmlns:a16="http://schemas.microsoft.com/office/drawing/2014/main" id="{03290AD6-3536-F822-8E82-05ED98CA5B6B}"/>
              </a:ext>
            </a:extLst>
          </p:cNvPr>
          <p:cNvSpPr/>
          <p:nvPr/>
        </p:nvSpPr>
        <p:spPr>
          <a:xfrm>
            <a:off x="7760335" y="3593465"/>
            <a:ext cx="109219"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Rectangle 309">
            <a:extLst>
              <a:ext uri="{FF2B5EF4-FFF2-40B4-BE49-F238E27FC236}">
                <a16:creationId xmlns:a16="http://schemas.microsoft.com/office/drawing/2014/main" id="{51B2CA39-1D54-7AC3-1AA1-5865DEF61427}"/>
              </a:ext>
            </a:extLst>
          </p:cNvPr>
          <p:cNvSpPr/>
          <p:nvPr/>
        </p:nvSpPr>
        <p:spPr>
          <a:xfrm>
            <a:off x="7888605" y="359346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Rectangle 310">
            <a:extLst>
              <a:ext uri="{FF2B5EF4-FFF2-40B4-BE49-F238E27FC236}">
                <a16:creationId xmlns:a16="http://schemas.microsoft.com/office/drawing/2014/main" id="{0F4A62C3-88FB-E7B4-F88C-15FD51E875B5}"/>
              </a:ext>
            </a:extLst>
          </p:cNvPr>
          <p:cNvSpPr/>
          <p:nvPr/>
        </p:nvSpPr>
        <p:spPr>
          <a:xfrm>
            <a:off x="8016875" y="3593465"/>
            <a:ext cx="109220"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Rectangle 311">
            <a:extLst>
              <a:ext uri="{FF2B5EF4-FFF2-40B4-BE49-F238E27FC236}">
                <a16:creationId xmlns:a16="http://schemas.microsoft.com/office/drawing/2014/main" id="{EEF69C68-5ADB-A06A-2F00-3F3A380C9F89}"/>
              </a:ext>
            </a:extLst>
          </p:cNvPr>
          <p:cNvSpPr/>
          <p:nvPr/>
        </p:nvSpPr>
        <p:spPr>
          <a:xfrm>
            <a:off x="8145145" y="359346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Rectangle 312">
            <a:extLst>
              <a:ext uri="{FF2B5EF4-FFF2-40B4-BE49-F238E27FC236}">
                <a16:creationId xmlns:a16="http://schemas.microsoft.com/office/drawing/2014/main" id="{7941F3F5-8D27-F28C-7D2D-1091C2669928}"/>
              </a:ext>
            </a:extLst>
          </p:cNvPr>
          <p:cNvSpPr/>
          <p:nvPr/>
        </p:nvSpPr>
        <p:spPr>
          <a:xfrm>
            <a:off x="8273415" y="359346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Rectangle 313">
            <a:extLst>
              <a:ext uri="{FF2B5EF4-FFF2-40B4-BE49-F238E27FC236}">
                <a16:creationId xmlns:a16="http://schemas.microsoft.com/office/drawing/2014/main" id="{A4248DAC-FCF5-AD95-5B8C-73CE598D235E}"/>
              </a:ext>
            </a:extLst>
          </p:cNvPr>
          <p:cNvSpPr/>
          <p:nvPr/>
        </p:nvSpPr>
        <p:spPr>
          <a:xfrm>
            <a:off x="6349365" y="372173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Rectangle 314">
            <a:extLst>
              <a:ext uri="{FF2B5EF4-FFF2-40B4-BE49-F238E27FC236}">
                <a16:creationId xmlns:a16="http://schemas.microsoft.com/office/drawing/2014/main" id="{53F8AD18-90BF-898E-20A3-CB62D4A18854}"/>
              </a:ext>
            </a:extLst>
          </p:cNvPr>
          <p:cNvSpPr/>
          <p:nvPr/>
        </p:nvSpPr>
        <p:spPr>
          <a:xfrm>
            <a:off x="6477635" y="3721735"/>
            <a:ext cx="109219"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a:extLst>
              <a:ext uri="{FF2B5EF4-FFF2-40B4-BE49-F238E27FC236}">
                <a16:creationId xmlns:a16="http://schemas.microsoft.com/office/drawing/2014/main" id="{443B4A0D-7ACB-FD12-570D-3442644E45BA}"/>
              </a:ext>
            </a:extLst>
          </p:cNvPr>
          <p:cNvSpPr/>
          <p:nvPr/>
        </p:nvSpPr>
        <p:spPr>
          <a:xfrm>
            <a:off x="6605905" y="372173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Rectangle 316">
            <a:extLst>
              <a:ext uri="{FF2B5EF4-FFF2-40B4-BE49-F238E27FC236}">
                <a16:creationId xmlns:a16="http://schemas.microsoft.com/office/drawing/2014/main" id="{EB07601E-B79C-0A53-F8D2-253B5B590276}"/>
              </a:ext>
            </a:extLst>
          </p:cNvPr>
          <p:cNvSpPr/>
          <p:nvPr/>
        </p:nvSpPr>
        <p:spPr>
          <a:xfrm>
            <a:off x="6734175" y="372173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 name="Rectangle 317">
            <a:extLst>
              <a:ext uri="{FF2B5EF4-FFF2-40B4-BE49-F238E27FC236}">
                <a16:creationId xmlns:a16="http://schemas.microsoft.com/office/drawing/2014/main" id="{383C074B-D981-EE20-259C-5B3F1B5F43F8}"/>
              </a:ext>
            </a:extLst>
          </p:cNvPr>
          <p:cNvSpPr/>
          <p:nvPr/>
        </p:nvSpPr>
        <p:spPr>
          <a:xfrm>
            <a:off x="6862445" y="372173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Rectangle 318">
            <a:extLst>
              <a:ext uri="{FF2B5EF4-FFF2-40B4-BE49-F238E27FC236}">
                <a16:creationId xmlns:a16="http://schemas.microsoft.com/office/drawing/2014/main" id="{8AEAFF30-2DB1-FD7D-5EAE-7478A5702FF6}"/>
              </a:ext>
            </a:extLst>
          </p:cNvPr>
          <p:cNvSpPr/>
          <p:nvPr/>
        </p:nvSpPr>
        <p:spPr>
          <a:xfrm>
            <a:off x="6990715" y="372173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 name="Rectangle 319">
            <a:extLst>
              <a:ext uri="{FF2B5EF4-FFF2-40B4-BE49-F238E27FC236}">
                <a16:creationId xmlns:a16="http://schemas.microsoft.com/office/drawing/2014/main" id="{D83DD0EB-F2DD-F593-B657-E7EE0222A5C8}"/>
              </a:ext>
            </a:extLst>
          </p:cNvPr>
          <p:cNvSpPr/>
          <p:nvPr/>
        </p:nvSpPr>
        <p:spPr>
          <a:xfrm>
            <a:off x="7118985" y="3721735"/>
            <a:ext cx="109219"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Rectangle 320">
            <a:extLst>
              <a:ext uri="{FF2B5EF4-FFF2-40B4-BE49-F238E27FC236}">
                <a16:creationId xmlns:a16="http://schemas.microsoft.com/office/drawing/2014/main" id="{BF0551B8-8C32-75C5-2FBF-F72FFFC1C8AB}"/>
              </a:ext>
            </a:extLst>
          </p:cNvPr>
          <p:cNvSpPr/>
          <p:nvPr/>
        </p:nvSpPr>
        <p:spPr>
          <a:xfrm>
            <a:off x="7247255" y="372173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Rectangle 321">
            <a:extLst>
              <a:ext uri="{FF2B5EF4-FFF2-40B4-BE49-F238E27FC236}">
                <a16:creationId xmlns:a16="http://schemas.microsoft.com/office/drawing/2014/main" id="{4C4AFC41-954B-F673-7921-5F743EC08E97}"/>
              </a:ext>
            </a:extLst>
          </p:cNvPr>
          <p:cNvSpPr/>
          <p:nvPr/>
        </p:nvSpPr>
        <p:spPr>
          <a:xfrm>
            <a:off x="7375525" y="372173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Rectangle 322">
            <a:extLst>
              <a:ext uri="{FF2B5EF4-FFF2-40B4-BE49-F238E27FC236}">
                <a16:creationId xmlns:a16="http://schemas.microsoft.com/office/drawing/2014/main" id="{8FB36639-E41E-67BA-1E94-AEC7E8435A9E}"/>
              </a:ext>
            </a:extLst>
          </p:cNvPr>
          <p:cNvSpPr/>
          <p:nvPr/>
        </p:nvSpPr>
        <p:spPr>
          <a:xfrm>
            <a:off x="7503795" y="372173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Rectangle 323">
            <a:extLst>
              <a:ext uri="{FF2B5EF4-FFF2-40B4-BE49-F238E27FC236}">
                <a16:creationId xmlns:a16="http://schemas.microsoft.com/office/drawing/2014/main" id="{3F73FB5B-A290-4654-45D0-A4AB8DFE271C}"/>
              </a:ext>
            </a:extLst>
          </p:cNvPr>
          <p:cNvSpPr/>
          <p:nvPr/>
        </p:nvSpPr>
        <p:spPr>
          <a:xfrm>
            <a:off x="7632065" y="372173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Rectangle 324">
            <a:extLst>
              <a:ext uri="{FF2B5EF4-FFF2-40B4-BE49-F238E27FC236}">
                <a16:creationId xmlns:a16="http://schemas.microsoft.com/office/drawing/2014/main" id="{3F572DFD-4962-A373-2501-9C0398F046ED}"/>
              </a:ext>
            </a:extLst>
          </p:cNvPr>
          <p:cNvSpPr/>
          <p:nvPr/>
        </p:nvSpPr>
        <p:spPr>
          <a:xfrm>
            <a:off x="7760335" y="3721735"/>
            <a:ext cx="109219"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Rectangle 325">
            <a:extLst>
              <a:ext uri="{FF2B5EF4-FFF2-40B4-BE49-F238E27FC236}">
                <a16:creationId xmlns:a16="http://schemas.microsoft.com/office/drawing/2014/main" id="{450C5473-C7BB-2D81-558E-89A923524614}"/>
              </a:ext>
            </a:extLst>
          </p:cNvPr>
          <p:cNvSpPr/>
          <p:nvPr/>
        </p:nvSpPr>
        <p:spPr>
          <a:xfrm>
            <a:off x="7888605" y="372173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Rectangle 326">
            <a:extLst>
              <a:ext uri="{FF2B5EF4-FFF2-40B4-BE49-F238E27FC236}">
                <a16:creationId xmlns:a16="http://schemas.microsoft.com/office/drawing/2014/main" id="{BC50C6F8-D6D2-61DA-1E88-65D79AF37763}"/>
              </a:ext>
            </a:extLst>
          </p:cNvPr>
          <p:cNvSpPr/>
          <p:nvPr/>
        </p:nvSpPr>
        <p:spPr>
          <a:xfrm>
            <a:off x="8016875" y="372173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Rectangle 327">
            <a:extLst>
              <a:ext uri="{FF2B5EF4-FFF2-40B4-BE49-F238E27FC236}">
                <a16:creationId xmlns:a16="http://schemas.microsoft.com/office/drawing/2014/main" id="{51701420-FB04-263D-CEE0-3FEDB6D483D8}"/>
              </a:ext>
            </a:extLst>
          </p:cNvPr>
          <p:cNvSpPr/>
          <p:nvPr/>
        </p:nvSpPr>
        <p:spPr>
          <a:xfrm>
            <a:off x="8145145" y="372173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 name="Rectangle 328">
            <a:extLst>
              <a:ext uri="{FF2B5EF4-FFF2-40B4-BE49-F238E27FC236}">
                <a16:creationId xmlns:a16="http://schemas.microsoft.com/office/drawing/2014/main" id="{334F91B4-6C73-AB65-E634-5AD76286045E}"/>
              </a:ext>
            </a:extLst>
          </p:cNvPr>
          <p:cNvSpPr/>
          <p:nvPr/>
        </p:nvSpPr>
        <p:spPr>
          <a:xfrm>
            <a:off x="8273415" y="372173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 name="Rectangle 329">
            <a:extLst>
              <a:ext uri="{FF2B5EF4-FFF2-40B4-BE49-F238E27FC236}">
                <a16:creationId xmlns:a16="http://schemas.microsoft.com/office/drawing/2014/main" id="{EA2B9F1B-C2E1-604C-9EBB-AE2870A62802}"/>
              </a:ext>
            </a:extLst>
          </p:cNvPr>
          <p:cNvSpPr/>
          <p:nvPr/>
        </p:nvSpPr>
        <p:spPr>
          <a:xfrm>
            <a:off x="6349365" y="385000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Rectangle 330">
            <a:extLst>
              <a:ext uri="{FF2B5EF4-FFF2-40B4-BE49-F238E27FC236}">
                <a16:creationId xmlns:a16="http://schemas.microsoft.com/office/drawing/2014/main" id="{34359E5E-375D-5FCB-D415-6C7F3E05B21B}"/>
              </a:ext>
            </a:extLst>
          </p:cNvPr>
          <p:cNvSpPr/>
          <p:nvPr/>
        </p:nvSpPr>
        <p:spPr>
          <a:xfrm>
            <a:off x="6477635" y="3850005"/>
            <a:ext cx="109219"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 name="Rectangle 331">
            <a:extLst>
              <a:ext uri="{FF2B5EF4-FFF2-40B4-BE49-F238E27FC236}">
                <a16:creationId xmlns:a16="http://schemas.microsoft.com/office/drawing/2014/main" id="{953CE4B0-CA1F-816A-EB3F-4755066C644C}"/>
              </a:ext>
            </a:extLst>
          </p:cNvPr>
          <p:cNvSpPr/>
          <p:nvPr/>
        </p:nvSpPr>
        <p:spPr>
          <a:xfrm>
            <a:off x="6605905" y="385000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Rectangle 332">
            <a:extLst>
              <a:ext uri="{FF2B5EF4-FFF2-40B4-BE49-F238E27FC236}">
                <a16:creationId xmlns:a16="http://schemas.microsoft.com/office/drawing/2014/main" id="{3AAF2EC0-8BE6-05A8-7CC0-93CB97F7C93B}"/>
              </a:ext>
            </a:extLst>
          </p:cNvPr>
          <p:cNvSpPr/>
          <p:nvPr/>
        </p:nvSpPr>
        <p:spPr>
          <a:xfrm>
            <a:off x="6734175" y="385000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Rectangle 333">
            <a:extLst>
              <a:ext uri="{FF2B5EF4-FFF2-40B4-BE49-F238E27FC236}">
                <a16:creationId xmlns:a16="http://schemas.microsoft.com/office/drawing/2014/main" id="{4C9E7AE0-FB00-E70B-ACFA-D92F7A3ED7A6}"/>
              </a:ext>
            </a:extLst>
          </p:cNvPr>
          <p:cNvSpPr/>
          <p:nvPr/>
        </p:nvSpPr>
        <p:spPr>
          <a:xfrm>
            <a:off x="6862445" y="385000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Rectangle 334">
            <a:extLst>
              <a:ext uri="{FF2B5EF4-FFF2-40B4-BE49-F238E27FC236}">
                <a16:creationId xmlns:a16="http://schemas.microsoft.com/office/drawing/2014/main" id="{D1D3926D-5DD4-47CD-744D-A06FEB161F60}"/>
              </a:ext>
            </a:extLst>
          </p:cNvPr>
          <p:cNvSpPr/>
          <p:nvPr/>
        </p:nvSpPr>
        <p:spPr>
          <a:xfrm>
            <a:off x="6990715" y="385000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Rectangle 335">
            <a:extLst>
              <a:ext uri="{FF2B5EF4-FFF2-40B4-BE49-F238E27FC236}">
                <a16:creationId xmlns:a16="http://schemas.microsoft.com/office/drawing/2014/main" id="{F2CFA15D-DBCB-B106-F7D5-97B46E0FFFED}"/>
              </a:ext>
            </a:extLst>
          </p:cNvPr>
          <p:cNvSpPr/>
          <p:nvPr/>
        </p:nvSpPr>
        <p:spPr>
          <a:xfrm>
            <a:off x="7118985" y="3850005"/>
            <a:ext cx="109219"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Rectangle 336">
            <a:extLst>
              <a:ext uri="{FF2B5EF4-FFF2-40B4-BE49-F238E27FC236}">
                <a16:creationId xmlns:a16="http://schemas.microsoft.com/office/drawing/2014/main" id="{5E21C082-4168-D4B5-C32E-663BA14D8D11}"/>
              </a:ext>
            </a:extLst>
          </p:cNvPr>
          <p:cNvSpPr/>
          <p:nvPr/>
        </p:nvSpPr>
        <p:spPr>
          <a:xfrm>
            <a:off x="7247255" y="385000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Rectangle 337">
            <a:extLst>
              <a:ext uri="{FF2B5EF4-FFF2-40B4-BE49-F238E27FC236}">
                <a16:creationId xmlns:a16="http://schemas.microsoft.com/office/drawing/2014/main" id="{458DFAF4-35D2-AF44-6C75-6308BB63B859}"/>
              </a:ext>
            </a:extLst>
          </p:cNvPr>
          <p:cNvSpPr/>
          <p:nvPr/>
        </p:nvSpPr>
        <p:spPr>
          <a:xfrm>
            <a:off x="7375525" y="385000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Rectangle 338">
            <a:extLst>
              <a:ext uri="{FF2B5EF4-FFF2-40B4-BE49-F238E27FC236}">
                <a16:creationId xmlns:a16="http://schemas.microsoft.com/office/drawing/2014/main" id="{0CD579D0-7CD4-18CB-F0DA-4A40E19BF980}"/>
              </a:ext>
            </a:extLst>
          </p:cNvPr>
          <p:cNvSpPr/>
          <p:nvPr/>
        </p:nvSpPr>
        <p:spPr>
          <a:xfrm>
            <a:off x="7503795" y="385000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Rectangle 339">
            <a:extLst>
              <a:ext uri="{FF2B5EF4-FFF2-40B4-BE49-F238E27FC236}">
                <a16:creationId xmlns:a16="http://schemas.microsoft.com/office/drawing/2014/main" id="{2C8BF021-F509-3FC5-0209-0667CECEA799}"/>
              </a:ext>
            </a:extLst>
          </p:cNvPr>
          <p:cNvSpPr/>
          <p:nvPr/>
        </p:nvSpPr>
        <p:spPr>
          <a:xfrm>
            <a:off x="7632065" y="385000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Rectangle 340">
            <a:extLst>
              <a:ext uri="{FF2B5EF4-FFF2-40B4-BE49-F238E27FC236}">
                <a16:creationId xmlns:a16="http://schemas.microsoft.com/office/drawing/2014/main" id="{0DC13B36-2D70-6194-1F34-4617750DEFCD}"/>
              </a:ext>
            </a:extLst>
          </p:cNvPr>
          <p:cNvSpPr/>
          <p:nvPr/>
        </p:nvSpPr>
        <p:spPr>
          <a:xfrm>
            <a:off x="7760335" y="3850005"/>
            <a:ext cx="109219"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Rectangle 341">
            <a:extLst>
              <a:ext uri="{FF2B5EF4-FFF2-40B4-BE49-F238E27FC236}">
                <a16:creationId xmlns:a16="http://schemas.microsoft.com/office/drawing/2014/main" id="{D561F818-362B-76E7-D80B-1FD639F55A79}"/>
              </a:ext>
            </a:extLst>
          </p:cNvPr>
          <p:cNvSpPr/>
          <p:nvPr/>
        </p:nvSpPr>
        <p:spPr>
          <a:xfrm>
            <a:off x="7888605" y="385000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Rectangle 342">
            <a:extLst>
              <a:ext uri="{FF2B5EF4-FFF2-40B4-BE49-F238E27FC236}">
                <a16:creationId xmlns:a16="http://schemas.microsoft.com/office/drawing/2014/main" id="{3BE66BA2-6B5C-6521-6424-77B94795EFDB}"/>
              </a:ext>
            </a:extLst>
          </p:cNvPr>
          <p:cNvSpPr/>
          <p:nvPr/>
        </p:nvSpPr>
        <p:spPr>
          <a:xfrm>
            <a:off x="8016875" y="385000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 name="Rectangle 343">
            <a:extLst>
              <a:ext uri="{FF2B5EF4-FFF2-40B4-BE49-F238E27FC236}">
                <a16:creationId xmlns:a16="http://schemas.microsoft.com/office/drawing/2014/main" id="{8A79660A-FDD8-9180-50D6-D46104A9E818}"/>
              </a:ext>
            </a:extLst>
          </p:cNvPr>
          <p:cNvSpPr/>
          <p:nvPr/>
        </p:nvSpPr>
        <p:spPr>
          <a:xfrm>
            <a:off x="8145145" y="385000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Rectangle 344">
            <a:extLst>
              <a:ext uri="{FF2B5EF4-FFF2-40B4-BE49-F238E27FC236}">
                <a16:creationId xmlns:a16="http://schemas.microsoft.com/office/drawing/2014/main" id="{F57D38DC-E68C-D18A-FC7F-6AABB7E29137}"/>
              </a:ext>
            </a:extLst>
          </p:cNvPr>
          <p:cNvSpPr/>
          <p:nvPr/>
        </p:nvSpPr>
        <p:spPr>
          <a:xfrm>
            <a:off x="8273415" y="385000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25121694-0306-E756-52B2-9CF45F088E77}"/>
              </a:ext>
            </a:extLst>
          </p:cNvPr>
          <p:cNvSpPr/>
          <p:nvPr/>
        </p:nvSpPr>
        <p:spPr>
          <a:xfrm>
            <a:off x="6349365" y="397827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Rectangle 346">
            <a:extLst>
              <a:ext uri="{FF2B5EF4-FFF2-40B4-BE49-F238E27FC236}">
                <a16:creationId xmlns:a16="http://schemas.microsoft.com/office/drawing/2014/main" id="{3DADEDA9-0D03-199E-B17B-4E890CB950C0}"/>
              </a:ext>
            </a:extLst>
          </p:cNvPr>
          <p:cNvSpPr/>
          <p:nvPr/>
        </p:nvSpPr>
        <p:spPr>
          <a:xfrm>
            <a:off x="6477635" y="3978275"/>
            <a:ext cx="109219"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6D338DEE-599D-0424-F984-4E51BAED7488}"/>
              </a:ext>
            </a:extLst>
          </p:cNvPr>
          <p:cNvSpPr/>
          <p:nvPr/>
        </p:nvSpPr>
        <p:spPr>
          <a:xfrm>
            <a:off x="6605905" y="397827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Rectangle 348">
            <a:extLst>
              <a:ext uri="{FF2B5EF4-FFF2-40B4-BE49-F238E27FC236}">
                <a16:creationId xmlns:a16="http://schemas.microsoft.com/office/drawing/2014/main" id="{BA137D1D-AACA-D9ED-2475-68DFCF72320E}"/>
              </a:ext>
            </a:extLst>
          </p:cNvPr>
          <p:cNvSpPr/>
          <p:nvPr/>
        </p:nvSpPr>
        <p:spPr>
          <a:xfrm>
            <a:off x="6734175" y="397827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Rectangle 349">
            <a:extLst>
              <a:ext uri="{FF2B5EF4-FFF2-40B4-BE49-F238E27FC236}">
                <a16:creationId xmlns:a16="http://schemas.microsoft.com/office/drawing/2014/main" id="{E9D7FE05-A567-B6E8-6D48-B92D16D8EDF8}"/>
              </a:ext>
            </a:extLst>
          </p:cNvPr>
          <p:cNvSpPr/>
          <p:nvPr/>
        </p:nvSpPr>
        <p:spPr>
          <a:xfrm>
            <a:off x="6862445" y="397827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 name="Rectangle 350">
            <a:extLst>
              <a:ext uri="{FF2B5EF4-FFF2-40B4-BE49-F238E27FC236}">
                <a16:creationId xmlns:a16="http://schemas.microsoft.com/office/drawing/2014/main" id="{A6AA4812-48A9-5E46-9C6B-6C2CFA64D848}"/>
              </a:ext>
            </a:extLst>
          </p:cNvPr>
          <p:cNvSpPr/>
          <p:nvPr/>
        </p:nvSpPr>
        <p:spPr>
          <a:xfrm>
            <a:off x="6990715" y="397827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 name="Rectangle 351">
            <a:extLst>
              <a:ext uri="{FF2B5EF4-FFF2-40B4-BE49-F238E27FC236}">
                <a16:creationId xmlns:a16="http://schemas.microsoft.com/office/drawing/2014/main" id="{664A9CFD-1A00-171D-7FDF-CDDD36F8F9F1}"/>
              </a:ext>
            </a:extLst>
          </p:cNvPr>
          <p:cNvSpPr/>
          <p:nvPr/>
        </p:nvSpPr>
        <p:spPr>
          <a:xfrm>
            <a:off x="7118985" y="3978275"/>
            <a:ext cx="109219"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 name="Rectangle 352">
            <a:extLst>
              <a:ext uri="{FF2B5EF4-FFF2-40B4-BE49-F238E27FC236}">
                <a16:creationId xmlns:a16="http://schemas.microsoft.com/office/drawing/2014/main" id="{1EE7ECCA-8631-0371-D0F4-C945D80A385E}"/>
              </a:ext>
            </a:extLst>
          </p:cNvPr>
          <p:cNvSpPr/>
          <p:nvPr/>
        </p:nvSpPr>
        <p:spPr>
          <a:xfrm>
            <a:off x="7247255" y="397827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Rectangle 353">
            <a:extLst>
              <a:ext uri="{FF2B5EF4-FFF2-40B4-BE49-F238E27FC236}">
                <a16:creationId xmlns:a16="http://schemas.microsoft.com/office/drawing/2014/main" id="{EEB1647E-366D-9533-4ADF-6FDE6833C26A}"/>
              </a:ext>
            </a:extLst>
          </p:cNvPr>
          <p:cNvSpPr/>
          <p:nvPr/>
        </p:nvSpPr>
        <p:spPr>
          <a:xfrm>
            <a:off x="7375525" y="397827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Rectangle 354">
            <a:extLst>
              <a:ext uri="{FF2B5EF4-FFF2-40B4-BE49-F238E27FC236}">
                <a16:creationId xmlns:a16="http://schemas.microsoft.com/office/drawing/2014/main" id="{6A6EECC6-EFA9-EEBD-7450-47779DF4B26D}"/>
              </a:ext>
            </a:extLst>
          </p:cNvPr>
          <p:cNvSpPr/>
          <p:nvPr/>
        </p:nvSpPr>
        <p:spPr>
          <a:xfrm>
            <a:off x="7503795" y="397827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Rectangle 355">
            <a:extLst>
              <a:ext uri="{FF2B5EF4-FFF2-40B4-BE49-F238E27FC236}">
                <a16:creationId xmlns:a16="http://schemas.microsoft.com/office/drawing/2014/main" id="{304D9D76-4435-7D03-CB94-C125E2492125}"/>
              </a:ext>
            </a:extLst>
          </p:cNvPr>
          <p:cNvSpPr/>
          <p:nvPr/>
        </p:nvSpPr>
        <p:spPr>
          <a:xfrm>
            <a:off x="7632065" y="397827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 name="Rectangle 356">
            <a:extLst>
              <a:ext uri="{FF2B5EF4-FFF2-40B4-BE49-F238E27FC236}">
                <a16:creationId xmlns:a16="http://schemas.microsoft.com/office/drawing/2014/main" id="{472F6968-6C1B-BEAE-4985-6E6174F91562}"/>
              </a:ext>
            </a:extLst>
          </p:cNvPr>
          <p:cNvSpPr/>
          <p:nvPr/>
        </p:nvSpPr>
        <p:spPr>
          <a:xfrm>
            <a:off x="7760335" y="3978275"/>
            <a:ext cx="109219"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Rectangle 357">
            <a:extLst>
              <a:ext uri="{FF2B5EF4-FFF2-40B4-BE49-F238E27FC236}">
                <a16:creationId xmlns:a16="http://schemas.microsoft.com/office/drawing/2014/main" id="{9E59010E-9CAC-374A-C5BC-C5382AFD26BC}"/>
              </a:ext>
            </a:extLst>
          </p:cNvPr>
          <p:cNvSpPr/>
          <p:nvPr/>
        </p:nvSpPr>
        <p:spPr>
          <a:xfrm>
            <a:off x="7888605" y="397827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Rectangle 358">
            <a:extLst>
              <a:ext uri="{FF2B5EF4-FFF2-40B4-BE49-F238E27FC236}">
                <a16:creationId xmlns:a16="http://schemas.microsoft.com/office/drawing/2014/main" id="{002673B2-0707-2E7B-50B4-06004A067B94}"/>
              </a:ext>
            </a:extLst>
          </p:cNvPr>
          <p:cNvSpPr/>
          <p:nvPr/>
        </p:nvSpPr>
        <p:spPr>
          <a:xfrm>
            <a:off x="8016875" y="397827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CCF82362-202B-1BE3-C2E3-74C2F82B68F7}"/>
              </a:ext>
            </a:extLst>
          </p:cNvPr>
          <p:cNvSpPr/>
          <p:nvPr/>
        </p:nvSpPr>
        <p:spPr>
          <a:xfrm>
            <a:off x="8145145" y="397827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Rectangle 360">
            <a:extLst>
              <a:ext uri="{FF2B5EF4-FFF2-40B4-BE49-F238E27FC236}">
                <a16:creationId xmlns:a16="http://schemas.microsoft.com/office/drawing/2014/main" id="{4D1F556D-14C9-BFB2-9FF9-4EA31A1E1C5B}"/>
              </a:ext>
            </a:extLst>
          </p:cNvPr>
          <p:cNvSpPr/>
          <p:nvPr/>
        </p:nvSpPr>
        <p:spPr>
          <a:xfrm>
            <a:off x="8273415" y="397827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 name="Rectangle 361">
            <a:extLst>
              <a:ext uri="{FF2B5EF4-FFF2-40B4-BE49-F238E27FC236}">
                <a16:creationId xmlns:a16="http://schemas.microsoft.com/office/drawing/2014/main" id="{A6B3CC10-1EA0-2773-D36B-29E734B2EA0E}"/>
              </a:ext>
            </a:extLst>
          </p:cNvPr>
          <p:cNvSpPr/>
          <p:nvPr/>
        </p:nvSpPr>
        <p:spPr>
          <a:xfrm>
            <a:off x="6349365" y="410654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Rectangle 362">
            <a:extLst>
              <a:ext uri="{FF2B5EF4-FFF2-40B4-BE49-F238E27FC236}">
                <a16:creationId xmlns:a16="http://schemas.microsoft.com/office/drawing/2014/main" id="{BE675C15-D515-FDB6-FF2B-976822EF0357}"/>
              </a:ext>
            </a:extLst>
          </p:cNvPr>
          <p:cNvSpPr/>
          <p:nvPr/>
        </p:nvSpPr>
        <p:spPr>
          <a:xfrm>
            <a:off x="6477635" y="4106545"/>
            <a:ext cx="109219"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 name="Rectangle 363">
            <a:extLst>
              <a:ext uri="{FF2B5EF4-FFF2-40B4-BE49-F238E27FC236}">
                <a16:creationId xmlns:a16="http://schemas.microsoft.com/office/drawing/2014/main" id="{E946B400-E7D1-5AFE-0BBD-25CB39E9D3B6}"/>
              </a:ext>
            </a:extLst>
          </p:cNvPr>
          <p:cNvSpPr/>
          <p:nvPr/>
        </p:nvSpPr>
        <p:spPr>
          <a:xfrm>
            <a:off x="6605905" y="410654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Rectangle 364">
            <a:extLst>
              <a:ext uri="{FF2B5EF4-FFF2-40B4-BE49-F238E27FC236}">
                <a16:creationId xmlns:a16="http://schemas.microsoft.com/office/drawing/2014/main" id="{F5753EE0-7A54-CD18-68EC-26443C1AB65B}"/>
              </a:ext>
            </a:extLst>
          </p:cNvPr>
          <p:cNvSpPr/>
          <p:nvPr/>
        </p:nvSpPr>
        <p:spPr>
          <a:xfrm>
            <a:off x="6734175" y="410654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Rectangle 365">
            <a:extLst>
              <a:ext uri="{FF2B5EF4-FFF2-40B4-BE49-F238E27FC236}">
                <a16:creationId xmlns:a16="http://schemas.microsoft.com/office/drawing/2014/main" id="{0D1F9D29-BB64-6632-5F89-452B0AEDFA10}"/>
              </a:ext>
            </a:extLst>
          </p:cNvPr>
          <p:cNvSpPr/>
          <p:nvPr/>
        </p:nvSpPr>
        <p:spPr>
          <a:xfrm>
            <a:off x="6862445" y="410654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 name="Rectangle 366">
            <a:extLst>
              <a:ext uri="{FF2B5EF4-FFF2-40B4-BE49-F238E27FC236}">
                <a16:creationId xmlns:a16="http://schemas.microsoft.com/office/drawing/2014/main" id="{B1F9B0C0-F07B-59FA-554F-959E68E05FB7}"/>
              </a:ext>
            </a:extLst>
          </p:cNvPr>
          <p:cNvSpPr/>
          <p:nvPr/>
        </p:nvSpPr>
        <p:spPr>
          <a:xfrm>
            <a:off x="6990715" y="410654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Rectangle 367">
            <a:extLst>
              <a:ext uri="{FF2B5EF4-FFF2-40B4-BE49-F238E27FC236}">
                <a16:creationId xmlns:a16="http://schemas.microsoft.com/office/drawing/2014/main" id="{C5071E38-C402-7775-440E-4B8418D59BFB}"/>
              </a:ext>
            </a:extLst>
          </p:cNvPr>
          <p:cNvSpPr/>
          <p:nvPr/>
        </p:nvSpPr>
        <p:spPr>
          <a:xfrm>
            <a:off x="7118985" y="4106545"/>
            <a:ext cx="109219"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Rectangle 368">
            <a:extLst>
              <a:ext uri="{FF2B5EF4-FFF2-40B4-BE49-F238E27FC236}">
                <a16:creationId xmlns:a16="http://schemas.microsoft.com/office/drawing/2014/main" id="{5F78E260-0FBE-187E-0F42-2A49CBBED015}"/>
              </a:ext>
            </a:extLst>
          </p:cNvPr>
          <p:cNvSpPr/>
          <p:nvPr/>
        </p:nvSpPr>
        <p:spPr>
          <a:xfrm>
            <a:off x="7247255" y="410654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Rectangle 369">
            <a:extLst>
              <a:ext uri="{FF2B5EF4-FFF2-40B4-BE49-F238E27FC236}">
                <a16:creationId xmlns:a16="http://schemas.microsoft.com/office/drawing/2014/main" id="{4CD0FB3F-9EDE-1A11-554D-A9E3EE1376D4}"/>
              </a:ext>
            </a:extLst>
          </p:cNvPr>
          <p:cNvSpPr/>
          <p:nvPr/>
        </p:nvSpPr>
        <p:spPr>
          <a:xfrm>
            <a:off x="7375525" y="410654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 name="Rectangle 370">
            <a:extLst>
              <a:ext uri="{FF2B5EF4-FFF2-40B4-BE49-F238E27FC236}">
                <a16:creationId xmlns:a16="http://schemas.microsoft.com/office/drawing/2014/main" id="{B21FCA42-1613-D750-2554-B44F7DCCF9D4}"/>
              </a:ext>
            </a:extLst>
          </p:cNvPr>
          <p:cNvSpPr/>
          <p:nvPr/>
        </p:nvSpPr>
        <p:spPr>
          <a:xfrm>
            <a:off x="7503795" y="410654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Rectangle 371">
            <a:extLst>
              <a:ext uri="{FF2B5EF4-FFF2-40B4-BE49-F238E27FC236}">
                <a16:creationId xmlns:a16="http://schemas.microsoft.com/office/drawing/2014/main" id="{97FAE035-F8B4-69E3-F6AA-97E9DE8882D3}"/>
              </a:ext>
            </a:extLst>
          </p:cNvPr>
          <p:cNvSpPr/>
          <p:nvPr/>
        </p:nvSpPr>
        <p:spPr>
          <a:xfrm>
            <a:off x="7632065" y="410654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Rectangle 372">
            <a:extLst>
              <a:ext uri="{FF2B5EF4-FFF2-40B4-BE49-F238E27FC236}">
                <a16:creationId xmlns:a16="http://schemas.microsoft.com/office/drawing/2014/main" id="{651DCFAC-8E2D-8C40-197C-F6F8BCACA170}"/>
              </a:ext>
            </a:extLst>
          </p:cNvPr>
          <p:cNvSpPr/>
          <p:nvPr/>
        </p:nvSpPr>
        <p:spPr>
          <a:xfrm>
            <a:off x="7760335" y="4106545"/>
            <a:ext cx="109219"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 name="Rectangle 373">
            <a:extLst>
              <a:ext uri="{FF2B5EF4-FFF2-40B4-BE49-F238E27FC236}">
                <a16:creationId xmlns:a16="http://schemas.microsoft.com/office/drawing/2014/main" id="{9E2FC288-7139-AE1A-BD36-717C3A5CC4D4}"/>
              </a:ext>
            </a:extLst>
          </p:cNvPr>
          <p:cNvSpPr/>
          <p:nvPr/>
        </p:nvSpPr>
        <p:spPr>
          <a:xfrm>
            <a:off x="7888605" y="410654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 name="Rectangle 374">
            <a:extLst>
              <a:ext uri="{FF2B5EF4-FFF2-40B4-BE49-F238E27FC236}">
                <a16:creationId xmlns:a16="http://schemas.microsoft.com/office/drawing/2014/main" id="{85FD61AA-F88A-4901-9D3F-3583EEAB6500}"/>
              </a:ext>
            </a:extLst>
          </p:cNvPr>
          <p:cNvSpPr/>
          <p:nvPr/>
        </p:nvSpPr>
        <p:spPr>
          <a:xfrm>
            <a:off x="8016875" y="410654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6" name="Rectangle 375">
            <a:extLst>
              <a:ext uri="{FF2B5EF4-FFF2-40B4-BE49-F238E27FC236}">
                <a16:creationId xmlns:a16="http://schemas.microsoft.com/office/drawing/2014/main" id="{E7C26886-F1BD-3C28-E5CE-EE1BDC02F677}"/>
              </a:ext>
            </a:extLst>
          </p:cNvPr>
          <p:cNvSpPr/>
          <p:nvPr/>
        </p:nvSpPr>
        <p:spPr>
          <a:xfrm>
            <a:off x="8145145" y="410654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7" name="Rectangle 376">
            <a:extLst>
              <a:ext uri="{FF2B5EF4-FFF2-40B4-BE49-F238E27FC236}">
                <a16:creationId xmlns:a16="http://schemas.microsoft.com/office/drawing/2014/main" id="{02EA8464-D837-B9C5-66A7-45D69085F9BB}"/>
              </a:ext>
            </a:extLst>
          </p:cNvPr>
          <p:cNvSpPr/>
          <p:nvPr/>
        </p:nvSpPr>
        <p:spPr>
          <a:xfrm>
            <a:off x="8273415" y="410654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 name="Rectangle 377">
            <a:extLst>
              <a:ext uri="{FF2B5EF4-FFF2-40B4-BE49-F238E27FC236}">
                <a16:creationId xmlns:a16="http://schemas.microsoft.com/office/drawing/2014/main" id="{0D92AF44-4AD0-D724-C086-23E247A3D473}"/>
              </a:ext>
            </a:extLst>
          </p:cNvPr>
          <p:cNvSpPr/>
          <p:nvPr/>
        </p:nvSpPr>
        <p:spPr>
          <a:xfrm>
            <a:off x="6349365" y="423481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9" name="Rectangle 378">
            <a:extLst>
              <a:ext uri="{FF2B5EF4-FFF2-40B4-BE49-F238E27FC236}">
                <a16:creationId xmlns:a16="http://schemas.microsoft.com/office/drawing/2014/main" id="{0F3DEA07-363F-8D13-3169-B3DA25EC5047}"/>
              </a:ext>
            </a:extLst>
          </p:cNvPr>
          <p:cNvSpPr/>
          <p:nvPr/>
        </p:nvSpPr>
        <p:spPr>
          <a:xfrm>
            <a:off x="6477635" y="4234815"/>
            <a:ext cx="109219"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0" name="Rectangle 379">
            <a:extLst>
              <a:ext uri="{FF2B5EF4-FFF2-40B4-BE49-F238E27FC236}">
                <a16:creationId xmlns:a16="http://schemas.microsoft.com/office/drawing/2014/main" id="{3A4C94C6-9CD3-5DFA-E815-3362C492BD16}"/>
              </a:ext>
            </a:extLst>
          </p:cNvPr>
          <p:cNvSpPr/>
          <p:nvPr/>
        </p:nvSpPr>
        <p:spPr>
          <a:xfrm>
            <a:off x="6605905" y="423481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Rectangle 380">
            <a:extLst>
              <a:ext uri="{FF2B5EF4-FFF2-40B4-BE49-F238E27FC236}">
                <a16:creationId xmlns:a16="http://schemas.microsoft.com/office/drawing/2014/main" id="{343D66AD-163D-F3A9-24A1-869545F05E68}"/>
              </a:ext>
            </a:extLst>
          </p:cNvPr>
          <p:cNvSpPr/>
          <p:nvPr/>
        </p:nvSpPr>
        <p:spPr>
          <a:xfrm>
            <a:off x="6734175" y="423481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2" name="Rectangle 381">
            <a:extLst>
              <a:ext uri="{FF2B5EF4-FFF2-40B4-BE49-F238E27FC236}">
                <a16:creationId xmlns:a16="http://schemas.microsoft.com/office/drawing/2014/main" id="{6CE1AD04-F6BC-2B68-09C3-B7BD93AA4863}"/>
              </a:ext>
            </a:extLst>
          </p:cNvPr>
          <p:cNvSpPr/>
          <p:nvPr/>
        </p:nvSpPr>
        <p:spPr>
          <a:xfrm>
            <a:off x="6862445" y="423481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3" name="Rectangle 382">
            <a:extLst>
              <a:ext uri="{FF2B5EF4-FFF2-40B4-BE49-F238E27FC236}">
                <a16:creationId xmlns:a16="http://schemas.microsoft.com/office/drawing/2014/main" id="{B3DE6E85-FE47-1908-FFBC-9F00289EE3FF}"/>
              </a:ext>
            </a:extLst>
          </p:cNvPr>
          <p:cNvSpPr/>
          <p:nvPr/>
        </p:nvSpPr>
        <p:spPr>
          <a:xfrm>
            <a:off x="6990715" y="423481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4" name="Rectangle 383">
            <a:extLst>
              <a:ext uri="{FF2B5EF4-FFF2-40B4-BE49-F238E27FC236}">
                <a16:creationId xmlns:a16="http://schemas.microsoft.com/office/drawing/2014/main" id="{D210C877-C6B1-2861-7115-140493C4AA9B}"/>
              </a:ext>
            </a:extLst>
          </p:cNvPr>
          <p:cNvSpPr/>
          <p:nvPr/>
        </p:nvSpPr>
        <p:spPr>
          <a:xfrm>
            <a:off x="7118985" y="4234815"/>
            <a:ext cx="109219"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 name="Rectangle 384">
            <a:extLst>
              <a:ext uri="{FF2B5EF4-FFF2-40B4-BE49-F238E27FC236}">
                <a16:creationId xmlns:a16="http://schemas.microsoft.com/office/drawing/2014/main" id="{83F9553D-E82A-5409-5671-E4EB69CAB3FB}"/>
              </a:ext>
            </a:extLst>
          </p:cNvPr>
          <p:cNvSpPr/>
          <p:nvPr/>
        </p:nvSpPr>
        <p:spPr>
          <a:xfrm>
            <a:off x="7247255" y="423481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 name="Rectangle 385">
            <a:extLst>
              <a:ext uri="{FF2B5EF4-FFF2-40B4-BE49-F238E27FC236}">
                <a16:creationId xmlns:a16="http://schemas.microsoft.com/office/drawing/2014/main" id="{CA66D804-060B-8FA1-2B59-728D659638AB}"/>
              </a:ext>
            </a:extLst>
          </p:cNvPr>
          <p:cNvSpPr/>
          <p:nvPr/>
        </p:nvSpPr>
        <p:spPr>
          <a:xfrm>
            <a:off x="7375525" y="423481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 name="Rectangle 386">
            <a:extLst>
              <a:ext uri="{FF2B5EF4-FFF2-40B4-BE49-F238E27FC236}">
                <a16:creationId xmlns:a16="http://schemas.microsoft.com/office/drawing/2014/main" id="{4961ECBF-09D2-A454-2F5B-ADB75AD67D1F}"/>
              </a:ext>
            </a:extLst>
          </p:cNvPr>
          <p:cNvSpPr/>
          <p:nvPr/>
        </p:nvSpPr>
        <p:spPr>
          <a:xfrm>
            <a:off x="7503795" y="423481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8" name="Rectangle 387">
            <a:extLst>
              <a:ext uri="{FF2B5EF4-FFF2-40B4-BE49-F238E27FC236}">
                <a16:creationId xmlns:a16="http://schemas.microsoft.com/office/drawing/2014/main" id="{0E5FBB98-6A84-C5B6-BE5B-4D19A0C3B2E8}"/>
              </a:ext>
            </a:extLst>
          </p:cNvPr>
          <p:cNvSpPr/>
          <p:nvPr/>
        </p:nvSpPr>
        <p:spPr>
          <a:xfrm>
            <a:off x="7632065" y="423481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 name="Rectangle 388">
            <a:extLst>
              <a:ext uri="{FF2B5EF4-FFF2-40B4-BE49-F238E27FC236}">
                <a16:creationId xmlns:a16="http://schemas.microsoft.com/office/drawing/2014/main" id="{BC0148B4-52D9-E250-91C1-BC0991B866AB}"/>
              </a:ext>
            </a:extLst>
          </p:cNvPr>
          <p:cNvSpPr/>
          <p:nvPr/>
        </p:nvSpPr>
        <p:spPr>
          <a:xfrm>
            <a:off x="7760335" y="4234815"/>
            <a:ext cx="109219"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 name="Rectangle 389">
            <a:extLst>
              <a:ext uri="{FF2B5EF4-FFF2-40B4-BE49-F238E27FC236}">
                <a16:creationId xmlns:a16="http://schemas.microsoft.com/office/drawing/2014/main" id="{0D0D7755-1622-F6F5-9CB5-C4997D2CDCDB}"/>
              </a:ext>
            </a:extLst>
          </p:cNvPr>
          <p:cNvSpPr/>
          <p:nvPr/>
        </p:nvSpPr>
        <p:spPr>
          <a:xfrm>
            <a:off x="7888605" y="423481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 name="Rectangle 390">
            <a:extLst>
              <a:ext uri="{FF2B5EF4-FFF2-40B4-BE49-F238E27FC236}">
                <a16:creationId xmlns:a16="http://schemas.microsoft.com/office/drawing/2014/main" id="{F100E497-E2A5-24AA-0C41-59436CEC3003}"/>
              </a:ext>
            </a:extLst>
          </p:cNvPr>
          <p:cNvSpPr/>
          <p:nvPr/>
        </p:nvSpPr>
        <p:spPr>
          <a:xfrm>
            <a:off x="8016875" y="4234815"/>
            <a:ext cx="109220"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 name="Rectangle 391">
            <a:extLst>
              <a:ext uri="{FF2B5EF4-FFF2-40B4-BE49-F238E27FC236}">
                <a16:creationId xmlns:a16="http://schemas.microsoft.com/office/drawing/2014/main" id="{E082E583-F1EB-39A1-5B11-ACF1278CA589}"/>
              </a:ext>
            </a:extLst>
          </p:cNvPr>
          <p:cNvSpPr/>
          <p:nvPr/>
        </p:nvSpPr>
        <p:spPr>
          <a:xfrm>
            <a:off x="8145145" y="423481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 name="Rectangle 392">
            <a:extLst>
              <a:ext uri="{FF2B5EF4-FFF2-40B4-BE49-F238E27FC236}">
                <a16:creationId xmlns:a16="http://schemas.microsoft.com/office/drawing/2014/main" id="{7DDBD523-39A2-A659-3182-6E8A8557D07B}"/>
              </a:ext>
            </a:extLst>
          </p:cNvPr>
          <p:cNvSpPr/>
          <p:nvPr/>
        </p:nvSpPr>
        <p:spPr>
          <a:xfrm>
            <a:off x="8273415" y="423481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 name="Rectangle 393">
            <a:extLst>
              <a:ext uri="{FF2B5EF4-FFF2-40B4-BE49-F238E27FC236}">
                <a16:creationId xmlns:a16="http://schemas.microsoft.com/office/drawing/2014/main" id="{D946B1DD-4C27-EFD1-E618-EFC379259253}"/>
              </a:ext>
            </a:extLst>
          </p:cNvPr>
          <p:cNvSpPr/>
          <p:nvPr/>
        </p:nvSpPr>
        <p:spPr>
          <a:xfrm>
            <a:off x="6349365" y="436308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Rectangle 394">
            <a:extLst>
              <a:ext uri="{FF2B5EF4-FFF2-40B4-BE49-F238E27FC236}">
                <a16:creationId xmlns:a16="http://schemas.microsoft.com/office/drawing/2014/main" id="{EAEBF9B5-16C7-7667-F30F-A7E1A9A8453F}"/>
              </a:ext>
            </a:extLst>
          </p:cNvPr>
          <p:cNvSpPr/>
          <p:nvPr/>
        </p:nvSpPr>
        <p:spPr>
          <a:xfrm>
            <a:off x="6477635" y="4363085"/>
            <a:ext cx="109219"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 name="Rectangle 395">
            <a:extLst>
              <a:ext uri="{FF2B5EF4-FFF2-40B4-BE49-F238E27FC236}">
                <a16:creationId xmlns:a16="http://schemas.microsoft.com/office/drawing/2014/main" id="{90335F03-2FDC-BFA4-7005-AF6C44DB8033}"/>
              </a:ext>
            </a:extLst>
          </p:cNvPr>
          <p:cNvSpPr/>
          <p:nvPr/>
        </p:nvSpPr>
        <p:spPr>
          <a:xfrm>
            <a:off x="6605905" y="436308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 name="Rectangle 396">
            <a:extLst>
              <a:ext uri="{FF2B5EF4-FFF2-40B4-BE49-F238E27FC236}">
                <a16:creationId xmlns:a16="http://schemas.microsoft.com/office/drawing/2014/main" id="{964691FA-25D8-67E7-ECF8-3B62E201F5F8}"/>
              </a:ext>
            </a:extLst>
          </p:cNvPr>
          <p:cNvSpPr/>
          <p:nvPr/>
        </p:nvSpPr>
        <p:spPr>
          <a:xfrm>
            <a:off x="6734175" y="436308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 name="Rectangle 397">
            <a:extLst>
              <a:ext uri="{FF2B5EF4-FFF2-40B4-BE49-F238E27FC236}">
                <a16:creationId xmlns:a16="http://schemas.microsoft.com/office/drawing/2014/main" id="{1134E7AC-4C43-8DEC-B48D-30EFBC84A133}"/>
              </a:ext>
            </a:extLst>
          </p:cNvPr>
          <p:cNvSpPr/>
          <p:nvPr/>
        </p:nvSpPr>
        <p:spPr>
          <a:xfrm>
            <a:off x="6862445" y="436308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 name="Rectangle 398">
            <a:extLst>
              <a:ext uri="{FF2B5EF4-FFF2-40B4-BE49-F238E27FC236}">
                <a16:creationId xmlns:a16="http://schemas.microsoft.com/office/drawing/2014/main" id="{F403B6A8-6774-AAC3-A15D-3B9BF0DCB776}"/>
              </a:ext>
            </a:extLst>
          </p:cNvPr>
          <p:cNvSpPr/>
          <p:nvPr/>
        </p:nvSpPr>
        <p:spPr>
          <a:xfrm>
            <a:off x="6990715" y="436308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 name="Rectangle 399">
            <a:extLst>
              <a:ext uri="{FF2B5EF4-FFF2-40B4-BE49-F238E27FC236}">
                <a16:creationId xmlns:a16="http://schemas.microsoft.com/office/drawing/2014/main" id="{70A42650-A500-F2DB-E869-07246D7C1D49}"/>
              </a:ext>
            </a:extLst>
          </p:cNvPr>
          <p:cNvSpPr/>
          <p:nvPr/>
        </p:nvSpPr>
        <p:spPr>
          <a:xfrm>
            <a:off x="7118985" y="4363085"/>
            <a:ext cx="109219"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 name="Rectangle 400">
            <a:extLst>
              <a:ext uri="{FF2B5EF4-FFF2-40B4-BE49-F238E27FC236}">
                <a16:creationId xmlns:a16="http://schemas.microsoft.com/office/drawing/2014/main" id="{3AAD909D-CF7C-2522-C516-F5B023727AFB}"/>
              </a:ext>
            </a:extLst>
          </p:cNvPr>
          <p:cNvSpPr/>
          <p:nvPr/>
        </p:nvSpPr>
        <p:spPr>
          <a:xfrm>
            <a:off x="7247255" y="436308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2" name="Rectangle 401">
            <a:extLst>
              <a:ext uri="{FF2B5EF4-FFF2-40B4-BE49-F238E27FC236}">
                <a16:creationId xmlns:a16="http://schemas.microsoft.com/office/drawing/2014/main" id="{BBBF1A93-E11C-7955-EC43-0DED2F0969A3}"/>
              </a:ext>
            </a:extLst>
          </p:cNvPr>
          <p:cNvSpPr/>
          <p:nvPr/>
        </p:nvSpPr>
        <p:spPr>
          <a:xfrm>
            <a:off x="7375525" y="436308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3" name="Rectangle 402">
            <a:extLst>
              <a:ext uri="{FF2B5EF4-FFF2-40B4-BE49-F238E27FC236}">
                <a16:creationId xmlns:a16="http://schemas.microsoft.com/office/drawing/2014/main" id="{9C81672D-0222-80FB-3F35-03AED1E3D3F6}"/>
              </a:ext>
            </a:extLst>
          </p:cNvPr>
          <p:cNvSpPr/>
          <p:nvPr/>
        </p:nvSpPr>
        <p:spPr>
          <a:xfrm>
            <a:off x="7503795" y="4363085"/>
            <a:ext cx="109220"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4" name="Rectangle 403">
            <a:extLst>
              <a:ext uri="{FF2B5EF4-FFF2-40B4-BE49-F238E27FC236}">
                <a16:creationId xmlns:a16="http://schemas.microsoft.com/office/drawing/2014/main" id="{385B068F-CD55-1EF2-EB6F-1DC9D41A32D6}"/>
              </a:ext>
            </a:extLst>
          </p:cNvPr>
          <p:cNvSpPr/>
          <p:nvPr/>
        </p:nvSpPr>
        <p:spPr>
          <a:xfrm>
            <a:off x="7632065" y="436308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5" name="Rectangle 404">
            <a:extLst>
              <a:ext uri="{FF2B5EF4-FFF2-40B4-BE49-F238E27FC236}">
                <a16:creationId xmlns:a16="http://schemas.microsoft.com/office/drawing/2014/main" id="{011E221D-C750-BB1C-02EA-7BD91A58AF63}"/>
              </a:ext>
            </a:extLst>
          </p:cNvPr>
          <p:cNvSpPr/>
          <p:nvPr/>
        </p:nvSpPr>
        <p:spPr>
          <a:xfrm>
            <a:off x="7760335" y="4363085"/>
            <a:ext cx="109219"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6" name="Rectangle 405">
            <a:extLst>
              <a:ext uri="{FF2B5EF4-FFF2-40B4-BE49-F238E27FC236}">
                <a16:creationId xmlns:a16="http://schemas.microsoft.com/office/drawing/2014/main" id="{701B6FF8-36E2-4309-9812-8162E485506A}"/>
              </a:ext>
            </a:extLst>
          </p:cNvPr>
          <p:cNvSpPr/>
          <p:nvPr/>
        </p:nvSpPr>
        <p:spPr>
          <a:xfrm>
            <a:off x="7888605" y="436308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7" name="Rectangle 406">
            <a:extLst>
              <a:ext uri="{FF2B5EF4-FFF2-40B4-BE49-F238E27FC236}">
                <a16:creationId xmlns:a16="http://schemas.microsoft.com/office/drawing/2014/main" id="{90BAE2FE-4617-834B-505D-526A19F356CF}"/>
              </a:ext>
            </a:extLst>
          </p:cNvPr>
          <p:cNvSpPr/>
          <p:nvPr/>
        </p:nvSpPr>
        <p:spPr>
          <a:xfrm>
            <a:off x="8016875" y="436308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8" name="Rectangle 407">
            <a:extLst>
              <a:ext uri="{FF2B5EF4-FFF2-40B4-BE49-F238E27FC236}">
                <a16:creationId xmlns:a16="http://schemas.microsoft.com/office/drawing/2014/main" id="{9AD573EA-B4BB-2756-1544-B960A4DE00A7}"/>
              </a:ext>
            </a:extLst>
          </p:cNvPr>
          <p:cNvSpPr/>
          <p:nvPr/>
        </p:nvSpPr>
        <p:spPr>
          <a:xfrm>
            <a:off x="8145145" y="436308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Rectangle 408">
            <a:extLst>
              <a:ext uri="{FF2B5EF4-FFF2-40B4-BE49-F238E27FC236}">
                <a16:creationId xmlns:a16="http://schemas.microsoft.com/office/drawing/2014/main" id="{A6552014-79B8-9AF1-622F-9FF43AA04921}"/>
              </a:ext>
            </a:extLst>
          </p:cNvPr>
          <p:cNvSpPr/>
          <p:nvPr/>
        </p:nvSpPr>
        <p:spPr>
          <a:xfrm>
            <a:off x="8273415" y="436308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 name="Rectangle 409">
            <a:extLst>
              <a:ext uri="{FF2B5EF4-FFF2-40B4-BE49-F238E27FC236}">
                <a16:creationId xmlns:a16="http://schemas.microsoft.com/office/drawing/2014/main" id="{F754D35C-AC4D-F7E5-406E-3A2F6B54A1FE}"/>
              </a:ext>
            </a:extLst>
          </p:cNvPr>
          <p:cNvSpPr/>
          <p:nvPr/>
        </p:nvSpPr>
        <p:spPr>
          <a:xfrm>
            <a:off x="6349365" y="449135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 name="Rectangle 410">
            <a:extLst>
              <a:ext uri="{FF2B5EF4-FFF2-40B4-BE49-F238E27FC236}">
                <a16:creationId xmlns:a16="http://schemas.microsoft.com/office/drawing/2014/main" id="{493C305D-29D9-D47E-3BE5-61E338502B33}"/>
              </a:ext>
            </a:extLst>
          </p:cNvPr>
          <p:cNvSpPr/>
          <p:nvPr/>
        </p:nvSpPr>
        <p:spPr>
          <a:xfrm>
            <a:off x="6477635" y="4491355"/>
            <a:ext cx="109219"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Rectangle 411">
            <a:extLst>
              <a:ext uri="{FF2B5EF4-FFF2-40B4-BE49-F238E27FC236}">
                <a16:creationId xmlns:a16="http://schemas.microsoft.com/office/drawing/2014/main" id="{C2EF2FE6-F3C0-0981-B80A-B60EACBEC3C5}"/>
              </a:ext>
            </a:extLst>
          </p:cNvPr>
          <p:cNvSpPr/>
          <p:nvPr/>
        </p:nvSpPr>
        <p:spPr>
          <a:xfrm>
            <a:off x="6605905" y="449135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 name="Rectangle 412">
            <a:extLst>
              <a:ext uri="{FF2B5EF4-FFF2-40B4-BE49-F238E27FC236}">
                <a16:creationId xmlns:a16="http://schemas.microsoft.com/office/drawing/2014/main" id="{E61F1A75-0C34-0315-D54A-E9C70EB69F62}"/>
              </a:ext>
            </a:extLst>
          </p:cNvPr>
          <p:cNvSpPr/>
          <p:nvPr/>
        </p:nvSpPr>
        <p:spPr>
          <a:xfrm>
            <a:off x="6734175" y="449135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 name="Rectangle 413">
            <a:extLst>
              <a:ext uri="{FF2B5EF4-FFF2-40B4-BE49-F238E27FC236}">
                <a16:creationId xmlns:a16="http://schemas.microsoft.com/office/drawing/2014/main" id="{B1C3203A-255E-0B3E-1B2E-2AC1B1598C0F}"/>
              </a:ext>
            </a:extLst>
          </p:cNvPr>
          <p:cNvSpPr/>
          <p:nvPr/>
        </p:nvSpPr>
        <p:spPr>
          <a:xfrm>
            <a:off x="6862445" y="449135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 name="Rectangle 414">
            <a:extLst>
              <a:ext uri="{FF2B5EF4-FFF2-40B4-BE49-F238E27FC236}">
                <a16:creationId xmlns:a16="http://schemas.microsoft.com/office/drawing/2014/main" id="{C0B5BBB9-B2F8-525C-F692-ED24213C17F0}"/>
              </a:ext>
            </a:extLst>
          </p:cNvPr>
          <p:cNvSpPr/>
          <p:nvPr/>
        </p:nvSpPr>
        <p:spPr>
          <a:xfrm>
            <a:off x="6990715" y="449135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 name="Rectangle 415">
            <a:extLst>
              <a:ext uri="{FF2B5EF4-FFF2-40B4-BE49-F238E27FC236}">
                <a16:creationId xmlns:a16="http://schemas.microsoft.com/office/drawing/2014/main" id="{2AA38D15-DC2B-B712-168E-4C7DE5F9AB82}"/>
              </a:ext>
            </a:extLst>
          </p:cNvPr>
          <p:cNvSpPr/>
          <p:nvPr/>
        </p:nvSpPr>
        <p:spPr>
          <a:xfrm>
            <a:off x="7118985" y="4491355"/>
            <a:ext cx="109219"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Rectangle 416">
            <a:extLst>
              <a:ext uri="{FF2B5EF4-FFF2-40B4-BE49-F238E27FC236}">
                <a16:creationId xmlns:a16="http://schemas.microsoft.com/office/drawing/2014/main" id="{F0EDAEAC-3114-008A-00BE-91C895C1DA41}"/>
              </a:ext>
            </a:extLst>
          </p:cNvPr>
          <p:cNvSpPr/>
          <p:nvPr/>
        </p:nvSpPr>
        <p:spPr>
          <a:xfrm>
            <a:off x="7247255" y="4491355"/>
            <a:ext cx="109220"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 name="Rectangle 417">
            <a:extLst>
              <a:ext uri="{FF2B5EF4-FFF2-40B4-BE49-F238E27FC236}">
                <a16:creationId xmlns:a16="http://schemas.microsoft.com/office/drawing/2014/main" id="{7CEC3A8E-E318-3F22-253B-D62C37878967}"/>
              </a:ext>
            </a:extLst>
          </p:cNvPr>
          <p:cNvSpPr/>
          <p:nvPr/>
        </p:nvSpPr>
        <p:spPr>
          <a:xfrm>
            <a:off x="7375525" y="449135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a:extLst>
              <a:ext uri="{FF2B5EF4-FFF2-40B4-BE49-F238E27FC236}">
                <a16:creationId xmlns:a16="http://schemas.microsoft.com/office/drawing/2014/main" id="{04AE9DC7-536E-4A35-2D41-2798A8120ACD}"/>
              </a:ext>
            </a:extLst>
          </p:cNvPr>
          <p:cNvSpPr/>
          <p:nvPr/>
        </p:nvSpPr>
        <p:spPr>
          <a:xfrm>
            <a:off x="7503795" y="449135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Rectangle 419">
            <a:extLst>
              <a:ext uri="{FF2B5EF4-FFF2-40B4-BE49-F238E27FC236}">
                <a16:creationId xmlns:a16="http://schemas.microsoft.com/office/drawing/2014/main" id="{0E6FD44F-A7CA-51B6-6B7E-654321BE9FD9}"/>
              </a:ext>
            </a:extLst>
          </p:cNvPr>
          <p:cNvSpPr/>
          <p:nvPr/>
        </p:nvSpPr>
        <p:spPr>
          <a:xfrm>
            <a:off x="7632065" y="449135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Rectangle 420">
            <a:extLst>
              <a:ext uri="{FF2B5EF4-FFF2-40B4-BE49-F238E27FC236}">
                <a16:creationId xmlns:a16="http://schemas.microsoft.com/office/drawing/2014/main" id="{62360525-CDB2-0E06-8112-15718445699B}"/>
              </a:ext>
            </a:extLst>
          </p:cNvPr>
          <p:cNvSpPr/>
          <p:nvPr/>
        </p:nvSpPr>
        <p:spPr>
          <a:xfrm>
            <a:off x="7760335" y="4491355"/>
            <a:ext cx="109219"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Rectangle 421">
            <a:extLst>
              <a:ext uri="{FF2B5EF4-FFF2-40B4-BE49-F238E27FC236}">
                <a16:creationId xmlns:a16="http://schemas.microsoft.com/office/drawing/2014/main" id="{66EA1E41-23C9-861F-4C12-7ED82FDE6AC1}"/>
              </a:ext>
            </a:extLst>
          </p:cNvPr>
          <p:cNvSpPr/>
          <p:nvPr/>
        </p:nvSpPr>
        <p:spPr>
          <a:xfrm>
            <a:off x="7888605" y="449135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Rectangle 422">
            <a:extLst>
              <a:ext uri="{FF2B5EF4-FFF2-40B4-BE49-F238E27FC236}">
                <a16:creationId xmlns:a16="http://schemas.microsoft.com/office/drawing/2014/main" id="{9FB27DC1-46EA-6942-8318-F9FE896A8AAC}"/>
              </a:ext>
            </a:extLst>
          </p:cNvPr>
          <p:cNvSpPr/>
          <p:nvPr/>
        </p:nvSpPr>
        <p:spPr>
          <a:xfrm>
            <a:off x="8016875" y="449135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 name="Rectangle 423">
            <a:extLst>
              <a:ext uri="{FF2B5EF4-FFF2-40B4-BE49-F238E27FC236}">
                <a16:creationId xmlns:a16="http://schemas.microsoft.com/office/drawing/2014/main" id="{52471A4A-5E62-BFE4-C070-3EB5F80C872D}"/>
              </a:ext>
            </a:extLst>
          </p:cNvPr>
          <p:cNvSpPr/>
          <p:nvPr/>
        </p:nvSpPr>
        <p:spPr>
          <a:xfrm>
            <a:off x="8145145" y="449135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 name="Rectangle 424">
            <a:extLst>
              <a:ext uri="{FF2B5EF4-FFF2-40B4-BE49-F238E27FC236}">
                <a16:creationId xmlns:a16="http://schemas.microsoft.com/office/drawing/2014/main" id="{C6933984-F4C0-0197-1283-3B4DAAC26E01}"/>
              </a:ext>
            </a:extLst>
          </p:cNvPr>
          <p:cNvSpPr/>
          <p:nvPr/>
        </p:nvSpPr>
        <p:spPr>
          <a:xfrm>
            <a:off x="8273415" y="449135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 name="Rectangle 425">
            <a:extLst>
              <a:ext uri="{FF2B5EF4-FFF2-40B4-BE49-F238E27FC236}">
                <a16:creationId xmlns:a16="http://schemas.microsoft.com/office/drawing/2014/main" id="{FAE462A8-BC37-ED14-743E-53F6465CDC8E}"/>
              </a:ext>
            </a:extLst>
          </p:cNvPr>
          <p:cNvSpPr/>
          <p:nvPr/>
        </p:nvSpPr>
        <p:spPr>
          <a:xfrm>
            <a:off x="6349365" y="461962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 name="Rectangle 426">
            <a:extLst>
              <a:ext uri="{FF2B5EF4-FFF2-40B4-BE49-F238E27FC236}">
                <a16:creationId xmlns:a16="http://schemas.microsoft.com/office/drawing/2014/main" id="{D57E9022-0A62-5A5B-4911-AA647C787E78}"/>
              </a:ext>
            </a:extLst>
          </p:cNvPr>
          <p:cNvSpPr/>
          <p:nvPr/>
        </p:nvSpPr>
        <p:spPr>
          <a:xfrm>
            <a:off x="6477635" y="4619625"/>
            <a:ext cx="109219"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Rectangle 427">
            <a:extLst>
              <a:ext uri="{FF2B5EF4-FFF2-40B4-BE49-F238E27FC236}">
                <a16:creationId xmlns:a16="http://schemas.microsoft.com/office/drawing/2014/main" id="{45C79901-ACCD-4B6D-B618-2D8D6B7703DE}"/>
              </a:ext>
            </a:extLst>
          </p:cNvPr>
          <p:cNvSpPr/>
          <p:nvPr/>
        </p:nvSpPr>
        <p:spPr>
          <a:xfrm>
            <a:off x="6605905" y="461962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Rectangle 428">
            <a:extLst>
              <a:ext uri="{FF2B5EF4-FFF2-40B4-BE49-F238E27FC236}">
                <a16:creationId xmlns:a16="http://schemas.microsoft.com/office/drawing/2014/main" id="{CBA8EDE2-A32B-D579-035E-039CBEAAB21D}"/>
              </a:ext>
            </a:extLst>
          </p:cNvPr>
          <p:cNvSpPr/>
          <p:nvPr/>
        </p:nvSpPr>
        <p:spPr>
          <a:xfrm>
            <a:off x="6734175" y="4619625"/>
            <a:ext cx="109220"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a:extLst>
              <a:ext uri="{FF2B5EF4-FFF2-40B4-BE49-F238E27FC236}">
                <a16:creationId xmlns:a16="http://schemas.microsoft.com/office/drawing/2014/main" id="{897C1013-0D12-0F44-3189-9EEC680112E8}"/>
              </a:ext>
            </a:extLst>
          </p:cNvPr>
          <p:cNvSpPr/>
          <p:nvPr/>
        </p:nvSpPr>
        <p:spPr>
          <a:xfrm>
            <a:off x="6862445" y="461962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1" name="Rectangle 430">
            <a:extLst>
              <a:ext uri="{FF2B5EF4-FFF2-40B4-BE49-F238E27FC236}">
                <a16:creationId xmlns:a16="http://schemas.microsoft.com/office/drawing/2014/main" id="{780F859C-1F1A-17BB-8D21-9C5548B12A14}"/>
              </a:ext>
            </a:extLst>
          </p:cNvPr>
          <p:cNvSpPr/>
          <p:nvPr/>
        </p:nvSpPr>
        <p:spPr>
          <a:xfrm>
            <a:off x="6990715" y="461962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2" name="Rectangle 431">
            <a:extLst>
              <a:ext uri="{FF2B5EF4-FFF2-40B4-BE49-F238E27FC236}">
                <a16:creationId xmlns:a16="http://schemas.microsoft.com/office/drawing/2014/main" id="{72242769-05BD-CC1A-6A62-D00F7A9D0B83}"/>
              </a:ext>
            </a:extLst>
          </p:cNvPr>
          <p:cNvSpPr/>
          <p:nvPr/>
        </p:nvSpPr>
        <p:spPr>
          <a:xfrm>
            <a:off x="7118985" y="4619625"/>
            <a:ext cx="109219"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3" name="Rectangle 432">
            <a:extLst>
              <a:ext uri="{FF2B5EF4-FFF2-40B4-BE49-F238E27FC236}">
                <a16:creationId xmlns:a16="http://schemas.microsoft.com/office/drawing/2014/main" id="{9F84E405-A223-B8BF-9F95-CB1226D2CBE1}"/>
              </a:ext>
            </a:extLst>
          </p:cNvPr>
          <p:cNvSpPr/>
          <p:nvPr/>
        </p:nvSpPr>
        <p:spPr>
          <a:xfrm>
            <a:off x="7247255" y="461962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4" name="Rectangle 433">
            <a:extLst>
              <a:ext uri="{FF2B5EF4-FFF2-40B4-BE49-F238E27FC236}">
                <a16:creationId xmlns:a16="http://schemas.microsoft.com/office/drawing/2014/main" id="{5D6F7A65-E02A-AE66-4DA2-1AB133073DDB}"/>
              </a:ext>
            </a:extLst>
          </p:cNvPr>
          <p:cNvSpPr/>
          <p:nvPr/>
        </p:nvSpPr>
        <p:spPr>
          <a:xfrm>
            <a:off x="7375525" y="461962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Rectangle 434">
            <a:extLst>
              <a:ext uri="{FF2B5EF4-FFF2-40B4-BE49-F238E27FC236}">
                <a16:creationId xmlns:a16="http://schemas.microsoft.com/office/drawing/2014/main" id="{8DBD1515-73ED-B7D4-D34B-E4075750A260}"/>
              </a:ext>
            </a:extLst>
          </p:cNvPr>
          <p:cNvSpPr/>
          <p:nvPr/>
        </p:nvSpPr>
        <p:spPr>
          <a:xfrm>
            <a:off x="7503795" y="461962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Rectangle 435">
            <a:extLst>
              <a:ext uri="{FF2B5EF4-FFF2-40B4-BE49-F238E27FC236}">
                <a16:creationId xmlns:a16="http://schemas.microsoft.com/office/drawing/2014/main" id="{0B03E7AA-5206-EB1E-9D74-517CDB29D86C}"/>
              </a:ext>
            </a:extLst>
          </p:cNvPr>
          <p:cNvSpPr/>
          <p:nvPr/>
        </p:nvSpPr>
        <p:spPr>
          <a:xfrm>
            <a:off x="7632065" y="461962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Rectangle 436">
            <a:extLst>
              <a:ext uri="{FF2B5EF4-FFF2-40B4-BE49-F238E27FC236}">
                <a16:creationId xmlns:a16="http://schemas.microsoft.com/office/drawing/2014/main" id="{2F9699F9-5232-BF59-BE91-D83891E0AEFB}"/>
              </a:ext>
            </a:extLst>
          </p:cNvPr>
          <p:cNvSpPr/>
          <p:nvPr/>
        </p:nvSpPr>
        <p:spPr>
          <a:xfrm>
            <a:off x="7760335" y="4619625"/>
            <a:ext cx="109219"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Rectangle 437">
            <a:extLst>
              <a:ext uri="{FF2B5EF4-FFF2-40B4-BE49-F238E27FC236}">
                <a16:creationId xmlns:a16="http://schemas.microsoft.com/office/drawing/2014/main" id="{86F4FB5D-83BB-AAB1-C240-65CA6602D374}"/>
              </a:ext>
            </a:extLst>
          </p:cNvPr>
          <p:cNvSpPr/>
          <p:nvPr/>
        </p:nvSpPr>
        <p:spPr>
          <a:xfrm>
            <a:off x="7888605" y="461962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Rectangle 438">
            <a:extLst>
              <a:ext uri="{FF2B5EF4-FFF2-40B4-BE49-F238E27FC236}">
                <a16:creationId xmlns:a16="http://schemas.microsoft.com/office/drawing/2014/main" id="{5B9CE500-BB44-F065-79ED-B4018D1290E9}"/>
              </a:ext>
            </a:extLst>
          </p:cNvPr>
          <p:cNvSpPr/>
          <p:nvPr/>
        </p:nvSpPr>
        <p:spPr>
          <a:xfrm>
            <a:off x="8016875" y="461962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 name="Rectangle 439">
            <a:extLst>
              <a:ext uri="{FF2B5EF4-FFF2-40B4-BE49-F238E27FC236}">
                <a16:creationId xmlns:a16="http://schemas.microsoft.com/office/drawing/2014/main" id="{71DF152C-5912-6B3A-F164-E713E76A0BFC}"/>
              </a:ext>
            </a:extLst>
          </p:cNvPr>
          <p:cNvSpPr/>
          <p:nvPr/>
        </p:nvSpPr>
        <p:spPr>
          <a:xfrm>
            <a:off x="8145145" y="461962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Rectangle 440">
            <a:extLst>
              <a:ext uri="{FF2B5EF4-FFF2-40B4-BE49-F238E27FC236}">
                <a16:creationId xmlns:a16="http://schemas.microsoft.com/office/drawing/2014/main" id="{F931F2E5-7C4A-0DA9-DAAD-480038C78EC9}"/>
              </a:ext>
            </a:extLst>
          </p:cNvPr>
          <p:cNvSpPr/>
          <p:nvPr/>
        </p:nvSpPr>
        <p:spPr>
          <a:xfrm>
            <a:off x="8273415" y="461962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Rectangle 441">
            <a:extLst>
              <a:ext uri="{FF2B5EF4-FFF2-40B4-BE49-F238E27FC236}">
                <a16:creationId xmlns:a16="http://schemas.microsoft.com/office/drawing/2014/main" id="{36B95AD7-9C8D-FCDB-7038-064FEC5C87CC}"/>
              </a:ext>
            </a:extLst>
          </p:cNvPr>
          <p:cNvSpPr/>
          <p:nvPr/>
        </p:nvSpPr>
        <p:spPr>
          <a:xfrm>
            <a:off x="6349365" y="474789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 name="Rectangle 442">
            <a:extLst>
              <a:ext uri="{FF2B5EF4-FFF2-40B4-BE49-F238E27FC236}">
                <a16:creationId xmlns:a16="http://schemas.microsoft.com/office/drawing/2014/main" id="{760D33EC-77E9-984B-9203-A7BB525A18A2}"/>
              </a:ext>
            </a:extLst>
          </p:cNvPr>
          <p:cNvSpPr/>
          <p:nvPr/>
        </p:nvSpPr>
        <p:spPr>
          <a:xfrm>
            <a:off x="6477635" y="4747895"/>
            <a:ext cx="109219"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 name="Rectangle 443">
            <a:extLst>
              <a:ext uri="{FF2B5EF4-FFF2-40B4-BE49-F238E27FC236}">
                <a16:creationId xmlns:a16="http://schemas.microsoft.com/office/drawing/2014/main" id="{EF7B09DC-8949-6ECA-BA5C-67F07688F2D9}"/>
              </a:ext>
            </a:extLst>
          </p:cNvPr>
          <p:cNvSpPr/>
          <p:nvPr/>
        </p:nvSpPr>
        <p:spPr>
          <a:xfrm>
            <a:off x="6605905" y="474789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Rectangle 444">
            <a:extLst>
              <a:ext uri="{FF2B5EF4-FFF2-40B4-BE49-F238E27FC236}">
                <a16:creationId xmlns:a16="http://schemas.microsoft.com/office/drawing/2014/main" id="{5840F5F7-D82A-34AF-718D-B54D7D92D6BD}"/>
              </a:ext>
            </a:extLst>
          </p:cNvPr>
          <p:cNvSpPr/>
          <p:nvPr/>
        </p:nvSpPr>
        <p:spPr>
          <a:xfrm>
            <a:off x="6734175" y="474789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 name="Rectangle 445">
            <a:extLst>
              <a:ext uri="{FF2B5EF4-FFF2-40B4-BE49-F238E27FC236}">
                <a16:creationId xmlns:a16="http://schemas.microsoft.com/office/drawing/2014/main" id="{CF6E1604-2E93-3C8F-1467-766C4A2E73C5}"/>
              </a:ext>
            </a:extLst>
          </p:cNvPr>
          <p:cNvSpPr/>
          <p:nvPr/>
        </p:nvSpPr>
        <p:spPr>
          <a:xfrm>
            <a:off x="6862445" y="474789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 name="Rectangle 446">
            <a:extLst>
              <a:ext uri="{FF2B5EF4-FFF2-40B4-BE49-F238E27FC236}">
                <a16:creationId xmlns:a16="http://schemas.microsoft.com/office/drawing/2014/main" id="{DC4A06AD-227D-29CB-53BD-78A5B6F4117C}"/>
              </a:ext>
            </a:extLst>
          </p:cNvPr>
          <p:cNvSpPr/>
          <p:nvPr/>
        </p:nvSpPr>
        <p:spPr>
          <a:xfrm>
            <a:off x="6990715" y="4747895"/>
            <a:ext cx="109220"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 name="Rectangle 447">
            <a:extLst>
              <a:ext uri="{FF2B5EF4-FFF2-40B4-BE49-F238E27FC236}">
                <a16:creationId xmlns:a16="http://schemas.microsoft.com/office/drawing/2014/main" id="{5F1D4D84-786C-35C7-9246-24F10E9BAFD6}"/>
              </a:ext>
            </a:extLst>
          </p:cNvPr>
          <p:cNvSpPr/>
          <p:nvPr/>
        </p:nvSpPr>
        <p:spPr>
          <a:xfrm>
            <a:off x="7118985" y="4747895"/>
            <a:ext cx="109219"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Rectangle 448">
            <a:extLst>
              <a:ext uri="{FF2B5EF4-FFF2-40B4-BE49-F238E27FC236}">
                <a16:creationId xmlns:a16="http://schemas.microsoft.com/office/drawing/2014/main" id="{9CBDCD97-CFEF-B362-FC0C-C3907C7EE434}"/>
              </a:ext>
            </a:extLst>
          </p:cNvPr>
          <p:cNvSpPr/>
          <p:nvPr/>
        </p:nvSpPr>
        <p:spPr>
          <a:xfrm>
            <a:off x="7247255" y="474789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 name="Rectangle 449">
            <a:extLst>
              <a:ext uri="{FF2B5EF4-FFF2-40B4-BE49-F238E27FC236}">
                <a16:creationId xmlns:a16="http://schemas.microsoft.com/office/drawing/2014/main" id="{A1E4F416-2D37-C9E7-8BCD-59E58C293583}"/>
              </a:ext>
            </a:extLst>
          </p:cNvPr>
          <p:cNvSpPr/>
          <p:nvPr/>
        </p:nvSpPr>
        <p:spPr>
          <a:xfrm>
            <a:off x="7375525" y="474789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Rectangle 450">
            <a:extLst>
              <a:ext uri="{FF2B5EF4-FFF2-40B4-BE49-F238E27FC236}">
                <a16:creationId xmlns:a16="http://schemas.microsoft.com/office/drawing/2014/main" id="{43F9E0AC-4E9D-1C2C-85A1-2C692E0B8435}"/>
              </a:ext>
            </a:extLst>
          </p:cNvPr>
          <p:cNvSpPr/>
          <p:nvPr/>
        </p:nvSpPr>
        <p:spPr>
          <a:xfrm>
            <a:off x="7503795" y="474789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Rectangle 451">
            <a:extLst>
              <a:ext uri="{FF2B5EF4-FFF2-40B4-BE49-F238E27FC236}">
                <a16:creationId xmlns:a16="http://schemas.microsoft.com/office/drawing/2014/main" id="{DA1BC7D9-947A-C317-7634-BB27707321AD}"/>
              </a:ext>
            </a:extLst>
          </p:cNvPr>
          <p:cNvSpPr/>
          <p:nvPr/>
        </p:nvSpPr>
        <p:spPr>
          <a:xfrm>
            <a:off x="7632065" y="474789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 name="Rectangle 452">
            <a:extLst>
              <a:ext uri="{FF2B5EF4-FFF2-40B4-BE49-F238E27FC236}">
                <a16:creationId xmlns:a16="http://schemas.microsoft.com/office/drawing/2014/main" id="{1FCD0566-9C36-408A-D421-C96426A5D1D3}"/>
              </a:ext>
            </a:extLst>
          </p:cNvPr>
          <p:cNvSpPr/>
          <p:nvPr/>
        </p:nvSpPr>
        <p:spPr>
          <a:xfrm>
            <a:off x="7760335" y="4747895"/>
            <a:ext cx="109219"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 name="Rectangle 453">
            <a:extLst>
              <a:ext uri="{FF2B5EF4-FFF2-40B4-BE49-F238E27FC236}">
                <a16:creationId xmlns:a16="http://schemas.microsoft.com/office/drawing/2014/main" id="{510CF69D-C3DE-57F3-4C81-2939134C6696}"/>
              </a:ext>
            </a:extLst>
          </p:cNvPr>
          <p:cNvSpPr/>
          <p:nvPr/>
        </p:nvSpPr>
        <p:spPr>
          <a:xfrm>
            <a:off x="7888605" y="474789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Rectangle 454">
            <a:extLst>
              <a:ext uri="{FF2B5EF4-FFF2-40B4-BE49-F238E27FC236}">
                <a16:creationId xmlns:a16="http://schemas.microsoft.com/office/drawing/2014/main" id="{9E0361F3-062B-32E9-F6DB-CE358263E4FC}"/>
              </a:ext>
            </a:extLst>
          </p:cNvPr>
          <p:cNvSpPr/>
          <p:nvPr/>
        </p:nvSpPr>
        <p:spPr>
          <a:xfrm>
            <a:off x="8016875" y="474789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6" name="Rectangle 455">
            <a:extLst>
              <a:ext uri="{FF2B5EF4-FFF2-40B4-BE49-F238E27FC236}">
                <a16:creationId xmlns:a16="http://schemas.microsoft.com/office/drawing/2014/main" id="{0C9AD2C3-D362-E3B1-61F8-B47037D33E52}"/>
              </a:ext>
            </a:extLst>
          </p:cNvPr>
          <p:cNvSpPr/>
          <p:nvPr/>
        </p:nvSpPr>
        <p:spPr>
          <a:xfrm>
            <a:off x="8145145" y="474789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7" name="Rectangle 456">
            <a:extLst>
              <a:ext uri="{FF2B5EF4-FFF2-40B4-BE49-F238E27FC236}">
                <a16:creationId xmlns:a16="http://schemas.microsoft.com/office/drawing/2014/main" id="{CD496CDC-A151-0AD5-23FF-02859E1167AC}"/>
              </a:ext>
            </a:extLst>
          </p:cNvPr>
          <p:cNvSpPr/>
          <p:nvPr/>
        </p:nvSpPr>
        <p:spPr>
          <a:xfrm>
            <a:off x="8273415" y="474789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8" name="Rectangle 457">
            <a:extLst>
              <a:ext uri="{FF2B5EF4-FFF2-40B4-BE49-F238E27FC236}">
                <a16:creationId xmlns:a16="http://schemas.microsoft.com/office/drawing/2014/main" id="{1DD6129E-CDB5-8FEE-59C4-0CEB2CEE969C}"/>
              </a:ext>
            </a:extLst>
          </p:cNvPr>
          <p:cNvSpPr/>
          <p:nvPr/>
        </p:nvSpPr>
        <p:spPr>
          <a:xfrm>
            <a:off x="6349365" y="487616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9" name="Rectangle 458">
            <a:extLst>
              <a:ext uri="{FF2B5EF4-FFF2-40B4-BE49-F238E27FC236}">
                <a16:creationId xmlns:a16="http://schemas.microsoft.com/office/drawing/2014/main" id="{3A5F8F4F-57D9-7F6D-84BF-FA2EA9FB6CAD}"/>
              </a:ext>
            </a:extLst>
          </p:cNvPr>
          <p:cNvSpPr/>
          <p:nvPr/>
        </p:nvSpPr>
        <p:spPr>
          <a:xfrm>
            <a:off x="6477635" y="4876165"/>
            <a:ext cx="109219"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 name="Rectangle 459">
            <a:extLst>
              <a:ext uri="{FF2B5EF4-FFF2-40B4-BE49-F238E27FC236}">
                <a16:creationId xmlns:a16="http://schemas.microsoft.com/office/drawing/2014/main" id="{70C929FC-0B06-3838-CFB6-9E03C710FAB8}"/>
              </a:ext>
            </a:extLst>
          </p:cNvPr>
          <p:cNvSpPr/>
          <p:nvPr/>
        </p:nvSpPr>
        <p:spPr>
          <a:xfrm>
            <a:off x="6605905" y="487616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1" name="Rectangle 460">
            <a:extLst>
              <a:ext uri="{FF2B5EF4-FFF2-40B4-BE49-F238E27FC236}">
                <a16:creationId xmlns:a16="http://schemas.microsoft.com/office/drawing/2014/main" id="{952A8177-69D2-8144-EFA3-8351F2F983D6}"/>
              </a:ext>
            </a:extLst>
          </p:cNvPr>
          <p:cNvSpPr/>
          <p:nvPr/>
        </p:nvSpPr>
        <p:spPr>
          <a:xfrm>
            <a:off x="6734175" y="487616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2" name="Rectangle 461">
            <a:extLst>
              <a:ext uri="{FF2B5EF4-FFF2-40B4-BE49-F238E27FC236}">
                <a16:creationId xmlns:a16="http://schemas.microsoft.com/office/drawing/2014/main" id="{DB923EF3-2DF9-DD0C-3BAF-9F3F4F5A582F}"/>
              </a:ext>
            </a:extLst>
          </p:cNvPr>
          <p:cNvSpPr/>
          <p:nvPr/>
        </p:nvSpPr>
        <p:spPr>
          <a:xfrm>
            <a:off x="6862445" y="487616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Rectangle 462">
            <a:extLst>
              <a:ext uri="{FF2B5EF4-FFF2-40B4-BE49-F238E27FC236}">
                <a16:creationId xmlns:a16="http://schemas.microsoft.com/office/drawing/2014/main" id="{6A4238DC-C557-44D9-6F9A-C3143AD48096}"/>
              </a:ext>
            </a:extLst>
          </p:cNvPr>
          <p:cNvSpPr/>
          <p:nvPr/>
        </p:nvSpPr>
        <p:spPr>
          <a:xfrm>
            <a:off x="6990715" y="487616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4" name="Rectangle 463">
            <a:extLst>
              <a:ext uri="{FF2B5EF4-FFF2-40B4-BE49-F238E27FC236}">
                <a16:creationId xmlns:a16="http://schemas.microsoft.com/office/drawing/2014/main" id="{FF6033B1-F382-D2E4-C227-5B2BF8886AD0}"/>
              </a:ext>
            </a:extLst>
          </p:cNvPr>
          <p:cNvSpPr/>
          <p:nvPr/>
        </p:nvSpPr>
        <p:spPr>
          <a:xfrm>
            <a:off x="7118985" y="4876165"/>
            <a:ext cx="109219"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5" name="Rectangle 464">
            <a:extLst>
              <a:ext uri="{FF2B5EF4-FFF2-40B4-BE49-F238E27FC236}">
                <a16:creationId xmlns:a16="http://schemas.microsoft.com/office/drawing/2014/main" id="{813D89D6-76B3-CEAF-0634-7CE3B6B7F7B3}"/>
              </a:ext>
            </a:extLst>
          </p:cNvPr>
          <p:cNvSpPr/>
          <p:nvPr/>
        </p:nvSpPr>
        <p:spPr>
          <a:xfrm>
            <a:off x="7247255" y="487616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6" name="Rectangle 465">
            <a:extLst>
              <a:ext uri="{FF2B5EF4-FFF2-40B4-BE49-F238E27FC236}">
                <a16:creationId xmlns:a16="http://schemas.microsoft.com/office/drawing/2014/main" id="{9F64C3D8-AB31-F7B4-A2F7-3D7F2458CDAF}"/>
              </a:ext>
            </a:extLst>
          </p:cNvPr>
          <p:cNvSpPr/>
          <p:nvPr/>
        </p:nvSpPr>
        <p:spPr>
          <a:xfrm>
            <a:off x="7375525" y="487616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Rectangle 466">
            <a:extLst>
              <a:ext uri="{FF2B5EF4-FFF2-40B4-BE49-F238E27FC236}">
                <a16:creationId xmlns:a16="http://schemas.microsoft.com/office/drawing/2014/main" id="{7BFBBFBF-D6CE-FB19-0BB4-78BA1867CFB2}"/>
              </a:ext>
            </a:extLst>
          </p:cNvPr>
          <p:cNvSpPr/>
          <p:nvPr/>
        </p:nvSpPr>
        <p:spPr>
          <a:xfrm>
            <a:off x="7503795" y="487616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8" name="Rectangle 467">
            <a:extLst>
              <a:ext uri="{FF2B5EF4-FFF2-40B4-BE49-F238E27FC236}">
                <a16:creationId xmlns:a16="http://schemas.microsoft.com/office/drawing/2014/main" id="{733044A1-9AE1-85F2-0F17-208E770158B9}"/>
              </a:ext>
            </a:extLst>
          </p:cNvPr>
          <p:cNvSpPr/>
          <p:nvPr/>
        </p:nvSpPr>
        <p:spPr>
          <a:xfrm>
            <a:off x="7632065" y="487616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9" name="Rectangle 468">
            <a:extLst>
              <a:ext uri="{FF2B5EF4-FFF2-40B4-BE49-F238E27FC236}">
                <a16:creationId xmlns:a16="http://schemas.microsoft.com/office/drawing/2014/main" id="{68026BB9-6A78-7612-50DD-F09BE661697B}"/>
              </a:ext>
            </a:extLst>
          </p:cNvPr>
          <p:cNvSpPr/>
          <p:nvPr/>
        </p:nvSpPr>
        <p:spPr>
          <a:xfrm>
            <a:off x="7760335" y="4876165"/>
            <a:ext cx="109219"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0" name="Rectangle 469">
            <a:extLst>
              <a:ext uri="{FF2B5EF4-FFF2-40B4-BE49-F238E27FC236}">
                <a16:creationId xmlns:a16="http://schemas.microsoft.com/office/drawing/2014/main" id="{8DE37D83-9F9B-06A8-528B-EA882C035FB8}"/>
              </a:ext>
            </a:extLst>
          </p:cNvPr>
          <p:cNvSpPr/>
          <p:nvPr/>
        </p:nvSpPr>
        <p:spPr>
          <a:xfrm>
            <a:off x="7888605" y="487616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 name="Rectangle 470">
            <a:extLst>
              <a:ext uri="{FF2B5EF4-FFF2-40B4-BE49-F238E27FC236}">
                <a16:creationId xmlns:a16="http://schemas.microsoft.com/office/drawing/2014/main" id="{C60916B7-D569-493E-5B5A-DBE1C65C4092}"/>
              </a:ext>
            </a:extLst>
          </p:cNvPr>
          <p:cNvSpPr/>
          <p:nvPr/>
        </p:nvSpPr>
        <p:spPr>
          <a:xfrm>
            <a:off x="8016875" y="487616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 name="Rectangle 471">
            <a:extLst>
              <a:ext uri="{FF2B5EF4-FFF2-40B4-BE49-F238E27FC236}">
                <a16:creationId xmlns:a16="http://schemas.microsoft.com/office/drawing/2014/main" id="{F465B890-5371-8DEF-26A3-080EB4F72BC2}"/>
              </a:ext>
            </a:extLst>
          </p:cNvPr>
          <p:cNvSpPr/>
          <p:nvPr/>
        </p:nvSpPr>
        <p:spPr>
          <a:xfrm>
            <a:off x="8145145" y="487616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 name="Rectangle 472">
            <a:extLst>
              <a:ext uri="{FF2B5EF4-FFF2-40B4-BE49-F238E27FC236}">
                <a16:creationId xmlns:a16="http://schemas.microsoft.com/office/drawing/2014/main" id="{D136AC7E-06C0-97A1-AEA0-150AF120909F}"/>
              </a:ext>
            </a:extLst>
          </p:cNvPr>
          <p:cNvSpPr/>
          <p:nvPr/>
        </p:nvSpPr>
        <p:spPr>
          <a:xfrm>
            <a:off x="8273415" y="4876165"/>
            <a:ext cx="109220"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Rectangle 473">
            <a:extLst>
              <a:ext uri="{FF2B5EF4-FFF2-40B4-BE49-F238E27FC236}">
                <a16:creationId xmlns:a16="http://schemas.microsoft.com/office/drawing/2014/main" id="{DE981D2A-BF0A-01AD-7625-C7B1CE39403C}"/>
              </a:ext>
            </a:extLst>
          </p:cNvPr>
          <p:cNvSpPr/>
          <p:nvPr/>
        </p:nvSpPr>
        <p:spPr>
          <a:xfrm>
            <a:off x="10302875" y="298132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Rectangle 474">
            <a:extLst>
              <a:ext uri="{FF2B5EF4-FFF2-40B4-BE49-F238E27FC236}">
                <a16:creationId xmlns:a16="http://schemas.microsoft.com/office/drawing/2014/main" id="{AE6445F9-6A17-0765-C90B-7022F8EAD8F4}"/>
              </a:ext>
            </a:extLst>
          </p:cNvPr>
          <p:cNvSpPr/>
          <p:nvPr/>
        </p:nvSpPr>
        <p:spPr>
          <a:xfrm>
            <a:off x="10302875" y="310578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 name="Rectangle 475">
            <a:extLst>
              <a:ext uri="{FF2B5EF4-FFF2-40B4-BE49-F238E27FC236}">
                <a16:creationId xmlns:a16="http://schemas.microsoft.com/office/drawing/2014/main" id="{E782E653-2401-49F2-F082-4A68A4F9751C}"/>
              </a:ext>
            </a:extLst>
          </p:cNvPr>
          <p:cNvSpPr/>
          <p:nvPr/>
        </p:nvSpPr>
        <p:spPr>
          <a:xfrm>
            <a:off x="10302875" y="3230245"/>
            <a:ext cx="107950" cy="10795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 name="Rectangle 476">
            <a:extLst>
              <a:ext uri="{FF2B5EF4-FFF2-40B4-BE49-F238E27FC236}">
                <a16:creationId xmlns:a16="http://schemas.microsoft.com/office/drawing/2014/main" id="{A83B8B11-0223-6386-DEA7-85BDF14EC972}"/>
              </a:ext>
            </a:extLst>
          </p:cNvPr>
          <p:cNvSpPr/>
          <p:nvPr/>
        </p:nvSpPr>
        <p:spPr>
          <a:xfrm>
            <a:off x="10302875" y="335470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Rectangle 477">
            <a:extLst>
              <a:ext uri="{FF2B5EF4-FFF2-40B4-BE49-F238E27FC236}">
                <a16:creationId xmlns:a16="http://schemas.microsoft.com/office/drawing/2014/main" id="{98C1C1F0-459C-8197-1C96-C4EE7F564B01}"/>
              </a:ext>
            </a:extLst>
          </p:cNvPr>
          <p:cNvSpPr/>
          <p:nvPr/>
        </p:nvSpPr>
        <p:spPr>
          <a:xfrm>
            <a:off x="10302875" y="347916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 name="Rectangle 478">
            <a:extLst>
              <a:ext uri="{FF2B5EF4-FFF2-40B4-BE49-F238E27FC236}">
                <a16:creationId xmlns:a16="http://schemas.microsoft.com/office/drawing/2014/main" id="{B03A9A45-6517-1E1B-3FAC-964787837305}"/>
              </a:ext>
            </a:extLst>
          </p:cNvPr>
          <p:cNvSpPr/>
          <p:nvPr/>
        </p:nvSpPr>
        <p:spPr>
          <a:xfrm>
            <a:off x="10302875" y="360362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 name="Rectangle 479">
            <a:extLst>
              <a:ext uri="{FF2B5EF4-FFF2-40B4-BE49-F238E27FC236}">
                <a16:creationId xmlns:a16="http://schemas.microsoft.com/office/drawing/2014/main" id="{B487ACEE-FB37-DEDE-C7B2-8B06C24E272A}"/>
              </a:ext>
            </a:extLst>
          </p:cNvPr>
          <p:cNvSpPr/>
          <p:nvPr/>
        </p:nvSpPr>
        <p:spPr>
          <a:xfrm>
            <a:off x="10302875" y="372808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 name="Rectangle 480">
            <a:extLst>
              <a:ext uri="{FF2B5EF4-FFF2-40B4-BE49-F238E27FC236}">
                <a16:creationId xmlns:a16="http://schemas.microsoft.com/office/drawing/2014/main" id="{A46E0ABF-F2B6-FB68-D343-5DE669750A37}"/>
              </a:ext>
            </a:extLst>
          </p:cNvPr>
          <p:cNvSpPr/>
          <p:nvPr/>
        </p:nvSpPr>
        <p:spPr>
          <a:xfrm>
            <a:off x="10302875" y="3852545"/>
            <a:ext cx="107950" cy="10795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 name="Rectangle 481">
            <a:extLst>
              <a:ext uri="{FF2B5EF4-FFF2-40B4-BE49-F238E27FC236}">
                <a16:creationId xmlns:a16="http://schemas.microsoft.com/office/drawing/2014/main" id="{14501335-1FD2-3067-A8D4-72E3183ABC76}"/>
              </a:ext>
            </a:extLst>
          </p:cNvPr>
          <p:cNvSpPr/>
          <p:nvPr/>
        </p:nvSpPr>
        <p:spPr>
          <a:xfrm>
            <a:off x="10302875" y="397700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 name="Rectangle 482">
            <a:extLst>
              <a:ext uri="{FF2B5EF4-FFF2-40B4-BE49-F238E27FC236}">
                <a16:creationId xmlns:a16="http://schemas.microsoft.com/office/drawing/2014/main" id="{387AEF38-07E5-3143-11F2-AB6E4464B7A8}"/>
              </a:ext>
            </a:extLst>
          </p:cNvPr>
          <p:cNvSpPr/>
          <p:nvPr/>
        </p:nvSpPr>
        <p:spPr>
          <a:xfrm>
            <a:off x="10302875" y="410146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Rectangle 483">
            <a:extLst>
              <a:ext uri="{FF2B5EF4-FFF2-40B4-BE49-F238E27FC236}">
                <a16:creationId xmlns:a16="http://schemas.microsoft.com/office/drawing/2014/main" id="{BB173EEF-91DB-78BD-30F8-BDA0B0357703}"/>
              </a:ext>
            </a:extLst>
          </p:cNvPr>
          <p:cNvSpPr/>
          <p:nvPr/>
        </p:nvSpPr>
        <p:spPr>
          <a:xfrm>
            <a:off x="10302875" y="422592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 name="Rectangle 484">
            <a:extLst>
              <a:ext uri="{FF2B5EF4-FFF2-40B4-BE49-F238E27FC236}">
                <a16:creationId xmlns:a16="http://schemas.microsoft.com/office/drawing/2014/main" id="{8C1D4579-9730-4B3B-321A-3EA970A1507A}"/>
              </a:ext>
            </a:extLst>
          </p:cNvPr>
          <p:cNvSpPr/>
          <p:nvPr/>
        </p:nvSpPr>
        <p:spPr>
          <a:xfrm>
            <a:off x="10302875" y="435038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Rectangle 485">
            <a:extLst>
              <a:ext uri="{FF2B5EF4-FFF2-40B4-BE49-F238E27FC236}">
                <a16:creationId xmlns:a16="http://schemas.microsoft.com/office/drawing/2014/main" id="{38E35E9E-A5D0-7CBB-13E0-78CAC730E595}"/>
              </a:ext>
            </a:extLst>
          </p:cNvPr>
          <p:cNvSpPr/>
          <p:nvPr/>
        </p:nvSpPr>
        <p:spPr>
          <a:xfrm>
            <a:off x="10302875" y="4474845"/>
            <a:ext cx="107950" cy="10795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Rectangle 486">
            <a:extLst>
              <a:ext uri="{FF2B5EF4-FFF2-40B4-BE49-F238E27FC236}">
                <a16:creationId xmlns:a16="http://schemas.microsoft.com/office/drawing/2014/main" id="{7BBA619B-3BC5-AEB4-98BB-61EA85BE7765}"/>
              </a:ext>
            </a:extLst>
          </p:cNvPr>
          <p:cNvSpPr/>
          <p:nvPr/>
        </p:nvSpPr>
        <p:spPr>
          <a:xfrm>
            <a:off x="10302875" y="459930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Rectangle 487">
            <a:extLst>
              <a:ext uri="{FF2B5EF4-FFF2-40B4-BE49-F238E27FC236}">
                <a16:creationId xmlns:a16="http://schemas.microsoft.com/office/drawing/2014/main" id="{E199EE82-1C0F-165E-11DB-600823583C96}"/>
              </a:ext>
            </a:extLst>
          </p:cNvPr>
          <p:cNvSpPr/>
          <p:nvPr/>
        </p:nvSpPr>
        <p:spPr>
          <a:xfrm>
            <a:off x="10302875" y="472376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 name="Rectangle 488">
            <a:extLst>
              <a:ext uri="{FF2B5EF4-FFF2-40B4-BE49-F238E27FC236}">
                <a16:creationId xmlns:a16="http://schemas.microsoft.com/office/drawing/2014/main" id="{E498C673-D6FA-6622-8D09-B9D53CD1EECD}"/>
              </a:ext>
            </a:extLst>
          </p:cNvPr>
          <p:cNvSpPr/>
          <p:nvPr/>
        </p:nvSpPr>
        <p:spPr>
          <a:xfrm>
            <a:off x="10302875" y="484822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0" name="TextBox 489">
            <a:extLst>
              <a:ext uri="{FF2B5EF4-FFF2-40B4-BE49-F238E27FC236}">
                <a16:creationId xmlns:a16="http://schemas.microsoft.com/office/drawing/2014/main" id="{25C8CD1B-3B73-0BBA-DECA-ABF6390C0DD8}"/>
              </a:ext>
            </a:extLst>
          </p:cNvPr>
          <p:cNvSpPr txBox="1"/>
          <p:nvPr/>
        </p:nvSpPr>
        <p:spPr>
          <a:xfrm>
            <a:off x="2356518" y="3594100"/>
            <a:ext cx="354264" cy="569387"/>
          </a:xfrm>
          <a:prstGeom prst="rect">
            <a:avLst/>
          </a:prstGeom>
          <a:noFill/>
        </p:spPr>
        <p:txBody>
          <a:bodyPr vert="horz" wrap="none" lIns="0" tIns="0" rIns="0" bIns="0" rtlCol="0">
            <a:spAutoFit/>
          </a:bodyPr>
          <a:lstStyle/>
          <a:p>
            <a:pPr algn="ctr"/>
            <a:r>
              <a:rPr lang="en-US" sz="3700">
                <a:solidFill>
                  <a:srgbClr val="F4F7FB"/>
                </a:solidFill>
                <a:latin typeface="Cambria Math" panose="02040503050406030204" pitchFamily="18" charset="0"/>
              </a:rPr>
              <a:t>=</a:t>
            </a:r>
          </a:p>
        </p:txBody>
      </p:sp>
      <p:sp>
        <p:nvSpPr>
          <p:cNvPr id="491" name="TextBox 490">
            <a:extLst>
              <a:ext uri="{FF2B5EF4-FFF2-40B4-BE49-F238E27FC236}">
                <a16:creationId xmlns:a16="http://schemas.microsoft.com/office/drawing/2014/main" id="{65FC5138-DF58-25B2-CD63-0F9551308DE7}"/>
              </a:ext>
            </a:extLst>
          </p:cNvPr>
          <p:cNvSpPr txBox="1"/>
          <p:nvPr/>
        </p:nvSpPr>
        <p:spPr>
          <a:xfrm>
            <a:off x="5590333" y="3594100"/>
            <a:ext cx="338234" cy="569387"/>
          </a:xfrm>
          <a:prstGeom prst="rect">
            <a:avLst/>
          </a:prstGeom>
          <a:noFill/>
        </p:spPr>
        <p:txBody>
          <a:bodyPr vert="horz" wrap="none" lIns="0" tIns="0" rIns="0" bIns="0" rtlCol="0">
            <a:spAutoFit/>
          </a:bodyPr>
          <a:lstStyle/>
          <a:p>
            <a:pPr algn="ctr"/>
            <a:r>
              <a:rPr lang="en-US" sz="3700">
                <a:solidFill>
                  <a:srgbClr val="F4F7FB"/>
                </a:solidFill>
                <a:latin typeface="Cambria Math" panose="02040503050406030204" pitchFamily="18" charset="0"/>
              </a:rPr>
              <a:t>×</a:t>
            </a:r>
          </a:p>
        </p:txBody>
      </p:sp>
      <p:sp>
        <p:nvSpPr>
          <p:cNvPr id="492" name="TextBox 491">
            <a:extLst>
              <a:ext uri="{FF2B5EF4-FFF2-40B4-BE49-F238E27FC236}">
                <a16:creationId xmlns:a16="http://schemas.microsoft.com/office/drawing/2014/main" id="{11261688-7BDD-217A-E425-03566A1FD985}"/>
              </a:ext>
            </a:extLst>
          </p:cNvPr>
          <p:cNvSpPr txBox="1"/>
          <p:nvPr/>
        </p:nvSpPr>
        <p:spPr>
          <a:xfrm>
            <a:off x="8936783" y="3594100"/>
            <a:ext cx="338234" cy="569387"/>
          </a:xfrm>
          <a:prstGeom prst="rect">
            <a:avLst/>
          </a:prstGeom>
          <a:noFill/>
        </p:spPr>
        <p:txBody>
          <a:bodyPr vert="horz" wrap="none" lIns="0" tIns="0" rIns="0" bIns="0" rtlCol="0">
            <a:spAutoFit/>
          </a:bodyPr>
          <a:lstStyle/>
          <a:p>
            <a:pPr algn="ctr"/>
            <a:r>
              <a:rPr lang="en-US" sz="3700">
                <a:solidFill>
                  <a:srgbClr val="F4F7FB"/>
                </a:solidFill>
                <a:latin typeface="Cambria Math" panose="02040503050406030204" pitchFamily="18" charset="0"/>
              </a:rPr>
              <a:t>×</a:t>
            </a:r>
          </a:p>
        </p:txBody>
      </p:sp>
      <p:sp>
        <p:nvSpPr>
          <p:cNvPr id="493" name="TextBox 492">
            <a:extLst>
              <a:ext uri="{FF2B5EF4-FFF2-40B4-BE49-F238E27FC236}">
                <a16:creationId xmlns:a16="http://schemas.microsoft.com/office/drawing/2014/main" id="{9C9EC549-02BB-D50C-A78B-06D809FF86FB}"/>
              </a:ext>
            </a:extLst>
          </p:cNvPr>
          <p:cNvSpPr txBox="1"/>
          <p:nvPr/>
        </p:nvSpPr>
        <p:spPr>
          <a:xfrm>
            <a:off x="1079300" y="5194300"/>
            <a:ext cx="724301" cy="184666"/>
          </a:xfrm>
          <a:prstGeom prst="rect">
            <a:avLst/>
          </a:prstGeom>
          <a:noFill/>
        </p:spPr>
        <p:txBody>
          <a:bodyPr vert="horz" wrap="none" lIns="0" tIns="0" rIns="0" bIns="0" rtlCol="0">
            <a:spAutoFit/>
          </a:bodyPr>
          <a:lstStyle/>
          <a:p>
            <a:pPr algn="ctr"/>
            <a:r>
              <a:rPr lang="en-US" sz="1200">
                <a:solidFill>
                  <a:srgbClr val="B9C9DB"/>
                </a:solidFill>
                <a:latin typeface="Aptos" panose="020B0004020202020204" pitchFamily="34" charset="0"/>
              </a:rPr>
              <a:t>măsurători</a:t>
            </a:r>
          </a:p>
        </p:txBody>
      </p:sp>
      <p:sp>
        <p:nvSpPr>
          <p:cNvPr id="494" name="TextBox 493">
            <a:extLst>
              <a:ext uri="{FF2B5EF4-FFF2-40B4-BE49-F238E27FC236}">
                <a16:creationId xmlns:a16="http://schemas.microsoft.com/office/drawing/2014/main" id="{E85644C4-4508-A182-1F5E-25D5BC130480}"/>
              </a:ext>
            </a:extLst>
          </p:cNvPr>
          <p:cNvSpPr txBox="1"/>
          <p:nvPr/>
        </p:nvSpPr>
        <p:spPr>
          <a:xfrm>
            <a:off x="3425107" y="5194300"/>
            <a:ext cx="1455591" cy="184666"/>
          </a:xfrm>
          <a:prstGeom prst="rect">
            <a:avLst/>
          </a:prstGeom>
          <a:noFill/>
        </p:spPr>
        <p:txBody>
          <a:bodyPr vert="horz" wrap="none" lIns="0" tIns="0" rIns="0" bIns="0" rtlCol="0">
            <a:spAutoFit/>
          </a:bodyPr>
          <a:lstStyle/>
          <a:p>
            <a:pPr algn="ctr"/>
            <a:r>
              <a:rPr lang="en-US" sz="1200" dirty="0" err="1">
                <a:solidFill>
                  <a:srgbClr val="B9C9DB"/>
                </a:solidFill>
                <a:latin typeface="Aptos" panose="020B0004020202020204" pitchFamily="34" charset="0"/>
              </a:rPr>
              <a:t>eșantionare</a:t>
            </a:r>
            <a:r>
              <a:rPr lang="en-US" sz="1200" dirty="0">
                <a:solidFill>
                  <a:srgbClr val="B9C9DB"/>
                </a:solidFill>
                <a:latin typeface="Aptos" panose="020B0004020202020204" pitchFamily="34" charset="0"/>
              </a:rPr>
              <a:t> </a:t>
            </a:r>
            <a:r>
              <a:rPr lang="en-US" sz="1200" dirty="0" err="1">
                <a:solidFill>
                  <a:srgbClr val="B9C9DB"/>
                </a:solidFill>
                <a:latin typeface="Aptos" panose="020B0004020202020204" pitchFamily="34" charset="0"/>
              </a:rPr>
              <a:t>aleatoare</a:t>
            </a:r>
            <a:endParaRPr lang="en-US" sz="1200" dirty="0">
              <a:solidFill>
                <a:srgbClr val="B9C9DB"/>
              </a:solidFill>
              <a:latin typeface="Aptos" panose="020B0004020202020204" pitchFamily="34" charset="0"/>
            </a:endParaRPr>
          </a:p>
        </p:txBody>
      </p:sp>
      <p:sp>
        <p:nvSpPr>
          <p:cNvPr id="495" name="TextBox 494">
            <a:extLst>
              <a:ext uri="{FF2B5EF4-FFF2-40B4-BE49-F238E27FC236}">
                <a16:creationId xmlns:a16="http://schemas.microsoft.com/office/drawing/2014/main" id="{98B34407-BEEF-370A-2609-219CF1F17708}"/>
              </a:ext>
            </a:extLst>
          </p:cNvPr>
          <p:cNvSpPr txBox="1"/>
          <p:nvPr/>
        </p:nvSpPr>
        <p:spPr>
          <a:xfrm>
            <a:off x="6671547" y="5194300"/>
            <a:ext cx="1388906" cy="184666"/>
          </a:xfrm>
          <a:prstGeom prst="rect">
            <a:avLst/>
          </a:prstGeom>
          <a:noFill/>
        </p:spPr>
        <p:txBody>
          <a:bodyPr vert="horz" wrap="none" lIns="0" tIns="0" rIns="0" bIns="0" rtlCol="0">
            <a:spAutoFit/>
          </a:bodyPr>
          <a:lstStyle/>
          <a:p>
            <a:pPr algn="ctr"/>
            <a:r>
              <a:rPr lang="en-US" sz="1200">
                <a:solidFill>
                  <a:srgbClr val="B9C9DB"/>
                </a:solidFill>
                <a:latin typeface="Aptos" panose="020B0004020202020204" pitchFamily="34" charset="0"/>
              </a:rPr>
              <a:t>bază de reprezentare</a:t>
            </a:r>
          </a:p>
        </p:txBody>
      </p:sp>
      <p:sp>
        <p:nvSpPr>
          <p:cNvPr id="496" name="TextBox 495">
            <a:extLst>
              <a:ext uri="{FF2B5EF4-FFF2-40B4-BE49-F238E27FC236}">
                <a16:creationId xmlns:a16="http://schemas.microsoft.com/office/drawing/2014/main" id="{16571A89-D6FC-99B9-AF99-97BED6F9741D}"/>
              </a:ext>
            </a:extLst>
          </p:cNvPr>
          <p:cNvSpPr txBox="1"/>
          <p:nvPr/>
        </p:nvSpPr>
        <p:spPr>
          <a:xfrm>
            <a:off x="9882233" y="5194300"/>
            <a:ext cx="949234" cy="184666"/>
          </a:xfrm>
          <a:prstGeom prst="rect">
            <a:avLst/>
          </a:prstGeom>
          <a:noFill/>
        </p:spPr>
        <p:txBody>
          <a:bodyPr vert="horz" wrap="none" lIns="0" tIns="0" rIns="0" bIns="0" rtlCol="0">
            <a:spAutoFit/>
          </a:bodyPr>
          <a:lstStyle/>
          <a:p>
            <a:pPr algn="ctr"/>
            <a:r>
              <a:rPr lang="en-US" sz="1200">
                <a:solidFill>
                  <a:srgbClr val="B9C9DB"/>
                </a:solidFill>
                <a:latin typeface="Aptos" panose="020B0004020202020204" pitchFamily="34" charset="0"/>
              </a:rPr>
              <a:t>coeficienți rari</a:t>
            </a:r>
          </a:p>
        </p:txBody>
      </p:sp>
      <p:sp>
        <p:nvSpPr>
          <p:cNvPr id="497" name="Rectangle: Rounded Corners 496">
            <a:extLst>
              <a:ext uri="{FF2B5EF4-FFF2-40B4-BE49-F238E27FC236}">
                <a16:creationId xmlns:a16="http://schemas.microsoft.com/office/drawing/2014/main" id="{3CFF99A1-473F-D406-87E4-082E9AA7AA08}"/>
              </a:ext>
            </a:extLst>
          </p:cNvPr>
          <p:cNvSpPr/>
          <p:nvPr/>
        </p:nvSpPr>
        <p:spPr>
          <a:xfrm>
            <a:off x="1917700" y="5613400"/>
            <a:ext cx="8356600" cy="635000"/>
          </a:xfrm>
          <a:prstGeom prst="roundRect">
            <a:avLst/>
          </a:prstGeom>
          <a:solidFill>
            <a:srgbClr val="17253B"/>
          </a:solidFill>
          <a:ln w="10160">
            <a:solidFill>
              <a:srgbClr val="3447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TextBox 497">
            <a:extLst>
              <a:ext uri="{FF2B5EF4-FFF2-40B4-BE49-F238E27FC236}">
                <a16:creationId xmlns:a16="http://schemas.microsoft.com/office/drawing/2014/main" id="{5C122F76-58A1-EC10-B032-8FEF8CA43BDA}"/>
              </a:ext>
            </a:extLst>
          </p:cNvPr>
          <p:cNvSpPr txBox="1"/>
          <p:nvPr/>
        </p:nvSpPr>
        <p:spPr>
          <a:xfrm>
            <a:off x="2171700" y="5727700"/>
            <a:ext cx="6702925" cy="292388"/>
          </a:xfrm>
          <a:prstGeom prst="rect">
            <a:avLst/>
          </a:prstGeom>
          <a:noFill/>
        </p:spPr>
        <p:txBody>
          <a:bodyPr vert="horz" wrap="none" lIns="0" tIns="0" rIns="0" bIns="0" rtlCol="0">
            <a:spAutoFit/>
          </a:bodyPr>
          <a:lstStyle/>
          <a:p>
            <a:pPr algn="ctr"/>
            <a:r>
              <a:rPr lang="en-US" sz="1900">
                <a:solidFill>
                  <a:srgbClr val="F4F7FB"/>
                </a:solidFill>
                <a:latin typeface="Cambria Math" panose="02040503050406030204" pitchFamily="18" charset="0"/>
              </a:rPr>
              <a:t>x = </a:t>
            </a:r>
            <a:r>
              <a:rPr lang="el-GR" sz="1900">
                <a:solidFill>
                  <a:srgbClr val="F4F7FB"/>
                </a:solidFill>
                <a:latin typeface="Cambria Math" panose="02040503050406030204" pitchFamily="18" charset="0"/>
              </a:rPr>
              <a:t>Ψα     |     </a:t>
            </a:r>
            <a:r>
              <a:rPr lang="en-US" sz="1900">
                <a:solidFill>
                  <a:srgbClr val="F4F7FB"/>
                </a:solidFill>
                <a:latin typeface="Cambria Math" panose="02040503050406030204" pitchFamily="18" charset="0"/>
              </a:rPr>
              <a:t>M &lt; N: reconstruim semnalul din puține măsurători</a:t>
            </a:r>
          </a:p>
        </p:txBody>
      </p:sp>
      <p:sp>
        <p:nvSpPr>
          <p:cNvPr id="499" name="TextBox 498">
            <a:extLst>
              <a:ext uri="{FF2B5EF4-FFF2-40B4-BE49-F238E27FC236}">
                <a16:creationId xmlns:a16="http://schemas.microsoft.com/office/drawing/2014/main" id="{0DAF8B0A-44F0-9FD0-B8D2-38B7962B17B1}"/>
              </a:ext>
            </a:extLst>
          </p:cNvPr>
          <p:cNvSpPr txBox="1"/>
          <p:nvPr/>
        </p:nvSpPr>
        <p:spPr>
          <a:xfrm>
            <a:off x="660400" y="6286500"/>
            <a:ext cx="5254644" cy="138499"/>
          </a:xfrm>
          <a:prstGeom prst="rect">
            <a:avLst/>
          </a:prstGeom>
          <a:noFill/>
        </p:spPr>
        <p:txBody>
          <a:bodyPr vert="horz" wrap="none" lIns="0" tIns="0" rIns="0" bIns="0" rtlCol="0">
            <a:spAutoFit/>
          </a:bodyPr>
          <a:lstStyle/>
          <a:p>
            <a:r>
              <a:rPr lang="en-US" sz="900">
                <a:solidFill>
                  <a:srgbClr val="B9C9DB"/>
                </a:solidFill>
                <a:latin typeface="Aptos" panose="020B0004020202020204" pitchFamily="34" charset="0"/>
              </a:rPr>
              <a:t>Ilustrație conceptuală adaptată după imaginea furnizată • modelul CS: Baraniuk, Romberg și Wakin (2008)</a:t>
            </a:r>
          </a:p>
        </p:txBody>
      </p:sp>
      <p:sp>
        <p:nvSpPr>
          <p:cNvPr id="500" name="TextBox 499">
            <a:extLst>
              <a:ext uri="{FF2B5EF4-FFF2-40B4-BE49-F238E27FC236}">
                <a16:creationId xmlns:a16="http://schemas.microsoft.com/office/drawing/2014/main" id="{98874113-387A-2046-04D6-A51E672ACD5C}"/>
              </a:ext>
            </a:extLst>
          </p:cNvPr>
          <p:cNvSpPr txBox="1"/>
          <p:nvPr/>
        </p:nvSpPr>
        <p:spPr>
          <a:xfrm>
            <a:off x="660400" y="6540500"/>
            <a:ext cx="1378583" cy="138499"/>
          </a:xfrm>
          <a:prstGeom prst="rect">
            <a:avLst/>
          </a:prstGeom>
          <a:noFill/>
        </p:spPr>
        <p:txBody>
          <a:bodyPr vert="horz" wrap="none" lIns="0" tIns="0" rIns="0" bIns="0" rtlCol="0">
            <a:spAutoFit/>
          </a:bodyPr>
          <a:lstStyle/>
          <a:p>
            <a:r>
              <a:rPr lang="da-DK" sz="900">
                <a:solidFill>
                  <a:srgbClr val="B9C9DB"/>
                </a:solidFill>
                <a:latin typeface="Aptos" panose="020B0004020202020204" pitchFamily="34" charset="0"/>
              </a:rPr>
              <a:t>KATZ ET AL.  •  CVPRW 2025</a:t>
            </a:r>
            <a:endParaRPr lang="en-US" sz="900">
              <a:solidFill>
                <a:srgbClr val="B9C9DB"/>
              </a:solidFill>
              <a:latin typeface="Aptos" panose="020B0004020202020204" pitchFamily="34" charset="0"/>
            </a:endParaRPr>
          </a:p>
        </p:txBody>
      </p:sp>
      <p:sp>
        <p:nvSpPr>
          <p:cNvPr id="501" name="TextBox 500">
            <a:extLst>
              <a:ext uri="{FF2B5EF4-FFF2-40B4-BE49-F238E27FC236}">
                <a16:creationId xmlns:a16="http://schemas.microsoft.com/office/drawing/2014/main" id="{2ACE3154-6C87-A319-989E-25E01CD3F22B}"/>
              </a:ext>
            </a:extLst>
          </p:cNvPr>
          <p:cNvSpPr txBox="1"/>
          <p:nvPr/>
        </p:nvSpPr>
        <p:spPr>
          <a:xfrm>
            <a:off x="11010900" y="6477000"/>
            <a:ext cx="137858" cy="153888"/>
          </a:xfrm>
          <a:prstGeom prst="rect">
            <a:avLst/>
          </a:prstGeom>
          <a:noFill/>
        </p:spPr>
        <p:txBody>
          <a:bodyPr vert="horz" wrap="none" lIns="0" tIns="0" rIns="0" bIns="0" rtlCol="0">
            <a:spAutoFit/>
          </a:bodyPr>
          <a:lstStyle/>
          <a:p>
            <a:pPr algn="r"/>
            <a:r>
              <a:rPr lang="en-US" sz="1000" b="1">
                <a:solidFill>
                  <a:srgbClr val="52D6D3"/>
                </a:solidFill>
                <a:latin typeface="Aptos" panose="020B0004020202020204" pitchFamily="34" charset="0"/>
              </a:rPr>
              <a:t>04</a:t>
            </a:r>
          </a:p>
        </p:txBody>
      </p:sp>
    </p:spTree>
    <p:extLst>
      <p:ext uri="{BB962C8B-B14F-4D97-AF65-F5344CB8AC3E}">
        <p14:creationId xmlns:p14="http://schemas.microsoft.com/office/powerpoint/2010/main" val="71214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CS </a:t>
            </a:r>
            <a:r>
              <a:rPr lang="en-US" sz="3000" b="1" dirty="0" err="1">
                <a:solidFill>
                  <a:srgbClr val="F4F7FB"/>
                </a:solidFill>
                <a:latin typeface="Aptos" pitchFamily="34" charset="0"/>
                <a:ea typeface="Aptos" pitchFamily="34" charset="-122"/>
                <a:cs typeface="Aptos" pitchFamily="34" charset="-120"/>
              </a:rPr>
              <a:t>clasic</a:t>
            </a:r>
            <a:r>
              <a:rPr lang="en-US" sz="3000" b="1" dirty="0">
                <a:solidFill>
                  <a:srgbClr val="F4F7FB"/>
                </a:solidFill>
                <a:latin typeface="Aptos" pitchFamily="34" charset="0"/>
                <a:ea typeface="Aptos" pitchFamily="34" charset="-122"/>
                <a:cs typeface="Aptos" pitchFamily="34" charset="-120"/>
              </a:rPr>
              <a:t> vs </a:t>
            </a:r>
            <a:r>
              <a:rPr lang="en-US" sz="3000" b="1" dirty="0" err="1">
                <a:solidFill>
                  <a:srgbClr val="F4F7FB"/>
                </a:solidFill>
                <a:latin typeface="Aptos" pitchFamily="34" charset="0"/>
                <a:ea typeface="Aptos" pitchFamily="34" charset="-122"/>
                <a:cs typeface="Aptos" pitchFamily="34" charset="-120"/>
              </a:rPr>
              <a:t>soluția</a:t>
            </a:r>
            <a:r>
              <a:rPr lang="en-US" sz="3000" b="1" dirty="0">
                <a:solidFill>
                  <a:srgbClr val="F4F7FB"/>
                </a:solidFill>
                <a:latin typeface="Aptos" pitchFamily="34" charset="0"/>
                <a:ea typeface="Aptos" pitchFamily="34" charset="-122"/>
                <a:cs typeface="Aptos" pitchFamily="34" charset="-120"/>
              </a:rPr>
              <a:t> </a:t>
            </a:r>
            <a:r>
              <a:rPr lang="en-US" sz="3000" b="1" dirty="0" err="1">
                <a:solidFill>
                  <a:srgbClr val="F4F7FB"/>
                </a:solidFill>
                <a:latin typeface="Aptos" pitchFamily="34" charset="0"/>
                <a:ea typeface="Aptos" pitchFamily="34" charset="-122"/>
                <a:cs typeface="Aptos" pitchFamily="34" charset="-120"/>
              </a:rPr>
              <a:t>propusă</a:t>
            </a:r>
            <a:r>
              <a:rPr lang="en-US" sz="3000" b="1" dirty="0">
                <a:solidFill>
                  <a:srgbClr val="F4F7FB"/>
                </a:solidFill>
                <a:latin typeface="Aptos" pitchFamily="34" charset="0"/>
                <a:ea typeface="Aptos" pitchFamily="34" charset="-122"/>
                <a:cs typeface="Aptos" pitchFamily="34" charset="-120"/>
              </a:rPr>
              <a:t> </a:t>
            </a:r>
            <a:r>
              <a:rPr lang="en-US" sz="3000" b="1" dirty="0" err="1">
                <a:solidFill>
                  <a:srgbClr val="F4F7FB"/>
                </a:solidFill>
                <a:latin typeface="Aptos" pitchFamily="34" charset="0"/>
                <a:ea typeface="Aptos" pitchFamily="34" charset="-122"/>
                <a:cs typeface="Aptos" pitchFamily="34" charset="-120"/>
              </a:rPr>
              <a:t>pentru</a:t>
            </a:r>
            <a:r>
              <a:rPr lang="en-US" sz="3000" b="1" dirty="0">
                <a:solidFill>
                  <a:srgbClr val="F4F7FB"/>
                </a:solidFill>
                <a:latin typeface="Aptos" pitchFamily="34" charset="0"/>
                <a:ea typeface="Aptos" pitchFamily="34" charset="-122"/>
                <a:cs typeface="Aptos" pitchFamily="34" charset="-120"/>
              </a:rPr>
              <a:t> video</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Schimbarea-cheie: măști diferite pe cadre consecutive.</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05</a:t>
            </a:r>
            <a:endParaRPr lang="en-US" sz="1000" dirty="0"/>
          </a:p>
        </p:txBody>
      </p:sp>
      <p:sp>
        <p:nvSpPr>
          <p:cNvPr id="7" name="Shape 5"/>
          <p:cNvSpPr/>
          <p:nvPr/>
        </p:nvSpPr>
        <p:spPr>
          <a:xfrm>
            <a:off x="749808" y="1719072"/>
            <a:ext cx="5093208" cy="3611880"/>
          </a:xfrm>
          <a:prstGeom prst="roundRect">
            <a:avLst>
              <a:gd name="adj" fmla="val 4051"/>
            </a:avLst>
          </a:prstGeom>
          <a:solidFill>
            <a:srgbClr val="17253B"/>
          </a:solidFill>
          <a:ln w="10160">
            <a:solidFill>
              <a:srgbClr val="17253B"/>
            </a:solidFill>
            <a:prstDash val="solid"/>
          </a:ln>
        </p:spPr>
        <p:txBody>
          <a:bodyPr/>
          <a:lstStyle/>
          <a:p>
            <a:endParaRPr lang="en-US"/>
          </a:p>
        </p:txBody>
      </p:sp>
      <p:sp>
        <p:nvSpPr>
          <p:cNvPr id="8" name="Shape 6"/>
          <p:cNvSpPr/>
          <p:nvPr/>
        </p:nvSpPr>
        <p:spPr>
          <a:xfrm>
            <a:off x="749808" y="1719072"/>
            <a:ext cx="50292" cy="3611880"/>
          </a:xfrm>
          <a:prstGeom prst="roundRect">
            <a:avLst>
              <a:gd name="adj" fmla="val 290909"/>
            </a:avLst>
          </a:prstGeom>
          <a:solidFill>
            <a:srgbClr val="FFC870"/>
          </a:solidFill>
          <a:ln w="10160">
            <a:solidFill>
              <a:srgbClr val="FFC870"/>
            </a:solidFill>
            <a:prstDash val="solid"/>
          </a:ln>
        </p:spPr>
        <p:txBody>
          <a:bodyPr/>
          <a:lstStyle/>
          <a:p>
            <a:endParaRPr lang="en-US"/>
          </a:p>
        </p:txBody>
      </p:sp>
      <p:sp>
        <p:nvSpPr>
          <p:cNvPr id="9" name="Text 7"/>
          <p:cNvSpPr/>
          <p:nvPr/>
        </p:nvSpPr>
        <p:spPr>
          <a:xfrm>
            <a:off x="950976" y="1874520"/>
            <a:ext cx="4709160" cy="402336"/>
          </a:xfrm>
          <a:prstGeom prst="rect">
            <a:avLst/>
          </a:prstGeom>
          <a:noFill/>
          <a:ln/>
        </p:spPr>
        <p:txBody>
          <a:bodyPr wrap="square" lIns="0" tIns="0" rIns="0" bIns="0" rtlCol="0" anchor="ctr"/>
          <a:lstStyle/>
          <a:p>
            <a:pPr marL="0" indent="0">
              <a:buNone/>
            </a:pPr>
            <a:r>
              <a:rPr lang="en-US" sz="2000" b="1" dirty="0">
                <a:solidFill>
                  <a:srgbClr val="FFC870"/>
                </a:solidFill>
                <a:latin typeface="Aptos" pitchFamily="34" charset="0"/>
                <a:ea typeface="Aptos" pitchFamily="34" charset="-122"/>
                <a:cs typeface="Aptos" pitchFamily="34" charset="-120"/>
              </a:rPr>
              <a:t>CS clasic</a:t>
            </a:r>
            <a:endParaRPr lang="en-US" sz="2000" dirty="0"/>
          </a:p>
        </p:txBody>
      </p:sp>
      <p:sp>
        <p:nvSpPr>
          <p:cNvPr id="10" name="Text 8"/>
          <p:cNvSpPr/>
          <p:nvPr/>
        </p:nvSpPr>
        <p:spPr>
          <a:xfrm>
            <a:off x="950976" y="2395728"/>
            <a:ext cx="4690872" cy="2834640"/>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Mai multe </a:t>
            </a:r>
            <a:r>
              <a:rPr lang="en-US" sz="1600" dirty="0" err="1">
                <a:solidFill>
                  <a:srgbClr val="F4F7FB"/>
                </a:solidFill>
                <a:latin typeface="Aptos" pitchFamily="34" charset="0"/>
                <a:ea typeface="Aptos" pitchFamily="34" charset="-122"/>
                <a:cs typeface="Aptos" pitchFamily="34" charset="-120"/>
              </a:rPr>
              <a:t>măsurători</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aleatoare</a:t>
            </a:r>
            <a:r>
              <a:rPr lang="en-US" sz="1600" dirty="0">
                <a:solidFill>
                  <a:srgbClr val="F4F7FB"/>
                </a:solidFill>
                <a:latin typeface="Aptos" pitchFamily="34" charset="0"/>
                <a:ea typeface="Aptos" pitchFamily="34" charset="-122"/>
                <a:cs typeface="Aptos" pitchFamily="34" charset="-120"/>
              </a:rPr>
              <a:t> ale aceluiași semnal static.</a:t>
            </a:r>
            <a:endParaRPr lang="en-US" sz="1600" dirty="0"/>
          </a:p>
          <a:p>
            <a:pPr marL="0" indent="0">
              <a:buNone/>
            </a:pPr>
            <a:endParaRPr lang="en-US" sz="1600" dirty="0"/>
          </a:p>
          <a:p>
            <a:pPr marL="0" indent="0">
              <a:buNone/>
            </a:pPr>
            <a:r>
              <a:rPr lang="en-US" sz="1600" dirty="0">
                <a:solidFill>
                  <a:srgbClr val="F4F7FB"/>
                </a:solidFill>
                <a:latin typeface="Aptos" pitchFamily="34" charset="0"/>
                <a:ea typeface="Aptos" pitchFamily="34" charset="-122"/>
                <a:cs typeface="Aptos" pitchFamily="34" charset="-120"/>
              </a:rPr>
              <a:t>Într-un senzor video, recitirea repetată a aceluiași cadru ar costa timp și ar reduce rata de cadre.</a:t>
            </a:r>
            <a:endParaRPr lang="en-US" sz="1600" dirty="0"/>
          </a:p>
        </p:txBody>
      </p:sp>
      <p:sp>
        <p:nvSpPr>
          <p:cNvPr id="11" name="Shape 9"/>
          <p:cNvSpPr/>
          <p:nvPr/>
        </p:nvSpPr>
        <p:spPr>
          <a:xfrm>
            <a:off x="6117336" y="1719072"/>
            <a:ext cx="5312664" cy="3611880"/>
          </a:xfrm>
          <a:prstGeom prst="roundRect">
            <a:avLst>
              <a:gd name="adj" fmla="val 4051"/>
            </a:avLst>
          </a:prstGeom>
          <a:solidFill>
            <a:srgbClr val="17253B"/>
          </a:solidFill>
          <a:ln w="10160">
            <a:solidFill>
              <a:srgbClr val="17253B"/>
            </a:solidFill>
            <a:prstDash val="solid"/>
          </a:ln>
        </p:spPr>
        <p:txBody>
          <a:bodyPr/>
          <a:lstStyle/>
          <a:p>
            <a:endParaRPr lang="en-US"/>
          </a:p>
        </p:txBody>
      </p:sp>
      <p:sp>
        <p:nvSpPr>
          <p:cNvPr id="12" name="Shape 10"/>
          <p:cNvSpPr/>
          <p:nvPr/>
        </p:nvSpPr>
        <p:spPr>
          <a:xfrm>
            <a:off x="6117336" y="1719072"/>
            <a:ext cx="50292" cy="3611880"/>
          </a:xfrm>
          <a:prstGeom prst="roundRect">
            <a:avLst>
              <a:gd name="adj" fmla="val 290909"/>
            </a:avLst>
          </a:prstGeom>
          <a:solidFill>
            <a:srgbClr val="52D6D3"/>
          </a:solidFill>
          <a:ln w="10160">
            <a:solidFill>
              <a:srgbClr val="52D6D3"/>
            </a:solidFill>
            <a:prstDash val="solid"/>
          </a:ln>
        </p:spPr>
        <p:txBody>
          <a:bodyPr/>
          <a:lstStyle/>
          <a:p>
            <a:endParaRPr lang="en-US"/>
          </a:p>
        </p:txBody>
      </p:sp>
      <p:sp>
        <p:nvSpPr>
          <p:cNvPr id="13" name="Text 11"/>
          <p:cNvSpPr/>
          <p:nvPr/>
        </p:nvSpPr>
        <p:spPr>
          <a:xfrm>
            <a:off x="6318504" y="1874520"/>
            <a:ext cx="4928616" cy="402336"/>
          </a:xfrm>
          <a:prstGeom prst="rect">
            <a:avLst/>
          </a:prstGeom>
          <a:noFill/>
          <a:ln/>
        </p:spPr>
        <p:txBody>
          <a:bodyPr wrap="square" lIns="0" tIns="0" rIns="0" bIns="0" rtlCol="0" anchor="ctr"/>
          <a:lstStyle/>
          <a:p>
            <a:pPr marL="0" indent="0">
              <a:buNone/>
            </a:pPr>
            <a:r>
              <a:rPr lang="en-US" sz="2000" b="1" dirty="0">
                <a:solidFill>
                  <a:srgbClr val="52D6D3"/>
                </a:solidFill>
                <a:latin typeface="Aptos" pitchFamily="34" charset="0"/>
                <a:ea typeface="Aptos" pitchFamily="34" charset="-122"/>
                <a:cs typeface="Aptos" pitchFamily="34" charset="-120"/>
              </a:rPr>
              <a:t>Propunerea Katz et al.</a:t>
            </a:r>
            <a:endParaRPr lang="en-US" sz="2000" dirty="0"/>
          </a:p>
        </p:txBody>
      </p:sp>
      <p:sp>
        <p:nvSpPr>
          <p:cNvPr id="14" name="Text 12"/>
          <p:cNvSpPr/>
          <p:nvPr/>
        </p:nvSpPr>
        <p:spPr>
          <a:xfrm>
            <a:off x="6318504" y="2395728"/>
            <a:ext cx="4910328" cy="2834640"/>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Fiecare cadru este măsurat cu o mască; măștile se schimbă între cadre.</a:t>
            </a:r>
            <a:endParaRPr lang="en-US" sz="1600" dirty="0"/>
          </a:p>
          <a:p>
            <a:pPr marL="0" indent="0">
              <a:buNone/>
            </a:pPr>
            <a:endParaRPr lang="en-US" sz="1600" dirty="0"/>
          </a:p>
          <a:p>
            <a:pPr marL="0" indent="0">
              <a:buNone/>
            </a:pPr>
            <a:r>
              <a:rPr lang="en-US" sz="1600" dirty="0">
                <a:solidFill>
                  <a:srgbClr val="F4F7FB"/>
                </a:solidFill>
                <a:latin typeface="Aptos" pitchFamily="34" charset="0"/>
                <a:ea typeface="Aptos" pitchFamily="34" charset="-122"/>
                <a:cs typeface="Aptos" pitchFamily="34" charset="-120"/>
              </a:rPr>
              <a:t>Cadrele apropiate sunt asemănătoare, iar diferențele mici pot fi tratate aproximativ drept zgomot.</a:t>
            </a:r>
            <a:endParaRPr lang="en-US" sz="1600" dirty="0"/>
          </a:p>
        </p:txBody>
      </p:sp>
      <p:sp>
        <p:nvSpPr>
          <p:cNvPr id="15" name="Text 13"/>
          <p:cNvSpPr/>
          <p:nvPr/>
        </p:nvSpPr>
        <p:spPr>
          <a:xfrm>
            <a:off x="996696" y="5559552"/>
            <a:ext cx="10241280" cy="512064"/>
          </a:xfrm>
          <a:prstGeom prst="rect">
            <a:avLst/>
          </a:prstGeom>
          <a:noFill/>
          <a:ln/>
        </p:spPr>
        <p:txBody>
          <a:bodyPr wrap="square" lIns="0" tIns="0" rIns="0" bIns="0" rtlCol="0" anchor="ctr"/>
          <a:lstStyle/>
          <a:p>
            <a:pPr marL="0" indent="0" algn="ctr">
              <a:buNone/>
            </a:pPr>
            <a:r>
              <a:rPr lang="en-US" sz="2100" b="1" dirty="0">
                <a:solidFill>
                  <a:srgbClr val="80E2B0"/>
                </a:solidFill>
                <a:latin typeface="Aptos" pitchFamily="34" charset="0"/>
                <a:ea typeface="Aptos" pitchFamily="34" charset="-122"/>
                <a:cs typeface="Aptos" pitchFamily="34" charset="-120"/>
              </a:rPr>
              <a:t>Rezultatul: informație sub-pixel complementară chiar și în zone cu puțină mișcare.</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9036" y="1615271"/>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87324" y="91566"/>
            <a:ext cx="11904133" cy="1359324"/>
          </a:xfrm>
          <a:prstGeom prst="rect">
            <a:avLst/>
          </a:prstGeom>
          <a:noFill/>
          <a:ln/>
        </p:spPr>
        <p:txBody>
          <a:bodyPr wrap="square" lIns="0" tIns="0" rIns="0" bIns="0" rtlCol="0" anchor="ctr"/>
          <a:lstStyle/>
          <a:p>
            <a:pPr marL="0" indent="0">
              <a:buNone/>
            </a:pPr>
            <a:r>
              <a:rPr lang="en-US" sz="3000" b="1" dirty="0" err="1">
                <a:solidFill>
                  <a:srgbClr val="F4F7FB"/>
                </a:solidFill>
                <a:latin typeface="Aptos" pitchFamily="34" charset="0"/>
                <a:ea typeface="Aptos" pitchFamily="34" charset="-122"/>
                <a:cs typeface="Aptos" pitchFamily="34" charset="-120"/>
              </a:rPr>
              <a:t>Fluxul</a:t>
            </a:r>
            <a:r>
              <a:rPr lang="en-US" sz="3000" b="1" dirty="0">
                <a:solidFill>
                  <a:srgbClr val="F4F7FB"/>
                </a:solidFill>
                <a:latin typeface="Aptos" pitchFamily="34" charset="0"/>
                <a:ea typeface="Aptos" pitchFamily="34" charset="-122"/>
                <a:cs typeface="Aptos" pitchFamily="34" charset="-120"/>
              </a:rPr>
              <a:t> </a:t>
            </a:r>
            <a:r>
              <a:rPr lang="en-US" sz="3000" b="1" dirty="0" err="1">
                <a:solidFill>
                  <a:srgbClr val="F4F7FB"/>
                </a:solidFill>
                <a:latin typeface="Aptos" pitchFamily="34" charset="0"/>
                <a:ea typeface="Aptos" pitchFamily="34" charset="-122"/>
                <a:cs typeface="Aptos" pitchFamily="34" charset="-120"/>
              </a:rPr>
              <a:t>propus</a:t>
            </a:r>
            <a:r>
              <a:rPr lang="en-US" sz="3000" b="1" dirty="0">
                <a:solidFill>
                  <a:srgbClr val="F4F7FB"/>
                </a:solidFill>
                <a:latin typeface="Aptos" pitchFamily="34" charset="0"/>
                <a:ea typeface="Aptos" pitchFamily="34" charset="-122"/>
                <a:cs typeface="Aptos" pitchFamily="34" charset="-120"/>
              </a:rPr>
              <a:t>: </a:t>
            </a:r>
          </a:p>
          <a:p>
            <a:pPr marL="0" indent="0">
              <a:buNone/>
            </a:pPr>
            <a:r>
              <a:rPr lang="en-US" sz="3000" b="1" dirty="0" err="1">
                <a:solidFill>
                  <a:srgbClr val="F4F7FB"/>
                </a:solidFill>
                <a:latin typeface="Aptos" pitchFamily="34" charset="0"/>
                <a:ea typeface="Aptos" pitchFamily="34" charset="-122"/>
                <a:cs typeface="Aptos" pitchFamily="34" charset="-120"/>
              </a:rPr>
              <a:t>măști</a:t>
            </a:r>
            <a:r>
              <a:rPr lang="en-US" sz="3000" b="1" dirty="0">
                <a:solidFill>
                  <a:srgbClr val="F4F7FB"/>
                </a:solidFill>
                <a:latin typeface="Aptos" pitchFamily="34" charset="0"/>
                <a:ea typeface="Aptos" pitchFamily="34" charset="-122"/>
                <a:cs typeface="Aptos" pitchFamily="34" charset="-120"/>
              </a:rPr>
              <a:t> </a:t>
            </a:r>
            <a:r>
              <a:rPr lang="en-US" sz="3000" b="1" dirty="0" err="1">
                <a:solidFill>
                  <a:srgbClr val="F4F7FB"/>
                </a:solidFill>
                <a:latin typeface="Aptos" pitchFamily="34" charset="0"/>
                <a:ea typeface="Aptos" pitchFamily="34" charset="-122"/>
                <a:cs typeface="Aptos" pitchFamily="34" charset="-120"/>
              </a:rPr>
              <a:t>dinamice</a:t>
            </a:r>
            <a:r>
              <a:rPr lang="en-US" sz="3000" b="1" dirty="0">
                <a:solidFill>
                  <a:srgbClr val="F4F7FB"/>
                </a:solidFill>
                <a:latin typeface="Aptos" pitchFamily="34" charset="0"/>
                <a:ea typeface="Aptos" pitchFamily="34" charset="-122"/>
                <a:cs typeface="Aptos" pitchFamily="34" charset="-120"/>
              </a:rPr>
              <a:t> de </a:t>
            </a:r>
            <a:r>
              <a:rPr lang="en-US" sz="3000" b="1" dirty="0" err="1">
                <a:solidFill>
                  <a:srgbClr val="F4F7FB"/>
                </a:solidFill>
                <a:latin typeface="Aptos" pitchFamily="34" charset="0"/>
                <a:ea typeface="Aptos" pitchFamily="34" charset="-122"/>
                <a:cs typeface="Aptos" pitchFamily="34" charset="-120"/>
              </a:rPr>
              <a:t>eșantionare</a:t>
            </a:r>
            <a:r>
              <a:rPr lang="en-US" sz="3000" b="1" dirty="0">
                <a:solidFill>
                  <a:srgbClr val="F4F7FB"/>
                </a:solidFill>
                <a:latin typeface="Aptos" pitchFamily="34" charset="0"/>
                <a:ea typeface="Aptos" pitchFamily="34" charset="-122"/>
                <a:cs typeface="Aptos" pitchFamily="34" charset="-120"/>
              </a:rPr>
              <a:t> → </a:t>
            </a:r>
            <a:r>
              <a:rPr lang="en-US" sz="3000" b="1" dirty="0" err="1">
                <a:solidFill>
                  <a:srgbClr val="F4F7FB"/>
                </a:solidFill>
                <a:latin typeface="Aptos" pitchFamily="34" charset="0"/>
                <a:ea typeface="Aptos" pitchFamily="34" charset="-122"/>
                <a:cs typeface="Aptos" pitchFamily="34" charset="-120"/>
              </a:rPr>
              <a:t>comprimare</a:t>
            </a:r>
            <a:r>
              <a:rPr lang="en-US" sz="3000" b="1" dirty="0">
                <a:solidFill>
                  <a:srgbClr val="F4F7FB"/>
                </a:solidFill>
                <a:latin typeface="Aptos" pitchFamily="34" charset="0"/>
                <a:ea typeface="Aptos" pitchFamily="34" charset="-122"/>
                <a:cs typeface="Aptos" pitchFamily="34" charset="-120"/>
              </a:rPr>
              <a:t> → </a:t>
            </a:r>
            <a:r>
              <a:rPr lang="en-US" sz="3000" b="1" dirty="0" err="1">
                <a:solidFill>
                  <a:srgbClr val="F4F7FB"/>
                </a:solidFill>
                <a:latin typeface="Aptos" pitchFamily="34" charset="0"/>
                <a:ea typeface="Aptos" pitchFamily="34" charset="-122"/>
                <a:cs typeface="Aptos" pitchFamily="34" charset="-120"/>
              </a:rPr>
              <a:t>reconstrucție</a:t>
            </a:r>
            <a:endParaRPr lang="en-US" sz="3000" dirty="0"/>
          </a:p>
        </p:txBody>
      </p:sp>
      <p:sp>
        <p:nvSpPr>
          <p:cNvPr id="4" name="Text 2"/>
          <p:cNvSpPr/>
          <p:nvPr/>
        </p:nvSpPr>
        <p:spPr>
          <a:xfrm>
            <a:off x="687324" y="1185503"/>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Blocuri 4 × 4, măști binare și reconstrucție VSR ×4.</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06</a:t>
            </a:r>
            <a:endParaRPr lang="en-US" sz="1000" dirty="0"/>
          </a:p>
        </p:txBody>
      </p:sp>
      <p:sp>
        <p:nvSpPr>
          <p:cNvPr id="7" name="Shape 5"/>
          <p:cNvSpPr/>
          <p:nvPr/>
        </p:nvSpPr>
        <p:spPr>
          <a:xfrm>
            <a:off x="402336" y="2007108"/>
            <a:ext cx="1993392" cy="2340864"/>
          </a:xfrm>
          <a:prstGeom prst="roundRect">
            <a:avLst>
              <a:gd name="adj" fmla="val 7339"/>
            </a:avLst>
          </a:prstGeom>
          <a:solidFill>
            <a:srgbClr val="17253B"/>
          </a:solidFill>
          <a:ln w="10160">
            <a:solidFill>
              <a:srgbClr val="17253B"/>
            </a:solidFill>
            <a:prstDash val="solid"/>
          </a:ln>
        </p:spPr>
        <p:txBody>
          <a:bodyPr/>
          <a:lstStyle/>
          <a:p>
            <a:endParaRPr lang="en-US"/>
          </a:p>
        </p:txBody>
      </p:sp>
      <p:sp>
        <p:nvSpPr>
          <p:cNvPr id="8" name="Text 6"/>
          <p:cNvSpPr/>
          <p:nvPr/>
        </p:nvSpPr>
        <p:spPr>
          <a:xfrm>
            <a:off x="539496" y="2253996"/>
            <a:ext cx="1719072" cy="521208"/>
          </a:xfrm>
          <a:prstGeom prst="rect">
            <a:avLst/>
          </a:prstGeom>
          <a:noFill/>
          <a:ln/>
        </p:spPr>
        <p:txBody>
          <a:bodyPr wrap="square" lIns="0" tIns="0" rIns="0" bIns="0" rtlCol="0" anchor="ctr"/>
          <a:lstStyle/>
          <a:p>
            <a:pPr marL="0" indent="0" algn="ctr">
              <a:buNone/>
            </a:pPr>
            <a:r>
              <a:rPr lang="en-US" sz="2000" b="1" dirty="0">
                <a:solidFill>
                  <a:srgbClr val="52D6D3"/>
                </a:solidFill>
                <a:latin typeface="Aptos" pitchFamily="34" charset="0"/>
                <a:ea typeface="Aptos" pitchFamily="34" charset="-122"/>
                <a:cs typeface="Aptos" pitchFamily="34" charset="-120"/>
              </a:rPr>
              <a:t>Cadre HR</a:t>
            </a:r>
            <a:endParaRPr lang="en-US" sz="2000" dirty="0"/>
          </a:p>
        </p:txBody>
      </p:sp>
      <p:sp>
        <p:nvSpPr>
          <p:cNvPr id="9" name="Text 7"/>
          <p:cNvSpPr/>
          <p:nvPr/>
        </p:nvSpPr>
        <p:spPr>
          <a:xfrm>
            <a:off x="557784" y="3095244"/>
            <a:ext cx="1682496" cy="786384"/>
          </a:xfrm>
          <a:prstGeom prst="rect">
            <a:avLst/>
          </a:prstGeom>
          <a:noFill/>
          <a:ln/>
        </p:spPr>
        <p:txBody>
          <a:bodyPr wrap="square" lIns="0" tIns="0" rIns="0" bIns="0" rtlCol="0" anchor="ctr"/>
          <a:lstStyle/>
          <a:p>
            <a:pPr marL="0" indent="0" algn="ctr">
              <a:buNone/>
            </a:pPr>
            <a:r>
              <a:rPr lang="en-US" sz="1600" dirty="0">
                <a:solidFill>
                  <a:srgbClr val="F4F7FB"/>
                </a:solidFill>
                <a:latin typeface="Aptos" pitchFamily="34" charset="0"/>
                <a:ea typeface="Aptos" pitchFamily="34" charset="-122"/>
                <a:cs typeface="Aptos" pitchFamily="34" charset="-120"/>
              </a:rPr>
              <a:t>7 cadre RGB</a:t>
            </a:r>
            <a:endParaRPr lang="en-US" sz="1600" dirty="0"/>
          </a:p>
        </p:txBody>
      </p:sp>
      <p:sp>
        <p:nvSpPr>
          <p:cNvPr id="10" name="Shape 8"/>
          <p:cNvSpPr/>
          <p:nvPr/>
        </p:nvSpPr>
        <p:spPr>
          <a:xfrm>
            <a:off x="2441448" y="2967228"/>
            <a:ext cx="274320" cy="384048"/>
          </a:xfrm>
          <a:prstGeom prst="chevron">
            <a:avLst/>
          </a:prstGeom>
          <a:solidFill>
            <a:srgbClr val="52D6D3"/>
          </a:solidFill>
          <a:ln w="12700">
            <a:solidFill>
              <a:srgbClr val="52D6D3"/>
            </a:solidFill>
            <a:prstDash val="solid"/>
          </a:ln>
        </p:spPr>
        <p:txBody>
          <a:bodyPr/>
          <a:lstStyle/>
          <a:p>
            <a:endParaRPr lang="en-US"/>
          </a:p>
        </p:txBody>
      </p:sp>
      <p:sp>
        <p:nvSpPr>
          <p:cNvPr id="11" name="Shape 9"/>
          <p:cNvSpPr/>
          <p:nvPr/>
        </p:nvSpPr>
        <p:spPr>
          <a:xfrm>
            <a:off x="2734056" y="2007108"/>
            <a:ext cx="1993392" cy="2340864"/>
          </a:xfrm>
          <a:prstGeom prst="roundRect">
            <a:avLst>
              <a:gd name="adj" fmla="val 7339"/>
            </a:avLst>
          </a:prstGeom>
          <a:solidFill>
            <a:srgbClr val="1C304A"/>
          </a:solidFill>
          <a:ln w="10160">
            <a:solidFill>
              <a:srgbClr val="1C304A"/>
            </a:solidFill>
            <a:prstDash val="solid"/>
          </a:ln>
        </p:spPr>
        <p:txBody>
          <a:bodyPr/>
          <a:lstStyle/>
          <a:p>
            <a:endParaRPr lang="en-US"/>
          </a:p>
        </p:txBody>
      </p:sp>
      <p:sp>
        <p:nvSpPr>
          <p:cNvPr id="12" name="Text 10"/>
          <p:cNvSpPr/>
          <p:nvPr/>
        </p:nvSpPr>
        <p:spPr>
          <a:xfrm>
            <a:off x="2871216" y="2253996"/>
            <a:ext cx="1719072" cy="521208"/>
          </a:xfrm>
          <a:prstGeom prst="rect">
            <a:avLst/>
          </a:prstGeom>
          <a:noFill/>
          <a:ln/>
        </p:spPr>
        <p:txBody>
          <a:bodyPr wrap="square" lIns="0" tIns="0" rIns="0" bIns="0" rtlCol="0" anchor="ctr"/>
          <a:lstStyle/>
          <a:p>
            <a:pPr marL="0" indent="0" algn="ctr">
              <a:buNone/>
            </a:pPr>
            <a:r>
              <a:rPr lang="en-US" sz="2000" b="1" dirty="0">
                <a:solidFill>
                  <a:srgbClr val="52D6D3"/>
                </a:solidFill>
                <a:latin typeface="Aptos" pitchFamily="34" charset="0"/>
                <a:ea typeface="Aptos" pitchFamily="34" charset="-122"/>
                <a:cs typeface="Aptos" pitchFamily="34" charset="-120"/>
              </a:rPr>
              <a:t>Blocuri 4 × 4</a:t>
            </a:r>
            <a:endParaRPr lang="en-US" sz="2000" dirty="0"/>
          </a:p>
        </p:txBody>
      </p:sp>
      <p:sp>
        <p:nvSpPr>
          <p:cNvPr id="13" name="Text 11"/>
          <p:cNvSpPr/>
          <p:nvPr/>
        </p:nvSpPr>
        <p:spPr>
          <a:xfrm>
            <a:off x="2889504" y="3095244"/>
            <a:ext cx="1682496" cy="786384"/>
          </a:xfrm>
          <a:prstGeom prst="rect">
            <a:avLst/>
          </a:prstGeom>
          <a:noFill/>
          <a:ln/>
        </p:spPr>
        <p:txBody>
          <a:bodyPr wrap="square" lIns="0" tIns="0" rIns="0" bIns="0" rtlCol="0" anchor="ctr"/>
          <a:lstStyle/>
          <a:p>
            <a:pPr marL="0" indent="0" algn="ctr">
              <a:buNone/>
            </a:pPr>
            <a:r>
              <a:rPr lang="en-US" sz="1600" dirty="0">
                <a:solidFill>
                  <a:srgbClr val="F4F7FB"/>
                </a:solidFill>
                <a:latin typeface="Aptos" pitchFamily="34" charset="0"/>
                <a:ea typeface="Aptos" pitchFamily="34" charset="-122"/>
                <a:cs typeface="Aptos" pitchFamily="34" charset="-120"/>
              </a:rPr>
              <a:t>16 pixeli / bloc</a:t>
            </a:r>
            <a:endParaRPr lang="en-US" sz="1600" dirty="0"/>
          </a:p>
        </p:txBody>
      </p:sp>
      <p:sp>
        <p:nvSpPr>
          <p:cNvPr id="14" name="Shape 12"/>
          <p:cNvSpPr/>
          <p:nvPr/>
        </p:nvSpPr>
        <p:spPr>
          <a:xfrm>
            <a:off x="4773168" y="2967228"/>
            <a:ext cx="274320" cy="384048"/>
          </a:xfrm>
          <a:prstGeom prst="chevron">
            <a:avLst/>
          </a:prstGeom>
          <a:solidFill>
            <a:srgbClr val="52D6D3"/>
          </a:solidFill>
          <a:ln w="12700">
            <a:solidFill>
              <a:srgbClr val="52D6D3"/>
            </a:solidFill>
            <a:prstDash val="solid"/>
          </a:ln>
        </p:spPr>
        <p:txBody>
          <a:bodyPr/>
          <a:lstStyle/>
          <a:p>
            <a:endParaRPr lang="en-US"/>
          </a:p>
        </p:txBody>
      </p:sp>
      <p:sp>
        <p:nvSpPr>
          <p:cNvPr id="15" name="Shape 13"/>
          <p:cNvSpPr/>
          <p:nvPr/>
        </p:nvSpPr>
        <p:spPr>
          <a:xfrm>
            <a:off x="5065776" y="2007108"/>
            <a:ext cx="1993392" cy="2340864"/>
          </a:xfrm>
          <a:prstGeom prst="roundRect">
            <a:avLst>
              <a:gd name="adj" fmla="val 7339"/>
            </a:avLst>
          </a:prstGeom>
          <a:solidFill>
            <a:srgbClr val="17253B"/>
          </a:solidFill>
          <a:ln w="10160">
            <a:solidFill>
              <a:srgbClr val="17253B"/>
            </a:solidFill>
            <a:prstDash val="solid"/>
          </a:ln>
        </p:spPr>
        <p:txBody>
          <a:bodyPr/>
          <a:lstStyle/>
          <a:p>
            <a:endParaRPr lang="en-US"/>
          </a:p>
        </p:txBody>
      </p:sp>
      <p:sp>
        <p:nvSpPr>
          <p:cNvPr id="16" name="Text 14"/>
          <p:cNvSpPr/>
          <p:nvPr/>
        </p:nvSpPr>
        <p:spPr>
          <a:xfrm>
            <a:off x="5202936" y="2253996"/>
            <a:ext cx="1719072" cy="521208"/>
          </a:xfrm>
          <a:prstGeom prst="rect">
            <a:avLst/>
          </a:prstGeom>
          <a:noFill/>
          <a:ln/>
        </p:spPr>
        <p:txBody>
          <a:bodyPr wrap="square" lIns="0" tIns="0" rIns="0" bIns="0" rtlCol="0" anchor="ctr"/>
          <a:lstStyle/>
          <a:p>
            <a:pPr marL="0" indent="0" algn="ctr">
              <a:buNone/>
            </a:pPr>
            <a:r>
              <a:rPr lang="en-US" sz="2000" b="1" dirty="0">
                <a:solidFill>
                  <a:srgbClr val="FFC870"/>
                </a:solidFill>
                <a:latin typeface="Aptos" pitchFamily="34" charset="0"/>
                <a:ea typeface="Aptos" pitchFamily="34" charset="-122"/>
                <a:cs typeface="Aptos" pitchFamily="34" charset="-120"/>
              </a:rPr>
              <a:t>Măști dinamice</a:t>
            </a:r>
            <a:endParaRPr lang="en-US" sz="2000" dirty="0"/>
          </a:p>
        </p:txBody>
      </p:sp>
      <p:sp>
        <p:nvSpPr>
          <p:cNvPr id="17" name="Text 15"/>
          <p:cNvSpPr/>
          <p:nvPr/>
        </p:nvSpPr>
        <p:spPr>
          <a:xfrm>
            <a:off x="5221224" y="3095244"/>
            <a:ext cx="1682496" cy="786384"/>
          </a:xfrm>
          <a:prstGeom prst="rect">
            <a:avLst/>
          </a:prstGeom>
          <a:noFill/>
          <a:ln/>
        </p:spPr>
        <p:txBody>
          <a:bodyPr wrap="square" lIns="0" tIns="0" rIns="0" bIns="0" rtlCol="0" anchor="ctr"/>
          <a:lstStyle/>
          <a:p>
            <a:pPr marL="0" indent="0" algn="ctr">
              <a:buNone/>
            </a:pPr>
            <a:r>
              <a:rPr lang="en-US" sz="1600" dirty="0">
                <a:solidFill>
                  <a:srgbClr val="F4F7FB"/>
                </a:solidFill>
                <a:latin typeface="Aptos" pitchFamily="34" charset="0"/>
                <a:ea typeface="Aptos" pitchFamily="34" charset="-122"/>
                <a:cs typeface="Aptos" pitchFamily="34" charset="-120"/>
              </a:rPr>
              <a:t>1 sau 2 </a:t>
            </a:r>
            <a:r>
              <a:rPr lang="en-US" sz="1600" dirty="0" err="1">
                <a:solidFill>
                  <a:srgbClr val="F4F7FB"/>
                </a:solidFill>
                <a:latin typeface="Aptos" pitchFamily="34" charset="0"/>
                <a:ea typeface="Aptos" pitchFamily="34" charset="-122"/>
                <a:cs typeface="Aptos" pitchFamily="34" charset="-120"/>
              </a:rPr>
              <a:t>măsurători</a:t>
            </a:r>
            <a:r>
              <a:rPr lang="en-US" sz="1600" dirty="0">
                <a:solidFill>
                  <a:srgbClr val="F4F7FB"/>
                </a:solidFill>
                <a:latin typeface="Aptos" pitchFamily="34" charset="0"/>
                <a:ea typeface="Aptos" pitchFamily="34" charset="-122"/>
                <a:cs typeface="Aptos" pitchFamily="34" charset="-120"/>
              </a:rPr>
              <a:t> pe cadru</a:t>
            </a:r>
            <a:endParaRPr lang="en-US" sz="1600" dirty="0"/>
          </a:p>
        </p:txBody>
      </p:sp>
      <p:sp>
        <p:nvSpPr>
          <p:cNvPr id="18" name="Shape 16"/>
          <p:cNvSpPr/>
          <p:nvPr/>
        </p:nvSpPr>
        <p:spPr>
          <a:xfrm>
            <a:off x="7104888" y="2967228"/>
            <a:ext cx="274320" cy="384048"/>
          </a:xfrm>
          <a:prstGeom prst="chevron">
            <a:avLst/>
          </a:prstGeom>
          <a:solidFill>
            <a:srgbClr val="52D6D3"/>
          </a:solidFill>
          <a:ln w="12700">
            <a:solidFill>
              <a:srgbClr val="52D6D3"/>
            </a:solidFill>
            <a:prstDash val="solid"/>
          </a:ln>
        </p:spPr>
        <p:txBody>
          <a:bodyPr/>
          <a:lstStyle/>
          <a:p>
            <a:endParaRPr lang="en-US"/>
          </a:p>
        </p:txBody>
      </p:sp>
      <p:sp>
        <p:nvSpPr>
          <p:cNvPr id="19" name="Shape 17"/>
          <p:cNvSpPr/>
          <p:nvPr/>
        </p:nvSpPr>
        <p:spPr>
          <a:xfrm>
            <a:off x="7397496" y="2007108"/>
            <a:ext cx="1993392" cy="2340864"/>
          </a:xfrm>
          <a:prstGeom prst="roundRect">
            <a:avLst>
              <a:gd name="adj" fmla="val 7339"/>
            </a:avLst>
          </a:prstGeom>
          <a:solidFill>
            <a:srgbClr val="1C304A"/>
          </a:solidFill>
          <a:ln w="10160">
            <a:solidFill>
              <a:srgbClr val="1C304A"/>
            </a:solidFill>
            <a:prstDash val="solid"/>
          </a:ln>
        </p:spPr>
        <p:txBody>
          <a:bodyPr/>
          <a:lstStyle/>
          <a:p>
            <a:endParaRPr lang="en-US"/>
          </a:p>
        </p:txBody>
      </p:sp>
      <p:sp>
        <p:nvSpPr>
          <p:cNvPr id="20" name="Text 18"/>
          <p:cNvSpPr/>
          <p:nvPr/>
        </p:nvSpPr>
        <p:spPr>
          <a:xfrm>
            <a:off x="7534656" y="2253996"/>
            <a:ext cx="1719072" cy="521208"/>
          </a:xfrm>
          <a:prstGeom prst="rect">
            <a:avLst/>
          </a:prstGeom>
          <a:noFill/>
          <a:ln/>
        </p:spPr>
        <p:txBody>
          <a:bodyPr wrap="square" lIns="0" tIns="0" rIns="0" bIns="0" rtlCol="0" anchor="ctr"/>
          <a:lstStyle/>
          <a:p>
            <a:pPr marL="0" indent="0" algn="ctr">
              <a:buNone/>
            </a:pPr>
            <a:r>
              <a:rPr lang="en-US" sz="2000" b="1" dirty="0">
                <a:solidFill>
                  <a:srgbClr val="52D6D3"/>
                </a:solidFill>
                <a:latin typeface="Aptos" pitchFamily="34" charset="0"/>
                <a:ea typeface="Aptos" pitchFamily="34" charset="-122"/>
                <a:cs typeface="Aptos" pitchFamily="34" charset="-120"/>
              </a:rPr>
              <a:t>Cadre LR</a:t>
            </a:r>
            <a:endParaRPr lang="en-US" sz="2000" dirty="0"/>
          </a:p>
        </p:txBody>
      </p:sp>
      <p:sp>
        <p:nvSpPr>
          <p:cNvPr id="21" name="Text 19"/>
          <p:cNvSpPr/>
          <p:nvPr/>
        </p:nvSpPr>
        <p:spPr>
          <a:xfrm>
            <a:off x="7552944" y="3095244"/>
            <a:ext cx="1682496" cy="786384"/>
          </a:xfrm>
          <a:prstGeom prst="rect">
            <a:avLst/>
          </a:prstGeom>
          <a:noFill/>
          <a:ln/>
        </p:spPr>
        <p:txBody>
          <a:bodyPr wrap="square" lIns="0" tIns="0" rIns="0" bIns="0" rtlCol="0" anchor="ctr"/>
          <a:lstStyle/>
          <a:p>
            <a:pPr marL="0" indent="0" algn="ctr">
              <a:buNone/>
            </a:pPr>
            <a:r>
              <a:rPr lang="en-US" sz="1600" dirty="0" err="1">
                <a:solidFill>
                  <a:srgbClr val="F4F7FB"/>
                </a:solidFill>
                <a:latin typeface="Aptos" pitchFamily="34" charset="0"/>
                <a:ea typeface="Aptos" pitchFamily="34" charset="-122"/>
                <a:cs typeface="Aptos" pitchFamily="34" charset="-120"/>
              </a:rPr>
              <a:t>imagini</a:t>
            </a:r>
            <a:r>
              <a:rPr lang="en-US" sz="1600" dirty="0">
                <a:solidFill>
                  <a:srgbClr val="F4F7FB"/>
                </a:solidFill>
                <a:latin typeface="Aptos" pitchFamily="34" charset="0"/>
                <a:ea typeface="Aptos" pitchFamily="34" charset="-122"/>
                <a:cs typeface="Aptos" pitchFamily="34" charset="-120"/>
              </a:rPr>
              <a:t> ×4 mai mici</a:t>
            </a:r>
            <a:endParaRPr lang="en-US" sz="1600" dirty="0"/>
          </a:p>
        </p:txBody>
      </p:sp>
      <p:sp>
        <p:nvSpPr>
          <p:cNvPr id="22" name="Shape 20"/>
          <p:cNvSpPr/>
          <p:nvPr/>
        </p:nvSpPr>
        <p:spPr>
          <a:xfrm>
            <a:off x="9436608" y="2967228"/>
            <a:ext cx="274320" cy="384048"/>
          </a:xfrm>
          <a:prstGeom prst="chevron">
            <a:avLst/>
          </a:prstGeom>
          <a:solidFill>
            <a:srgbClr val="52D6D3"/>
          </a:solidFill>
          <a:ln w="12700">
            <a:solidFill>
              <a:srgbClr val="52D6D3"/>
            </a:solidFill>
            <a:prstDash val="solid"/>
          </a:ln>
        </p:spPr>
        <p:txBody>
          <a:bodyPr/>
          <a:lstStyle/>
          <a:p>
            <a:endParaRPr lang="en-US"/>
          </a:p>
        </p:txBody>
      </p:sp>
      <p:sp>
        <p:nvSpPr>
          <p:cNvPr id="23" name="Shape 21"/>
          <p:cNvSpPr/>
          <p:nvPr/>
        </p:nvSpPr>
        <p:spPr>
          <a:xfrm>
            <a:off x="9729216" y="2007108"/>
            <a:ext cx="1993392" cy="2340864"/>
          </a:xfrm>
          <a:prstGeom prst="roundRect">
            <a:avLst>
              <a:gd name="adj" fmla="val 7339"/>
            </a:avLst>
          </a:prstGeom>
          <a:solidFill>
            <a:srgbClr val="17253B"/>
          </a:solidFill>
          <a:ln w="10160">
            <a:solidFill>
              <a:srgbClr val="17253B"/>
            </a:solidFill>
            <a:prstDash val="solid"/>
          </a:ln>
        </p:spPr>
        <p:txBody>
          <a:bodyPr/>
          <a:lstStyle/>
          <a:p>
            <a:endParaRPr lang="en-US"/>
          </a:p>
        </p:txBody>
      </p:sp>
      <p:sp>
        <p:nvSpPr>
          <p:cNvPr id="24" name="Text 22"/>
          <p:cNvSpPr/>
          <p:nvPr/>
        </p:nvSpPr>
        <p:spPr>
          <a:xfrm>
            <a:off x="9866376" y="2253996"/>
            <a:ext cx="1719072" cy="521208"/>
          </a:xfrm>
          <a:prstGeom prst="rect">
            <a:avLst/>
          </a:prstGeom>
          <a:noFill/>
          <a:ln/>
        </p:spPr>
        <p:txBody>
          <a:bodyPr wrap="square" lIns="0" tIns="0" rIns="0" bIns="0" rtlCol="0" anchor="ctr"/>
          <a:lstStyle/>
          <a:p>
            <a:pPr marL="0" indent="0" algn="ctr">
              <a:buNone/>
            </a:pPr>
            <a:r>
              <a:rPr lang="en-US" sz="2000" b="1" dirty="0" err="1">
                <a:solidFill>
                  <a:srgbClr val="52D6D3"/>
                </a:solidFill>
                <a:latin typeface="Aptos" pitchFamily="34" charset="0"/>
                <a:ea typeface="Aptos" pitchFamily="34" charset="-122"/>
                <a:cs typeface="Aptos" pitchFamily="34" charset="-120"/>
              </a:rPr>
              <a:t>Reconstrucție</a:t>
            </a:r>
            <a:r>
              <a:rPr lang="en-US" sz="2000" b="1" dirty="0">
                <a:solidFill>
                  <a:srgbClr val="52D6D3"/>
                </a:solidFill>
                <a:latin typeface="Aptos" pitchFamily="34" charset="0"/>
                <a:ea typeface="Aptos" pitchFamily="34" charset="-122"/>
                <a:cs typeface="Aptos" pitchFamily="34" charset="-120"/>
              </a:rPr>
              <a:t> VSR</a:t>
            </a:r>
            <a:endParaRPr lang="en-US" sz="2000" dirty="0"/>
          </a:p>
        </p:txBody>
      </p:sp>
      <p:sp>
        <p:nvSpPr>
          <p:cNvPr id="25" name="Text 23"/>
          <p:cNvSpPr/>
          <p:nvPr/>
        </p:nvSpPr>
        <p:spPr>
          <a:xfrm>
            <a:off x="9884664" y="3095244"/>
            <a:ext cx="1682496" cy="786384"/>
          </a:xfrm>
          <a:prstGeom prst="rect">
            <a:avLst/>
          </a:prstGeom>
          <a:noFill/>
          <a:ln/>
        </p:spPr>
        <p:txBody>
          <a:bodyPr wrap="square" lIns="0" tIns="0" rIns="0" bIns="0" rtlCol="0" anchor="ctr"/>
          <a:lstStyle/>
          <a:p>
            <a:pPr marL="0" indent="0" algn="ctr">
              <a:buNone/>
            </a:pPr>
            <a:r>
              <a:rPr lang="en-US" sz="1600" dirty="0">
                <a:solidFill>
                  <a:srgbClr val="F4F7FB"/>
                </a:solidFill>
                <a:latin typeface="Aptos" pitchFamily="34" charset="0"/>
                <a:ea typeface="Aptos" pitchFamily="34" charset="-122"/>
                <a:cs typeface="Aptos" pitchFamily="34" charset="-120"/>
              </a:rPr>
              <a:t>cadre HR estimate</a:t>
            </a:r>
            <a:endParaRPr lang="en-US" sz="1600" dirty="0"/>
          </a:p>
        </p:txBody>
      </p:sp>
      <p:sp>
        <p:nvSpPr>
          <p:cNvPr id="26" name="Shape 24"/>
          <p:cNvSpPr/>
          <p:nvPr/>
        </p:nvSpPr>
        <p:spPr>
          <a:xfrm>
            <a:off x="932688" y="4974336"/>
            <a:ext cx="10296144" cy="676656"/>
          </a:xfrm>
          <a:prstGeom prst="roundRect">
            <a:avLst>
              <a:gd name="adj" fmla="val 21622"/>
            </a:avLst>
          </a:prstGeom>
          <a:solidFill>
            <a:srgbClr val="1C304A"/>
          </a:solidFill>
          <a:ln w="10160">
            <a:solidFill>
              <a:srgbClr val="1C304A"/>
            </a:solidFill>
            <a:prstDash val="solid"/>
          </a:ln>
        </p:spPr>
        <p:txBody>
          <a:bodyPr/>
          <a:lstStyle/>
          <a:p>
            <a:endParaRPr lang="en-US"/>
          </a:p>
        </p:txBody>
      </p:sp>
      <p:sp>
        <p:nvSpPr>
          <p:cNvPr id="27" name="Text 25"/>
          <p:cNvSpPr/>
          <p:nvPr/>
        </p:nvSpPr>
        <p:spPr>
          <a:xfrm>
            <a:off x="1207008" y="5102352"/>
            <a:ext cx="9756648" cy="393192"/>
          </a:xfrm>
          <a:prstGeom prst="rect">
            <a:avLst/>
          </a:prstGeom>
          <a:noFill/>
          <a:ln/>
        </p:spPr>
        <p:txBody>
          <a:bodyPr wrap="square" lIns="0" tIns="0" rIns="0" bIns="0" rtlCol="0" anchor="ctr"/>
          <a:lstStyle/>
          <a:p>
            <a:pPr marL="0" indent="0" algn="ctr">
              <a:buNone/>
            </a:pPr>
            <a:r>
              <a:rPr lang="en-US" sz="2000" dirty="0">
                <a:solidFill>
                  <a:srgbClr val="F4F7FB"/>
                </a:solidFill>
                <a:latin typeface="Aptos" pitchFamily="34" charset="0"/>
                <a:ea typeface="Aptos" pitchFamily="34" charset="-122"/>
                <a:cs typeface="Aptos" pitchFamily="34" charset="-120"/>
              </a:rPr>
              <a:t>Compresia se face la achiziție; măsurările rezultate rămân organizate ca imagini.</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Varianta A: o măsurare pe cadru</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Comparație la buget identic: 1 valoare / 16 pixeli / cadru → CR = 1/16.</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07</a:t>
            </a:r>
            <a:endParaRPr lang="en-US" sz="1000" dirty="0"/>
          </a:p>
        </p:txBody>
      </p:sp>
      <p:sp>
        <p:nvSpPr>
          <p:cNvPr id="7" name="Text 5"/>
          <p:cNvSpPr/>
          <p:nvPr/>
        </p:nvSpPr>
        <p:spPr>
          <a:xfrm>
            <a:off x="841248" y="1719072"/>
            <a:ext cx="4754880" cy="411480"/>
          </a:xfrm>
          <a:prstGeom prst="rect">
            <a:avLst/>
          </a:prstGeom>
          <a:noFill/>
          <a:ln/>
        </p:spPr>
        <p:txBody>
          <a:bodyPr wrap="square" lIns="0" tIns="0" rIns="0" bIns="0" rtlCol="0" anchor="ctr"/>
          <a:lstStyle/>
          <a:p>
            <a:pPr marL="0" indent="0">
              <a:buNone/>
            </a:pPr>
            <a:r>
              <a:rPr lang="en-US" sz="2100" b="1" dirty="0">
                <a:solidFill>
                  <a:srgbClr val="FFC870"/>
                </a:solidFill>
                <a:latin typeface="Aptos" pitchFamily="34" charset="0"/>
                <a:ea typeface="Aptos" pitchFamily="34" charset="-122"/>
                <a:cs typeface="Aptos" pitchFamily="34" charset="-120"/>
              </a:rPr>
              <a:t>16Sum: aceeași mască în fiecare cadru</a:t>
            </a:r>
            <a:endParaRPr lang="en-US" sz="2100" dirty="0"/>
          </a:p>
        </p:txBody>
      </p:sp>
      <p:sp>
        <p:nvSpPr>
          <p:cNvPr id="8" name="Text 6"/>
          <p:cNvSpPr/>
          <p:nvPr/>
        </p:nvSpPr>
        <p:spPr>
          <a:xfrm>
            <a:off x="6126480" y="1719072"/>
            <a:ext cx="5120640" cy="411480"/>
          </a:xfrm>
          <a:prstGeom prst="rect">
            <a:avLst/>
          </a:prstGeom>
          <a:noFill/>
          <a:ln/>
        </p:spPr>
        <p:txBody>
          <a:bodyPr wrap="square" lIns="0" tIns="0" rIns="0" bIns="0" rtlCol="0" anchor="ctr"/>
          <a:lstStyle/>
          <a:p>
            <a:pPr marL="0" indent="0">
              <a:buNone/>
            </a:pPr>
            <a:r>
              <a:rPr lang="en-US" sz="2100" b="1" dirty="0">
                <a:solidFill>
                  <a:srgbClr val="52D6D3"/>
                </a:solidFill>
                <a:latin typeface="Aptos" pitchFamily="34" charset="0"/>
                <a:ea typeface="Aptos" pitchFamily="34" charset="-122"/>
                <a:cs typeface="Aptos" pitchFamily="34" charset="-120"/>
              </a:rPr>
              <a:t>Random: 8 pixeli selectați, mască variabilă</a:t>
            </a:r>
            <a:endParaRPr lang="en-US" sz="2100" dirty="0"/>
          </a:p>
        </p:txBody>
      </p:sp>
      <p:sp>
        <p:nvSpPr>
          <p:cNvPr id="9" name="Shape 7"/>
          <p:cNvSpPr/>
          <p:nvPr/>
        </p:nvSpPr>
        <p:spPr>
          <a:xfrm>
            <a:off x="1572768" y="2359152"/>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0" name="Shape 8"/>
          <p:cNvSpPr/>
          <p:nvPr/>
        </p:nvSpPr>
        <p:spPr>
          <a:xfrm>
            <a:off x="2126894" y="2359152"/>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1" name="Shape 9"/>
          <p:cNvSpPr/>
          <p:nvPr/>
        </p:nvSpPr>
        <p:spPr>
          <a:xfrm>
            <a:off x="2681021" y="2359152"/>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2" name="Shape 10"/>
          <p:cNvSpPr/>
          <p:nvPr/>
        </p:nvSpPr>
        <p:spPr>
          <a:xfrm>
            <a:off x="3235147" y="2359152"/>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3" name="Shape 11"/>
          <p:cNvSpPr/>
          <p:nvPr/>
        </p:nvSpPr>
        <p:spPr>
          <a:xfrm>
            <a:off x="1572768" y="2913278"/>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4" name="Shape 12"/>
          <p:cNvSpPr/>
          <p:nvPr/>
        </p:nvSpPr>
        <p:spPr>
          <a:xfrm>
            <a:off x="2126894" y="2913278"/>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5" name="Shape 13"/>
          <p:cNvSpPr/>
          <p:nvPr/>
        </p:nvSpPr>
        <p:spPr>
          <a:xfrm>
            <a:off x="2681021" y="2913278"/>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6" name="Shape 14"/>
          <p:cNvSpPr/>
          <p:nvPr/>
        </p:nvSpPr>
        <p:spPr>
          <a:xfrm>
            <a:off x="3235147" y="2913278"/>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7" name="Shape 15"/>
          <p:cNvSpPr/>
          <p:nvPr/>
        </p:nvSpPr>
        <p:spPr>
          <a:xfrm>
            <a:off x="1572768" y="3467405"/>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8" name="Shape 16"/>
          <p:cNvSpPr/>
          <p:nvPr/>
        </p:nvSpPr>
        <p:spPr>
          <a:xfrm>
            <a:off x="2126894" y="3467405"/>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9" name="Shape 17"/>
          <p:cNvSpPr/>
          <p:nvPr/>
        </p:nvSpPr>
        <p:spPr>
          <a:xfrm>
            <a:off x="2681021" y="3467405"/>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20" name="Shape 18"/>
          <p:cNvSpPr/>
          <p:nvPr/>
        </p:nvSpPr>
        <p:spPr>
          <a:xfrm>
            <a:off x="3235147" y="3467405"/>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21" name="Shape 19"/>
          <p:cNvSpPr/>
          <p:nvPr/>
        </p:nvSpPr>
        <p:spPr>
          <a:xfrm>
            <a:off x="1572768" y="4021531"/>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22" name="Shape 20"/>
          <p:cNvSpPr/>
          <p:nvPr/>
        </p:nvSpPr>
        <p:spPr>
          <a:xfrm>
            <a:off x="2126894" y="4021531"/>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23" name="Shape 21"/>
          <p:cNvSpPr/>
          <p:nvPr/>
        </p:nvSpPr>
        <p:spPr>
          <a:xfrm>
            <a:off x="2681021" y="4021531"/>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24" name="Shape 22"/>
          <p:cNvSpPr/>
          <p:nvPr/>
        </p:nvSpPr>
        <p:spPr>
          <a:xfrm>
            <a:off x="3235147" y="4021531"/>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25" name="Shape 23"/>
          <p:cNvSpPr/>
          <p:nvPr/>
        </p:nvSpPr>
        <p:spPr>
          <a:xfrm>
            <a:off x="7104888" y="2359152"/>
            <a:ext cx="532181" cy="532181"/>
          </a:xfrm>
          <a:prstGeom prst="roundRect">
            <a:avLst>
              <a:gd name="adj" fmla="val 3436"/>
            </a:avLst>
          </a:prstGeom>
          <a:solidFill>
            <a:srgbClr val="52D6D3"/>
          </a:solidFill>
          <a:ln w="10160">
            <a:solidFill>
              <a:srgbClr val="52D6D3"/>
            </a:solidFill>
            <a:prstDash val="solid"/>
          </a:ln>
        </p:spPr>
        <p:txBody>
          <a:bodyPr/>
          <a:lstStyle/>
          <a:p>
            <a:endParaRPr lang="en-US"/>
          </a:p>
        </p:txBody>
      </p:sp>
      <p:sp>
        <p:nvSpPr>
          <p:cNvPr id="26" name="Shape 24"/>
          <p:cNvSpPr/>
          <p:nvPr/>
        </p:nvSpPr>
        <p:spPr>
          <a:xfrm>
            <a:off x="7659014" y="2359152"/>
            <a:ext cx="532181" cy="532181"/>
          </a:xfrm>
          <a:prstGeom prst="roundRect">
            <a:avLst>
              <a:gd name="adj" fmla="val 3436"/>
            </a:avLst>
          </a:prstGeom>
          <a:solidFill>
            <a:srgbClr val="1C304A"/>
          </a:solidFill>
          <a:ln w="10160">
            <a:solidFill>
              <a:srgbClr val="34475D"/>
            </a:solidFill>
            <a:prstDash val="solid"/>
          </a:ln>
        </p:spPr>
        <p:txBody>
          <a:bodyPr/>
          <a:lstStyle/>
          <a:p>
            <a:endParaRPr lang="en-US"/>
          </a:p>
        </p:txBody>
      </p:sp>
      <p:sp>
        <p:nvSpPr>
          <p:cNvPr id="27" name="Shape 25"/>
          <p:cNvSpPr/>
          <p:nvPr/>
        </p:nvSpPr>
        <p:spPr>
          <a:xfrm>
            <a:off x="8213141" y="2359152"/>
            <a:ext cx="532181" cy="532181"/>
          </a:xfrm>
          <a:prstGeom prst="roundRect">
            <a:avLst>
              <a:gd name="adj" fmla="val 3436"/>
            </a:avLst>
          </a:prstGeom>
          <a:solidFill>
            <a:srgbClr val="52D6D3"/>
          </a:solidFill>
          <a:ln w="10160">
            <a:solidFill>
              <a:srgbClr val="52D6D3"/>
            </a:solidFill>
            <a:prstDash val="solid"/>
          </a:ln>
        </p:spPr>
        <p:txBody>
          <a:bodyPr/>
          <a:lstStyle/>
          <a:p>
            <a:endParaRPr lang="en-US"/>
          </a:p>
        </p:txBody>
      </p:sp>
      <p:sp>
        <p:nvSpPr>
          <p:cNvPr id="28" name="Shape 26"/>
          <p:cNvSpPr/>
          <p:nvPr/>
        </p:nvSpPr>
        <p:spPr>
          <a:xfrm>
            <a:off x="8767267" y="2359152"/>
            <a:ext cx="532181" cy="532181"/>
          </a:xfrm>
          <a:prstGeom prst="roundRect">
            <a:avLst>
              <a:gd name="adj" fmla="val 3436"/>
            </a:avLst>
          </a:prstGeom>
          <a:solidFill>
            <a:srgbClr val="1C304A"/>
          </a:solidFill>
          <a:ln w="10160">
            <a:solidFill>
              <a:srgbClr val="34475D"/>
            </a:solidFill>
            <a:prstDash val="solid"/>
          </a:ln>
        </p:spPr>
        <p:txBody>
          <a:bodyPr/>
          <a:lstStyle/>
          <a:p>
            <a:endParaRPr lang="en-US"/>
          </a:p>
        </p:txBody>
      </p:sp>
      <p:sp>
        <p:nvSpPr>
          <p:cNvPr id="29" name="Shape 27"/>
          <p:cNvSpPr/>
          <p:nvPr/>
        </p:nvSpPr>
        <p:spPr>
          <a:xfrm>
            <a:off x="7104888" y="2913278"/>
            <a:ext cx="532181" cy="532181"/>
          </a:xfrm>
          <a:prstGeom prst="roundRect">
            <a:avLst>
              <a:gd name="adj" fmla="val 3436"/>
            </a:avLst>
          </a:prstGeom>
          <a:solidFill>
            <a:srgbClr val="52D6D3"/>
          </a:solidFill>
          <a:ln w="10160">
            <a:solidFill>
              <a:srgbClr val="52D6D3"/>
            </a:solidFill>
            <a:prstDash val="solid"/>
          </a:ln>
        </p:spPr>
        <p:txBody>
          <a:bodyPr/>
          <a:lstStyle/>
          <a:p>
            <a:endParaRPr lang="en-US"/>
          </a:p>
        </p:txBody>
      </p:sp>
      <p:sp>
        <p:nvSpPr>
          <p:cNvPr id="30" name="Shape 28"/>
          <p:cNvSpPr/>
          <p:nvPr/>
        </p:nvSpPr>
        <p:spPr>
          <a:xfrm>
            <a:off x="7659014" y="2913278"/>
            <a:ext cx="532181" cy="532181"/>
          </a:xfrm>
          <a:prstGeom prst="roundRect">
            <a:avLst>
              <a:gd name="adj" fmla="val 3436"/>
            </a:avLst>
          </a:prstGeom>
          <a:solidFill>
            <a:srgbClr val="52D6D3"/>
          </a:solidFill>
          <a:ln w="10160">
            <a:solidFill>
              <a:srgbClr val="52D6D3"/>
            </a:solidFill>
            <a:prstDash val="solid"/>
          </a:ln>
        </p:spPr>
        <p:txBody>
          <a:bodyPr/>
          <a:lstStyle/>
          <a:p>
            <a:endParaRPr lang="en-US"/>
          </a:p>
        </p:txBody>
      </p:sp>
      <p:sp>
        <p:nvSpPr>
          <p:cNvPr id="31" name="Shape 29"/>
          <p:cNvSpPr/>
          <p:nvPr/>
        </p:nvSpPr>
        <p:spPr>
          <a:xfrm>
            <a:off x="8213141" y="2913278"/>
            <a:ext cx="532181" cy="532181"/>
          </a:xfrm>
          <a:prstGeom prst="roundRect">
            <a:avLst>
              <a:gd name="adj" fmla="val 3436"/>
            </a:avLst>
          </a:prstGeom>
          <a:solidFill>
            <a:srgbClr val="1C304A"/>
          </a:solidFill>
          <a:ln w="10160">
            <a:solidFill>
              <a:srgbClr val="34475D"/>
            </a:solidFill>
            <a:prstDash val="solid"/>
          </a:ln>
        </p:spPr>
        <p:txBody>
          <a:bodyPr/>
          <a:lstStyle/>
          <a:p>
            <a:endParaRPr lang="en-US"/>
          </a:p>
        </p:txBody>
      </p:sp>
      <p:sp>
        <p:nvSpPr>
          <p:cNvPr id="32" name="Shape 30"/>
          <p:cNvSpPr/>
          <p:nvPr/>
        </p:nvSpPr>
        <p:spPr>
          <a:xfrm>
            <a:off x="8767267" y="2913278"/>
            <a:ext cx="532181" cy="532181"/>
          </a:xfrm>
          <a:prstGeom prst="roundRect">
            <a:avLst>
              <a:gd name="adj" fmla="val 3436"/>
            </a:avLst>
          </a:prstGeom>
          <a:solidFill>
            <a:srgbClr val="1C304A"/>
          </a:solidFill>
          <a:ln w="10160">
            <a:solidFill>
              <a:srgbClr val="34475D"/>
            </a:solidFill>
            <a:prstDash val="solid"/>
          </a:ln>
        </p:spPr>
        <p:txBody>
          <a:bodyPr/>
          <a:lstStyle/>
          <a:p>
            <a:endParaRPr lang="en-US"/>
          </a:p>
        </p:txBody>
      </p:sp>
      <p:sp>
        <p:nvSpPr>
          <p:cNvPr id="33" name="Shape 31"/>
          <p:cNvSpPr/>
          <p:nvPr/>
        </p:nvSpPr>
        <p:spPr>
          <a:xfrm>
            <a:off x="7104888" y="3467405"/>
            <a:ext cx="532181" cy="532181"/>
          </a:xfrm>
          <a:prstGeom prst="roundRect">
            <a:avLst>
              <a:gd name="adj" fmla="val 3436"/>
            </a:avLst>
          </a:prstGeom>
          <a:solidFill>
            <a:srgbClr val="1C304A"/>
          </a:solidFill>
          <a:ln w="10160">
            <a:solidFill>
              <a:srgbClr val="34475D"/>
            </a:solidFill>
            <a:prstDash val="solid"/>
          </a:ln>
        </p:spPr>
        <p:txBody>
          <a:bodyPr/>
          <a:lstStyle/>
          <a:p>
            <a:endParaRPr lang="en-US"/>
          </a:p>
        </p:txBody>
      </p:sp>
      <p:sp>
        <p:nvSpPr>
          <p:cNvPr id="34" name="Shape 32"/>
          <p:cNvSpPr/>
          <p:nvPr/>
        </p:nvSpPr>
        <p:spPr>
          <a:xfrm>
            <a:off x="7659014" y="3467405"/>
            <a:ext cx="532181" cy="532181"/>
          </a:xfrm>
          <a:prstGeom prst="roundRect">
            <a:avLst>
              <a:gd name="adj" fmla="val 3436"/>
            </a:avLst>
          </a:prstGeom>
          <a:solidFill>
            <a:srgbClr val="52D6D3"/>
          </a:solidFill>
          <a:ln w="10160">
            <a:solidFill>
              <a:srgbClr val="52D6D3"/>
            </a:solidFill>
            <a:prstDash val="solid"/>
          </a:ln>
        </p:spPr>
        <p:txBody>
          <a:bodyPr/>
          <a:lstStyle/>
          <a:p>
            <a:endParaRPr lang="en-US"/>
          </a:p>
        </p:txBody>
      </p:sp>
      <p:sp>
        <p:nvSpPr>
          <p:cNvPr id="35" name="Shape 33"/>
          <p:cNvSpPr/>
          <p:nvPr/>
        </p:nvSpPr>
        <p:spPr>
          <a:xfrm>
            <a:off x="8213141" y="3467405"/>
            <a:ext cx="532181" cy="532181"/>
          </a:xfrm>
          <a:prstGeom prst="roundRect">
            <a:avLst>
              <a:gd name="adj" fmla="val 3436"/>
            </a:avLst>
          </a:prstGeom>
          <a:solidFill>
            <a:srgbClr val="1C304A"/>
          </a:solidFill>
          <a:ln w="10160">
            <a:solidFill>
              <a:srgbClr val="34475D"/>
            </a:solidFill>
            <a:prstDash val="solid"/>
          </a:ln>
        </p:spPr>
        <p:txBody>
          <a:bodyPr/>
          <a:lstStyle/>
          <a:p>
            <a:endParaRPr lang="en-US"/>
          </a:p>
        </p:txBody>
      </p:sp>
      <p:sp>
        <p:nvSpPr>
          <p:cNvPr id="36" name="Shape 34"/>
          <p:cNvSpPr/>
          <p:nvPr/>
        </p:nvSpPr>
        <p:spPr>
          <a:xfrm>
            <a:off x="8767267" y="3467405"/>
            <a:ext cx="532181" cy="532181"/>
          </a:xfrm>
          <a:prstGeom prst="roundRect">
            <a:avLst>
              <a:gd name="adj" fmla="val 3436"/>
            </a:avLst>
          </a:prstGeom>
          <a:solidFill>
            <a:srgbClr val="52D6D3"/>
          </a:solidFill>
          <a:ln w="10160">
            <a:solidFill>
              <a:srgbClr val="52D6D3"/>
            </a:solidFill>
            <a:prstDash val="solid"/>
          </a:ln>
        </p:spPr>
        <p:txBody>
          <a:bodyPr/>
          <a:lstStyle/>
          <a:p>
            <a:endParaRPr lang="en-US"/>
          </a:p>
        </p:txBody>
      </p:sp>
      <p:sp>
        <p:nvSpPr>
          <p:cNvPr id="37" name="Shape 35"/>
          <p:cNvSpPr/>
          <p:nvPr/>
        </p:nvSpPr>
        <p:spPr>
          <a:xfrm>
            <a:off x="7104888" y="4021531"/>
            <a:ext cx="532181" cy="532181"/>
          </a:xfrm>
          <a:prstGeom prst="roundRect">
            <a:avLst>
              <a:gd name="adj" fmla="val 3436"/>
            </a:avLst>
          </a:prstGeom>
          <a:solidFill>
            <a:srgbClr val="52D6D3"/>
          </a:solidFill>
          <a:ln w="10160">
            <a:solidFill>
              <a:srgbClr val="52D6D3"/>
            </a:solidFill>
            <a:prstDash val="solid"/>
          </a:ln>
        </p:spPr>
        <p:txBody>
          <a:bodyPr/>
          <a:lstStyle/>
          <a:p>
            <a:endParaRPr lang="en-US"/>
          </a:p>
        </p:txBody>
      </p:sp>
      <p:sp>
        <p:nvSpPr>
          <p:cNvPr id="38" name="Shape 36"/>
          <p:cNvSpPr/>
          <p:nvPr/>
        </p:nvSpPr>
        <p:spPr>
          <a:xfrm>
            <a:off x="7659014" y="4021531"/>
            <a:ext cx="532181" cy="532181"/>
          </a:xfrm>
          <a:prstGeom prst="roundRect">
            <a:avLst>
              <a:gd name="adj" fmla="val 3436"/>
            </a:avLst>
          </a:prstGeom>
          <a:solidFill>
            <a:srgbClr val="1C304A"/>
          </a:solidFill>
          <a:ln w="10160">
            <a:solidFill>
              <a:srgbClr val="34475D"/>
            </a:solidFill>
            <a:prstDash val="solid"/>
          </a:ln>
        </p:spPr>
        <p:txBody>
          <a:bodyPr/>
          <a:lstStyle/>
          <a:p>
            <a:endParaRPr lang="en-US"/>
          </a:p>
        </p:txBody>
      </p:sp>
      <p:sp>
        <p:nvSpPr>
          <p:cNvPr id="39" name="Shape 37"/>
          <p:cNvSpPr/>
          <p:nvPr/>
        </p:nvSpPr>
        <p:spPr>
          <a:xfrm>
            <a:off x="8213141" y="4021531"/>
            <a:ext cx="532181" cy="532181"/>
          </a:xfrm>
          <a:prstGeom prst="roundRect">
            <a:avLst>
              <a:gd name="adj" fmla="val 3436"/>
            </a:avLst>
          </a:prstGeom>
          <a:solidFill>
            <a:srgbClr val="1C304A"/>
          </a:solidFill>
          <a:ln w="10160">
            <a:solidFill>
              <a:srgbClr val="34475D"/>
            </a:solidFill>
            <a:prstDash val="solid"/>
          </a:ln>
        </p:spPr>
        <p:txBody>
          <a:bodyPr/>
          <a:lstStyle/>
          <a:p>
            <a:endParaRPr lang="en-US"/>
          </a:p>
        </p:txBody>
      </p:sp>
      <p:sp>
        <p:nvSpPr>
          <p:cNvPr id="40" name="Shape 38"/>
          <p:cNvSpPr/>
          <p:nvPr/>
        </p:nvSpPr>
        <p:spPr>
          <a:xfrm>
            <a:off x="8767267" y="4021531"/>
            <a:ext cx="532181" cy="532181"/>
          </a:xfrm>
          <a:prstGeom prst="roundRect">
            <a:avLst>
              <a:gd name="adj" fmla="val 3436"/>
            </a:avLst>
          </a:prstGeom>
          <a:solidFill>
            <a:srgbClr val="52D6D3"/>
          </a:solidFill>
          <a:ln w="10160">
            <a:solidFill>
              <a:srgbClr val="52D6D3"/>
            </a:solidFill>
            <a:prstDash val="solid"/>
          </a:ln>
        </p:spPr>
        <p:txBody>
          <a:bodyPr/>
          <a:lstStyle/>
          <a:p>
            <a:endParaRPr lang="en-US"/>
          </a:p>
        </p:txBody>
      </p:sp>
      <p:sp>
        <p:nvSpPr>
          <p:cNvPr id="41" name="Shape 39"/>
          <p:cNvSpPr/>
          <p:nvPr/>
        </p:nvSpPr>
        <p:spPr>
          <a:xfrm>
            <a:off x="1197864" y="4800600"/>
            <a:ext cx="2971800" cy="338328"/>
          </a:xfrm>
          <a:prstGeom prst="roundRect">
            <a:avLst>
              <a:gd name="adj" fmla="val 32432"/>
            </a:avLst>
          </a:prstGeom>
          <a:solidFill>
            <a:srgbClr val="1C304A"/>
          </a:solidFill>
          <a:ln w="10160">
            <a:solidFill>
              <a:srgbClr val="1C304A"/>
            </a:solidFill>
            <a:prstDash val="solid"/>
          </a:ln>
        </p:spPr>
        <p:txBody>
          <a:bodyPr/>
          <a:lstStyle/>
          <a:p>
            <a:endParaRPr lang="en-US"/>
          </a:p>
        </p:txBody>
      </p:sp>
      <p:sp>
        <p:nvSpPr>
          <p:cNvPr id="42" name="Text 40"/>
          <p:cNvSpPr/>
          <p:nvPr/>
        </p:nvSpPr>
        <p:spPr>
          <a:xfrm>
            <a:off x="1298448" y="4818888"/>
            <a:ext cx="2770632" cy="292608"/>
          </a:xfrm>
          <a:prstGeom prst="rect">
            <a:avLst/>
          </a:prstGeom>
          <a:noFill/>
          <a:ln/>
        </p:spPr>
        <p:txBody>
          <a:bodyPr wrap="square" lIns="0" tIns="0" rIns="0" bIns="0" rtlCol="0" anchor="ctr"/>
          <a:lstStyle/>
          <a:p>
            <a:pPr marL="0" indent="0" algn="ctr">
              <a:buNone/>
            </a:pPr>
            <a:r>
              <a:rPr lang="en-US" sz="1300" b="1" dirty="0">
                <a:solidFill>
                  <a:srgbClr val="FFC870"/>
                </a:solidFill>
                <a:latin typeface="Aptos" pitchFamily="34" charset="0"/>
                <a:ea typeface="Aptos" pitchFamily="34" charset="-122"/>
                <a:cs typeface="Aptos" pitchFamily="34" charset="-120"/>
              </a:rPr>
              <a:t>100% pixeli folosiți</a:t>
            </a:r>
            <a:endParaRPr lang="en-US" sz="1300" dirty="0"/>
          </a:p>
        </p:txBody>
      </p:sp>
      <p:sp>
        <p:nvSpPr>
          <p:cNvPr id="43" name="Shape 41"/>
          <p:cNvSpPr/>
          <p:nvPr/>
        </p:nvSpPr>
        <p:spPr>
          <a:xfrm>
            <a:off x="6675120" y="4800600"/>
            <a:ext cx="2990088" cy="338328"/>
          </a:xfrm>
          <a:prstGeom prst="roundRect">
            <a:avLst>
              <a:gd name="adj" fmla="val 32432"/>
            </a:avLst>
          </a:prstGeom>
          <a:solidFill>
            <a:srgbClr val="1C304A"/>
          </a:solidFill>
          <a:ln w="10160">
            <a:solidFill>
              <a:srgbClr val="1C304A"/>
            </a:solidFill>
            <a:prstDash val="solid"/>
          </a:ln>
        </p:spPr>
        <p:txBody>
          <a:bodyPr/>
          <a:lstStyle/>
          <a:p>
            <a:endParaRPr lang="en-US"/>
          </a:p>
        </p:txBody>
      </p:sp>
      <p:sp>
        <p:nvSpPr>
          <p:cNvPr id="44" name="Text 42"/>
          <p:cNvSpPr/>
          <p:nvPr/>
        </p:nvSpPr>
        <p:spPr>
          <a:xfrm>
            <a:off x="6775704" y="4818888"/>
            <a:ext cx="2788920" cy="292608"/>
          </a:xfrm>
          <a:prstGeom prst="rect">
            <a:avLst/>
          </a:prstGeom>
          <a:noFill/>
          <a:ln/>
        </p:spPr>
        <p:txBody>
          <a:bodyPr wrap="square" lIns="0" tIns="0" rIns="0" bIns="0" rtlCol="0" anchor="ctr"/>
          <a:lstStyle/>
          <a:p>
            <a:pPr marL="0" indent="0" algn="ctr">
              <a:buNone/>
            </a:pPr>
            <a:r>
              <a:rPr lang="en-US" sz="1300" b="1" dirty="0">
                <a:solidFill>
                  <a:srgbClr val="FF9C95"/>
                </a:solidFill>
                <a:latin typeface="Aptos" pitchFamily="34" charset="0"/>
                <a:ea typeface="Aptos" pitchFamily="34" charset="-122"/>
                <a:cs typeface="Aptos" pitchFamily="34" charset="-120"/>
              </a:rPr>
              <a:t>50% fill-factor</a:t>
            </a:r>
            <a:endParaRPr lang="en-US" sz="1300" dirty="0"/>
          </a:p>
        </p:txBody>
      </p:sp>
      <p:sp>
        <p:nvSpPr>
          <p:cNvPr id="45" name="Text 43"/>
          <p:cNvSpPr/>
          <p:nvPr/>
        </p:nvSpPr>
        <p:spPr>
          <a:xfrm>
            <a:off x="923544" y="5632704"/>
            <a:ext cx="10241280" cy="493776"/>
          </a:xfrm>
          <a:prstGeom prst="rect">
            <a:avLst/>
          </a:prstGeom>
          <a:noFill/>
          <a:ln/>
        </p:spPr>
        <p:txBody>
          <a:bodyPr wrap="square" lIns="0" tIns="0" rIns="0" bIns="0" rtlCol="0" anchor="ctr"/>
          <a:lstStyle/>
          <a:p>
            <a:pPr marL="0" indent="0" algn="ctr">
              <a:buNone/>
            </a:pPr>
            <a:r>
              <a:rPr lang="en-US" sz="2000" dirty="0">
                <a:solidFill>
                  <a:srgbClr val="F4F7FB"/>
                </a:solidFill>
                <a:latin typeface="Aptos" pitchFamily="34" charset="0"/>
                <a:ea typeface="Aptos" pitchFamily="34" charset="-122"/>
                <a:cs typeface="Aptos" pitchFamily="34" charset="-120"/>
              </a:rPr>
              <a:t>Avantaj: diversitate temporală. Cost: scade cantitatea de lumină folosită într-un cadru.</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Varianta B: două măsurări complementare</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Două sume diferite în același bloc: A + B acoperă toți cei 16 pixeli.</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08</a:t>
            </a:r>
            <a:endParaRPr lang="en-US" sz="1000" dirty="0"/>
          </a:p>
        </p:txBody>
      </p:sp>
      <p:sp>
        <p:nvSpPr>
          <p:cNvPr id="7" name="Shape 5"/>
          <p:cNvSpPr/>
          <p:nvPr/>
        </p:nvSpPr>
        <p:spPr>
          <a:xfrm>
            <a:off x="996696" y="2258568"/>
            <a:ext cx="486461" cy="486461"/>
          </a:xfrm>
          <a:prstGeom prst="roundRect">
            <a:avLst>
              <a:gd name="adj" fmla="val 3759"/>
            </a:avLst>
          </a:prstGeom>
          <a:solidFill>
            <a:srgbClr val="52D6D3"/>
          </a:solidFill>
          <a:ln w="10160">
            <a:solidFill>
              <a:srgbClr val="52D6D3"/>
            </a:solidFill>
            <a:prstDash val="solid"/>
          </a:ln>
        </p:spPr>
        <p:txBody>
          <a:bodyPr/>
          <a:lstStyle/>
          <a:p>
            <a:endParaRPr lang="en-US"/>
          </a:p>
        </p:txBody>
      </p:sp>
      <p:sp>
        <p:nvSpPr>
          <p:cNvPr id="8" name="Shape 6"/>
          <p:cNvSpPr/>
          <p:nvPr/>
        </p:nvSpPr>
        <p:spPr>
          <a:xfrm>
            <a:off x="1505102" y="2258568"/>
            <a:ext cx="486461" cy="486461"/>
          </a:xfrm>
          <a:prstGeom prst="roundRect">
            <a:avLst>
              <a:gd name="adj" fmla="val 3759"/>
            </a:avLst>
          </a:prstGeom>
          <a:solidFill>
            <a:srgbClr val="52D6D3"/>
          </a:solidFill>
          <a:ln w="10160">
            <a:solidFill>
              <a:srgbClr val="52D6D3"/>
            </a:solidFill>
            <a:prstDash val="solid"/>
          </a:ln>
        </p:spPr>
        <p:txBody>
          <a:bodyPr/>
          <a:lstStyle/>
          <a:p>
            <a:endParaRPr lang="en-US"/>
          </a:p>
        </p:txBody>
      </p:sp>
      <p:sp>
        <p:nvSpPr>
          <p:cNvPr id="9" name="Shape 7"/>
          <p:cNvSpPr/>
          <p:nvPr/>
        </p:nvSpPr>
        <p:spPr>
          <a:xfrm>
            <a:off x="2013509" y="2258568"/>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10" name="Shape 8"/>
          <p:cNvSpPr/>
          <p:nvPr/>
        </p:nvSpPr>
        <p:spPr>
          <a:xfrm>
            <a:off x="2521915" y="2258568"/>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11" name="Shape 9"/>
          <p:cNvSpPr/>
          <p:nvPr/>
        </p:nvSpPr>
        <p:spPr>
          <a:xfrm>
            <a:off x="996696" y="2766974"/>
            <a:ext cx="486461" cy="486461"/>
          </a:xfrm>
          <a:prstGeom prst="roundRect">
            <a:avLst>
              <a:gd name="adj" fmla="val 3759"/>
            </a:avLst>
          </a:prstGeom>
          <a:solidFill>
            <a:srgbClr val="52D6D3"/>
          </a:solidFill>
          <a:ln w="10160">
            <a:solidFill>
              <a:srgbClr val="52D6D3"/>
            </a:solidFill>
            <a:prstDash val="solid"/>
          </a:ln>
        </p:spPr>
        <p:txBody>
          <a:bodyPr/>
          <a:lstStyle/>
          <a:p>
            <a:endParaRPr lang="en-US"/>
          </a:p>
        </p:txBody>
      </p:sp>
      <p:sp>
        <p:nvSpPr>
          <p:cNvPr id="12" name="Shape 10"/>
          <p:cNvSpPr/>
          <p:nvPr/>
        </p:nvSpPr>
        <p:spPr>
          <a:xfrm>
            <a:off x="1505102" y="2766974"/>
            <a:ext cx="486461" cy="486461"/>
          </a:xfrm>
          <a:prstGeom prst="roundRect">
            <a:avLst>
              <a:gd name="adj" fmla="val 3759"/>
            </a:avLst>
          </a:prstGeom>
          <a:solidFill>
            <a:srgbClr val="52D6D3"/>
          </a:solidFill>
          <a:ln w="10160">
            <a:solidFill>
              <a:srgbClr val="52D6D3"/>
            </a:solidFill>
            <a:prstDash val="solid"/>
          </a:ln>
        </p:spPr>
        <p:txBody>
          <a:bodyPr/>
          <a:lstStyle/>
          <a:p>
            <a:endParaRPr lang="en-US"/>
          </a:p>
        </p:txBody>
      </p:sp>
      <p:sp>
        <p:nvSpPr>
          <p:cNvPr id="13" name="Shape 11"/>
          <p:cNvSpPr/>
          <p:nvPr/>
        </p:nvSpPr>
        <p:spPr>
          <a:xfrm>
            <a:off x="2013509" y="2766974"/>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14" name="Shape 12"/>
          <p:cNvSpPr/>
          <p:nvPr/>
        </p:nvSpPr>
        <p:spPr>
          <a:xfrm>
            <a:off x="2521915" y="2766974"/>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15" name="Shape 13"/>
          <p:cNvSpPr/>
          <p:nvPr/>
        </p:nvSpPr>
        <p:spPr>
          <a:xfrm>
            <a:off x="996696" y="3275381"/>
            <a:ext cx="486461" cy="486461"/>
          </a:xfrm>
          <a:prstGeom prst="roundRect">
            <a:avLst>
              <a:gd name="adj" fmla="val 3759"/>
            </a:avLst>
          </a:prstGeom>
          <a:solidFill>
            <a:srgbClr val="52D6D3"/>
          </a:solidFill>
          <a:ln w="10160">
            <a:solidFill>
              <a:srgbClr val="52D6D3"/>
            </a:solidFill>
            <a:prstDash val="solid"/>
          </a:ln>
        </p:spPr>
        <p:txBody>
          <a:bodyPr/>
          <a:lstStyle/>
          <a:p>
            <a:endParaRPr lang="en-US"/>
          </a:p>
        </p:txBody>
      </p:sp>
      <p:sp>
        <p:nvSpPr>
          <p:cNvPr id="16" name="Shape 14"/>
          <p:cNvSpPr/>
          <p:nvPr/>
        </p:nvSpPr>
        <p:spPr>
          <a:xfrm>
            <a:off x="1505102" y="3275381"/>
            <a:ext cx="486461" cy="486461"/>
          </a:xfrm>
          <a:prstGeom prst="roundRect">
            <a:avLst>
              <a:gd name="adj" fmla="val 3759"/>
            </a:avLst>
          </a:prstGeom>
          <a:solidFill>
            <a:srgbClr val="52D6D3"/>
          </a:solidFill>
          <a:ln w="10160">
            <a:solidFill>
              <a:srgbClr val="52D6D3"/>
            </a:solidFill>
            <a:prstDash val="solid"/>
          </a:ln>
        </p:spPr>
        <p:txBody>
          <a:bodyPr/>
          <a:lstStyle/>
          <a:p>
            <a:endParaRPr lang="en-US"/>
          </a:p>
        </p:txBody>
      </p:sp>
      <p:sp>
        <p:nvSpPr>
          <p:cNvPr id="17" name="Shape 15"/>
          <p:cNvSpPr/>
          <p:nvPr/>
        </p:nvSpPr>
        <p:spPr>
          <a:xfrm>
            <a:off x="2013509" y="3275381"/>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18" name="Shape 16"/>
          <p:cNvSpPr/>
          <p:nvPr/>
        </p:nvSpPr>
        <p:spPr>
          <a:xfrm>
            <a:off x="2521915" y="3275381"/>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19" name="Shape 17"/>
          <p:cNvSpPr/>
          <p:nvPr/>
        </p:nvSpPr>
        <p:spPr>
          <a:xfrm>
            <a:off x="996696" y="3783787"/>
            <a:ext cx="486461" cy="486461"/>
          </a:xfrm>
          <a:prstGeom prst="roundRect">
            <a:avLst>
              <a:gd name="adj" fmla="val 3759"/>
            </a:avLst>
          </a:prstGeom>
          <a:solidFill>
            <a:srgbClr val="52D6D3"/>
          </a:solidFill>
          <a:ln w="10160">
            <a:solidFill>
              <a:srgbClr val="52D6D3"/>
            </a:solidFill>
            <a:prstDash val="solid"/>
          </a:ln>
        </p:spPr>
        <p:txBody>
          <a:bodyPr/>
          <a:lstStyle/>
          <a:p>
            <a:endParaRPr lang="en-US"/>
          </a:p>
        </p:txBody>
      </p:sp>
      <p:sp>
        <p:nvSpPr>
          <p:cNvPr id="20" name="Shape 18"/>
          <p:cNvSpPr/>
          <p:nvPr/>
        </p:nvSpPr>
        <p:spPr>
          <a:xfrm>
            <a:off x="1505102" y="3783787"/>
            <a:ext cx="486461" cy="486461"/>
          </a:xfrm>
          <a:prstGeom prst="roundRect">
            <a:avLst>
              <a:gd name="adj" fmla="val 3759"/>
            </a:avLst>
          </a:prstGeom>
          <a:solidFill>
            <a:srgbClr val="52D6D3"/>
          </a:solidFill>
          <a:ln w="10160">
            <a:solidFill>
              <a:srgbClr val="52D6D3"/>
            </a:solidFill>
            <a:prstDash val="solid"/>
          </a:ln>
        </p:spPr>
        <p:txBody>
          <a:bodyPr/>
          <a:lstStyle/>
          <a:p>
            <a:endParaRPr lang="en-US"/>
          </a:p>
        </p:txBody>
      </p:sp>
      <p:sp>
        <p:nvSpPr>
          <p:cNvPr id="21" name="Shape 19"/>
          <p:cNvSpPr/>
          <p:nvPr/>
        </p:nvSpPr>
        <p:spPr>
          <a:xfrm>
            <a:off x="2013509" y="3783787"/>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22" name="Shape 20"/>
          <p:cNvSpPr/>
          <p:nvPr/>
        </p:nvSpPr>
        <p:spPr>
          <a:xfrm>
            <a:off x="2521915" y="3783787"/>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23" name="Text 21"/>
          <p:cNvSpPr/>
          <p:nvPr/>
        </p:nvSpPr>
        <p:spPr>
          <a:xfrm>
            <a:off x="3246120" y="2944368"/>
            <a:ext cx="457200" cy="502920"/>
          </a:xfrm>
          <a:prstGeom prst="rect">
            <a:avLst/>
          </a:prstGeom>
          <a:noFill/>
          <a:ln/>
        </p:spPr>
        <p:txBody>
          <a:bodyPr wrap="square" lIns="0" tIns="0" rIns="0" bIns="0" rtlCol="0" anchor="ctr"/>
          <a:lstStyle/>
          <a:p>
            <a:pPr marL="0" indent="0" algn="ctr">
              <a:buNone/>
            </a:pPr>
            <a:r>
              <a:rPr lang="en-US" sz="3700" b="1" dirty="0">
                <a:solidFill>
                  <a:srgbClr val="F4F7FB"/>
                </a:solidFill>
                <a:latin typeface="Aptos" pitchFamily="34" charset="0"/>
                <a:ea typeface="Aptos" pitchFamily="34" charset="-122"/>
                <a:cs typeface="Aptos" pitchFamily="34" charset="-120"/>
              </a:rPr>
              <a:t>+</a:t>
            </a:r>
            <a:endParaRPr lang="en-US" sz="3700" dirty="0"/>
          </a:p>
        </p:txBody>
      </p:sp>
      <p:sp>
        <p:nvSpPr>
          <p:cNvPr id="24" name="Shape 22"/>
          <p:cNvSpPr/>
          <p:nvPr/>
        </p:nvSpPr>
        <p:spPr>
          <a:xfrm>
            <a:off x="3986784" y="2258568"/>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25" name="Shape 23"/>
          <p:cNvSpPr/>
          <p:nvPr/>
        </p:nvSpPr>
        <p:spPr>
          <a:xfrm>
            <a:off x="4495190" y="2258568"/>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26" name="Shape 24"/>
          <p:cNvSpPr/>
          <p:nvPr/>
        </p:nvSpPr>
        <p:spPr>
          <a:xfrm>
            <a:off x="5003597" y="2258568"/>
            <a:ext cx="486461" cy="486461"/>
          </a:xfrm>
          <a:prstGeom prst="roundRect">
            <a:avLst>
              <a:gd name="adj" fmla="val 3759"/>
            </a:avLst>
          </a:prstGeom>
          <a:solidFill>
            <a:srgbClr val="FFC870"/>
          </a:solidFill>
          <a:ln w="10160">
            <a:solidFill>
              <a:srgbClr val="FFC870"/>
            </a:solidFill>
            <a:prstDash val="solid"/>
          </a:ln>
        </p:spPr>
        <p:txBody>
          <a:bodyPr/>
          <a:lstStyle/>
          <a:p>
            <a:endParaRPr lang="en-US"/>
          </a:p>
        </p:txBody>
      </p:sp>
      <p:sp>
        <p:nvSpPr>
          <p:cNvPr id="27" name="Shape 25"/>
          <p:cNvSpPr/>
          <p:nvPr/>
        </p:nvSpPr>
        <p:spPr>
          <a:xfrm>
            <a:off x="5512003" y="2258568"/>
            <a:ext cx="486461" cy="486461"/>
          </a:xfrm>
          <a:prstGeom prst="roundRect">
            <a:avLst>
              <a:gd name="adj" fmla="val 3759"/>
            </a:avLst>
          </a:prstGeom>
          <a:solidFill>
            <a:srgbClr val="FFC870"/>
          </a:solidFill>
          <a:ln w="10160">
            <a:solidFill>
              <a:srgbClr val="FFC870"/>
            </a:solidFill>
            <a:prstDash val="solid"/>
          </a:ln>
        </p:spPr>
        <p:txBody>
          <a:bodyPr/>
          <a:lstStyle/>
          <a:p>
            <a:endParaRPr lang="en-US"/>
          </a:p>
        </p:txBody>
      </p:sp>
      <p:sp>
        <p:nvSpPr>
          <p:cNvPr id="28" name="Shape 26"/>
          <p:cNvSpPr/>
          <p:nvPr/>
        </p:nvSpPr>
        <p:spPr>
          <a:xfrm>
            <a:off x="3986784" y="2766974"/>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29" name="Shape 27"/>
          <p:cNvSpPr/>
          <p:nvPr/>
        </p:nvSpPr>
        <p:spPr>
          <a:xfrm>
            <a:off x="4495190" y="2766974"/>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30" name="Shape 28"/>
          <p:cNvSpPr/>
          <p:nvPr/>
        </p:nvSpPr>
        <p:spPr>
          <a:xfrm>
            <a:off x="5003597" y="2766974"/>
            <a:ext cx="486461" cy="486461"/>
          </a:xfrm>
          <a:prstGeom prst="roundRect">
            <a:avLst>
              <a:gd name="adj" fmla="val 3759"/>
            </a:avLst>
          </a:prstGeom>
          <a:solidFill>
            <a:srgbClr val="FFC870"/>
          </a:solidFill>
          <a:ln w="10160">
            <a:solidFill>
              <a:srgbClr val="FFC870"/>
            </a:solidFill>
            <a:prstDash val="solid"/>
          </a:ln>
        </p:spPr>
        <p:txBody>
          <a:bodyPr/>
          <a:lstStyle/>
          <a:p>
            <a:endParaRPr lang="en-US"/>
          </a:p>
        </p:txBody>
      </p:sp>
      <p:sp>
        <p:nvSpPr>
          <p:cNvPr id="31" name="Shape 29"/>
          <p:cNvSpPr/>
          <p:nvPr/>
        </p:nvSpPr>
        <p:spPr>
          <a:xfrm>
            <a:off x="5512003" y="2766974"/>
            <a:ext cx="486461" cy="486461"/>
          </a:xfrm>
          <a:prstGeom prst="roundRect">
            <a:avLst>
              <a:gd name="adj" fmla="val 3759"/>
            </a:avLst>
          </a:prstGeom>
          <a:solidFill>
            <a:srgbClr val="FFC870"/>
          </a:solidFill>
          <a:ln w="10160">
            <a:solidFill>
              <a:srgbClr val="FFC870"/>
            </a:solidFill>
            <a:prstDash val="solid"/>
          </a:ln>
        </p:spPr>
        <p:txBody>
          <a:bodyPr/>
          <a:lstStyle/>
          <a:p>
            <a:endParaRPr lang="en-US"/>
          </a:p>
        </p:txBody>
      </p:sp>
      <p:sp>
        <p:nvSpPr>
          <p:cNvPr id="32" name="Shape 30"/>
          <p:cNvSpPr/>
          <p:nvPr/>
        </p:nvSpPr>
        <p:spPr>
          <a:xfrm>
            <a:off x="3986784" y="3275381"/>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33" name="Shape 31"/>
          <p:cNvSpPr/>
          <p:nvPr/>
        </p:nvSpPr>
        <p:spPr>
          <a:xfrm>
            <a:off x="4495190" y="3275381"/>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34" name="Shape 32"/>
          <p:cNvSpPr/>
          <p:nvPr/>
        </p:nvSpPr>
        <p:spPr>
          <a:xfrm>
            <a:off x="5003597" y="3275381"/>
            <a:ext cx="486461" cy="486461"/>
          </a:xfrm>
          <a:prstGeom prst="roundRect">
            <a:avLst>
              <a:gd name="adj" fmla="val 3759"/>
            </a:avLst>
          </a:prstGeom>
          <a:solidFill>
            <a:srgbClr val="FFC870"/>
          </a:solidFill>
          <a:ln w="10160">
            <a:solidFill>
              <a:srgbClr val="FFC870"/>
            </a:solidFill>
            <a:prstDash val="solid"/>
          </a:ln>
        </p:spPr>
        <p:txBody>
          <a:bodyPr/>
          <a:lstStyle/>
          <a:p>
            <a:endParaRPr lang="en-US"/>
          </a:p>
        </p:txBody>
      </p:sp>
      <p:sp>
        <p:nvSpPr>
          <p:cNvPr id="35" name="Shape 33"/>
          <p:cNvSpPr/>
          <p:nvPr/>
        </p:nvSpPr>
        <p:spPr>
          <a:xfrm>
            <a:off x="5512003" y="3275381"/>
            <a:ext cx="486461" cy="486461"/>
          </a:xfrm>
          <a:prstGeom prst="roundRect">
            <a:avLst>
              <a:gd name="adj" fmla="val 3759"/>
            </a:avLst>
          </a:prstGeom>
          <a:solidFill>
            <a:srgbClr val="FFC870"/>
          </a:solidFill>
          <a:ln w="10160">
            <a:solidFill>
              <a:srgbClr val="FFC870"/>
            </a:solidFill>
            <a:prstDash val="solid"/>
          </a:ln>
        </p:spPr>
        <p:txBody>
          <a:bodyPr/>
          <a:lstStyle/>
          <a:p>
            <a:endParaRPr lang="en-US"/>
          </a:p>
        </p:txBody>
      </p:sp>
      <p:sp>
        <p:nvSpPr>
          <p:cNvPr id="36" name="Shape 34"/>
          <p:cNvSpPr/>
          <p:nvPr/>
        </p:nvSpPr>
        <p:spPr>
          <a:xfrm>
            <a:off x="3986784" y="3783787"/>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37" name="Shape 35"/>
          <p:cNvSpPr/>
          <p:nvPr/>
        </p:nvSpPr>
        <p:spPr>
          <a:xfrm>
            <a:off x="4495190" y="3783787"/>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38" name="Shape 36"/>
          <p:cNvSpPr/>
          <p:nvPr/>
        </p:nvSpPr>
        <p:spPr>
          <a:xfrm>
            <a:off x="5003597" y="3783787"/>
            <a:ext cx="486461" cy="486461"/>
          </a:xfrm>
          <a:prstGeom prst="roundRect">
            <a:avLst>
              <a:gd name="adj" fmla="val 3759"/>
            </a:avLst>
          </a:prstGeom>
          <a:solidFill>
            <a:srgbClr val="FFC870"/>
          </a:solidFill>
          <a:ln w="10160">
            <a:solidFill>
              <a:srgbClr val="FFC870"/>
            </a:solidFill>
            <a:prstDash val="solid"/>
          </a:ln>
        </p:spPr>
        <p:txBody>
          <a:bodyPr/>
          <a:lstStyle/>
          <a:p>
            <a:endParaRPr lang="en-US"/>
          </a:p>
        </p:txBody>
      </p:sp>
      <p:sp>
        <p:nvSpPr>
          <p:cNvPr id="39" name="Shape 37"/>
          <p:cNvSpPr/>
          <p:nvPr/>
        </p:nvSpPr>
        <p:spPr>
          <a:xfrm>
            <a:off x="5512003" y="3783787"/>
            <a:ext cx="486461" cy="486461"/>
          </a:xfrm>
          <a:prstGeom prst="roundRect">
            <a:avLst>
              <a:gd name="adj" fmla="val 3759"/>
            </a:avLst>
          </a:prstGeom>
          <a:solidFill>
            <a:srgbClr val="FFC870"/>
          </a:solidFill>
          <a:ln w="10160">
            <a:solidFill>
              <a:srgbClr val="FFC870"/>
            </a:solidFill>
            <a:prstDash val="solid"/>
          </a:ln>
        </p:spPr>
        <p:txBody>
          <a:bodyPr/>
          <a:lstStyle/>
          <a:p>
            <a:endParaRPr lang="en-US"/>
          </a:p>
        </p:txBody>
      </p:sp>
      <p:sp>
        <p:nvSpPr>
          <p:cNvPr id="40" name="Text 38"/>
          <p:cNvSpPr/>
          <p:nvPr/>
        </p:nvSpPr>
        <p:spPr>
          <a:xfrm>
            <a:off x="6163056" y="2944368"/>
            <a:ext cx="457200" cy="502920"/>
          </a:xfrm>
          <a:prstGeom prst="rect">
            <a:avLst/>
          </a:prstGeom>
          <a:noFill/>
          <a:ln/>
        </p:spPr>
        <p:txBody>
          <a:bodyPr wrap="square" lIns="0" tIns="0" rIns="0" bIns="0" rtlCol="0" anchor="ctr"/>
          <a:lstStyle/>
          <a:p>
            <a:pPr marL="0" indent="0" algn="ctr">
              <a:buNone/>
            </a:pPr>
            <a:r>
              <a:rPr lang="en-US" sz="3700" b="1" dirty="0">
                <a:solidFill>
                  <a:srgbClr val="F4F7FB"/>
                </a:solidFill>
                <a:latin typeface="Aptos" pitchFamily="34" charset="0"/>
                <a:ea typeface="Aptos" pitchFamily="34" charset="-122"/>
                <a:cs typeface="Aptos" pitchFamily="34" charset="-120"/>
              </a:rPr>
              <a:t>=</a:t>
            </a:r>
            <a:endParaRPr lang="en-US" sz="3700" dirty="0"/>
          </a:p>
        </p:txBody>
      </p:sp>
      <p:sp>
        <p:nvSpPr>
          <p:cNvPr id="41" name="Shape 39"/>
          <p:cNvSpPr/>
          <p:nvPr/>
        </p:nvSpPr>
        <p:spPr>
          <a:xfrm>
            <a:off x="6885432" y="2258568"/>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42" name="Shape 40"/>
          <p:cNvSpPr/>
          <p:nvPr/>
        </p:nvSpPr>
        <p:spPr>
          <a:xfrm>
            <a:off x="7393838" y="2258568"/>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43" name="Shape 41"/>
          <p:cNvSpPr/>
          <p:nvPr/>
        </p:nvSpPr>
        <p:spPr>
          <a:xfrm>
            <a:off x="7902245" y="2258568"/>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44" name="Shape 42"/>
          <p:cNvSpPr/>
          <p:nvPr/>
        </p:nvSpPr>
        <p:spPr>
          <a:xfrm>
            <a:off x="8410651" y="2258568"/>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45" name="Shape 43"/>
          <p:cNvSpPr/>
          <p:nvPr/>
        </p:nvSpPr>
        <p:spPr>
          <a:xfrm>
            <a:off x="6885432" y="2766974"/>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46" name="Shape 44"/>
          <p:cNvSpPr/>
          <p:nvPr/>
        </p:nvSpPr>
        <p:spPr>
          <a:xfrm>
            <a:off x="7393838" y="2766974"/>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47" name="Shape 45"/>
          <p:cNvSpPr/>
          <p:nvPr/>
        </p:nvSpPr>
        <p:spPr>
          <a:xfrm>
            <a:off x="7902245" y="2766974"/>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48" name="Shape 46"/>
          <p:cNvSpPr/>
          <p:nvPr/>
        </p:nvSpPr>
        <p:spPr>
          <a:xfrm>
            <a:off x="8410651" y="2766974"/>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49" name="Shape 47"/>
          <p:cNvSpPr/>
          <p:nvPr/>
        </p:nvSpPr>
        <p:spPr>
          <a:xfrm>
            <a:off x="6885432" y="3275381"/>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50" name="Shape 48"/>
          <p:cNvSpPr/>
          <p:nvPr/>
        </p:nvSpPr>
        <p:spPr>
          <a:xfrm>
            <a:off x="7393838" y="3275381"/>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51" name="Shape 49"/>
          <p:cNvSpPr/>
          <p:nvPr/>
        </p:nvSpPr>
        <p:spPr>
          <a:xfrm>
            <a:off x="7902245" y="3275381"/>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52" name="Shape 50"/>
          <p:cNvSpPr/>
          <p:nvPr/>
        </p:nvSpPr>
        <p:spPr>
          <a:xfrm>
            <a:off x="8410651" y="3275381"/>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53" name="Shape 51"/>
          <p:cNvSpPr/>
          <p:nvPr/>
        </p:nvSpPr>
        <p:spPr>
          <a:xfrm>
            <a:off x="6885432" y="3783787"/>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54" name="Shape 52"/>
          <p:cNvSpPr/>
          <p:nvPr/>
        </p:nvSpPr>
        <p:spPr>
          <a:xfrm>
            <a:off x="7393838" y="3783787"/>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55" name="Shape 53"/>
          <p:cNvSpPr/>
          <p:nvPr/>
        </p:nvSpPr>
        <p:spPr>
          <a:xfrm>
            <a:off x="7902245" y="3783787"/>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56" name="Shape 54"/>
          <p:cNvSpPr/>
          <p:nvPr/>
        </p:nvSpPr>
        <p:spPr>
          <a:xfrm>
            <a:off x="8410651" y="3783787"/>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57" name="Text 55"/>
          <p:cNvSpPr/>
          <p:nvPr/>
        </p:nvSpPr>
        <p:spPr>
          <a:xfrm>
            <a:off x="1225296" y="4462272"/>
            <a:ext cx="1645920" cy="365760"/>
          </a:xfrm>
          <a:prstGeom prst="rect">
            <a:avLst/>
          </a:prstGeom>
          <a:noFill/>
          <a:ln/>
        </p:spPr>
        <p:txBody>
          <a:bodyPr wrap="square" lIns="0" tIns="0" rIns="0" bIns="0" rtlCol="0" anchor="ctr"/>
          <a:lstStyle/>
          <a:p>
            <a:pPr marL="0" indent="0" algn="ctr">
              <a:buNone/>
            </a:pPr>
            <a:r>
              <a:rPr lang="en-US" sz="1600" dirty="0">
                <a:solidFill>
                  <a:srgbClr val="52D6D3"/>
                </a:solidFill>
                <a:latin typeface="Aptos" pitchFamily="34" charset="0"/>
                <a:ea typeface="Aptos" pitchFamily="34" charset="-122"/>
                <a:cs typeface="Aptos" pitchFamily="34" charset="-120"/>
              </a:rPr>
              <a:t>Masca A</a:t>
            </a:r>
            <a:endParaRPr lang="en-US" sz="1600" dirty="0"/>
          </a:p>
        </p:txBody>
      </p:sp>
      <p:sp>
        <p:nvSpPr>
          <p:cNvPr id="58" name="Text 56"/>
          <p:cNvSpPr/>
          <p:nvPr/>
        </p:nvSpPr>
        <p:spPr>
          <a:xfrm>
            <a:off x="4178808" y="4462272"/>
            <a:ext cx="1737360" cy="365760"/>
          </a:xfrm>
          <a:prstGeom prst="rect">
            <a:avLst/>
          </a:prstGeom>
          <a:noFill/>
          <a:ln/>
        </p:spPr>
        <p:txBody>
          <a:bodyPr wrap="square" lIns="0" tIns="0" rIns="0" bIns="0" rtlCol="0" anchor="ctr"/>
          <a:lstStyle/>
          <a:p>
            <a:pPr marL="0" indent="0" algn="ctr">
              <a:buNone/>
            </a:pPr>
            <a:r>
              <a:rPr lang="en-US" sz="1600" dirty="0">
                <a:solidFill>
                  <a:srgbClr val="FFC870"/>
                </a:solidFill>
                <a:latin typeface="Aptos" pitchFamily="34" charset="0"/>
                <a:ea typeface="Aptos" pitchFamily="34" charset="-122"/>
                <a:cs typeface="Aptos" pitchFamily="34" charset="-120"/>
              </a:rPr>
              <a:t>Complementul B</a:t>
            </a:r>
            <a:endParaRPr lang="en-US" sz="1600" dirty="0"/>
          </a:p>
        </p:txBody>
      </p:sp>
      <p:sp>
        <p:nvSpPr>
          <p:cNvPr id="59" name="Text 57"/>
          <p:cNvSpPr/>
          <p:nvPr/>
        </p:nvSpPr>
        <p:spPr>
          <a:xfrm>
            <a:off x="7059168" y="4462272"/>
            <a:ext cx="1682496" cy="365760"/>
          </a:xfrm>
          <a:prstGeom prst="rect">
            <a:avLst/>
          </a:prstGeom>
          <a:noFill/>
          <a:ln/>
        </p:spPr>
        <p:txBody>
          <a:bodyPr wrap="square" lIns="0" tIns="0" rIns="0" bIns="0" rtlCol="0" anchor="ctr"/>
          <a:lstStyle/>
          <a:p>
            <a:pPr marL="0" indent="0" algn="ctr">
              <a:buNone/>
            </a:pPr>
            <a:r>
              <a:rPr lang="en-US" sz="1600" dirty="0">
                <a:solidFill>
                  <a:srgbClr val="80E2B0"/>
                </a:solidFill>
                <a:latin typeface="Aptos" pitchFamily="34" charset="0"/>
                <a:ea typeface="Aptos" pitchFamily="34" charset="-122"/>
                <a:cs typeface="Aptos" pitchFamily="34" charset="-120"/>
              </a:rPr>
              <a:t>toți pixelii</a:t>
            </a:r>
            <a:endParaRPr lang="en-US" sz="1600" dirty="0"/>
          </a:p>
        </p:txBody>
      </p:sp>
      <p:sp>
        <p:nvSpPr>
          <p:cNvPr id="60" name="Shape 58"/>
          <p:cNvSpPr/>
          <p:nvPr/>
        </p:nvSpPr>
        <p:spPr>
          <a:xfrm>
            <a:off x="9290304" y="2221992"/>
            <a:ext cx="2093976" cy="2606040"/>
          </a:xfrm>
          <a:prstGeom prst="roundRect">
            <a:avLst>
              <a:gd name="adj" fmla="val 6987"/>
            </a:avLst>
          </a:prstGeom>
          <a:solidFill>
            <a:srgbClr val="17253B"/>
          </a:solidFill>
          <a:ln w="10160">
            <a:solidFill>
              <a:srgbClr val="17253B"/>
            </a:solidFill>
            <a:prstDash val="solid"/>
          </a:ln>
        </p:spPr>
        <p:txBody>
          <a:bodyPr/>
          <a:lstStyle/>
          <a:p>
            <a:endParaRPr lang="en-US"/>
          </a:p>
        </p:txBody>
      </p:sp>
      <p:sp>
        <p:nvSpPr>
          <p:cNvPr id="61" name="Shape 59"/>
          <p:cNvSpPr/>
          <p:nvPr/>
        </p:nvSpPr>
        <p:spPr>
          <a:xfrm>
            <a:off x="9290304" y="2221992"/>
            <a:ext cx="50292" cy="2606040"/>
          </a:xfrm>
          <a:prstGeom prst="roundRect">
            <a:avLst>
              <a:gd name="adj" fmla="val 290909"/>
            </a:avLst>
          </a:prstGeom>
          <a:solidFill>
            <a:srgbClr val="80E2B0"/>
          </a:solidFill>
          <a:ln w="10160">
            <a:solidFill>
              <a:srgbClr val="80E2B0"/>
            </a:solidFill>
            <a:prstDash val="solid"/>
          </a:ln>
        </p:spPr>
        <p:txBody>
          <a:bodyPr/>
          <a:lstStyle/>
          <a:p>
            <a:endParaRPr lang="en-US"/>
          </a:p>
        </p:txBody>
      </p:sp>
      <p:sp>
        <p:nvSpPr>
          <p:cNvPr id="62" name="Text 60"/>
          <p:cNvSpPr/>
          <p:nvPr/>
        </p:nvSpPr>
        <p:spPr>
          <a:xfrm>
            <a:off x="9491472" y="2377440"/>
            <a:ext cx="1709928" cy="402336"/>
          </a:xfrm>
          <a:prstGeom prst="rect">
            <a:avLst/>
          </a:prstGeom>
          <a:noFill/>
          <a:ln/>
        </p:spPr>
        <p:txBody>
          <a:bodyPr wrap="square" lIns="0" tIns="0" rIns="0" bIns="0" rtlCol="0" anchor="ctr"/>
          <a:lstStyle/>
          <a:p>
            <a:pPr marL="0" indent="0">
              <a:buNone/>
            </a:pPr>
            <a:r>
              <a:rPr lang="en-US" sz="2000" b="1" dirty="0">
                <a:solidFill>
                  <a:srgbClr val="80E2B0"/>
                </a:solidFill>
                <a:latin typeface="Aptos" pitchFamily="34" charset="0"/>
                <a:ea typeface="Aptos" pitchFamily="34" charset="-122"/>
                <a:cs typeface="Aptos" pitchFamily="34" charset="-120"/>
              </a:rPr>
              <a:t>CR = 1/8</a:t>
            </a:r>
            <a:endParaRPr lang="en-US" sz="2000" dirty="0"/>
          </a:p>
        </p:txBody>
      </p:sp>
      <p:sp>
        <p:nvSpPr>
          <p:cNvPr id="63" name="Text 61"/>
          <p:cNvSpPr/>
          <p:nvPr/>
        </p:nvSpPr>
        <p:spPr>
          <a:xfrm>
            <a:off x="9491472" y="2898648"/>
            <a:ext cx="1691640" cy="1828800"/>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2 valori pentru fiecare bloc 4 × 4, pe cadru.</a:t>
            </a:r>
            <a:endParaRPr lang="en-US" sz="1600" dirty="0"/>
          </a:p>
        </p:txBody>
      </p:sp>
      <p:sp>
        <p:nvSpPr>
          <p:cNvPr id="64" name="Text 62"/>
          <p:cNvSpPr/>
          <p:nvPr/>
        </p:nvSpPr>
        <p:spPr>
          <a:xfrm>
            <a:off x="932688" y="5358384"/>
            <a:ext cx="10277856" cy="621792"/>
          </a:xfrm>
          <a:prstGeom prst="rect">
            <a:avLst/>
          </a:prstGeom>
          <a:noFill/>
          <a:ln/>
        </p:spPr>
        <p:txBody>
          <a:bodyPr wrap="square" lIns="0" tIns="0" rIns="0" bIns="0" rtlCol="0" anchor="ctr"/>
          <a:lstStyle/>
          <a:p>
            <a:pPr marL="0" indent="0" algn="ctr">
              <a:buNone/>
            </a:pPr>
            <a:r>
              <a:rPr lang="en-US" sz="2000" dirty="0">
                <a:solidFill>
                  <a:srgbClr val="F4F7FB"/>
                </a:solidFill>
                <a:latin typeface="Aptos" pitchFamily="34" charset="0"/>
                <a:ea typeface="Aptos" pitchFamily="34" charset="-122"/>
                <a:cs typeface="Aptos" pitchFamily="34" charset="-120"/>
              </a:rPr>
              <a:t>Fill-factor 100% • suma A+B reproduce 16Sum • este nevoie de două căi de citire.</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Ce măști se compară?</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Două măsurări pe cadru; toate folosesc perechi complementare.</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09</a:t>
            </a:r>
            <a:endParaRPr lang="en-US" sz="1000" dirty="0"/>
          </a:p>
        </p:txBody>
      </p:sp>
      <p:sp>
        <p:nvSpPr>
          <p:cNvPr id="7" name="Shape 5"/>
          <p:cNvSpPr/>
          <p:nvPr/>
        </p:nvSpPr>
        <p:spPr>
          <a:xfrm>
            <a:off x="832104" y="1691640"/>
            <a:ext cx="10533888" cy="822960"/>
          </a:xfrm>
          <a:prstGeom prst="roundRect">
            <a:avLst>
              <a:gd name="adj" fmla="val 17778"/>
            </a:avLst>
          </a:prstGeom>
          <a:solidFill>
            <a:srgbClr val="17253B"/>
          </a:solidFill>
          <a:ln w="10160">
            <a:solidFill>
              <a:srgbClr val="17253B"/>
            </a:solidFill>
            <a:prstDash val="solid"/>
          </a:ln>
        </p:spPr>
        <p:txBody>
          <a:bodyPr/>
          <a:lstStyle/>
          <a:p>
            <a:endParaRPr lang="en-US"/>
          </a:p>
        </p:txBody>
      </p:sp>
      <p:sp>
        <p:nvSpPr>
          <p:cNvPr id="8" name="Shape 6"/>
          <p:cNvSpPr/>
          <p:nvPr/>
        </p:nvSpPr>
        <p:spPr>
          <a:xfrm>
            <a:off x="932688" y="1810512"/>
            <a:ext cx="82296" cy="594360"/>
          </a:xfrm>
          <a:prstGeom prst="roundRect">
            <a:avLst>
              <a:gd name="adj" fmla="val 177778"/>
            </a:avLst>
          </a:prstGeom>
          <a:solidFill>
            <a:srgbClr val="FF9C95"/>
          </a:solidFill>
          <a:ln w="10160">
            <a:solidFill>
              <a:srgbClr val="FF9C95"/>
            </a:solidFill>
            <a:prstDash val="solid"/>
          </a:ln>
        </p:spPr>
        <p:txBody>
          <a:bodyPr/>
          <a:lstStyle/>
          <a:p>
            <a:endParaRPr lang="en-US"/>
          </a:p>
        </p:txBody>
      </p:sp>
      <p:sp>
        <p:nvSpPr>
          <p:cNvPr id="9" name="Text 7"/>
          <p:cNvSpPr/>
          <p:nvPr/>
        </p:nvSpPr>
        <p:spPr>
          <a:xfrm>
            <a:off x="1207008" y="1847088"/>
            <a:ext cx="3108960" cy="457200"/>
          </a:xfrm>
          <a:prstGeom prst="rect">
            <a:avLst/>
          </a:prstGeom>
          <a:noFill/>
          <a:ln/>
        </p:spPr>
        <p:txBody>
          <a:bodyPr wrap="square" lIns="0" tIns="0" rIns="0" bIns="0" rtlCol="0" anchor="ctr"/>
          <a:lstStyle/>
          <a:p>
            <a:pPr marL="0" indent="0">
              <a:buNone/>
            </a:pPr>
            <a:r>
              <a:rPr lang="en-US" sz="2200" b="1" dirty="0">
                <a:solidFill>
                  <a:srgbClr val="FF9C95"/>
                </a:solidFill>
                <a:latin typeface="Aptos" pitchFamily="34" charset="0"/>
                <a:ea typeface="Aptos" pitchFamily="34" charset="-122"/>
                <a:cs typeface="Aptos" pitchFamily="34" charset="-120"/>
              </a:rPr>
              <a:t>8Sum fix</a:t>
            </a:r>
            <a:endParaRPr lang="en-US" sz="2200" dirty="0"/>
          </a:p>
        </p:txBody>
      </p:sp>
      <p:sp>
        <p:nvSpPr>
          <p:cNvPr id="10" name="Text 8"/>
          <p:cNvSpPr/>
          <p:nvPr/>
        </p:nvSpPr>
        <p:spPr>
          <a:xfrm>
            <a:off x="4325112" y="1847088"/>
            <a:ext cx="6766560" cy="457200"/>
          </a:xfrm>
          <a:prstGeom prst="rect">
            <a:avLst/>
          </a:prstGeom>
          <a:noFill/>
          <a:ln/>
        </p:spPr>
        <p:txBody>
          <a:bodyPr wrap="square" lIns="0" tIns="0" rIns="0" bIns="0" rtlCol="0" anchor="ctr"/>
          <a:lstStyle/>
          <a:p>
            <a:pPr marL="0" indent="0">
              <a:buNone/>
            </a:pPr>
            <a:r>
              <a:rPr lang="en-US" sz="1800" dirty="0">
                <a:solidFill>
                  <a:srgbClr val="F4F7FB"/>
                </a:solidFill>
                <a:latin typeface="Aptos" pitchFamily="34" charset="0"/>
                <a:ea typeface="Aptos" pitchFamily="34" charset="-122"/>
                <a:cs typeface="Aptos" pitchFamily="34" charset="-120"/>
              </a:rPr>
              <a:t>dreptunghiuri, fără variație</a:t>
            </a:r>
            <a:endParaRPr lang="en-US" sz="1800" dirty="0"/>
          </a:p>
        </p:txBody>
      </p:sp>
      <p:sp>
        <p:nvSpPr>
          <p:cNvPr id="11" name="Shape 9"/>
          <p:cNvSpPr/>
          <p:nvPr/>
        </p:nvSpPr>
        <p:spPr>
          <a:xfrm>
            <a:off x="832104" y="2715768"/>
            <a:ext cx="10533888" cy="822960"/>
          </a:xfrm>
          <a:prstGeom prst="roundRect">
            <a:avLst>
              <a:gd name="adj" fmla="val 17778"/>
            </a:avLst>
          </a:prstGeom>
          <a:solidFill>
            <a:srgbClr val="1C304A"/>
          </a:solidFill>
          <a:ln w="10160">
            <a:solidFill>
              <a:srgbClr val="1C304A"/>
            </a:solidFill>
            <a:prstDash val="solid"/>
          </a:ln>
        </p:spPr>
        <p:txBody>
          <a:bodyPr/>
          <a:lstStyle/>
          <a:p>
            <a:endParaRPr lang="en-US"/>
          </a:p>
        </p:txBody>
      </p:sp>
      <p:sp>
        <p:nvSpPr>
          <p:cNvPr id="12" name="Shape 10"/>
          <p:cNvSpPr/>
          <p:nvPr/>
        </p:nvSpPr>
        <p:spPr>
          <a:xfrm>
            <a:off x="932688" y="2834640"/>
            <a:ext cx="82296" cy="594360"/>
          </a:xfrm>
          <a:prstGeom prst="roundRect">
            <a:avLst>
              <a:gd name="adj" fmla="val 177778"/>
            </a:avLst>
          </a:prstGeom>
          <a:solidFill>
            <a:srgbClr val="FFC870"/>
          </a:solidFill>
          <a:ln w="10160">
            <a:solidFill>
              <a:srgbClr val="FFC870"/>
            </a:solidFill>
            <a:prstDash val="solid"/>
          </a:ln>
        </p:spPr>
        <p:txBody>
          <a:bodyPr/>
          <a:lstStyle/>
          <a:p>
            <a:endParaRPr lang="en-US"/>
          </a:p>
        </p:txBody>
      </p:sp>
      <p:sp>
        <p:nvSpPr>
          <p:cNvPr id="13" name="Text 11"/>
          <p:cNvSpPr/>
          <p:nvPr/>
        </p:nvSpPr>
        <p:spPr>
          <a:xfrm>
            <a:off x="1207008" y="2871216"/>
            <a:ext cx="3108960" cy="457200"/>
          </a:xfrm>
          <a:prstGeom prst="rect">
            <a:avLst/>
          </a:prstGeom>
          <a:noFill/>
          <a:ln/>
        </p:spPr>
        <p:txBody>
          <a:bodyPr wrap="square" lIns="0" tIns="0" rIns="0" bIns="0" rtlCol="0" anchor="ctr"/>
          <a:lstStyle/>
          <a:p>
            <a:pPr marL="0" indent="0">
              <a:buNone/>
            </a:pPr>
            <a:r>
              <a:rPr lang="en-US" sz="2200" b="1" dirty="0">
                <a:solidFill>
                  <a:srgbClr val="FFC870"/>
                </a:solidFill>
                <a:latin typeface="Aptos" pitchFamily="34" charset="0"/>
                <a:ea typeface="Aptos" pitchFamily="34" charset="-122"/>
                <a:cs typeface="Aptos" pitchFamily="34" charset="-120"/>
              </a:rPr>
              <a:t>8Sum alternant</a:t>
            </a:r>
            <a:endParaRPr lang="en-US" sz="2200" dirty="0"/>
          </a:p>
        </p:txBody>
      </p:sp>
      <p:sp>
        <p:nvSpPr>
          <p:cNvPr id="14" name="Text 12"/>
          <p:cNvSpPr/>
          <p:nvPr/>
        </p:nvSpPr>
        <p:spPr>
          <a:xfrm>
            <a:off x="4325112" y="2871216"/>
            <a:ext cx="6766560" cy="457200"/>
          </a:xfrm>
          <a:prstGeom prst="rect">
            <a:avLst/>
          </a:prstGeom>
          <a:noFill/>
          <a:ln/>
        </p:spPr>
        <p:txBody>
          <a:bodyPr wrap="square" lIns="0" tIns="0" rIns="0" bIns="0" rtlCol="0" anchor="ctr"/>
          <a:lstStyle/>
          <a:p>
            <a:pPr marL="0" indent="0">
              <a:buNone/>
            </a:pPr>
            <a:r>
              <a:rPr lang="en-US" sz="1800" dirty="0">
                <a:solidFill>
                  <a:srgbClr val="F4F7FB"/>
                </a:solidFill>
                <a:latin typeface="Aptos" pitchFamily="34" charset="0"/>
                <a:ea typeface="Aptos" pitchFamily="34" charset="-122"/>
                <a:cs typeface="Aptos" pitchFamily="34" charset="-120"/>
              </a:rPr>
              <a:t>coloane ↔ rânduri</a:t>
            </a:r>
            <a:endParaRPr lang="en-US" sz="1800" dirty="0"/>
          </a:p>
        </p:txBody>
      </p:sp>
      <p:sp>
        <p:nvSpPr>
          <p:cNvPr id="15" name="Shape 13"/>
          <p:cNvSpPr/>
          <p:nvPr/>
        </p:nvSpPr>
        <p:spPr>
          <a:xfrm>
            <a:off x="832104" y="3739896"/>
            <a:ext cx="10533888" cy="822960"/>
          </a:xfrm>
          <a:prstGeom prst="roundRect">
            <a:avLst>
              <a:gd name="adj" fmla="val 17778"/>
            </a:avLst>
          </a:prstGeom>
          <a:solidFill>
            <a:srgbClr val="17253B"/>
          </a:solidFill>
          <a:ln w="10160">
            <a:solidFill>
              <a:srgbClr val="17253B"/>
            </a:solidFill>
            <a:prstDash val="solid"/>
          </a:ln>
        </p:spPr>
        <p:txBody>
          <a:bodyPr/>
          <a:lstStyle/>
          <a:p>
            <a:endParaRPr lang="en-US"/>
          </a:p>
        </p:txBody>
      </p:sp>
      <p:sp>
        <p:nvSpPr>
          <p:cNvPr id="16" name="Shape 14"/>
          <p:cNvSpPr/>
          <p:nvPr/>
        </p:nvSpPr>
        <p:spPr>
          <a:xfrm>
            <a:off x="932688" y="3858768"/>
            <a:ext cx="82296" cy="594360"/>
          </a:xfrm>
          <a:prstGeom prst="roundRect">
            <a:avLst>
              <a:gd name="adj" fmla="val 177778"/>
            </a:avLst>
          </a:prstGeom>
          <a:solidFill>
            <a:srgbClr val="52D6D3"/>
          </a:solidFill>
          <a:ln w="10160">
            <a:solidFill>
              <a:srgbClr val="52D6D3"/>
            </a:solidFill>
            <a:prstDash val="solid"/>
          </a:ln>
        </p:spPr>
        <p:txBody>
          <a:bodyPr/>
          <a:lstStyle/>
          <a:p>
            <a:endParaRPr lang="en-US"/>
          </a:p>
        </p:txBody>
      </p:sp>
      <p:sp>
        <p:nvSpPr>
          <p:cNvPr id="17" name="Text 15"/>
          <p:cNvSpPr/>
          <p:nvPr/>
        </p:nvSpPr>
        <p:spPr>
          <a:xfrm>
            <a:off x="1207008" y="3895344"/>
            <a:ext cx="3108960" cy="457200"/>
          </a:xfrm>
          <a:prstGeom prst="rect">
            <a:avLst/>
          </a:prstGeom>
          <a:noFill/>
          <a:ln/>
        </p:spPr>
        <p:txBody>
          <a:bodyPr wrap="square" lIns="0" tIns="0" rIns="0" bIns="0" rtlCol="0" anchor="ctr"/>
          <a:lstStyle/>
          <a:p>
            <a:pPr marL="0" indent="0">
              <a:buNone/>
            </a:pPr>
            <a:r>
              <a:rPr lang="en-US" sz="2200" b="1" dirty="0">
                <a:solidFill>
                  <a:srgbClr val="52D6D3"/>
                </a:solidFill>
                <a:latin typeface="Aptos" pitchFamily="34" charset="0"/>
                <a:ea typeface="Aptos" pitchFamily="34" charset="-122"/>
                <a:cs typeface="Aptos" pitchFamily="34" charset="-120"/>
              </a:rPr>
              <a:t>Random</a:t>
            </a:r>
            <a:endParaRPr lang="en-US" sz="2200" dirty="0"/>
          </a:p>
        </p:txBody>
      </p:sp>
      <p:sp>
        <p:nvSpPr>
          <p:cNvPr id="18" name="Text 16"/>
          <p:cNvSpPr/>
          <p:nvPr/>
        </p:nvSpPr>
        <p:spPr>
          <a:xfrm>
            <a:off x="4325112" y="3895344"/>
            <a:ext cx="6766560" cy="457200"/>
          </a:xfrm>
          <a:prstGeom prst="rect">
            <a:avLst/>
          </a:prstGeom>
          <a:noFill/>
          <a:ln/>
        </p:spPr>
        <p:txBody>
          <a:bodyPr wrap="square" lIns="0" tIns="0" rIns="0" bIns="0" rtlCol="0" anchor="ctr"/>
          <a:lstStyle/>
          <a:p>
            <a:pPr marL="0" indent="0">
              <a:buNone/>
            </a:pPr>
            <a:r>
              <a:rPr lang="en-US" sz="1800" dirty="0">
                <a:solidFill>
                  <a:srgbClr val="F4F7FB"/>
                </a:solidFill>
                <a:latin typeface="Aptos" pitchFamily="34" charset="0"/>
                <a:ea typeface="Aptos" pitchFamily="34" charset="-122"/>
                <a:cs typeface="Aptos" pitchFamily="34" charset="-120"/>
              </a:rPr>
              <a:t>măști binare variabile</a:t>
            </a:r>
            <a:endParaRPr lang="en-US" sz="1800" dirty="0"/>
          </a:p>
        </p:txBody>
      </p:sp>
      <p:sp>
        <p:nvSpPr>
          <p:cNvPr id="19" name="Shape 17"/>
          <p:cNvSpPr/>
          <p:nvPr/>
        </p:nvSpPr>
        <p:spPr>
          <a:xfrm>
            <a:off x="832104" y="4764024"/>
            <a:ext cx="10533888" cy="822960"/>
          </a:xfrm>
          <a:prstGeom prst="roundRect">
            <a:avLst>
              <a:gd name="adj" fmla="val 17778"/>
            </a:avLst>
          </a:prstGeom>
          <a:solidFill>
            <a:srgbClr val="1C304A"/>
          </a:solidFill>
          <a:ln w="10160">
            <a:solidFill>
              <a:srgbClr val="1C304A"/>
            </a:solidFill>
            <a:prstDash val="solid"/>
          </a:ln>
        </p:spPr>
        <p:txBody>
          <a:bodyPr/>
          <a:lstStyle/>
          <a:p>
            <a:endParaRPr lang="en-US" dirty="0"/>
          </a:p>
        </p:txBody>
      </p:sp>
      <p:sp>
        <p:nvSpPr>
          <p:cNvPr id="20" name="Shape 18"/>
          <p:cNvSpPr/>
          <p:nvPr/>
        </p:nvSpPr>
        <p:spPr>
          <a:xfrm>
            <a:off x="932688" y="4882896"/>
            <a:ext cx="82296" cy="594360"/>
          </a:xfrm>
          <a:prstGeom prst="roundRect">
            <a:avLst>
              <a:gd name="adj" fmla="val 177778"/>
            </a:avLst>
          </a:prstGeom>
          <a:solidFill>
            <a:srgbClr val="80E2B0"/>
          </a:solidFill>
          <a:ln w="10160">
            <a:solidFill>
              <a:srgbClr val="80E2B0"/>
            </a:solidFill>
            <a:prstDash val="solid"/>
          </a:ln>
        </p:spPr>
        <p:txBody>
          <a:bodyPr/>
          <a:lstStyle/>
          <a:p>
            <a:endParaRPr lang="en-US"/>
          </a:p>
        </p:txBody>
      </p:sp>
      <p:sp>
        <p:nvSpPr>
          <p:cNvPr id="21" name="Text 19"/>
          <p:cNvSpPr/>
          <p:nvPr/>
        </p:nvSpPr>
        <p:spPr>
          <a:xfrm>
            <a:off x="1207008" y="4919472"/>
            <a:ext cx="3108960" cy="457200"/>
          </a:xfrm>
          <a:prstGeom prst="rect">
            <a:avLst/>
          </a:prstGeom>
          <a:noFill/>
          <a:ln/>
        </p:spPr>
        <p:txBody>
          <a:bodyPr wrap="square" lIns="0" tIns="0" rIns="0" bIns="0" rtlCol="0" anchor="ctr"/>
          <a:lstStyle/>
          <a:p>
            <a:pPr marL="0" indent="0">
              <a:buNone/>
            </a:pPr>
            <a:r>
              <a:rPr lang="en-US" sz="2200" b="1" dirty="0">
                <a:solidFill>
                  <a:srgbClr val="80E2B0"/>
                </a:solidFill>
                <a:latin typeface="Aptos" pitchFamily="34" charset="0"/>
                <a:ea typeface="Aptos" pitchFamily="34" charset="-122"/>
                <a:cs typeface="Aptos" pitchFamily="34" charset="-120"/>
              </a:rPr>
              <a:t>Tetromino</a:t>
            </a:r>
            <a:endParaRPr lang="en-US" sz="2200" dirty="0"/>
          </a:p>
        </p:txBody>
      </p:sp>
      <p:sp>
        <p:nvSpPr>
          <p:cNvPr id="22" name="Text 20"/>
          <p:cNvSpPr/>
          <p:nvPr/>
        </p:nvSpPr>
        <p:spPr>
          <a:xfrm>
            <a:off x="4325112" y="4919472"/>
            <a:ext cx="6766560" cy="457200"/>
          </a:xfrm>
          <a:prstGeom prst="rect">
            <a:avLst/>
          </a:prstGeom>
          <a:noFill/>
          <a:ln/>
        </p:spPr>
        <p:txBody>
          <a:bodyPr wrap="square" lIns="0" tIns="0" rIns="0" bIns="0" rtlCol="0" anchor="ctr"/>
          <a:lstStyle/>
          <a:p>
            <a:pPr marL="0" indent="0">
              <a:buNone/>
            </a:pPr>
            <a:r>
              <a:rPr lang="en-US" sz="1800" dirty="0">
                <a:solidFill>
                  <a:srgbClr val="F4F7FB"/>
                </a:solidFill>
                <a:latin typeface="Aptos" pitchFamily="34" charset="0"/>
                <a:ea typeface="Aptos" pitchFamily="34" charset="-122"/>
                <a:cs typeface="Aptos" pitchFamily="34" charset="-120"/>
              </a:rPr>
              <a:t>forme T; varianta extinsă diversifică tiparele</a:t>
            </a:r>
            <a:endParaRPr lang="en-US" sz="1800" dirty="0"/>
          </a:p>
        </p:txBody>
      </p:sp>
      <p:sp>
        <p:nvSpPr>
          <p:cNvPr id="23" name="Text 21"/>
          <p:cNvSpPr/>
          <p:nvPr/>
        </p:nvSpPr>
        <p:spPr>
          <a:xfrm>
            <a:off x="1060704" y="6007608"/>
            <a:ext cx="10076688" cy="365760"/>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Ipoteză: schimbarea tiparelor între cadre oferă măsurări mai informative.</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CF4E12-0671-04D1-7381-36C54EEEC519}"/>
              </a:ext>
            </a:extLst>
          </p:cNvPr>
          <p:cNvSpPr txBox="1"/>
          <p:nvPr/>
        </p:nvSpPr>
        <p:spPr>
          <a:xfrm>
            <a:off x="660400" y="381000"/>
            <a:ext cx="10871200" cy="553998"/>
          </a:xfrm>
          <a:prstGeom prst="rect">
            <a:avLst/>
          </a:prstGeom>
          <a:noFill/>
        </p:spPr>
        <p:txBody>
          <a:bodyPr vert="horz" wrap="square" rtlCol="0">
            <a:spAutoFit/>
          </a:bodyPr>
          <a:lstStyle/>
          <a:p>
            <a:r>
              <a:rPr lang="en-US" sz="3000" b="1">
                <a:solidFill>
                  <a:srgbClr val="F4F7FB"/>
                </a:solidFill>
                <a:latin typeface="Aptos" panose="020B0004020202020204" pitchFamily="34" charset="0"/>
              </a:rPr>
              <a:t>Ce înseamnă «Tetromino»?</a:t>
            </a:r>
          </a:p>
        </p:txBody>
      </p:sp>
      <p:sp>
        <p:nvSpPr>
          <p:cNvPr id="3" name="TextBox 2">
            <a:extLst>
              <a:ext uri="{FF2B5EF4-FFF2-40B4-BE49-F238E27FC236}">
                <a16:creationId xmlns:a16="http://schemas.microsoft.com/office/drawing/2014/main" id="{AAB179C0-3436-F8CD-CDD8-ED6B1B8D4DCE}"/>
              </a:ext>
            </a:extLst>
          </p:cNvPr>
          <p:cNvSpPr txBox="1"/>
          <p:nvPr/>
        </p:nvSpPr>
        <p:spPr>
          <a:xfrm>
            <a:off x="685800" y="939800"/>
            <a:ext cx="10795000" cy="292388"/>
          </a:xfrm>
          <a:prstGeom prst="rect">
            <a:avLst/>
          </a:prstGeom>
          <a:noFill/>
        </p:spPr>
        <p:txBody>
          <a:bodyPr vert="horz" wrap="square" rtlCol="0">
            <a:spAutoFit/>
          </a:bodyPr>
          <a:lstStyle/>
          <a:p>
            <a:r>
              <a:rPr lang="en-US" sz="1300">
                <a:solidFill>
                  <a:srgbClr val="B9C9DB"/>
                </a:solidFill>
                <a:latin typeface="Aptos" panose="020B0004020202020204" pitchFamily="34" charset="0"/>
              </a:rPr>
              <a:t>Grupări de câte 4 pixeli în formă de T, în loc de dreptunghiuri.</a:t>
            </a:r>
          </a:p>
        </p:txBody>
      </p:sp>
      <p:sp>
        <p:nvSpPr>
          <p:cNvPr id="4" name="Rectangle 3">
            <a:extLst>
              <a:ext uri="{FF2B5EF4-FFF2-40B4-BE49-F238E27FC236}">
                <a16:creationId xmlns:a16="http://schemas.microsoft.com/office/drawing/2014/main" id="{C8A9ECEF-8B76-C7B1-5A91-F0DB40F2D14C}"/>
              </a:ext>
            </a:extLst>
          </p:cNvPr>
          <p:cNvSpPr/>
          <p:nvPr/>
        </p:nvSpPr>
        <p:spPr>
          <a:xfrm>
            <a:off x="660400" y="1371600"/>
            <a:ext cx="10871200" cy="12700"/>
          </a:xfrm>
          <a:prstGeom prst="rect">
            <a:avLst/>
          </a:prstGeom>
          <a:solidFill>
            <a:srgbClr val="34475D"/>
          </a:solidFill>
          <a:ln>
            <a:solidFill>
              <a:srgbClr val="3447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4473BAE1-29E3-F312-D4E9-48B443F9BF8C}"/>
              </a:ext>
            </a:extLst>
          </p:cNvPr>
          <p:cNvSpPr/>
          <p:nvPr/>
        </p:nvSpPr>
        <p:spPr>
          <a:xfrm>
            <a:off x="660400" y="5016500"/>
            <a:ext cx="10871200" cy="812800"/>
          </a:xfrm>
          <a:prstGeom prst="roundRect">
            <a:avLst/>
          </a:prstGeom>
          <a:solidFill>
            <a:srgbClr val="1C304A"/>
          </a:solidFill>
          <a:ln>
            <a:solidFill>
              <a:srgbClr val="1C30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69B70C8-BB0C-45D1-6CD6-DE64753717B3}"/>
              </a:ext>
            </a:extLst>
          </p:cNvPr>
          <p:cNvSpPr txBox="1"/>
          <p:nvPr/>
        </p:nvSpPr>
        <p:spPr>
          <a:xfrm>
            <a:off x="914400" y="5118100"/>
            <a:ext cx="10363200" cy="369332"/>
          </a:xfrm>
          <a:prstGeom prst="rect">
            <a:avLst/>
          </a:prstGeom>
          <a:noFill/>
        </p:spPr>
        <p:txBody>
          <a:bodyPr vert="horz" wrap="square" rtlCol="0">
            <a:spAutoFit/>
          </a:bodyPr>
          <a:lstStyle/>
          <a:p>
            <a:pPr algn="ctr"/>
            <a:r>
              <a:rPr lang="en-US" b="1">
                <a:solidFill>
                  <a:srgbClr val="F4F7FB"/>
                </a:solidFill>
                <a:latin typeface="Aptos" panose="020B0004020202020204" pitchFamily="34" charset="0"/>
              </a:rPr>
              <a:t>Pe scurt: Tetromino = eșantionare neregulată, dar structurată, care păstrează muchiile.</a:t>
            </a:r>
          </a:p>
        </p:txBody>
      </p:sp>
      <p:sp>
        <p:nvSpPr>
          <p:cNvPr id="19" name="TextBox 18">
            <a:extLst>
              <a:ext uri="{FF2B5EF4-FFF2-40B4-BE49-F238E27FC236}">
                <a16:creationId xmlns:a16="http://schemas.microsoft.com/office/drawing/2014/main" id="{A10C5D19-6955-B86A-042E-0E0E8DD225A1}"/>
              </a:ext>
            </a:extLst>
          </p:cNvPr>
          <p:cNvSpPr txBox="1"/>
          <p:nvPr/>
        </p:nvSpPr>
        <p:spPr>
          <a:xfrm>
            <a:off x="660400" y="6502400"/>
            <a:ext cx="5080000" cy="230832"/>
          </a:xfrm>
          <a:prstGeom prst="rect">
            <a:avLst/>
          </a:prstGeom>
          <a:noFill/>
        </p:spPr>
        <p:txBody>
          <a:bodyPr vert="horz" wrap="square" rtlCol="0">
            <a:spAutoFit/>
          </a:bodyPr>
          <a:lstStyle/>
          <a:p>
            <a:r>
              <a:rPr lang="da-DK" sz="900">
                <a:solidFill>
                  <a:srgbClr val="B9C9DB"/>
                </a:solidFill>
                <a:latin typeface="Aptos" panose="020B0004020202020204" pitchFamily="34" charset="0"/>
              </a:rPr>
              <a:t>KATZ ET AL.  •  CVPRW 2025</a:t>
            </a:r>
            <a:endParaRPr lang="en-US" sz="900">
              <a:solidFill>
                <a:srgbClr val="B9C9DB"/>
              </a:solidFill>
              <a:latin typeface="Aptos" panose="020B0004020202020204" pitchFamily="34" charset="0"/>
            </a:endParaRPr>
          </a:p>
        </p:txBody>
      </p:sp>
      <p:sp>
        <p:nvSpPr>
          <p:cNvPr id="20" name="TextBox 19">
            <a:extLst>
              <a:ext uri="{FF2B5EF4-FFF2-40B4-BE49-F238E27FC236}">
                <a16:creationId xmlns:a16="http://schemas.microsoft.com/office/drawing/2014/main" id="{4AC4A7C2-2A90-78FF-1F5A-66D65AECED34}"/>
              </a:ext>
            </a:extLst>
          </p:cNvPr>
          <p:cNvSpPr txBox="1"/>
          <p:nvPr/>
        </p:nvSpPr>
        <p:spPr>
          <a:xfrm>
            <a:off x="11010900" y="6451600"/>
            <a:ext cx="482600" cy="246221"/>
          </a:xfrm>
          <a:prstGeom prst="rect">
            <a:avLst/>
          </a:prstGeom>
          <a:noFill/>
        </p:spPr>
        <p:txBody>
          <a:bodyPr vert="horz" wrap="square" rtlCol="0">
            <a:spAutoFit/>
          </a:bodyPr>
          <a:lstStyle/>
          <a:p>
            <a:pPr algn="r"/>
            <a:r>
              <a:rPr lang="en-US" sz="1000" b="1">
                <a:solidFill>
                  <a:srgbClr val="52D6D3"/>
                </a:solidFill>
                <a:latin typeface="Aptos" panose="020B0004020202020204" pitchFamily="34" charset="0"/>
              </a:rPr>
              <a:t>10</a:t>
            </a:r>
          </a:p>
        </p:txBody>
      </p:sp>
      <p:sp>
        <p:nvSpPr>
          <p:cNvPr id="21" name="Rectangle: Rounded Corners 20">
            <a:extLst>
              <a:ext uri="{FF2B5EF4-FFF2-40B4-BE49-F238E27FC236}">
                <a16:creationId xmlns:a16="http://schemas.microsoft.com/office/drawing/2014/main" id="{B3ABB557-9A9B-656F-0489-C35358246CE2}"/>
              </a:ext>
            </a:extLst>
          </p:cNvPr>
          <p:cNvSpPr/>
          <p:nvPr/>
        </p:nvSpPr>
        <p:spPr>
          <a:xfrm>
            <a:off x="660400" y="1651000"/>
            <a:ext cx="10871200" cy="3175000"/>
          </a:xfrm>
          <a:prstGeom prst="roundRect">
            <a:avLst/>
          </a:prstGeom>
          <a:solidFill>
            <a:srgbClr val="17253B"/>
          </a:solidFill>
          <a:ln>
            <a:solidFill>
              <a:srgbClr val="172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9AC8253-4586-A32E-ABE1-65D846DF898B}"/>
              </a:ext>
            </a:extLst>
          </p:cNvPr>
          <p:cNvSpPr txBox="1"/>
          <p:nvPr/>
        </p:nvSpPr>
        <p:spPr>
          <a:xfrm>
            <a:off x="876300" y="1816100"/>
            <a:ext cx="3327400" cy="292388"/>
          </a:xfrm>
          <a:prstGeom prst="rect">
            <a:avLst/>
          </a:prstGeom>
          <a:noFill/>
        </p:spPr>
        <p:txBody>
          <a:bodyPr vert="horz" lIns="0" tIns="0" rIns="0" bIns="0" rtlCol="0">
            <a:spAutoFit/>
          </a:bodyPr>
          <a:lstStyle/>
          <a:p>
            <a:r>
              <a:rPr lang="en-US" sz="1900">
                <a:solidFill>
                  <a:srgbClr val="F4F7FB"/>
                </a:solidFill>
                <a:latin typeface="Aptos" panose="020B0004020202020204" pitchFamily="34" charset="0"/>
              </a:rPr>
              <a:t>4 forme T = 16 pixeli</a:t>
            </a:r>
          </a:p>
        </p:txBody>
      </p:sp>
      <p:sp>
        <p:nvSpPr>
          <p:cNvPr id="23" name="Rectangle: Rounded Corners 22">
            <a:extLst>
              <a:ext uri="{FF2B5EF4-FFF2-40B4-BE49-F238E27FC236}">
                <a16:creationId xmlns:a16="http://schemas.microsoft.com/office/drawing/2014/main" id="{456BFD7F-44C8-231B-9879-09BF282D382A}"/>
              </a:ext>
            </a:extLst>
          </p:cNvPr>
          <p:cNvSpPr/>
          <p:nvPr/>
        </p:nvSpPr>
        <p:spPr>
          <a:xfrm>
            <a:off x="1282700" y="2286000"/>
            <a:ext cx="495300" cy="495300"/>
          </a:xfrm>
          <a:prstGeom prst="roundRect">
            <a:avLst/>
          </a:prstGeom>
          <a:solidFill>
            <a:srgbClr val="52D6D3"/>
          </a:solidFill>
          <a:ln>
            <a:solidFill>
              <a:srgbClr val="52D6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5163D11-F9D9-74B9-70E0-D5386EF462DE}"/>
              </a:ext>
            </a:extLst>
          </p:cNvPr>
          <p:cNvSpPr txBox="1"/>
          <p:nvPr/>
        </p:nvSpPr>
        <p:spPr>
          <a:xfrm>
            <a:off x="1295400" y="2311400"/>
            <a:ext cx="469900" cy="230832"/>
          </a:xfrm>
          <a:prstGeom prst="rect">
            <a:avLst/>
          </a:prstGeom>
          <a:noFill/>
        </p:spPr>
        <p:txBody>
          <a:bodyPr vert="horz" lIns="0" tIns="0" rIns="0" bIns="0" rtlCol="0">
            <a:spAutoFit/>
          </a:bodyPr>
          <a:lstStyle/>
          <a:p>
            <a:pPr algn="ctr"/>
            <a:r>
              <a:rPr lang="en-US" sz="1500">
                <a:solidFill>
                  <a:srgbClr val="0B1220"/>
                </a:solidFill>
                <a:latin typeface="Aptos" panose="020B0004020202020204" pitchFamily="34" charset="0"/>
              </a:rPr>
              <a:t>1</a:t>
            </a:r>
          </a:p>
        </p:txBody>
      </p:sp>
      <p:sp>
        <p:nvSpPr>
          <p:cNvPr id="25" name="Rectangle: Rounded Corners 24">
            <a:extLst>
              <a:ext uri="{FF2B5EF4-FFF2-40B4-BE49-F238E27FC236}">
                <a16:creationId xmlns:a16="http://schemas.microsoft.com/office/drawing/2014/main" id="{5F65B07B-E948-3DEC-168A-EEC1D144BB6A}"/>
              </a:ext>
            </a:extLst>
          </p:cNvPr>
          <p:cNvSpPr/>
          <p:nvPr/>
        </p:nvSpPr>
        <p:spPr>
          <a:xfrm>
            <a:off x="1816100" y="2286000"/>
            <a:ext cx="495300" cy="495300"/>
          </a:xfrm>
          <a:prstGeom prst="roundRect">
            <a:avLst/>
          </a:prstGeom>
          <a:solidFill>
            <a:srgbClr val="52D6D3"/>
          </a:solidFill>
          <a:ln>
            <a:solidFill>
              <a:srgbClr val="52D6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4D8AAE90-D3EA-108A-C9F1-95AB6FC8F022}"/>
              </a:ext>
            </a:extLst>
          </p:cNvPr>
          <p:cNvSpPr txBox="1"/>
          <p:nvPr/>
        </p:nvSpPr>
        <p:spPr>
          <a:xfrm>
            <a:off x="1828800" y="2311400"/>
            <a:ext cx="469900" cy="230832"/>
          </a:xfrm>
          <a:prstGeom prst="rect">
            <a:avLst/>
          </a:prstGeom>
          <a:noFill/>
        </p:spPr>
        <p:txBody>
          <a:bodyPr vert="horz" lIns="0" tIns="0" rIns="0" bIns="0" rtlCol="0">
            <a:spAutoFit/>
          </a:bodyPr>
          <a:lstStyle/>
          <a:p>
            <a:pPr algn="ctr"/>
            <a:r>
              <a:rPr lang="en-US" sz="1500">
                <a:solidFill>
                  <a:srgbClr val="0B1220"/>
                </a:solidFill>
                <a:latin typeface="Aptos" panose="020B0004020202020204" pitchFamily="34" charset="0"/>
              </a:rPr>
              <a:t>1</a:t>
            </a:r>
          </a:p>
        </p:txBody>
      </p:sp>
      <p:sp>
        <p:nvSpPr>
          <p:cNvPr id="27" name="Rectangle: Rounded Corners 26">
            <a:extLst>
              <a:ext uri="{FF2B5EF4-FFF2-40B4-BE49-F238E27FC236}">
                <a16:creationId xmlns:a16="http://schemas.microsoft.com/office/drawing/2014/main" id="{84C8FEF6-E24F-4060-5F32-F5FB29893660}"/>
              </a:ext>
            </a:extLst>
          </p:cNvPr>
          <p:cNvSpPr/>
          <p:nvPr/>
        </p:nvSpPr>
        <p:spPr>
          <a:xfrm>
            <a:off x="2349500" y="2286000"/>
            <a:ext cx="495300" cy="495300"/>
          </a:xfrm>
          <a:prstGeom prst="roundRect">
            <a:avLst/>
          </a:prstGeom>
          <a:solidFill>
            <a:srgbClr val="52D6D3"/>
          </a:solidFill>
          <a:ln>
            <a:solidFill>
              <a:srgbClr val="52D6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727F58CA-4A15-4794-AB22-7BB49B1140D9}"/>
              </a:ext>
            </a:extLst>
          </p:cNvPr>
          <p:cNvSpPr txBox="1"/>
          <p:nvPr/>
        </p:nvSpPr>
        <p:spPr>
          <a:xfrm>
            <a:off x="2362200" y="2311400"/>
            <a:ext cx="469900" cy="230832"/>
          </a:xfrm>
          <a:prstGeom prst="rect">
            <a:avLst/>
          </a:prstGeom>
          <a:noFill/>
        </p:spPr>
        <p:txBody>
          <a:bodyPr vert="horz" lIns="0" tIns="0" rIns="0" bIns="0" rtlCol="0">
            <a:spAutoFit/>
          </a:bodyPr>
          <a:lstStyle/>
          <a:p>
            <a:pPr algn="ctr"/>
            <a:r>
              <a:rPr lang="en-US" sz="1500">
                <a:solidFill>
                  <a:srgbClr val="0B1220"/>
                </a:solidFill>
                <a:latin typeface="Aptos" panose="020B0004020202020204" pitchFamily="34" charset="0"/>
              </a:rPr>
              <a:t>1</a:t>
            </a:r>
          </a:p>
        </p:txBody>
      </p:sp>
      <p:sp>
        <p:nvSpPr>
          <p:cNvPr id="29" name="Rectangle: Rounded Corners 28">
            <a:extLst>
              <a:ext uri="{FF2B5EF4-FFF2-40B4-BE49-F238E27FC236}">
                <a16:creationId xmlns:a16="http://schemas.microsoft.com/office/drawing/2014/main" id="{9016D2A2-9619-0399-2351-F425BB2F80FF}"/>
              </a:ext>
            </a:extLst>
          </p:cNvPr>
          <p:cNvSpPr/>
          <p:nvPr/>
        </p:nvSpPr>
        <p:spPr>
          <a:xfrm>
            <a:off x="2882900" y="2286000"/>
            <a:ext cx="495300" cy="495300"/>
          </a:xfrm>
          <a:prstGeom prst="roundRect">
            <a:avLst/>
          </a:prstGeom>
          <a:solidFill>
            <a:srgbClr val="80E2B0"/>
          </a:solidFill>
          <a:ln>
            <a:solidFill>
              <a:srgbClr val="80E2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AC76A4F8-5536-120B-8C99-7474A3B0FB08}"/>
              </a:ext>
            </a:extLst>
          </p:cNvPr>
          <p:cNvSpPr txBox="1"/>
          <p:nvPr/>
        </p:nvSpPr>
        <p:spPr>
          <a:xfrm>
            <a:off x="2895600" y="2311400"/>
            <a:ext cx="469900" cy="230832"/>
          </a:xfrm>
          <a:prstGeom prst="rect">
            <a:avLst/>
          </a:prstGeom>
          <a:noFill/>
        </p:spPr>
        <p:txBody>
          <a:bodyPr vert="horz" lIns="0" tIns="0" rIns="0" bIns="0" rtlCol="0">
            <a:spAutoFit/>
          </a:bodyPr>
          <a:lstStyle/>
          <a:p>
            <a:pPr algn="ctr"/>
            <a:r>
              <a:rPr lang="en-US" sz="1500">
                <a:solidFill>
                  <a:srgbClr val="0B1220"/>
                </a:solidFill>
                <a:latin typeface="Aptos" panose="020B0004020202020204" pitchFamily="34" charset="0"/>
              </a:rPr>
              <a:t>2</a:t>
            </a:r>
          </a:p>
        </p:txBody>
      </p:sp>
      <p:sp>
        <p:nvSpPr>
          <p:cNvPr id="31" name="Rectangle: Rounded Corners 30">
            <a:extLst>
              <a:ext uri="{FF2B5EF4-FFF2-40B4-BE49-F238E27FC236}">
                <a16:creationId xmlns:a16="http://schemas.microsoft.com/office/drawing/2014/main" id="{312F2D3C-C010-B987-3824-A70625E4B2D8}"/>
              </a:ext>
            </a:extLst>
          </p:cNvPr>
          <p:cNvSpPr/>
          <p:nvPr/>
        </p:nvSpPr>
        <p:spPr>
          <a:xfrm>
            <a:off x="1282700" y="2819400"/>
            <a:ext cx="495300" cy="495300"/>
          </a:xfrm>
          <a:prstGeom prst="roundRect">
            <a:avLst/>
          </a:prstGeom>
          <a:solidFill>
            <a:srgbClr val="FFC870"/>
          </a:solidFill>
          <a:ln>
            <a:solidFill>
              <a:srgbClr val="FFC8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0F3BCD4A-F904-A03A-ACF3-B1B31A9A1985}"/>
              </a:ext>
            </a:extLst>
          </p:cNvPr>
          <p:cNvSpPr txBox="1"/>
          <p:nvPr/>
        </p:nvSpPr>
        <p:spPr>
          <a:xfrm>
            <a:off x="1295400" y="2844800"/>
            <a:ext cx="469900" cy="230832"/>
          </a:xfrm>
          <a:prstGeom prst="rect">
            <a:avLst/>
          </a:prstGeom>
          <a:noFill/>
        </p:spPr>
        <p:txBody>
          <a:bodyPr vert="horz" lIns="0" tIns="0" rIns="0" bIns="0" rtlCol="0">
            <a:spAutoFit/>
          </a:bodyPr>
          <a:lstStyle/>
          <a:p>
            <a:pPr algn="ctr"/>
            <a:r>
              <a:rPr lang="en-US" sz="1500">
                <a:solidFill>
                  <a:srgbClr val="0B1220"/>
                </a:solidFill>
                <a:latin typeface="Aptos" panose="020B0004020202020204" pitchFamily="34" charset="0"/>
              </a:rPr>
              <a:t>3</a:t>
            </a:r>
          </a:p>
        </p:txBody>
      </p:sp>
      <p:sp>
        <p:nvSpPr>
          <p:cNvPr id="33" name="Rectangle: Rounded Corners 32">
            <a:extLst>
              <a:ext uri="{FF2B5EF4-FFF2-40B4-BE49-F238E27FC236}">
                <a16:creationId xmlns:a16="http://schemas.microsoft.com/office/drawing/2014/main" id="{1FB1908E-7B11-7E9B-937D-D26650D55555}"/>
              </a:ext>
            </a:extLst>
          </p:cNvPr>
          <p:cNvSpPr/>
          <p:nvPr/>
        </p:nvSpPr>
        <p:spPr>
          <a:xfrm>
            <a:off x="1816100" y="2819400"/>
            <a:ext cx="495300" cy="495300"/>
          </a:xfrm>
          <a:prstGeom prst="roundRect">
            <a:avLst/>
          </a:prstGeom>
          <a:solidFill>
            <a:srgbClr val="52D6D3"/>
          </a:solidFill>
          <a:ln>
            <a:solidFill>
              <a:srgbClr val="52D6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60D180F8-27EF-6958-74A3-DCEDD3254AE5}"/>
              </a:ext>
            </a:extLst>
          </p:cNvPr>
          <p:cNvSpPr txBox="1"/>
          <p:nvPr/>
        </p:nvSpPr>
        <p:spPr>
          <a:xfrm>
            <a:off x="1828800" y="2844800"/>
            <a:ext cx="469900" cy="230832"/>
          </a:xfrm>
          <a:prstGeom prst="rect">
            <a:avLst/>
          </a:prstGeom>
          <a:noFill/>
        </p:spPr>
        <p:txBody>
          <a:bodyPr vert="horz" lIns="0" tIns="0" rIns="0" bIns="0" rtlCol="0">
            <a:spAutoFit/>
          </a:bodyPr>
          <a:lstStyle/>
          <a:p>
            <a:pPr algn="ctr"/>
            <a:r>
              <a:rPr lang="en-US" sz="1500">
                <a:solidFill>
                  <a:srgbClr val="0B1220"/>
                </a:solidFill>
                <a:latin typeface="Aptos" panose="020B0004020202020204" pitchFamily="34" charset="0"/>
              </a:rPr>
              <a:t>1</a:t>
            </a:r>
          </a:p>
        </p:txBody>
      </p:sp>
      <p:sp>
        <p:nvSpPr>
          <p:cNvPr id="35" name="Rectangle: Rounded Corners 34">
            <a:extLst>
              <a:ext uri="{FF2B5EF4-FFF2-40B4-BE49-F238E27FC236}">
                <a16:creationId xmlns:a16="http://schemas.microsoft.com/office/drawing/2014/main" id="{DC8B6EA4-00BE-42BD-C4B6-8F3832ADD65B}"/>
              </a:ext>
            </a:extLst>
          </p:cNvPr>
          <p:cNvSpPr/>
          <p:nvPr/>
        </p:nvSpPr>
        <p:spPr>
          <a:xfrm>
            <a:off x="2349500" y="2819400"/>
            <a:ext cx="495300" cy="495300"/>
          </a:xfrm>
          <a:prstGeom prst="roundRect">
            <a:avLst/>
          </a:prstGeom>
          <a:solidFill>
            <a:srgbClr val="80E2B0"/>
          </a:solidFill>
          <a:ln>
            <a:solidFill>
              <a:srgbClr val="80E2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3CD88293-475E-4AD6-68D9-6C66ADF30157}"/>
              </a:ext>
            </a:extLst>
          </p:cNvPr>
          <p:cNvSpPr txBox="1"/>
          <p:nvPr/>
        </p:nvSpPr>
        <p:spPr>
          <a:xfrm>
            <a:off x="2362200" y="2844800"/>
            <a:ext cx="469900" cy="230832"/>
          </a:xfrm>
          <a:prstGeom prst="rect">
            <a:avLst/>
          </a:prstGeom>
          <a:noFill/>
        </p:spPr>
        <p:txBody>
          <a:bodyPr vert="horz" lIns="0" tIns="0" rIns="0" bIns="0" rtlCol="0">
            <a:spAutoFit/>
          </a:bodyPr>
          <a:lstStyle/>
          <a:p>
            <a:pPr algn="ctr"/>
            <a:r>
              <a:rPr lang="en-US" sz="1500">
                <a:solidFill>
                  <a:srgbClr val="0B1220"/>
                </a:solidFill>
                <a:latin typeface="Aptos" panose="020B0004020202020204" pitchFamily="34" charset="0"/>
              </a:rPr>
              <a:t>2</a:t>
            </a:r>
          </a:p>
        </p:txBody>
      </p:sp>
      <p:sp>
        <p:nvSpPr>
          <p:cNvPr id="37" name="Rectangle: Rounded Corners 36">
            <a:extLst>
              <a:ext uri="{FF2B5EF4-FFF2-40B4-BE49-F238E27FC236}">
                <a16:creationId xmlns:a16="http://schemas.microsoft.com/office/drawing/2014/main" id="{01F9B40A-B683-DA44-266C-B8759F589106}"/>
              </a:ext>
            </a:extLst>
          </p:cNvPr>
          <p:cNvSpPr/>
          <p:nvPr/>
        </p:nvSpPr>
        <p:spPr>
          <a:xfrm>
            <a:off x="2882900" y="2819400"/>
            <a:ext cx="495300" cy="495300"/>
          </a:xfrm>
          <a:prstGeom prst="roundRect">
            <a:avLst/>
          </a:prstGeom>
          <a:solidFill>
            <a:srgbClr val="80E2B0"/>
          </a:solidFill>
          <a:ln>
            <a:solidFill>
              <a:srgbClr val="80E2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0CB93914-C7AF-FBFD-5FAA-906A4DD388E8}"/>
              </a:ext>
            </a:extLst>
          </p:cNvPr>
          <p:cNvSpPr txBox="1"/>
          <p:nvPr/>
        </p:nvSpPr>
        <p:spPr>
          <a:xfrm>
            <a:off x="2895600" y="2844800"/>
            <a:ext cx="469900" cy="230832"/>
          </a:xfrm>
          <a:prstGeom prst="rect">
            <a:avLst/>
          </a:prstGeom>
          <a:noFill/>
        </p:spPr>
        <p:txBody>
          <a:bodyPr vert="horz" lIns="0" tIns="0" rIns="0" bIns="0" rtlCol="0">
            <a:spAutoFit/>
          </a:bodyPr>
          <a:lstStyle/>
          <a:p>
            <a:pPr algn="ctr"/>
            <a:r>
              <a:rPr lang="en-US" sz="1500">
                <a:solidFill>
                  <a:srgbClr val="0B1220"/>
                </a:solidFill>
                <a:latin typeface="Aptos" panose="020B0004020202020204" pitchFamily="34" charset="0"/>
              </a:rPr>
              <a:t>2</a:t>
            </a:r>
          </a:p>
        </p:txBody>
      </p:sp>
      <p:sp>
        <p:nvSpPr>
          <p:cNvPr id="39" name="Rectangle: Rounded Corners 38">
            <a:extLst>
              <a:ext uri="{FF2B5EF4-FFF2-40B4-BE49-F238E27FC236}">
                <a16:creationId xmlns:a16="http://schemas.microsoft.com/office/drawing/2014/main" id="{E5A312DF-878C-D2CE-938E-7C7B62D643EB}"/>
              </a:ext>
            </a:extLst>
          </p:cNvPr>
          <p:cNvSpPr/>
          <p:nvPr/>
        </p:nvSpPr>
        <p:spPr>
          <a:xfrm>
            <a:off x="1282700" y="3352800"/>
            <a:ext cx="495300" cy="495300"/>
          </a:xfrm>
          <a:prstGeom prst="roundRect">
            <a:avLst/>
          </a:prstGeom>
          <a:solidFill>
            <a:srgbClr val="FFC870"/>
          </a:solidFill>
          <a:ln>
            <a:solidFill>
              <a:srgbClr val="FFC8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3599150A-1F12-B32E-1F17-30C5DACBC10B}"/>
              </a:ext>
            </a:extLst>
          </p:cNvPr>
          <p:cNvSpPr txBox="1"/>
          <p:nvPr/>
        </p:nvSpPr>
        <p:spPr>
          <a:xfrm>
            <a:off x="1295400" y="3378200"/>
            <a:ext cx="469900" cy="230832"/>
          </a:xfrm>
          <a:prstGeom prst="rect">
            <a:avLst/>
          </a:prstGeom>
          <a:noFill/>
        </p:spPr>
        <p:txBody>
          <a:bodyPr vert="horz" lIns="0" tIns="0" rIns="0" bIns="0" rtlCol="0">
            <a:spAutoFit/>
          </a:bodyPr>
          <a:lstStyle/>
          <a:p>
            <a:pPr algn="ctr"/>
            <a:r>
              <a:rPr lang="en-US" sz="1500">
                <a:solidFill>
                  <a:srgbClr val="0B1220"/>
                </a:solidFill>
                <a:latin typeface="Aptos" panose="020B0004020202020204" pitchFamily="34" charset="0"/>
              </a:rPr>
              <a:t>3</a:t>
            </a:r>
          </a:p>
        </p:txBody>
      </p:sp>
      <p:sp>
        <p:nvSpPr>
          <p:cNvPr id="41" name="Rectangle: Rounded Corners 40">
            <a:extLst>
              <a:ext uri="{FF2B5EF4-FFF2-40B4-BE49-F238E27FC236}">
                <a16:creationId xmlns:a16="http://schemas.microsoft.com/office/drawing/2014/main" id="{E27A8C3D-B57F-F12D-2A00-0319F09C3021}"/>
              </a:ext>
            </a:extLst>
          </p:cNvPr>
          <p:cNvSpPr/>
          <p:nvPr/>
        </p:nvSpPr>
        <p:spPr>
          <a:xfrm>
            <a:off x="1816100" y="3352800"/>
            <a:ext cx="495300" cy="495300"/>
          </a:xfrm>
          <a:prstGeom prst="roundRect">
            <a:avLst/>
          </a:prstGeom>
          <a:solidFill>
            <a:srgbClr val="FFC870"/>
          </a:solidFill>
          <a:ln>
            <a:solidFill>
              <a:srgbClr val="FFC8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5907055C-8AB0-4B2F-FC39-23D586D84CF9}"/>
              </a:ext>
            </a:extLst>
          </p:cNvPr>
          <p:cNvSpPr txBox="1"/>
          <p:nvPr/>
        </p:nvSpPr>
        <p:spPr>
          <a:xfrm>
            <a:off x="1828800" y="3378200"/>
            <a:ext cx="469900" cy="230832"/>
          </a:xfrm>
          <a:prstGeom prst="rect">
            <a:avLst/>
          </a:prstGeom>
          <a:noFill/>
        </p:spPr>
        <p:txBody>
          <a:bodyPr vert="horz" lIns="0" tIns="0" rIns="0" bIns="0" rtlCol="0">
            <a:spAutoFit/>
          </a:bodyPr>
          <a:lstStyle/>
          <a:p>
            <a:pPr algn="ctr"/>
            <a:r>
              <a:rPr lang="en-US" sz="1500">
                <a:solidFill>
                  <a:srgbClr val="0B1220"/>
                </a:solidFill>
                <a:latin typeface="Aptos" panose="020B0004020202020204" pitchFamily="34" charset="0"/>
              </a:rPr>
              <a:t>3</a:t>
            </a:r>
          </a:p>
        </p:txBody>
      </p:sp>
      <p:sp>
        <p:nvSpPr>
          <p:cNvPr id="43" name="Rectangle: Rounded Corners 42">
            <a:extLst>
              <a:ext uri="{FF2B5EF4-FFF2-40B4-BE49-F238E27FC236}">
                <a16:creationId xmlns:a16="http://schemas.microsoft.com/office/drawing/2014/main" id="{71096F23-55E6-25BC-71B3-E4CF5CB8370B}"/>
              </a:ext>
            </a:extLst>
          </p:cNvPr>
          <p:cNvSpPr/>
          <p:nvPr/>
        </p:nvSpPr>
        <p:spPr>
          <a:xfrm>
            <a:off x="2349500" y="3352800"/>
            <a:ext cx="495300" cy="495300"/>
          </a:xfrm>
          <a:prstGeom prst="roundRect">
            <a:avLst/>
          </a:prstGeom>
          <a:solidFill>
            <a:srgbClr val="FF9C95"/>
          </a:solidFill>
          <a:ln>
            <a:solidFill>
              <a:srgbClr val="FF9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DE614791-A8B6-F3D5-717E-A677B010CE49}"/>
              </a:ext>
            </a:extLst>
          </p:cNvPr>
          <p:cNvSpPr txBox="1"/>
          <p:nvPr/>
        </p:nvSpPr>
        <p:spPr>
          <a:xfrm>
            <a:off x="2362200" y="3378200"/>
            <a:ext cx="469900" cy="230832"/>
          </a:xfrm>
          <a:prstGeom prst="rect">
            <a:avLst/>
          </a:prstGeom>
          <a:noFill/>
        </p:spPr>
        <p:txBody>
          <a:bodyPr vert="horz" lIns="0" tIns="0" rIns="0" bIns="0" rtlCol="0">
            <a:spAutoFit/>
          </a:bodyPr>
          <a:lstStyle/>
          <a:p>
            <a:pPr algn="ctr"/>
            <a:r>
              <a:rPr lang="en-US" sz="1500">
                <a:solidFill>
                  <a:srgbClr val="0B1220"/>
                </a:solidFill>
                <a:latin typeface="Aptos" panose="020B0004020202020204" pitchFamily="34" charset="0"/>
              </a:rPr>
              <a:t>4</a:t>
            </a:r>
          </a:p>
        </p:txBody>
      </p:sp>
      <p:sp>
        <p:nvSpPr>
          <p:cNvPr id="45" name="Rectangle: Rounded Corners 44">
            <a:extLst>
              <a:ext uri="{FF2B5EF4-FFF2-40B4-BE49-F238E27FC236}">
                <a16:creationId xmlns:a16="http://schemas.microsoft.com/office/drawing/2014/main" id="{3410EDE9-7AC0-985B-A6E2-2304C0FAB036}"/>
              </a:ext>
            </a:extLst>
          </p:cNvPr>
          <p:cNvSpPr/>
          <p:nvPr/>
        </p:nvSpPr>
        <p:spPr>
          <a:xfrm>
            <a:off x="2882900" y="3352800"/>
            <a:ext cx="495300" cy="495300"/>
          </a:xfrm>
          <a:prstGeom prst="roundRect">
            <a:avLst/>
          </a:prstGeom>
          <a:solidFill>
            <a:srgbClr val="80E2B0"/>
          </a:solidFill>
          <a:ln>
            <a:solidFill>
              <a:srgbClr val="80E2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C5FA48F1-F1D7-318D-4124-B3B72A4D2C80}"/>
              </a:ext>
            </a:extLst>
          </p:cNvPr>
          <p:cNvSpPr txBox="1"/>
          <p:nvPr/>
        </p:nvSpPr>
        <p:spPr>
          <a:xfrm>
            <a:off x="2895600" y="3378200"/>
            <a:ext cx="469900" cy="230832"/>
          </a:xfrm>
          <a:prstGeom prst="rect">
            <a:avLst/>
          </a:prstGeom>
          <a:noFill/>
        </p:spPr>
        <p:txBody>
          <a:bodyPr vert="horz" lIns="0" tIns="0" rIns="0" bIns="0" rtlCol="0">
            <a:spAutoFit/>
          </a:bodyPr>
          <a:lstStyle/>
          <a:p>
            <a:pPr algn="ctr"/>
            <a:r>
              <a:rPr lang="en-US" sz="1500">
                <a:solidFill>
                  <a:srgbClr val="0B1220"/>
                </a:solidFill>
                <a:latin typeface="Aptos" panose="020B0004020202020204" pitchFamily="34" charset="0"/>
              </a:rPr>
              <a:t>2</a:t>
            </a:r>
          </a:p>
        </p:txBody>
      </p:sp>
      <p:sp>
        <p:nvSpPr>
          <p:cNvPr id="47" name="Rectangle: Rounded Corners 46">
            <a:extLst>
              <a:ext uri="{FF2B5EF4-FFF2-40B4-BE49-F238E27FC236}">
                <a16:creationId xmlns:a16="http://schemas.microsoft.com/office/drawing/2014/main" id="{D1747F1D-D7B2-7979-D97B-85FF94504782}"/>
              </a:ext>
            </a:extLst>
          </p:cNvPr>
          <p:cNvSpPr/>
          <p:nvPr/>
        </p:nvSpPr>
        <p:spPr>
          <a:xfrm>
            <a:off x="1282700" y="3886200"/>
            <a:ext cx="495300" cy="495300"/>
          </a:xfrm>
          <a:prstGeom prst="roundRect">
            <a:avLst/>
          </a:prstGeom>
          <a:solidFill>
            <a:srgbClr val="FFC870"/>
          </a:solidFill>
          <a:ln>
            <a:solidFill>
              <a:srgbClr val="FFC8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CBC0F579-59E1-F1CB-376D-1EA98F4E5D97}"/>
              </a:ext>
            </a:extLst>
          </p:cNvPr>
          <p:cNvSpPr txBox="1"/>
          <p:nvPr/>
        </p:nvSpPr>
        <p:spPr>
          <a:xfrm>
            <a:off x="1295400" y="3911600"/>
            <a:ext cx="469900" cy="230832"/>
          </a:xfrm>
          <a:prstGeom prst="rect">
            <a:avLst/>
          </a:prstGeom>
          <a:noFill/>
        </p:spPr>
        <p:txBody>
          <a:bodyPr vert="horz" lIns="0" tIns="0" rIns="0" bIns="0" rtlCol="0">
            <a:spAutoFit/>
          </a:bodyPr>
          <a:lstStyle/>
          <a:p>
            <a:pPr algn="ctr"/>
            <a:r>
              <a:rPr lang="en-US" sz="1500">
                <a:solidFill>
                  <a:srgbClr val="0B1220"/>
                </a:solidFill>
                <a:latin typeface="Aptos" panose="020B0004020202020204" pitchFamily="34" charset="0"/>
              </a:rPr>
              <a:t>3</a:t>
            </a:r>
          </a:p>
        </p:txBody>
      </p:sp>
      <p:sp>
        <p:nvSpPr>
          <p:cNvPr id="49" name="Rectangle: Rounded Corners 48">
            <a:extLst>
              <a:ext uri="{FF2B5EF4-FFF2-40B4-BE49-F238E27FC236}">
                <a16:creationId xmlns:a16="http://schemas.microsoft.com/office/drawing/2014/main" id="{3273DB48-B845-7800-AA12-FE409399FC05}"/>
              </a:ext>
            </a:extLst>
          </p:cNvPr>
          <p:cNvSpPr/>
          <p:nvPr/>
        </p:nvSpPr>
        <p:spPr>
          <a:xfrm>
            <a:off x="1816100" y="3886200"/>
            <a:ext cx="495300" cy="495300"/>
          </a:xfrm>
          <a:prstGeom prst="roundRect">
            <a:avLst/>
          </a:prstGeom>
          <a:solidFill>
            <a:srgbClr val="FF9C95"/>
          </a:solidFill>
          <a:ln>
            <a:solidFill>
              <a:srgbClr val="FF9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BC6C901C-333A-A3E9-C99C-2BCD46BBAA09}"/>
              </a:ext>
            </a:extLst>
          </p:cNvPr>
          <p:cNvSpPr txBox="1"/>
          <p:nvPr/>
        </p:nvSpPr>
        <p:spPr>
          <a:xfrm>
            <a:off x="1828800" y="3911600"/>
            <a:ext cx="469900" cy="230832"/>
          </a:xfrm>
          <a:prstGeom prst="rect">
            <a:avLst/>
          </a:prstGeom>
          <a:noFill/>
        </p:spPr>
        <p:txBody>
          <a:bodyPr vert="horz" lIns="0" tIns="0" rIns="0" bIns="0" rtlCol="0">
            <a:spAutoFit/>
          </a:bodyPr>
          <a:lstStyle/>
          <a:p>
            <a:pPr algn="ctr"/>
            <a:r>
              <a:rPr lang="en-US" sz="1500">
                <a:solidFill>
                  <a:srgbClr val="0B1220"/>
                </a:solidFill>
                <a:latin typeface="Aptos" panose="020B0004020202020204" pitchFamily="34" charset="0"/>
              </a:rPr>
              <a:t>4</a:t>
            </a:r>
          </a:p>
        </p:txBody>
      </p:sp>
      <p:sp>
        <p:nvSpPr>
          <p:cNvPr id="51" name="Rectangle: Rounded Corners 50">
            <a:extLst>
              <a:ext uri="{FF2B5EF4-FFF2-40B4-BE49-F238E27FC236}">
                <a16:creationId xmlns:a16="http://schemas.microsoft.com/office/drawing/2014/main" id="{26AF6AE2-660D-23B0-A2C5-116128754F6E}"/>
              </a:ext>
            </a:extLst>
          </p:cNvPr>
          <p:cNvSpPr/>
          <p:nvPr/>
        </p:nvSpPr>
        <p:spPr>
          <a:xfrm>
            <a:off x="2349500" y="3886200"/>
            <a:ext cx="495300" cy="495300"/>
          </a:xfrm>
          <a:prstGeom prst="roundRect">
            <a:avLst/>
          </a:prstGeom>
          <a:solidFill>
            <a:srgbClr val="FF9C95"/>
          </a:solidFill>
          <a:ln>
            <a:solidFill>
              <a:srgbClr val="FF9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F072476F-6B08-EEE8-B832-3D18DD8AA2ED}"/>
              </a:ext>
            </a:extLst>
          </p:cNvPr>
          <p:cNvSpPr txBox="1"/>
          <p:nvPr/>
        </p:nvSpPr>
        <p:spPr>
          <a:xfrm>
            <a:off x="2362200" y="3911600"/>
            <a:ext cx="469900" cy="230832"/>
          </a:xfrm>
          <a:prstGeom prst="rect">
            <a:avLst/>
          </a:prstGeom>
          <a:noFill/>
        </p:spPr>
        <p:txBody>
          <a:bodyPr vert="horz" lIns="0" tIns="0" rIns="0" bIns="0" rtlCol="0">
            <a:spAutoFit/>
          </a:bodyPr>
          <a:lstStyle/>
          <a:p>
            <a:pPr algn="ctr"/>
            <a:r>
              <a:rPr lang="en-US" sz="1500">
                <a:solidFill>
                  <a:srgbClr val="0B1220"/>
                </a:solidFill>
                <a:latin typeface="Aptos" panose="020B0004020202020204" pitchFamily="34" charset="0"/>
              </a:rPr>
              <a:t>4</a:t>
            </a:r>
          </a:p>
        </p:txBody>
      </p:sp>
      <p:sp>
        <p:nvSpPr>
          <p:cNvPr id="53" name="Rectangle: Rounded Corners 52">
            <a:extLst>
              <a:ext uri="{FF2B5EF4-FFF2-40B4-BE49-F238E27FC236}">
                <a16:creationId xmlns:a16="http://schemas.microsoft.com/office/drawing/2014/main" id="{C574011B-8C12-349B-C40A-ADAD648588D2}"/>
              </a:ext>
            </a:extLst>
          </p:cNvPr>
          <p:cNvSpPr/>
          <p:nvPr/>
        </p:nvSpPr>
        <p:spPr>
          <a:xfrm>
            <a:off x="2882900" y="3886200"/>
            <a:ext cx="495300" cy="495300"/>
          </a:xfrm>
          <a:prstGeom prst="roundRect">
            <a:avLst/>
          </a:prstGeom>
          <a:solidFill>
            <a:srgbClr val="FF9C95"/>
          </a:solidFill>
          <a:ln>
            <a:solidFill>
              <a:srgbClr val="FF9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3B25EB3A-79B6-7EB6-6991-5C7875A81FCD}"/>
              </a:ext>
            </a:extLst>
          </p:cNvPr>
          <p:cNvSpPr txBox="1"/>
          <p:nvPr/>
        </p:nvSpPr>
        <p:spPr>
          <a:xfrm>
            <a:off x="2895600" y="3911600"/>
            <a:ext cx="469900" cy="230832"/>
          </a:xfrm>
          <a:prstGeom prst="rect">
            <a:avLst/>
          </a:prstGeom>
          <a:noFill/>
        </p:spPr>
        <p:txBody>
          <a:bodyPr vert="horz" lIns="0" tIns="0" rIns="0" bIns="0" rtlCol="0">
            <a:spAutoFit/>
          </a:bodyPr>
          <a:lstStyle/>
          <a:p>
            <a:pPr algn="ctr"/>
            <a:r>
              <a:rPr lang="en-US" sz="1500">
                <a:solidFill>
                  <a:srgbClr val="0B1220"/>
                </a:solidFill>
                <a:latin typeface="Aptos" panose="020B0004020202020204" pitchFamily="34" charset="0"/>
              </a:rPr>
              <a:t>4</a:t>
            </a:r>
          </a:p>
        </p:txBody>
      </p:sp>
      <p:sp>
        <p:nvSpPr>
          <p:cNvPr id="55" name="TextBox 54">
            <a:extLst>
              <a:ext uri="{FF2B5EF4-FFF2-40B4-BE49-F238E27FC236}">
                <a16:creationId xmlns:a16="http://schemas.microsoft.com/office/drawing/2014/main" id="{47B742E5-DC83-70DD-648B-70E8106EB17E}"/>
              </a:ext>
            </a:extLst>
          </p:cNvPr>
          <p:cNvSpPr txBox="1"/>
          <p:nvPr/>
        </p:nvSpPr>
        <p:spPr>
          <a:xfrm>
            <a:off x="901700" y="4406900"/>
            <a:ext cx="3238500" cy="369332"/>
          </a:xfrm>
          <a:prstGeom prst="rect">
            <a:avLst/>
          </a:prstGeom>
          <a:noFill/>
        </p:spPr>
        <p:txBody>
          <a:bodyPr vert="horz" lIns="0" tIns="0" rIns="0" bIns="0" rtlCol="0">
            <a:spAutoFit/>
          </a:bodyPr>
          <a:lstStyle/>
          <a:p>
            <a:r>
              <a:rPr lang="en-US" sz="1200">
                <a:solidFill>
                  <a:srgbClr val="B9C9DB"/>
                </a:solidFill>
                <a:latin typeface="Aptos" panose="020B0004020202020204" pitchFamily="34" charset="0"/>
              </a:rPr>
              <a:t>Bloc 4 × 4: fiecare culoare marchează o piesă T de 4 pixeli.</a:t>
            </a:r>
          </a:p>
        </p:txBody>
      </p:sp>
      <p:sp>
        <p:nvSpPr>
          <p:cNvPr id="56" name="TextBox 55">
            <a:extLst>
              <a:ext uri="{FF2B5EF4-FFF2-40B4-BE49-F238E27FC236}">
                <a16:creationId xmlns:a16="http://schemas.microsoft.com/office/drawing/2014/main" id="{7049816C-BC04-3301-892C-4AF1D2B9122F}"/>
              </a:ext>
            </a:extLst>
          </p:cNvPr>
          <p:cNvSpPr txBox="1"/>
          <p:nvPr/>
        </p:nvSpPr>
        <p:spPr>
          <a:xfrm>
            <a:off x="3937000" y="3086100"/>
            <a:ext cx="660400" cy="584775"/>
          </a:xfrm>
          <a:prstGeom prst="rect">
            <a:avLst/>
          </a:prstGeom>
          <a:noFill/>
        </p:spPr>
        <p:txBody>
          <a:bodyPr vert="horz" lIns="0" tIns="0" rIns="0" bIns="0" rtlCol="0">
            <a:spAutoFit/>
          </a:bodyPr>
          <a:lstStyle/>
          <a:p>
            <a:pPr algn="ctr"/>
            <a:r>
              <a:rPr lang="en-US" sz="3800">
                <a:solidFill>
                  <a:srgbClr val="52D6D3"/>
                </a:solidFill>
                <a:latin typeface="Aptos" panose="020B0004020202020204" pitchFamily="34" charset="0"/>
              </a:rPr>
              <a:t>→</a:t>
            </a:r>
          </a:p>
        </p:txBody>
      </p:sp>
      <p:sp>
        <p:nvSpPr>
          <p:cNvPr id="57" name="TextBox 56">
            <a:extLst>
              <a:ext uri="{FF2B5EF4-FFF2-40B4-BE49-F238E27FC236}">
                <a16:creationId xmlns:a16="http://schemas.microsoft.com/office/drawing/2014/main" id="{36D3EBB7-74E3-3303-27DA-5D42771F54FE}"/>
              </a:ext>
            </a:extLst>
          </p:cNvPr>
          <p:cNvSpPr txBox="1"/>
          <p:nvPr/>
        </p:nvSpPr>
        <p:spPr>
          <a:xfrm>
            <a:off x="4711700" y="1816100"/>
            <a:ext cx="3124200" cy="276999"/>
          </a:xfrm>
          <a:prstGeom prst="rect">
            <a:avLst/>
          </a:prstGeom>
          <a:noFill/>
        </p:spPr>
        <p:txBody>
          <a:bodyPr vert="horz" lIns="0" tIns="0" rIns="0" bIns="0" rtlCol="0">
            <a:spAutoFit/>
          </a:bodyPr>
          <a:lstStyle/>
          <a:p>
            <a:r>
              <a:rPr lang="en-US">
                <a:solidFill>
                  <a:srgbClr val="52D6D3"/>
                </a:solidFill>
                <a:latin typeface="Aptos" panose="020B0004020202020204" pitchFamily="34" charset="0"/>
              </a:rPr>
              <a:t>Masca A = T1 + T2</a:t>
            </a:r>
          </a:p>
        </p:txBody>
      </p:sp>
      <p:sp>
        <p:nvSpPr>
          <p:cNvPr id="58" name="Rectangle: Rounded Corners 57">
            <a:extLst>
              <a:ext uri="{FF2B5EF4-FFF2-40B4-BE49-F238E27FC236}">
                <a16:creationId xmlns:a16="http://schemas.microsoft.com/office/drawing/2014/main" id="{F438003A-F397-FB25-872A-D63C68567AB5}"/>
              </a:ext>
            </a:extLst>
          </p:cNvPr>
          <p:cNvSpPr/>
          <p:nvPr/>
        </p:nvSpPr>
        <p:spPr>
          <a:xfrm>
            <a:off x="5207000" y="2451100"/>
            <a:ext cx="406400" cy="406400"/>
          </a:xfrm>
          <a:prstGeom prst="roundRect">
            <a:avLst/>
          </a:prstGeom>
          <a:solidFill>
            <a:srgbClr val="52D6D3"/>
          </a:solidFill>
          <a:ln>
            <a:solidFill>
              <a:srgbClr val="52D6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79FF41C1-288F-6527-061F-30AB11E9C2AE}"/>
              </a:ext>
            </a:extLst>
          </p:cNvPr>
          <p:cNvSpPr txBox="1"/>
          <p:nvPr/>
        </p:nvSpPr>
        <p:spPr>
          <a:xfrm>
            <a:off x="5219700" y="2476500"/>
            <a:ext cx="381000" cy="184666"/>
          </a:xfrm>
          <a:prstGeom prst="rect">
            <a:avLst/>
          </a:prstGeom>
          <a:noFill/>
        </p:spPr>
        <p:txBody>
          <a:bodyPr vert="horz" lIns="0" tIns="0" rIns="0" bIns="0" rtlCol="0">
            <a:spAutoFit/>
          </a:bodyPr>
          <a:lstStyle/>
          <a:p>
            <a:pPr algn="ctr"/>
            <a:r>
              <a:rPr lang="en-US" sz="1200">
                <a:solidFill>
                  <a:srgbClr val="0B1220"/>
                </a:solidFill>
                <a:latin typeface="Aptos" panose="020B0004020202020204" pitchFamily="34" charset="0"/>
              </a:rPr>
              <a:t>1</a:t>
            </a:r>
          </a:p>
        </p:txBody>
      </p:sp>
      <p:sp>
        <p:nvSpPr>
          <p:cNvPr id="60" name="Rectangle: Rounded Corners 59">
            <a:extLst>
              <a:ext uri="{FF2B5EF4-FFF2-40B4-BE49-F238E27FC236}">
                <a16:creationId xmlns:a16="http://schemas.microsoft.com/office/drawing/2014/main" id="{54BB758B-41F7-2AD1-6B7C-041F69D7A41C}"/>
              </a:ext>
            </a:extLst>
          </p:cNvPr>
          <p:cNvSpPr/>
          <p:nvPr/>
        </p:nvSpPr>
        <p:spPr>
          <a:xfrm>
            <a:off x="5651500" y="2451100"/>
            <a:ext cx="406400" cy="406400"/>
          </a:xfrm>
          <a:prstGeom prst="roundRect">
            <a:avLst/>
          </a:prstGeom>
          <a:solidFill>
            <a:srgbClr val="52D6D3"/>
          </a:solidFill>
          <a:ln>
            <a:solidFill>
              <a:srgbClr val="52D6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DF9F2891-AEF2-5F70-82EE-1D61247488FD}"/>
              </a:ext>
            </a:extLst>
          </p:cNvPr>
          <p:cNvSpPr txBox="1"/>
          <p:nvPr/>
        </p:nvSpPr>
        <p:spPr>
          <a:xfrm>
            <a:off x="5664200" y="2476500"/>
            <a:ext cx="381000" cy="184666"/>
          </a:xfrm>
          <a:prstGeom prst="rect">
            <a:avLst/>
          </a:prstGeom>
          <a:noFill/>
        </p:spPr>
        <p:txBody>
          <a:bodyPr vert="horz" lIns="0" tIns="0" rIns="0" bIns="0" rtlCol="0">
            <a:spAutoFit/>
          </a:bodyPr>
          <a:lstStyle/>
          <a:p>
            <a:pPr algn="ctr"/>
            <a:r>
              <a:rPr lang="en-US" sz="1200">
                <a:solidFill>
                  <a:srgbClr val="0B1220"/>
                </a:solidFill>
                <a:latin typeface="Aptos" panose="020B0004020202020204" pitchFamily="34" charset="0"/>
              </a:rPr>
              <a:t>1</a:t>
            </a:r>
          </a:p>
        </p:txBody>
      </p:sp>
      <p:sp>
        <p:nvSpPr>
          <p:cNvPr id="62" name="Rectangle: Rounded Corners 61">
            <a:extLst>
              <a:ext uri="{FF2B5EF4-FFF2-40B4-BE49-F238E27FC236}">
                <a16:creationId xmlns:a16="http://schemas.microsoft.com/office/drawing/2014/main" id="{AC99F4BD-170E-9D77-3619-213CD9FB1BBB}"/>
              </a:ext>
            </a:extLst>
          </p:cNvPr>
          <p:cNvSpPr/>
          <p:nvPr/>
        </p:nvSpPr>
        <p:spPr>
          <a:xfrm>
            <a:off x="6096000" y="2451100"/>
            <a:ext cx="406400" cy="406400"/>
          </a:xfrm>
          <a:prstGeom prst="roundRect">
            <a:avLst/>
          </a:prstGeom>
          <a:solidFill>
            <a:srgbClr val="52D6D3"/>
          </a:solidFill>
          <a:ln>
            <a:solidFill>
              <a:srgbClr val="52D6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11314FCA-F5B9-ACDF-074D-DA6E8AFB7EE8}"/>
              </a:ext>
            </a:extLst>
          </p:cNvPr>
          <p:cNvSpPr txBox="1"/>
          <p:nvPr/>
        </p:nvSpPr>
        <p:spPr>
          <a:xfrm>
            <a:off x="6108700" y="2476500"/>
            <a:ext cx="381000" cy="184666"/>
          </a:xfrm>
          <a:prstGeom prst="rect">
            <a:avLst/>
          </a:prstGeom>
          <a:noFill/>
        </p:spPr>
        <p:txBody>
          <a:bodyPr vert="horz" lIns="0" tIns="0" rIns="0" bIns="0" rtlCol="0">
            <a:spAutoFit/>
          </a:bodyPr>
          <a:lstStyle/>
          <a:p>
            <a:pPr algn="ctr"/>
            <a:r>
              <a:rPr lang="en-US" sz="1200">
                <a:solidFill>
                  <a:srgbClr val="0B1220"/>
                </a:solidFill>
                <a:latin typeface="Aptos" panose="020B0004020202020204" pitchFamily="34" charset="0"/>
              </a:rPr>
              <a:t>1</a:t>
            </a:r>
          </a:p>
        </p:txBody>
      </p:sp>
      <p:sp>
        <p:nvSpPr>
          <p:cNvPr id="64" name="Rectangle: Rounded Corners 63">
            <a:extLst>
              <a:ext uri="{FF2B5EF4-FFF2-40B4-BE49-F238E27FC236}">
                <a16:creationId xmlns:a16="http://schemas.microsoft.com/office/drawing/2014/main" id="{7DCE04A4-E486-5419-1E96-A3E49283CDA2}"/>
              </a:ext>
            </a:extLst>
          </p:cNvPr>
          <p:cNvSpPr/>
          <p:nvPr/>
        </p:nvSpPr>
        <p:spPr>
          <a:xfrm>
            <a:off x="6540500" y="2451100"/>
            <a:ext cx="406400" cy="406400"/>
          </a:xfrm>
          <a:prstGeom prst="roundRect">
            <a:avLst/>
          </a:prstGeom>
          <a:solidFill>
            <a:srgbClr val="80E2B0"/>
          </a:solidFill>
          <a:ln>
            <a:solidFill>
              <a:srgbClr val="80E2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0755CE08-610A-F852-D5C9-D6E16F6422CC}"/>
              </a:ext>
            </a:extLst>
          </p:cNvPr>
          <p:cNvSpPr txBox="1"/>
          <p:nvPr/>
        </p:nvSpPr>
        <p:spPr>
          <a:xfrm>
            <a:off x="6553200" y="2476500"/>
            <a:ext cx="381000" cy="184666"/>
          </a:xfrm>
          <a:prstGeom prst="rect">
            <a:avLst/>
          </a:prstGeom>
          <a:noFill/>
        </p:spPr>
        <p:txBody>
          <a:bodyPr vert="horz" lIns="0" tIns="0" rIns="0" bIns="0" rtlCol="0">
            <a:spAutoFit/>
          </a:bodyPr>
          <a:lstStyle/>
          <a:p>
            <a:pPr algn="ctr"/>
            <a:r>
              <a:rPr lang="en-US" sz="1200">
                <a:solidFill>
                  <a:srgbClr val="0B1220"/>
                </a:solidFill>
                <a:latin typeface="Aptos" panose="020B0004020202020204" pitchFamily="34" charset="0"/>
              </a:rPr>
              <a:t>2</a:t>
            </a:r>
          </a:p>
        </p:txBody>
      </p:sp>
      <p:sp>
        <p:nvSpPr>
          <p:cNvPr id="66" name="Rectangle: Rounded Corners 65">
            <a:extLst>
              <a:ext uri="{FF2B5EF4-FFF2-40B4-BE49-F238E27FC236}">
                <a16:creationId xmlns:a16="http://schemas.microsoft.com/office/drawing/2014/main" id="{035B2634-BFAE-E45E-28FB-FD6F552911E4}"/>
              </a:ext>
            </a:extLst>
          </p:cNvPr>
          <p:cNvSpPr/>
          <p:nvPr/>
        </p:nvSpPr>
        <p:spPr>
          <a:xfrm>
            <a:off x="5207000" y="28956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Rounded Corners 66">
            <a:extLst>
              <a:ext uri="{FF2B5EF4-FFF2-40B4-BE49-F238E27FC236}">
                <a16:creationId xmlns:a16="http://schemas.microsoft.com/office/drawing/2014/main" id="{F3FA1076-997A-5447-A24D-18F8CC94FA79}"/>
              </a:ext>
            </a:extLst>
          </p:cNvPr>
          <p:cNvSpPr/>
          <p:nvPr/>
        </p:nvSpPr>
        <p:spPr>
          <a:xfrm>
            <a:off x="5651500" y="2895600"/>
            <a:ext cx="406400" cy="406400"/>
          </a:xfrm>
          <a:prstGeom prst="roundRect">
            <a:avLst/>
          </a:prstGeom>
          <a:solidFill>
            <a:srgbClr val="52D6D3"/>
          </a:solidFill>
          <a:ln>
            <a:solidFill>
              <a:srgbClr val="52D6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6B3F60DF-3219-16E5-C596-BC4A75D9C77C}"/>
              </a:ext>
            </a:extLst>
          </p:cNvPr>
          <p:cNvSpPr txBox="1"/>
          <p:nvPr/>
        </p:nvSpPr>
        <p:spPr>
          <a:xfrm>
            <a:off x="5664200" y="2921000"/>
            <a:ext cx="381000" cy="184666"/>
          </a:xfrm>
          <a:prstGeom prst="rect">
            <a:avLst/>
          </a:prstGeom>
          <a:noFill/>
        </p:spPr>
        <p:txBody>
          <a:bodyPr vert="horz" lIns="0" tIns="0" rIns="0" bIns="0" rtlCol="0">
            <a:spAutoFit/>
          </a:bodyPr>
          <a:lstStyle/>
          <a:p>
            <a:pPr algn="ctr"/>
            <a:r>
              <a:rPr lang="en-US" sz="1200">
                <a:solidFill>
                  <a:srgbClr val="0B1220"/>
                </a:solidFill>
                <a:latin typeface="Aptos" panose="020B0004020202020204" pitchFamily="34" charset="0"/>
              </a:rPr>
              <a:t>1</a:t>
            </a:r>
          </a:p>
        </p:txBody>
      </p:sp>
      <p:sp>
        <p:nvSpPr>
          <p:cNvPr id="69" name="Rectangle: Rounded Corners 68">
            <a:extLst>
              <a:ext uri="{FF2B5EF4-FFF2-40B4-BE49-F238E27FC236}">
                <a16:creationId xmlns:a16="http://schemas.microsoft.com/office/drawing/2014/main" id="{F02ED2DD-2402-6852-7319-D9BD213000CB}"/>
              </a:ext>
            </a:extLst>
          </p:cNvPr>
          <p:cNvSpPr/>
          <p:nvPr/>
        </p:nvSpPr>
        <p:spPr>
          <a:xfrm>
            <a:off x="6096000" y="2895600"/>
            <a:ext cx="406400" cy="406400"/>
          </a:xfrm>
          <a:prstGeom prst="roundRect">
            <a:avLst/>
          </a:prstGeom>
          <a:solidFill>
            <a:srgbClr val="80E2B0"/>
          </a:solidFill>
          <a:ln>
            <a:solidFill>
              <a:srgbClr val="80E2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E39EEE32-7BC3-9232-6289-40B94D35ED8A}"/>
              </a:ext>
            </a:extLst>
          </p:cNvPr>
          <p:cNvSpPr txBox="1"/>
          <p:nvPr/>
        </p:nvSpPr>
        <p:spPr>
          <a:xfrm>
            <a:off x="6108700" y="2921000"/>
            <a:ext cx="381000" cy="184666"/>
          </a:xfrm>
          <a:prstGeom prst="rect">
            <a:avLst/>
          </a:prstGeom>
          <a:noFill/>
        </p:spPr>
        <p:txBody>
          <a:bodyPr vert="horz" lIns="0" tIns="0" rIns="0" bIns="0" rtlCol="0">
            <a:spAutoFit/>
          </a:bodyPr>
          <a:lstStyle/>
          <a:p>
            <a:pPr algn="ctr"/>
            <a:r>
              <a:rPr lang="en-US" sz="1200">
                <a:solidFill>
                  <a:srgbClr val="0B1220"/>
                </a:solidFill>
                <a:latin typeface="Aptos" panose="020B0004020202020204" pitchFamily="34" charset="0"/>
              </a:rPr>
              <a:t>2</a:t>
            </a:r>
          </a:p>
        </p:txBody>
      </p:sp>
      <p:sp>
        <p:nvSpPr>
          <p:cNvPr id="71" name="Rectangle: Rounded Corners 70">
            <a:extLst>
              <a:ext uri="{FF2B5EF4-FFF2-40B4-BE49-F238E27FC236}">
                <a16:creationId xmlns:a16="http://schemas.microsoft.com/office/drawing/2014/main" id="{B7E3C94B-AC6C-F671-5C8E-4C06B3B81785}"/>
              </a:ext>
            </a:extLst>
          </p:cNvPr>
          <p:cNvSpPr/>
          <p:nvPr/>
        </p:nvSpPr>
        <p:spPr>
          <a:xfrm>
            <a:off x="6540500" y="2895600"/>
            <a:ext cx="406400" cy="406400"/>
          </a:xfrm>
          <a:prstGeom prst="roundRect">
            <a:avLst/>
          </a:prstGeom>
          <a:solidFill>
            <a:srgbClr val="80E2B0"/>
          </a:solidFill>
          <a:ln>
            <a:solidFill>
              <a:srgbClr val="80E2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F382DDF4-F140-7054-1653-95395C4C77AA}"/>
              </a:ext>
            </a:extLst>
          </p:cNvPr>
          <p:cNvSpPr txBox="1"/>
          <p:nvPr/>
        </p:nvSpPr>
        <p:spPr>
          <a:xfrm>
            <a:off x="6553200" y="2921000"/>
            <a:ext cx="381000" cy="184666"/>
          </a:xfrm>
          <a:prstGeom prst="rect">
            <a:avLst/>
          </a:prstGeom>
          <a:noFill/>
        </p:spPr>
        <p:txBody>
          <a:bodyPr vert="horz" lIns="0" tIns="0" rIns="0" bIns="0" rtlCol="0">
            <a:spAutoFit/>
          </a:bodyPr>
          <a:lstStyle/>
          <a:p>
            <a:pPr algn="ctr"/>
            <a:r>
              <a:rPr lang="en-US" sz="1200">
                <a:solidFill>
                  <a:srgbClr val="0B1220"/>
                </a:solidFill>
                <a:latin typeface="Aptos" panose="020B0004020202020204" pitchFamily="34" charset="0"/>
              </a:rPr>
              <a:t>2</a:t>
            </a:r>
          </a:p>
        </p:txBody>
      </p:sp>
      <p:sp>
        <p:nvSpPr>
          <p:cNvPr id="73" name="Rectangle: Rounded Corners 72">
            <a:extLst>
              <a:ext uri="{FF2B5EF4-FFF2-40B4-BE49-F238E27FC236}">
                <a16:creationId xmlns:a16="http://schemas.microsoft.com/office/drawing/2014/main" id="{825F763B-187B-7CF9-A863-09790F9D6563}"/>
              </a:ext>
            </a:extLst>
          </p:cNvPr>
          <p:cNvSpPr/>
          <p:nvPr/>
        </p:nvSpPr>
        <p:spPr>
          <a:xfrm>
            <a:off x="5207000" y="33401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Rounded Corners 73">
            <a:extLst>
              <a:ext uri="{FF2B5EF4-FFF2-40B4-BE49-F238E27FC236}">
                <a16:creationId xmlns:a16="http://schemas.microsoft.com/office/drawing/2014/main" id="{22EBE49C-3D68-85B5-795E-DFA30DABC755}"/>
              </a:ext>
            </a:extLst>
          </p:cNvPr>
          <p:cNvSpPr/>
          <p:nvPr/>
        </p:nvSpPr>
        <p:spPr>
          <a:xfrm>
            <a:off x="5651500" y="33401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Rounded Corners 74">
            <a:extLst>
              <a:ext uri="{FF2B5EF4-FFF2-40B4-BE49-F238E27FC236}">
                <a16:creationId xmlns:a16="http://schemas.microsoft.com/office/drawing/2014/main" id="{4B04F331-6763-FCB3-F2EE-2DC61BC203DB}"/>
              </a:ext>
            </a:extLst>
          </p:cNvPr>
          <p:cNvSpPr/>
          <p:nvPr/>
        </p:nvSpPr>
        <p:spPr>
          <a:xfrm>
            <a:off x="6096000" y="33401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Rounded Corners 75">
            <a:extLst>
              <a:ext uri="{FF2B5EF4-FFF2-40B4-BE49-F238E27FC236}">
                <a16:creationId xmlns:a16="http://schemas.microsoft.com/office/drawing/2014/main" id="{B8DA7996-374C-ACDD-3188-7ABF1415312B}"/>
              </a:ext>
            </a:extLst>
          </p:cNvPr>
          <p:cNvSpPr/>
          <p:nvPr/>
        </p:nvSpPr>
        <p:spPr>
          <a:xfrm>
            <a:off x="6540500" y="3340100"/>
            <a:ext cx="406400" cy="406400"/>
          </a:xfrm>
          <a:prstGeom prst="roundRect">
            <a:avLst/>
          </a:prstGeom>
          <a:solidFill>
            <a:srgbClr val="80E2B0"/>
          </a:solidFill>
          <a:ln>
            <a:solidFill>
              <a:srgbClr val="80E2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E9C9F0A9-27FA-D4B5-BBAC-F85FB479981C}"/>
              </a:ext>
            </a:extLst>
          </p:cNvPr>
          <p:cNvSpPr txBox="1"/>
          <p:nvPr/>
        </p:nvSpPr>
        <p:spPr>
          <a:xfrm>
            <a:off x="6553200" y="3365500"/>
            <a:ext cx="381000" cy="184666"/>
          </a:xfrm>
          <a:prstGeom prst="rect">
            <a:avLst/>
          </a:prstGeom>
          <a:noFill/>
        </p:spPr>
        <p:txBody>
          <a:bodyPr vert="horz" lIns="0" tIns="0" rIns="0" bIns="0" rtlCol="0">
            <a:spAutoFit/>
          </a:bodyPr>
          <a:lstStyle/>
          <a:p>
            <a:pPr algn="ctr"/>
            <a:r>
              <a:rPr lang="en-US" sz="1200">
                <a:solidFill>
                  <a:srgbClr val="0B1220"/>
                </a:solidFill>
                <a:latin typeface="Aptos" panose="020B0004020202020204" pitchFamily="34" charset="0"/>
              </a:rPr>
              <a:t>2</a:t>
            </a:r>
          </a:p>
        </p:txBody>
      </p:sp>
      <p:sp>
        <p:nvSpPr>
          <p:cNvPr id="78" name="Rectangle: Rounded Corners 77">
            <a:extLst>
              <a:ext uri="{FF2B5EF4-FFF2-40B4-BE49-F238E27FC236}">
                <a16:creationId xmlns:a16="http://schemas.microsoft.com/office/drawing/2014/main" id="{1201B569-AA0C-9481-B095-004BCB3FD6DC}"/>
              </a:ext>
            </a:extLst>
          </p:cNvPr>
          <p:cNvSpPr/>
          <p:nvPr/>
        </p:nvSpPr>
        <p:spPr>
          <a:xfrm>
            <a:off x="5207000" y="37846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Rounded Corners 78">
            <a:extLst>
              <a:ext uri="{FF2B5EF4-FFF2-40B4-BE49-F238E27FC236}">
                <a16:creationId xmlns:a16="http://schemas.microsoft.com/office/drawing/2014/main" id="{B6BFF2BD-51E1-78AF-0B32-95AE67DC7C91}"/>
              </a:ext>
            </a:extLst>
          </p:cNvPr>
          <p:cNvSpPr/>
          <p:nvPr/>
        </p:nvSpPr>
        <p:spPr>
          <a:xfrm>
            <a:off x="5651500" y="37846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Rounded Corners 79">
            <a:extLst>
              <a:ext uri="{FF2B5EF4-FFF2-40B4-BE49-F238E27FC236}">
                <a16:creationId xmlns:a16="http://schemas.microsoft.com/office/drawing/2014/main" id="{694410F8-38FA-B821-B0BF-A7EAECFD0110}"/>
              </a:ext>
            </a:extLst>
          </p:cNvPr>
          <p:cNvSpPr/>
          <p:nvPr/>
        </p:nvSpPr>
        <p:spPr>
          <a:xfrm>
            <a:off x="6096000" y="37846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Rounded Corners 80">
            <a:extLst>
              <a:ext uri="{FF2B5EF4-FFF2-40B4-BE49-F238E27FC236}">
                <a16:creationId xmlns:a16="http://schemas.microsoft.com/office/drawing/2014/main" id="{472E3F78-30FD-CFAD-C685-366A783F7157}"/>
              </a:ext>
            </a:extLst>
          </p:cNvPr>
          <p:cNvSpPr/>
          <p:nvPr/>
        </p:nvSpPr>
        <p:spPr>
          <a:xfrm>
            <a:off x="6540500" y="37846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90DC2F5D-BF2C-4B00-F330-66C9E16A1AD6}"/>
              </a:ext>
            </a:extLst>
          </p:cNvPr>
          <p:cNvSpPr txBox="1"/>
          <p:nvPr/>
        </p:nvSpPr>
        <p:spPr>
          <a:xfrm>
            <a:off x="4686300" y="4406900"/>
            <a:ext cx="3098800" cy="184666"/>
          </a:xfrm>
          <a:prstGeom prst="rect">
            <a:avLst/>
          </a:prstGeom>
          <a:noFill/>
        </p:spPr>
        <p:txBody>
          <a:bodyPr vert="horz" lIns="0" tIns="0" rIns="0" bIns="0" rtlCol="0">
            <a:spAutoFit/>
          </a:bodyPr>
          <a:lstStyle/>
          <a:p>
            <a:pPr algn="ctr"/>
            <a:r>
              <a:rPr lang="en-US" sz="1200">
                <a:solidFill>
                  <a:srgbClr val="B9C9DB"/>
                </a:solidFill>
                <a:latin typeface="Aptos" panose="020B0004020202020204" pitchFamily="34" charset="0"/>
              </a:rPr>
              <a:t>8 pixeli într-o măsurare</a:t>
            </a:r>
          </a:p>
        </p:txBody>
      </p:sp>
      <p:sp>
        <p:nvSpPr>
          <p:cNvPr id="83" name="TextBox 82">
            <a:extLst>
              <a:ext uri="{FF2B5EF4-FFF2-40B4-BE49-F238E27FC236}">
                <a16:creationId xmlns:a16="http://schemas.microsoft.com/office/drawing/2014/main" id="{112A03A8-50A8-BC69-A0D7-CA8DDADBFC47}"/>
              </a:ext>
            </a:extLst>
          </p:cNvPr>
          <p:cNvSpPr txBox="1"/>
          <p:nvPr/>
        </p:nvSpPr>
        <p:spPr>
          <a:xfrm>
            <a:off x="7442200" y="3124200"/>
            <a:ext cx="558800" cy="523220"/>
          </a:xfrm>
          <a:prstGeom prst="rect">
            <a:avLst/>
          </a:prstGeom>
          <a:noFill/>
        </p:spPr>
        <p:txBody>
          <a:bodyPr vert="horz" lIns="0" tIns="0" rIns="0" bIns="0" rtlCol="0">
            <a:spAutoFit/>
          </a:bodyPr>
          <a:lstStyle/>
          <a:p>
            <a:pPr algn="ctr"/>
            <a:r>
              <a:rPr lang="en-US" sz="3400">
                <a:solidFill>
                  <a:srgbClr val="F4F7FB"/>
                </a:solidFill>
                <a:latin typeface="Aptos" panose="020B0004020202020204" pitchFamily="34" charset="0"/>
              </a:rPr>
              <a:t>+</a:t>
            </a:r>
          </a:p>
        </p:txBody>
      </p:sp>
      <p:sp>
        <p:nvSpPr>
          <p:cNvPr id="84" name="TextBox 83">
            <a:extLst>
              <a:ext uri="{FF2B5EF4-FFF2-40B4-BE49-F238E27FC236}">
                <a16:creationId xmlns:a16="http://schemas.microsoft.com/office/drawing/2014/main" id="{86002DE7-FA6C-14D5-5B01-D498D09468AA}"/>
              </a:ext>
            </a:extLst>
          </p:cNvPr>
          <p:cNvSpPr txBox="1"/>
          <p:nvPr/>
        </p:nvSpPr>
        <p:spPr>
          <a:xfrm>
            <a:off x="8102600" y="1816100"/>
            <a:ext cx="3187700" cy="276999"/>
          </a:xfrm>
          <a:prstGeom prst="rect">
            <a:avLst/>
          </a:prstGeom>
          <a:noFill/>
        </p:spPr>
        <p:txBody>
          <a:bodyPr vert="horz" lIns="0" tIns="0" rIns="0" bIns="0" rtlCol="0">
            <a:spAutoFit/>
          </a:bodyPr>
          <a:lstStyle/>
          <a:p>
            <a:r>
              <a:rPr lang="en-US">
                <a:solidFill>
                  <a:srgbClr val="FFC870"/>
                </a:solidFill>
                <a:latin typeface="Aptos" panose="020B0004020202020204" pitchFamily="34" charset="0"/>
              </a:rPr>
              <a:t>Masca B = T3 + T4</a:t>
            </a:r>
          </a:p>
        </p:txBody>
      </p:sp>
      <p:sp>
        <p:nvSpPr>
          <p:cNvPr id="85" name="Rectangle: Rounded Corners 84">
            <a:extLst>
              <a:ext uri="{FF2B5EF4-FFF2-40B4-BE49-F238E27FC236}">
                <a16:creationId xmlns:a16="http://schemas.microsoft.com/office/drawing/2014/main" id="{176BD042-935D-CF45-3D79-56AF94F2B1E4}"/>
              </a:ext>
            </a:extLst>
          </p:cNvPr>
          <p:cNvSpPr/>
          <p:nvPr/>
        </p:nvSpPr>
        <p:spPr>
          <a:xfrm>
            <a:off x="8661400" y="24511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Rounded Corners 85">
            <a:extLst>
              <a:ext uri="{FF2B5EF4-FFF2-40B4-BE49-F238E27FC236}">
                <a16:creationId xmlns:a16="http://schemas.microsoft.com/office/drawing/2014/main" id="{4E08277A-F3E1-71DA-3C8F-BCBFD9714170}"/>
              </a:ext>
            </a:extLst>
          </p:cNvPr>
          <p:cNvSpPr/>
          <p:nvPr/>
        </p:nvSpPr>
        <p:spPr>
          <a:xfrm>
            <a:off x="9105900" y="24511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Rounded Corners 86">
            <a:extLst>
              <a:ext uri="{FF2B5EF4-FFF2-40B4-BE49-F238E27FC236}">
                <a16:creationId xmlns:a16="http://schemas.microsoft.com/office/drawing/2014/main" id="{DD3EEC7A-7AE5-1594-07C7-64509E9B49F4}"/>
              </a:ext>
            </a:extLst>
          </p:cNvPr>
          <p:cNvSpPr/>
          <p:nvPr/>
        </p:nvSpPr>
        <p:spPr>
          <a:xfrm>
            <a:off x="9550400" y="24511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Rounded Corners 87">
            <a:extLst>
              <a:ext uri="{FF2B5EF4-FFF2-40B4-BE49-F238E27FC236}">
                <a16:creationId xmlns:a16="http://schemas.microsoft.com/office/drawing/2014/main" id="{25B3DF3B-DF40-24E2-9380-0231D33D4021}"/>
              </a:ext>
            </a:extLst>
          </p:cNvPr>
          <p:cNvSpPr/>
          <p:nvPr/>
        </p:nvSpPr>
        <p:spPr>
          <a:xfrm>
            <a:off x="9994900" y="24511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Rounded Corners 88">
            <a:extLst>
              <a:ext uri="{FF2B5EF4-FFF2-40B4-BE49-F238E27FC236}">
                <a16:creationId xmlns:a16="http://schemas.microsoft.com/office/drawing/2014/main" id="{2A4543A2-9E53-661A-68B9-89090B9461EC}"/>
              </a:ext>
            </a:extLst>
          </p:cNvPr>
          <p:cNvSpPr/>
          <p:nvPr/>
        </p:nvSpPr>
        <p:spPr>
          <a:xfrm>
            <a:off x="8661400" y="2895600"/>
            <a:ext cx="406400" cy="406400"/>
          </a:xfrm>
          <a:prstGeom prst="roundRect">
            <a:avLst/>
          </a:prstGeom>
          <a:solidFill>
            <a:srgbClr val="FFC870"/>
          </a:solidFill>
          <a:ln>
            <a:solidFill>
              <a:srgbClr val="FFC8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89">
            <a:extLst>
              <a:ext uri="{FF2B5EF4-FFF2-40B4-BE49-F238E27FC236}">
                <a16:creationId xmlns:a16="http://schemas.microsoft.com/office/drawing/2014/main" id="{2965014C-14C5-62D3-7BF0-639B07785EE9}"/>
              </a:ext>
            </a:extLst>
          </p:cNvPr>
          <p:cNvSpPr txBox="1"/>
          <p:nvPr/>
        </p:nvSpPr>
        <p:spPr>
          <a:xfrm>
            <a:off x="8674100" y="2921000"/>
            <a:ext cx="381000" cy="184666"/>
          </a:xfrm>
          <a:prstGeom prst="rect">
            <a:avLst/>
          </a:prstGeom>
          <a:noFill/>
        </p:spPr>
        <p:txBody>
          <a:bodyPr vert="horz" lIns="0" tIns="0" rIns="0" bIns="0" rtlCol="0">
            <a:spAutoFit/>
          </a:bodyPr>
          <a:lstStyle/>
          <a:p>
            <a:pPr algn="ctr"/>
            <a:r>
              <a:rPr lang="en-US" sz="1200">
                <a:solidFill>
                  <a:srgbClr val="0B1220"/>
                </a:solidFill>
                <a:latin typeface="Aptos" panose="020B0004020202020204" pitchFamily="34" charset="0"/>
              </a:rPr>
              <a:t>3</a:t>
            </a:r>
          </a:p>
        </p:txBody>
      </p:sp>
      <p:sp>
        <p:nvSpPr>
          <p:cNvPr id="91" name="Rectangle: Rounded Corners 90">
            <a:extLst>
              <a:ext uri="{FF2B5EF4-FFF2-40B4-BE49-F238E27FC236}">
                <a16:creationId xmlns:a16="http://schemas.microsoft.com/office/drawing/2014/main" id="{78D06E5E-B2B2-EF7D-85FE-61DD9346F459}"/>
              </a:ext>
            </a:extLst>
          </p:cNvPr>
          <p:cNvSpPr/>
          <p:nvPr/>
        </p:nvSpPr>
        <p:spPr>
          <a:xfrm>
            <a:off x="9105900" y="28956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Rounded Corners 91">
            <a:extLst>
              <a:ext uri="{FF2B5EF4-FFF2-40B4-BE49-F238E27FC236}">
                <a16:creationId xmlns:a16="http://schemas.microsoft.com/office/drawing/2014/main" id="{CD39AB6A-C89C-4AB3-7A00-956806BC2B16}"/>
              </a:ext>
            </a:extLst>
          </p:cNvPr>
          <p:cNvSpPr/>
          <p:nvPr/>
        </p:nvSpPr>
        <p:spPr>
          <a:xfrm>
            <a:off x="9550400" y="28956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Rounded Corners 92">
            <a:extLst>
              <a:ext uri="{FF2B5EF4-FFF2-40B4-BE49-F238E27FC236}">
                <a16:creationId xmlns:a16="http://schemas.microsoft.com/office/drawing/2014/main" id="{853AD88A-5C51-5D97-CC14-8D7B64BA5378}"/>
              </a:ext>
            </a:extLst>
          </p:cNvPr>
          <p:cNvSpPr/>
          <p:nvPr/>
        </p:nvSpPr>
        <p:spPr>
          <a:xfrm>
            <a:off x="9994900" y="28956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Rounded Corners 93">
            <a:extLst>
              <a:ext uri="{FF2B5EF4-FFF2-40B4-BE49-F238E27FC236}">
                <a16:creationId xmlns:a16="http://schemas.microsoft.com/office/drawing/2014/main" id="{0F5640A4-2749-533D-D513-B808F98C4144}"/>
              </a:ext>
            </a:extLst>
          </p:cNvPr>
          <p:cNvSpPr/>
          <p:nvPr/>
        </p:nvSpPr>
        <p:spPr>
          <a:xfrm>
            <a:off x="8661400" y="3340100"/>
            <a:ext cx="406400" cy="406400"/>
          </a:xfrm>
          <a:prstGeom prst="roundRect">
            <a:avLst/>
          </a:prstGeom>
          <a:solidFill>
            <a:srgbClr val="FFC870"/>
          </a:solidFill>
          <a:ln>
            <a:solidFill>
              <a:srgbClr val="FFC8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TextBox 94">
            <a:extLst>
              <a:ext uri="{FF2B5EF4-FFF2-40B4-BE49-F238E27FC236}">
                <a16:creationId xmlns:a16="http://schemas.microsoft.com/office/drawing/2014/main" id="{763BE610-8218-CD42-16B3-71B1D67977B2}"/>
              </a:ext>
            </a:extLst>
          </p:cNvPr>
          <p:cNvSpPr txBox="1"/>
          <p:nvPr/>
        </p:nvSpPr>
        <p:spPr>
          <a:xfrm>
            <a:off x="8674100" y="3365500"/>
            <a:ext cx="381000" cy="184666"/>
          </a:xfrm>
          <a:prstGeom prst="rect">
            <a:avLst/>
          </a:prstGeom>
          <a:noFill/>
        </p:spPr>
        <p:txBody>
          <a:bodyPr vert="horz" lIns="0" tIns="0" rIns="0" bIns="0" rtlCol="0">
            <a:spAutoFit/>
          </a:bodyPr>
          <a:lstStyle/>
          <a:p>
            <a:pPr algn="ctr"/>
            <a:r>
              <a:rPr lang="en-US" sz="1200">
                <a:solidFill>
                  <a:srgbClr val="0B1220"/>
                </a:solidFill>
                <a:latin typeface="Aptos" panose="020B0004020202020204" pitchFamily="34" charset="0"/>
              </a:rPr>
              <a:t>3</a:t>
            </a:r>
          </a:p>
        </p:txBody>
      </p:sp>
      <p:sp>
        <p:nvSpPr>
          <p:cNvPr id="96" name="Rectangle: Rounded Corners 95">
            <a:extLst>
              <a:ext uri="{FF2B5EF4-FFF2-40B4-BE49-F238E27FC236}">
                <a16:creationId xmlns:a16="http://schemas.microsoft.com/office/drawing/2014/main" id="{DBCE78B1-7A9B-80AD-873C-3465DC374F80}"/>
              </a:ext>
            </a:extLst>
          </p:cNvPr>
          <p:cNvSpPr/>
          <p:nvPr/>
        </p:nvSpPr>
        <p:spPr>
          <a:xfrm>
            <a:off x="9105900" y="3340100"/>
            <a:ext cx="406400" cy="406400"/>
          </a:xfrm>
          <a:prstGeom prst="roundRect">
            <a:avLst/>
          </a:prstGeom>
          <a:solidFill>
            <a:srgbClr val="FFC870"/>
          </a:solidFill>
          <a:ln>
            <a:solidFill>
              <a:srgbClr val="FFC8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TextBox 96">
            <a:extLst>
              <a:ext uri="{FF2B5EF4-FFF2-40B4-BE49-F238E27FC236}">
                <a16:creationId xmlns:a16="http://schemas.microsoft.com/office/drawing/2014/main" id="{45D75207-076A-8F53-7E11-2EAD739852FB}"/>
              </a:ext>
            </a:extLst>
          </p:cNvPr>
          <p:cNvSpPr txBox="1"/>
          <p:nvPr/>
        </p:nvSpPr>
        <p:spPr>
          <a:xfrm>
            <a:off x="9118600" y="3365500"/>
            <a:ext cx="381000" cy="184666"/>
          </a:xfrm>
          <a:prstGeom prst="rect">
            <a:avLst/>
          </a:prstGeom>
          <a:noFill/>
        </p:spPr>
        <p:txBody>
          <a:bodyPr vert="horz" lIns="0" tIns="0" rIns="0" bIns="0" rtlCol="0">
            <a:spAutoFit/>
          </a:bodyPr>
          <a:lstStyle/>
          <a:p>
            <a:pPr algn="ctr"/>
            <a:r>
              <a:rPr lang="en-US" sz="1200">
                <a:solidFill>
                  <a:srgbClr val="0B1220"/>
                </a:solidFill>
                <a:latin typeface="Aptos" panose="020B0004020202020204" pitchFamily="34" charset="0"/>
              </a:rPr>
              <a:t>3</a:t>
            </a:r>
          </a:p>
        </p:txBody>
      </p:sp>
      <p:sp>
        <p:nvSpPr>
          <p:cNvPr id="98" name="Rectangle: Rounded Corners 97">
            <a:extLst>
              <a:ext uri="{FF2B5EF4-FFF2-40B4-BE49-F238E27FC236}">
                <a16:creationId xmlns:a16="http://schemas.microsoft.com/office/drawing/2014/main" id="{DC4D52CA-F3AF-EA67-CEC1-C48EADA1B66A}"/>
              </a:ext>
            </a:extLst>
          </p:cNvPr>
          <p:cNvSpPr/>
          <p:nvPr/>
        </p:nvSpPr>
        <p:spPr>
          <a:xfrm>
            <a:off x="9550400" y="3340100"/>
            <a:ext cx="406400" cy="406400"/>
          </a:xfrm>
          <a:prstGeom prst="roundRect">
            <a:avLst/>
          </a:prstGeom>
          <a:solidFill>
            <a:srgbClr val="FF9C95"/>
          </a:solidFill>
          <a:ln>
            <a:solidFill>
              <a:srgbClr val="FF9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TextBox 98">
            <a:extLst>
              <a:ext uri="{FF2B5EF4-FFF2-40B4-BE49-F238E27FC236}">
                <a16:creationId xmlns:a16="http://schemas.microsoft.com/office/drawing/2014/main" id="{5824CCE0-0464-475B-FB84-5BD64E94105A}"/>
              </a:ext>
            </a:extLst>
          </p:cNvPr>
          <p:cNvSpPr txBox="1"/>
          <p:nvPr/>
        </p:nvSpPr>
        <p:spPr>
          <a:xfrm>
            <a:off x="9563100" y="3365500"/>
            <a:ext cx="381000" cy="184666"/>
          </a:xfrm>
          <a:prstGeom prst="rect">
            <a:avLst/>
          </a:prstGeom>
          <a:noFill/>
        </p:spPr>
        <p:txBody>
          <a:bodyPr vert="horz" lIns="0" tIns="0" rIns="0" bIns="0" rtlCol="0">
            <a:spAutoFit/>
          </a:bodyPr>
          <a:lstStyle/>
          <a:p>
            <a:pPr algn="ctr"/>
            <a:r>
              <a:rPr lang="en-US" sz="1200">
                <a:solidFill>
                  <a:srgbClr val="0B1220"/>
                </a:solidFill>
                <a:latin typeface="Aptos" panose="020B0004020202020204" pitchFamily="34" charset="0"/>
              </a:rPr>
              <a:t>4</a:t>
            </a:r>
          </a:p>
        </p:txBody>
      </p:sp>
      <p:sp>
        <p:nvSpPr>
          <p:cNvPr id="100" name="Rectangle: Rounded Corners 99">
            <a:extLst>
              <a:ext uri="{FF2B5EF4-FFF2-40B4-BE49-F238E27FC236}">
                <a16:creationId xmlns:a16="http://schemas.microsoft.com/office/drawing/2014/main" id="{218F2749-6C53-59EB-E89F-7C38916F881C}"/>
              </a:ext>
            </a:extLst>
          </p:cNvPr>
          <p:cNvSpPr/>
          <p:nvPr/>
        </p:nvSpPr>
        <p:spPr>
          <a:xfrm>
            <a:off x="9994900" y="33401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Rounded Corners 100">
            <a:extLst>
              <a:ext uri="{FF2B5EF4-FFF2-40B4-BE49-F238E27FC236}">
                <a16:creationId xmlns:a16="http://schemas.microsoft.com/office/drawing/2014/main" id="{88179949-4C8A-E558-8AAA-A6BED9FAFB1B}"/>
              </a:ext>
            </a:extLst>
          </p:cNvPr>
          <p:cNvSpPr/>
          <p:nvPr/>
        </p:nvSpPr>
        <p:spPr>
          <a:xfrm>
            <a:off x="8661400" y="3784600"/>
            <a:ext cx="406400" cy="406400"/>
          </a:xfrm>
          <a:prstGeom prst="roundRect">
            <a:avLst/>
          </a:prstGeom>
          <a:solidFill>
            <a:srgbClr val="FFC870"/>
          </a:solidFill>
          <a:ln>
            <a:solidFill>
              <a:srgbClr val="FFC8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TextBox 101">
            <a:extLst>
              <a:ext uri="{FF2B5EF4-FFF2-40B4-BE49-F238E27FC236}">
                <a16:creationId xmlns:a16="http://schemas.microsoft.com/office/drawing/2014/main" id="{4E6B2189-B649-4269-F550-152E264874BE}"/>
              </a:ext>
            </a:extLst>
          </p:cNvPr>
          <p:cNvSpPr txBox="1"/>
          <p:nvPr/>
        </p:nvSpPr>
        <p:spPr>
          <a:xfrm>
            <a:off x="8674100" y="3810000"/>
            <a:ext cx="381000" cy="184666"/>
          </a:xfrm>
          <a:prstGeom prst="rect">
            <a:avLst/>
          </a:prstGeom>
          <a:noFill/>
        </p:spPr>
        <p:txBody>
          <a:bodyPr vert="horz" lIns="0" tIns="0" rIns="0" bIns="0" rtlCol="0">
            <a:spAutoFit/>
          </a:bodyPr>
          <a:lstStyle/>
          <a:p>
            <a:pPr algn="ctr"/>
            <a:r>
              <a:rPr lang="en-US" sz="1200">
                <a:solidFill>
                  <a:srgbClr val="0B1220"/>
                </a:solidFill>
                <a:latin typeface="Aptos" panose="020B0004020202020204" pitchFamily="34" charset="0"/>
              </a:rPr>
              <a:t>3</a:t>
            </a:r>
          </a:p>
        </p:txBody>
      </p:sp>
      <p:sp>
        <p:nvSpPr>
          <p:cNvPr id="103" name="Rectangle: Rounded Corners 102">
            <a:extLst>
              <a:ext uri="{FF2B5EF4-FFF2-40B4-BE49-F238E27FC236}">
                <a16:creationId xmlns:a16="http://schemas.microsoft.com/office/drawing/2014/main" id="{0EBD5354-DB72-1CDE-DA97-4BF36F0B5694}"/>
              </a:ext>
            </a:extLst>
          </p:cNvPr>
          <p:cNvSpPr/>
          <p:nvPr/>
        </p:nvSpPr>
        <p:spPr>
          <a:xfrm>
            <a:off x="9105900" y="3784600"/>
            <a:ext cx="406400" cy="406400"/>
          </a:xfrm>
          <a:prstGeom prst="roundRect">
            <a:avLst/>
          </a:prstGeom>
          <a:solidFill>
            <a:srgbClr val="FF9C95"/>
          </a:solidFill>
          <a:ln>
            <a:solidFill>
              <a:srgbClr val="FF9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TextBox 103">
            <a:extLst>
              <a:ext uri="{FF2B5EF4-FFF2-40B4-BE49-F238E27FC236}">
                <a16:creationId xmlns:a16="http://schemas.microsoft.com/office/drawing/2014/main" id="{265A4D74-5FC2-4D91-0BAF-5AEF2BA9FBDD}"/>
              </a:ext>
            </a:extLst>
          </p:cNvPr>
          <p:cNvSpPr txBox="1"/>
          <p:nvPr/>
        </p:nvSpPr>
        <p:spPr>
          <a:xfrm>
            <a:off x="9118600" y="3810000"/>
            <a:ext cx="381000" cy="184666"/>
          </a:xfrm>
          <a:prstGeom prst="rect">
            <a:avLst/>
          </a:prstGeom>
          <a:noFill/>
        </p:spPr>
        <p:txBody>
          <a:bodyPr vert="horz" lIns="0" tIns="0" rIns="0" bIns="0" rtlCol="0">
            <a:spAutoFit/>
          </a:bodyPr>
          <a:lstStyle/>
          <a:p>
            <a:pPr algn="ctr"/>
            <a:r>
              <a:rPr lang="en-US" sz="1200">
                <a:solidFill>
                  <a:srgbClr val="0B1220"/>
                </a:solidFill>
                <a:latin typeface="Aptos" panose="020B0004020202020204" pitchFamily="34" charset="0"/>
              </a:rPr>
              <a:t>4</a:t>
            </a:r>
          </a:p>
        </p:txBody>
      </p:sp>
      <p:sp>
        <p:nvSpPr>
          <p:cNvPr id="105" name="Rectangle: Rounded Corners 104">
            <a:extLst>
              <a:ext uri="{FF2B5EF4-FFF2-40B4-BE49-F238E27FC236}">
                <a16:creationId xmlns:a16="http://schemas.microsoft.com/office/drawing/2014/main" id="{68F72C40-7F96-E207-6435-1E35171E7611}"/>
              </a:ext>
            </a:extLst>
          </p:cNvPr>
          <p:cNvSpPr/>
          <p:nvPr/>
        </p:nvSpPr>
        <p:spPr>
          <a:xfrm>
            <a:off x="9550400" y="3784600"/>
            <a:ext cx="406400" cy="406400"/>
          </a:xfrm>
          <a:prstGeom prst="roundRect">
            <a:avLst/>
          </a:prstGeom>
          <a:solidFill>
            <a:srgbClr val="FF9C95"/>
          </a:solidFill>
          <a:ln>
            <a:solidFill>
              <a:srgbClr val="FF9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TextBox 105">
            <a:extLst>
              <a:ext uri="{FF2B5EF4-FFF2-40B4-BE49-F238E27FC236}">
                <a16:creationId xmlns:a16="http://schemas.microsoft.com/office/drawing/2014/main" id="{3877D063-6AD5-F5D2-07ED-89741956B132}"/>
              </a:ext>
            </a:extLst>
          </p:cNvPr>
          <p:cNvSpPr txBox="1"/>
          <p:nvPr/>
        </p:nvSpPr>
        <p:spPr>
          <a:xfrm>
            <a:off x="9563100" y="3810000"/>
            <a:ext cx="381000" cy="184666"/>
          </a:xfrm>
          <a:prstGeom prst="rect">
            <a:avLst/>
          </a:prstGeom>
          <a:noFill/>
        </p:spPr>
        <p:txBody>
          <a:bodyPr vert="horz" lIns="0" tIns="0" rIns="0" bIns="0" rtlCol="0">
            <a:spAutoFit/>
          </a:bodyPr>
          <a:lstStyle/>
          <a:p>
            <a:pPr algn="ctr"/>
            <a:r>
              <a:rPr lang="en-US" sz="1200">
                <a:solidFill>
                  <a:srgbClr val="0B1220"/>
                </a:solidFill>
                <a:latin typeface="Aptos" panose="020B0004020202020204" pitchFamily="34" charset="0"/>
              </a:rPr>
              <a:t>4</a:t>
            </a:r>
          </a:p>
        </p:txBody>
      </p:sp>
      <p:sp>
        <p:nvSpPr>
          <p:cNvPr id="107" name="Rectangle: Rounded Corners 106">
            <a:extLst>
              <a:ext uri="{FF2B5EF4-FFF2-40B4-BE49-F238E27FC236}">
                <a16:creationId xmlns:a16="http://schemas.microsoft.com/office/drawing/2014/main" id="{8B99C73A-1EF0-9CB1-AFE0-FB85ADC67A34}"/>
              </a:ext>
            </a:extLst>
          </p:cNvPr>
          <p:cNvSpPr/>
          <p:nvPr/>
        </p:nvSpPr>
        <p:spPr>
          <a:xfrm>
            <a:off x="9994900" y="3784600"/>
            <a:ext cx="406400" cy="406400"/>
          </a:xfrm>
          <a:prstGeom prst="roundRect">
            <a:avLst/>
          </a:prstGeom>
          <a:solidFill>
            <a:srgbClr val="FF9C95"/>
          </a:solidFill>
          <a:ln>
            <a:solidFill>
              <a:srgbClr val="FF9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TextBox 107">
            <a:extLst>
              <a:ext uri="{FF2B5EF4-FFF2-40B4-BE49-F238E27FC236}">
                <a16:creationId xmlns:a16="http://schemas.microsoft.com/office/drawing/2014/main" id="{4DE239C7-D010-3307-AD70-E0A2BC91399F}"/>
              </a:ext>
            </a:extLst>
          </p:cNvPr>
          <p:cNvSpPr txBox="1"/>
          <p:nvPr/>
        </p:nvSpPr>
        <p:spPr>
          <a:xfrm>
            <a:off x="10007600" y="3810000"/>
            <a:ext cx="381000" cy="184666"/>
          </a:xfrm>
          <a:prstGeom prst="rect">
            <a:avLst/>
          </a:prstGeom>
          <a:noFill/>
        </p:spPr>
        <p:txBody>
          <a:bodyPr vert="horz" lIns="0" tIns="0" rIns="0" bIns="0" rtlCol="0">
            <a:spAutoFit/>
          </a:bodyPr>
          <a:lstStyle/>
          <a:p>
            <a:pPr algn="ctr"/>
            <a:r>
              <a:rPr lang="en-US" sz="1200">
                <a:solidFill>
                  <a:srgbClr val="0B1220"/>
                </a:solidFill>
                <a:latin typeface="Aptos" panose="020B0004020202020204" pitchFamily="34" charset="0"/>
              </a:rPr>
              <a:t>4</a:t>
            </a:r>
          </a:p>
        </p:txBody>
      </p:sp>
      <p:sp>
        <p:nvSpPr>
          <p:cNvPr id="109" name="TextBox 108">
            <a:extLst>
              <a:ext uri="{FF2B5EF4-FFF2-40B4-BE49-F238E27FC236}">
                <a16:creationId xmlns:a16="http://schemas.microsoft.com/office/drawing/2014/main" id="{09B0840B-B006-18C3-CF16-9C4FEB824570}"/>
              </a:ext>
            </a:extLst>
          </p:cNvPr>
          <p:cNvSpPr txBox="1"/>
          <p:nvPr/>
        </p:nvSpPr>
        <p:spPr>
          <a:xfrm>
            <a:off x="8026400" y="4406900"/>
            <a:ext cx="3238500" cy="184666"/>
          </a:xfrm>
          <a:prstGeom prst="rect">
            <a:avLst/>
          </a:prstGeom>
          <a:noFill/>
        </p:spPr>
        <p:txBody>
          <a:bodyPr vert="horz" lIns="0" tIns="0" rIns="0" bIns="0" rtlCol="0">
            <a:spAutoFit/>
          </a:bodyPr>
          <a:lstStyle/>
          <a:p>
            <a:pPr algn="ctr"/>
            <a:r>
              <a:rPr lang="en-US" sz="1200">
                <a:solidFill>
                  <a:srgbClr val="B9C9DB"/>
                </a:solidFill>
                <a:latin typeface="Aptos" panose="020B0004020202020204" pitchFamily="34" charset="0"/>
              </a:rPr>
              <a:t>Alți 8 pixeli, fără suprapunere</a:t>
            </a:r>
          </a:p>
        </p:txBody>
      </p:sp>
    </p:spTree>
    <p:extLst>
      <p:ext uri="{BB962C8B-B14F-4D97-AF65-F5344CB8AC3E}">
        <p14:creationId xmlns:p14="http://schemas.microsoft.com/office/powerpoint/2010/main" val="2627688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Reconstrucția video</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Se reutilizează rețele VSR; nu e nevoie de un solutor CS clasic.</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11</a:t>
            </a:r>
            <a:endParaRPr lang="en-US" sz="1000" dirty="0"/>
          </a:p>
        </p:txBody>
      </p:sp>
      <p:sp>
        <p:nvSpPr>
          <p:cNvPr id="7" name="Shape 5"/>
          <p:cNvSpPr/>
          <p:nvPr/>
        </p:nvSpPr>
        <p:spPr>
          <a:xfrm>
            <a:off x="768096" y="1691640"/>
            <a:ext cx="5029200" cy="3282696"/>
          </a:xfrm>
          <a:prstGeom prst="roundRect">
            <a:avLst>
              <a:gd name="adj" fmla="val 4457"/>
            </a:avLst>
          </a:prstGeom>
          <a:solidFill>
            <a:srgbClr val="17253B"/>
          </a:solidFill>
          <a:ln w="10160">
            <a:solidFill>
              <a:srgbClr val="17253B"/>
            </a:solidFill>
            <a:prstDash val="solid"/>
          </a:ln>
        </p:spPr>
        <p:txBody>
          <a:bodyPr/>
          <a:lstStyle/>
          <a:p>
            <a:endParaRPr lang="en-US"/>
          </a:p>
        </p:txBody>
      </p:sp>
      <p:sp>
        <p:nvSpPr>
          <p:cNvPr id="8" name="Shape 6"/>
          <p:cNvSpPr/>
          <p:nvPr/>
        </p:nvSpPr>
        <p:spPr>
          <a:xfrm>
            <a:off x="768096" y="1691640"/>
            <a:ext cx="50292" cy="3282696"/>
          </a:xfrm>
          <a:prstGeom prst="roundRect">
            <a:avLst>
              <a:gd name="adj" fmla="val 290909"/>
            </a:avLst>
          </a:prstGeom>
          <a:solidFill>
            <a:srgbClr val="52D6D3"/>
          </a:solidFill>
          <a:ln w="10160">
            <a:solidFill>
              <a:srgbClr val="52D6D3"/>
            </a:solidFill>
            <a:prstDash val="solid"/>
          </a:ln>
        </p:spPr>
        <p:txBody>
          <a:bodyPr/>
          <a:lstStyle/>
          <a:p>
            <a:endParaRPr lang="en-US"/>
          </a:p>
        </p:txBody>
      </p:sp>
      <p:sp>
        <p:nvSpPr>
          <p:cNvPr id="9" name="Text 7"/>
          <p:cNvSpPr/>
          <p:nvPr/>
        </p:nvSpPr>
        <p:spPr>
          <a:xfrm>
            <a:off x="969264" y="1847088"/>
            <a:ext cx="4645152" cy="402336"/>
          </a:xfrm>
          <a:prstGeom prst="rect">
            <a:avLst/>
          </a:prstGeom>
          <a:noFill/>
          <a:ln/>
        </p:spPr>
        <p:txBody>
          <a:bodyPr wrap="square" lIns="0" tIns="0" rIns="0" bIns="0" rtlCol="0" anchor="ctr"/>
          <a:lstStyle/>
          <a:p>
            <a:pPr marL="0" indent="0">
              <a:buNone/>
            </a:pPr>
            <a:r>
              <a:rPr lang="en-US" sz="2000" b="1" dirty="0">
                <a:solidFill>
                  <a:srgbClr val="52D6D3"/>
                </a:solidFill>
                <a:latin typeface="Aptos" pitchFamily="34" charset="0"/>
                <a:ea typeface="Aptos" pitchFamily="34" charset="-122"/>
                <a:cs typeface="Aptos" pitchFamily="34" charset="-120"/>
              </a:rPr>
              <a:t>1 măsurare / cadru</a:t>
            </a:r>
            <a:endParaRPr lang="en-US" sz="2000" dirty="0"/>
          </a:p>
        </p:txBody>
      </p:sp>
      <p:sp>
        <p:nvSpPr>
          <p:cNvPr id="10" name="Text 8"/>
          <p:cNvSpPr/>
          <p:nvPr/>
        </p:nvSpPr>
        <p:spPr>
          <a:xfrm>
            <a:off x="969264" y="2368296"/>
            <a:ext cx="4626864" cy="2505456"/>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Imaginea LR intră în BasicVSR, RVRT sau IART. Modelele sunt antrenate pentru fiecare tip de eșantionare.</a:t>
            </a:r>
            <a:endParaRPr lang="en-US" sz="1600" dirty="0"/>
          </a:p>
        </p:txBody>
      </p:sp>
      <p:sp>
        <p:nvSpPr>
          <p:cNvPr id="11" name="Shape 9"/>
          <p:cNvSpPr/>
          <p:nvPr/>
        </p:nvSpPr>
        <p:spPr>
          <a:xfrm>
            <a:off x="6035040" y="1691640"/>
            <a:ext cx="5349240" cy="3282696"/>
          </a:xfrm>
          <a:prstGeom prst="roundRect">
            <a:avLst>
              <a:gd name="adj" fmla="val 4457"/>
            </a:avLst>
          </a:prstGeom>
          <a:solidFill>
            <a:srgbClr val="17253B"/>
          </a:solidFill>
          <a:ln w="10160">
            <a:solidFill>
              <a:srgbClr val="17253B"/>
            </a:solidFill>
            <a:prstDash val="solid"/>
          </a:ln>
        </p:spPr>
        <p:txBody>
          <a:bodyPr/>
          <a:lstStyle/>
          <a:p>
            <a:endParaRPr lang="en-US"/>
          </a:p>
        </p:txBody>
      </p:sp>
      <p:sp>
        <p:nvSpPr>
          <p:cNvPr id="12" name="Shape 10"/>
          <p:cNvSpPr/>
          <p:nvPr/>
        </p:nvSpPr>
        <p:spPr>
          <a:xfrm>
            <a:off x="6035040" y="1691640"/>
            <a:ext cx="50292" cy="3282696"/>
          </a:xfrm>
          <a:prstGeom prst="roundRect">
            <a:avLst>
              <a:gd name="adj" fmla="val 290909"/>
            </a:avLst>
          </a:prstGeom>
          <a:solidFill>
            <a:srgbClr val="80E2B0"/>
          </a:solidFill>
          <a:ln w="10160">
            <a:solidFill>
              <a:srgbClr val="80E2B0"/>
            </a:solidFill>
            <a:prstDash val="solid"/>
          </a:ln>
        </p:spPr>
        <p:txBody>
          <a:bodyPr/>
          <a:lstStyle/>
          <a:p>
            <a:endParaRPr lang="en-US"/>
          </a:p>
        </p:txBody>
      </p:sp>
      <p:sp>
        <p:nvSpPr>
          <p:cNvPr id="13" name="Text 11"/>
          <p:cNvSpPr/>
          <p:nvPr/>
        </p:nvSpPr>
        <p:spPr>
          <a:xfrm>
            <a:off x="6236208" y="1847088"/>
            <a:ext cx="4965192" cy="402336"/>
          </a:xfrm>
          <a:prstGeom prst="rect">
            <a:avLst/>
          </a:prstGeom>
          <a:noFill/>
          <a:ln/>
        </p:spPr>
        <p:txBody>
          <a:bodyPr wrap="square" lIns="0" tIns="0" rIns="0" bIns="0" rtlCol="0" anchor="ctr"/>
          <a:lstStyle/>
          <a:p>
            <a:pPr marL="0" indent="0">
              <a:buNone/>
            </a:pPr>
            <a:r>
              <a:rPr lang="en-US" sz="2000" b="1" dirty="0">
                <a:solidFill>
                  <a:srgbClr val="80E2B0"/>
                </a:solidFill>
                <a:latin typeface="Aptos" pitchFamily="34" charset="0"/>
                <a:ea typeface="Aptos" pitchFamily="34" charset="-122"/>
                <a:cs typeface="Aptos" pitchFamily="34" charset="-120"/>
              </a:rPr>
              <a:t>2 măsurări / cadru</a:t>
            </a:r>
            <a:endParaRPr lang="en-US" sz="2000" dirty="0"/>
          </a:p>
        </p:txBody>
      </p:sp>
      <p:sp>
        <p:nvSpPr>
          <p:cNvPr id="14" name="Text 12"/>
          <p:cNvSpPr/>
          <p:nvPr/>
        </p:nvSpPr>
        <p:spPr>
          <a:xfrm>
            <a:off x="6236208" y="2368296"/>
            <a:ext cx="4946904" cy="2505456"/>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Cele două imagini RGB se concatenează: intrare cu 6 canale. Se adaptează prima/ultima parte a BasicVSR; convoluția 1×1 produce RGB.</a:t>
            </a:r>
            <a:endParaRPr lang="en-US" sz="1600" dirty="0"/>
          </a:p>
        </p:txBody>
      </p:sp>
      <p:sp>
        <p:nvSpPr>
          <p:cNvPr id="15" name="Shape 13"/>
          <p:cNvSpPr/>
          <p:nvPr/>
        </p:nvSpPr>
        <p:spPr>
          <a:xfrm>
            <a:off x="1115568" y="5239512"/>
            <a:ext cx="9948672" cy="685800"/>
          </a:xfrm>
          <a:prstGeom prst="roundRect">
            <a:avLst>
              <a:gd name="adj" fmla="val 21333"/>
            </a:avLst>
          </a:prstGeom>
          <a:solidFill>
            <a:srgbClr val="1C304A"/>
          </a:solidFill>
          <a:ln w="10160">
            <a:solidFill>
              <a:srgbClr val="1C304A"/>
            </a:solidFill>
            <a:prstDash val="solid"/>
          </a:ln>
        </p:spPr>
        <p:txBody>
          <a:bodyPr/>
          <a:lstStyle/>
          <a:p>
            <a:endParaRPr lang="en-US"/>
          </a:p>
        </p:txBody>
      </p:sp>
      <p:sp>
        <p:nvSpPr>
          <p:cNvPr id="16" name="Text 14"/>
          <p:cNvSpPr/>
          <p:nvPr/>
        </p:nvSpPr>
        <p:spPr>
          <a:xfrm>
            <a:off x="1325880" y="5404104"/>
            <a:ext cx="9509760" cy="356616"/>
          </a:xfrm>
          <a:prstGeom prst="rect">
            <a:avLst/>
          </a:prstGeom>
          <a:noFill/>
          <a:ln/>
        </p:spPr>
        <p:txBody>
          <a:bodyPr wrap="square" lIns="0" tIns="0" rIns="0" bIns="0" rtlCol="0" anchor="ctr"/>
          <a:lstStyle/>
          <a:p>
            <a:pPr marL="0" indent="0" algn="ctr">
              <a:buNone/>
            </a:pPr>
            <a:r>
              <a:rPr lang="en-US" sz="1800" dirty="0">
                <a:solidFill>
                  <a:srgbClr val="FFC870"/>
                </a:solidFill>
                <a:latin typeface="Aptos" pitchFamily="34" charset="0"/>
                <a:ea typeface="Aptos" pitchFamily="34" charset="-122"/>
                <a:cs typeface="Aptos" pitchFamily="34" charset="-120"/>
              </a:rPr>
              <a:t>Interpolarea biliniară inițială este suficientă conform ablațiilor raportate.</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0244B1-CFB7-8061-615A-2583AB6EBF97}"/>
              </a:ext>
            </a:extLst>
          </p:cNvPr>
          <p:cNvSpPr txBox="1"/>
          <p:nvPr/>
        </p:nvSpPr>
        <p:spPr>
          <a:xfrm>
            <a:off x="660400" y="381000"/>
            <a:ext cx="10871200" cy="553998"/>
          </a:xfrm>
          <a:prstGeom prst="rect">
            <a:avLst/>
          </a:prstGeom>
          <a:noFill/>
        </p:spPr>
        <p:txBody>
          <a:bodyPr vert="horz" wrap="square" rtlCol="0">
            <a:spAutoFit/>
          </a:bodyPr>
          <a:lstStyle/>
          <a:p>
            <a:r>
              <a:rPr lang="en-US" sz="3000" b="1">
                <a:solidFill>
                  <a:srgbClr val="F4F7FB"/>
                </a:solidFill>
                <a:latin typeface="Aptos" panose="020B0004020202020204" pitchFamily="34" charset="0"/>
              </a:rPr>
              <a:t>Reconstrucția video — mai în detaliu</a:t>
            </a:r>
          </a:p>
        </p:txBody>
      </p:sp>
      <p:sp>
        <p:nvSpPr>
          <p:cNvPr id="3" name="TextBox 2">
            <a:extLst>
              <a:ext uri="{FF2B5EF4-FFF2-40B4-BE49-F238E27FC236}">
                <a16:creationId xmlns:a16="http://schemas.microsoft.com/office/drawing/2014/main" id="{DC111CAE-791A-8CF6-1056-1369F76933BD}"/>
              </a:ext>
            </a:extLst>
          </p:cNvPr>
          <p:cNvSpPr txBox="1"/>
          <p:nvPr/>
        </p:nvSpPr>
        <p:spPr>
          <a:xfrm>
            <a:off x="685800" y="939800"/>
            <a:ext cx="10795000" cy="292388"/>
          </a:xfrm>
          <a:prstGeom prst="rect">
            <a:avLst/>
          </a:prstGeom>
          <a:noFill/>
        </p:spPr>
        <p:txBody>
          <a:bodyPr vert="horz" wrap="square" rtlCol="0">
            <a:spAutoFit/>
          </a:bodyPr>
          <a:lstStyle/>
          <a:p>
            <a:r>
              <a:rPr lang="en-US" sz="1300">
                <a:solidFill>
                  <a:srgbClr val="B9C9DB"/>
                </a:solidFill>
                <a:latin typeface="Aptos" panose="020B0004020202020204" pitchFamily="34" charset="0"/>
              </a:rPr>
              <a:t>BasicVSR cu propagare bidirecțională, adaptat pentru două măsurări.</a:t>
            </a:r>
          </a:p>
        </p:txBody>
      </p:sp>
      <p:sp>
        <p:nvSpPr>
          <p:cNvPr id="4" name="Rectangle 3">
            <a:extLst>
              <a:ext uri="{FF2B5EF4-FFF2-40B4-BE49-F238E27FC236}">
                <a16:creationId xmlns:a16="http://schemas.microsoft.com/office/drawing/2014/main" id="{40F870DB-B9A9-BEF3-E018-7403642C9980}"/>
              </a:ext>
            </a:extLst>
          </p:cNvPr>
          <p:cNvSpPr/>
          <p:nvPr/>
        </p:nvSpPr>
        <p:spPr>
          <a:xfrm>
            <a:off x="660400" y="1371600"/>
            <a:ext cx="10871200" cy="12700"/>
          </a:xfrm>
          <a:prstGeom prst="rect">
            <a:avLst/>
          </a:prstGeom>
          <a:solidFill>
            <a:srgbClr val="34475D"/>
          </a:solidFill>
          <a:ln>
            <a:solidFill>
              <a:srgbClr val="3447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2EBE678D-AC70-AB3B-3682-ADC2C1E7CD80}"/>
              </a:ext>
            </a:extLst>
          </p:cNvPr>
          <p:cNvSpPr/>
          <p:nvPr/>
        </p:nvSpPr>
        <p:spPr>
          <a:xfrm>
            <a:off x="660400" y="1651000"/>
            <a:ext cx="3505200" cy="3175000"/>
          </a:xfrm>
          <a:prstGeom prst="roundRect">
            <a:avLst/>
          </a:prstGeom>
          <a:solidFill>
            <a:srgbClr val="17253B"/>
          </a:solidFill>
          <a:ln w="9525">
            <a:solidFill>
              <a:srgbClr val="172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71BFCA2-CDEE-8608-50C1-32C4B1B87151}"/>
              </a:ext>
            </a:extLst>
          </p:cNvPr>
          <p:cNvSpPr/>
          <p:nvPr/>
        </p:nvSpPr>
        <p:spPr>
          <a:xfrm>
            <a:off x="660400" y="1651000"/>
            <a:ext cx="50800" cy="3175000"/>
          </a:xfrm>
          <a:prstGeom prst="rect">
            <a:avLst/>
          </a:prstGeom>
          <a:solidFill>
            <a:srgbClr val="52D6D3"/>
          </a:solidFill>
          <a:ln>
            <a:solidFill>
              <a:srgbClr val="52D6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C079EC3-156D-F8FB-5E00-06D6F8106351}"/>
              </a:ext>
            </a:extLst>
          </p:cNvPr>
          <p:cNvSpPr txBox="1"/>
          <p:nvPr/>
        </p:nvSpPr>
        <p:spPr>
          <a:xfrm>
            <a:off x="863600" y="1803400"/>
            <a:ext cx="3098800" cy="400110"/>
          </a:xfrm>
          <a:prstGeom prst="rect">
            <a:avLst/>
          </a:prstGeom>
          <a:noFill/>
        </p:spPr>
        <p:txBody>
          <a:bodyPr vert="horz" wrap="square" rtlCol="0">
            <a:spAutoFit/>
          </a:bodyPr>
          <a:lstStyle/>
          <a:p>
            <a:r>
              <a:rPr lang="en-US" sz="2000" b="1">
                <a:solidFill>
                  <a:srgbClr val="52D6D3"/>
                </a:solidFill>
                <a:latin typeface="Aptos" panose="020B0004020202020204" pitchFamily="34" charset="0"/>
              </a:rPr>
              <a:t>Propagarea temporală</a:t>
            </a:r>
          </a:p>
        </p:txBody>
      </p:sp>
      <p:sp>
        <p:nvSpPr>
          <p:cNvPr id="8" name="TextBox 7">
            <a:extLst>
              <a:ext uri="{FF2B5EF4-FFF2-40B4-BE49-F238E27FC236}">
                <a16:creationId xmlns:a16="http://schemas.microsoft.com/office/drawing/2014/main" id="{7D3033FE-7ECF-BEA7-C24B-87B793C33A5A}"/>
              </a:ext>
            </a:extLst>
          </p:cNvPr>
          <p:cNvSpPr txBox="1"/>
          <p:nvPr/>
        </p:nvSpPr>
        <p:spPr>
          <a:xfrm>
            <a:off x="863600" y="2311400"/>
            <a:ext cx="3098800" cy="1815882"/>
          </a:xfrm>
          <a:prstGeom prst="rect">
            <a:avLst/>
          </a:prstGeom>
          <a:noFill/>
        </p:spPr>
        <p:txBody>
          <a:bodyPr vert="horz" wrap="square" rtlCol="0">
            <a:spAutoFit/>
          </a:bodyPr>
          <a:lstStyle/>
          <a:p>
            <a:r>
              <a:rPr lang="en-US" sz="1600">
                <a:solidFill>
                  <a:srgbClr val="F4F7FB"/>
                </a:solidFill>
                <a:latin typeface="Aptos" panose="020B0004020202020204" pitchFamily="34" charset="0"/>
              </a:rPr>
              <a:t>Rețeaua propagă trăsături înainte și înapoi între cadre (ramuri forward/backward), combină informația din cadrele vecine, apoi modulele de upsampling reconstruiesc cadrul HR.</a:t>
            </a:r>
          </a:p>
        </p:txBody>
      </p:sp>
      <p:sp>
        <p:nvSpPr>
          <p:cNvPr id="9" name="Rectangle: Rounded Corners 8">
            <a:extLst>
              <a:ext uri="{FF2B5EF4-FFF2-40B4-BE49-F238E27FC236}">
                <a16:creationId xmlns:a16="http://schemas.microsoft.com/office/drawing/2014/main" id="{663D6D24-150E-A99A-DA35-B6777EC97B61}"/>
              </a:ext>
            </a:extLst>
          </p:cNvPr>
          <p:cNvSpPr/>
          <p:nvPr/>
        </p:nvSpPr>
        <p:spPr>
          <a:xfrm>
            <a:off x="4343400" y="1651000"/>
            <a:ext cx="3505200" cy="3175000"/>
          </a:xfrm>
          <a:prstGeom prst="roundRect">
            <a:avLst/>
          </a:prstGeom>
          <a:solidFill>
            <a:srgbClr val="17253B"/>
          </a:solidFill>
          <a:ln w="9525">
            <a:solidFill>
              <a:srgbClr val="172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EC75CC6-84E0-7557-376A-CD014B8A6C63}"/>
              </a:ext>
            </a:extLst>
          </p:cNvPr>
          <p:cNvSpPr/>
          <p:nvPr/>
        </p:nvSpPr>
        <p:spPr>
          <a:xfrm>
            <a:off x="4343400" y="1651000"/>
            <a:ext cx="50800" cy="3175000"/>
          </a:xfrm>
          <a:prstGeom prst="rect">
            <a:avLst/>
          </a:prstGeom>
          <a:solidFill>
            <a:srgbClr val="80E2B0"/>
          </a:solidFill>
          <a:ln>
            <a:solidFill>
              <a:srgbClr val="80E2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CC512DE-2CD6-855E-3078-E6011651CA38}"/>
              </a:ext>
            </a:extLst>
          </p:cNvPr>
          <p:cNvSpPr txBox="1"/>
          <p:nvPr/>
        </p:nvSpPr>
        <p:spPr>
          <a:xfrm>
            <a:off x="4546600" y="1803400"/>
            <a:ext cx="3098800" cy="400110"/>
          </a:xfrm>
          <a:prstGeom prst="rect">
            <a:avLst/>
          </a:prstGeom>
          <a:noFill/>
        </p:spPr>
        <p:txBody>
          <a:bodyPr vert="horz" wrap="square" rtlCol="0">
            <a:spAutoFit/>
          </a:bodyPr>
          <a:lstStyle/>
          <a:p>
            <a:r>
              <a:rPr lang="en-US" sz="2000" b="1">
                <a:solidFill>
                  <a:srgbClr val="80E2B0"/>
                </a:solidFill>
                <a:latin typeface="Aptos" panose="020B0004020202020204" pitchFamily="34" charset="0"/>
              </a:rPr>
              <a:t>Adaptarea la 2 măsurări</a:t>
            </a:r>
          </a:p>
        </p:txBody>
      </p:sp>
      <p:sp>
        <p:nvSpPr>
          <p:cNvPr id="12" name="TextBox 11">
            <a:extLst>
              <a:ext uri="{FF2B5EF4-FFF2-40B4-BE49-F238E27FC236}">
                <a16:creationId xmlns:a16="http://schemas.microsoft.com/office/drawing/2014/main" id="{5DB7EF2C-D011-22B2-B1FF-4A2678EF43FB}"/>
              </a:ext>
            </a:extLst>
          </p:cNvPr>
          <p:cNvSpPr txBox="1"/>
          <p:nvPr/>
        </p:nvSpPr>
        <p:spPr>
          <a:xfrm>
            <a:off x="4546600" y="2311400"/>
            <a:ext cx="3098800" cy="1569660"/>
          </a:xfrm>
          <a:prstGeom prst="rect">
            <a:avLst/>
          </a:prstGeom>
          <a:noFill/>
        </p:spPr>
        <p:txBody>
          <a:bodyPr vert="horz" wrap="square" rtlCol="0">
            <a:spAutoFit/>
          </a:bodyPr>
          <a:lstStyle/>
          <a:p>
            <a:r>
              <a:rPr lang="en-US" sz="1600">
                <a:solidFill>
                  <a:srgbClr val="F4F7FB"/>
                </a:solidFill>
                <a:latin typeface="Aptos" panose="020B0004020202020204" pitchFamily="34" charset="0"/>
              </a:rPr>
              <a:t>Cele două imagini (Yo și Ye) se concatenează pe canale: intrarea are 6 canale în loc de 3. Se adaptează primul și ultimul strat al BasicVSR, iar o convoluție 1×1 reduce ieșirea la RGB.</a:t>
            </a:r>
          </a:p>
        </p:txBody>
      </p:sp>
      <p:sp>
        <p:nvSpPr>
          <p:cNvPr id="13" name="Rectangle: Rounded Corners 12">
            <a:extLst>
              <a:ext uri="{FF2B5EF4-FFF2-40B4-BE49-F238E27FC236}">
                <a16:creationId xmlns:a16="http://schemas.microsoft.com/office/drawing/2014/main" id="{7148CFFA-9A70-8517-EFD4-34B080DF360E}"/>
              </a:ext>
            </a:extLst>
          </p:cNvPr>
          <p:cNvSpPr/>
          <p:nvPr/>
        </p:nvSpPr>
        <p:spPr>
          <a:xfrm>
            <a:off x="8026400" y="1651000"/>
            <a:ext cx="3505200" cy="3175000"/>
          </a:xfrm>
          <a:prstGeom prst="roundRect">
            <a:avLst/>
          </a:prstGeom>
          <a:solidFill>
            <a:srgbClr val="17253B"/>
          </a:solidFill>
          <a:ln w="9525">
            <a:solidFill>
              <a:srgbClr val="172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38EA190-2CB4-CDFF-2EC8-E4AC983C301C}"/>
              </a:ext>
            </a:extLst>
          </p:cNvPr>
          <p:cNvSpPr/>
          <p:nvPr/>
        </p:nvSpPr>
        <p:spPr>
          <a:xfrm>
            <a:off x="8026400" y="1651000"/>
            <a:ext cx="50800" cy="3175000"/>
          </a:xfrm>
          <a:prstGeom prst="rect">
            <a:avLst/>
          </a:prstGeom>
          <a:solidFill>
            <a:srgbClr val="FFC870"/>
          </a:solidFill>
          <a:ln>
            <a:solidFill>
              <a:srgbClr val="FFC8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5531117-811F-8186-D22D-DFAB633CDDCE}"/>
              </a:ext>
            </a:extLst>
          </p:cNvPr>
          <p:cNvSpPr txBox="1"/>
          <p:nvPr/>
        </p:nvSpPr>
        <p:spPr>
          <a:xfrm>
            <a:off x="8229600" y="1803400"/>
            <a:ext cx="3098800" cy="400110"/>
          </a:xfrm>
          <a:prstGeom prst="rect">
            <a:avLst/>
          </a:prstGeom>
          <a:noFill/>
        </p:spPr>
        <p:txBody>
          <a:bodyPr vert="horz" wrap="square" rtlCol="0">
            <a:spAutoFit/>
          </a:bodyPr>
          <a:lstStyle/>
          <a:p>
            <a:r>
              <a:rPr lang="en-US" sz="2000" b="1">
                <a:solidFill>
                  <a:srgbClr val="FFC870"/>
                </a:solidFill>
                <a:latin typeface="Aptos" panose="020B0004020202020204" pitchFamily="34" charset="0"/>
              </a:rPr>
              <a:t>Cost și ablații</a:t>
            </a:r>
          </a:p>
        </p:txBody>
      </p:sp>
      <p:sp>
        <p:nvSpPr>
          <p:cNvPr id="16" name="TextBox 15">
            <a:extLst>
              <a:ext uri="{FF2B5EF4-FFF2-40B4-BE49-F238E27FC236}">
                <a16:creationId xmlns:a16="http://schemas.microsoft.com/office/drawing/2014/main" id="{9ACDE173-8EF0-30E1-F1F8-9550E514C44D}"/>
              </a:ext>
            </a:extLst>
          </p:cNvPr>
          <p:cNvSpPr txBox="1"/>
          <p:nvPr/>
        </p:nvSpPr>
        <p:spPr>
          <a:xfrm>
            <a:off x="8229600" y="2311400"/>
            <a:ext cx="3098800" cy="1569660"/>
          </a:xfrm>
          <a:prstGeom prst="rect">
            <a:avLst/>
          </a:prstGeom>
          <a:noFill/>
        </p:spPr>
        <p:txBody>
          <a:bodyPr vert="horz" wrap="square" rtlCol="0">
            <a:spAutoFit/>
          </a:bodyPr>
          <a:lstStyle/>
          <a:p>
            <a:r>
              <a:rPr lang="en-US" sz="1600">
                <a:solidFill>
                  <a:srgbClr val="F4F7FB"/>
                </a:solidFill>
                <a:latin typeface="Aptos" panose="020B0004020202020204" pitchFamily="34" charset="0"/>
              </a:rPr>
              <a:t>Durata secvenței nu se dublează, iar inferența crește doar puțin. Interpolarea biliniară inițială este suficientă; modulul LFCR nu aduce un câștig care să-i justifice costul.</a:t>
            </a:r>
          </a:p>
        </p:txBody>
      </p:sp>
      <p:sp>
        <p:nvSpPr>
          <p:cNvPr id="17" name="Rectangle: Rounded Corners 16">
            <a:extLst>
              <a:ext uri="{FF2B5EF4-FFF2-40B4-BE49-F238E27FC236}">
                <a16:creationId xmlns:a16="http://schemas.microsoft.com/office/drawing/2014/main" id="{72559959-4D71-50B4-2556-5A886F7FE279}"/>
              </a:ext>
            </a:extLst>
          </p:cNvPr>
          <p:cNvSpPr/>
          <p:nvPr/>
        </p:nvSpPr>
        <p:spPr>
          <a:xfrm>
            <a:off x="660400" y="5016500"/>
            <a:ext cx="10871200" cy="812800"/>
          </a:xfrm>
          <a:prstGeom prst="roundRect">
            <a:avLst/>
          </a:prstGeom>
          <a:solidFill>
            <a:srgbClr val="1C304A"/>
          </a:solidFill>
          <a:ln>
            <a:solidFill>
              <a:srgbClr val="1C30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04DC4E3-EB5C-850E-E17E-ABDF3D1CCAAC}"/>
              </a:ext>
            </a:extLst>
          </p:cNvPr>
          <p:cNvSpPr txBox="1"/>
          <p:nvPr/>
        </p:nvSpPr>
        <p:spPr>
          <a:xfrm>
            <a:off x="914400" y="5118100"/>
            <a:ext cx="10363200" cy="369332"/>
          </a:xfrm>
          <a:prstGeom prst="rect">
            <a:avLst/>
          </a:prstGeom>
          <a:noFill/>
        </p:spPr>
        <p:txBody>
          <a:bodyPr vert="horz" wrap="square" rtlCol="0">
            <a:spAutoFit/>
          </a:bodyPr>
          <a:lstStyle/>
          <a:p>
            <a:pPr algn="ctr"/>
            <a:r>
              <a:rPr lang="en-US" b="1">
                <a:solidFill>
                  <a:srgbClr val="F4F7FB"/>
                </a:solidFill>
                <a:latin typeface="Aptos" panose="020B0004020202020204" pitchFamily="34" charset="0"/>
              </a:rPr>
              <a:t>Rezultat: aceeași infrastructură VSR, hrănită cu măsurări mai informative.</a:t>
            </a:r>
          </a:p>
        </p:txBody>
      </p:sp>
      <p:sp>
        <p:nvSpPr>
          <p:cNvPr id="19" name="TextBox 18">
            <a:extLst>
              <a:ext uri="{FF2B5EF4-FFF2-40B4-BE49-F238E27FC236}">
                <a16:creationId xmlns:a16="http://schemas.microsoft.com/office/drawing/2014/main" id="{48125832-ECE0-BDF3-EFA3-6D166B32C477}"/>
              </a:ext>
            </a:extLst>
          </p:cNvPr>
          <p:cNvSpPr txBox="1"/>
          <p:nvPr/>
        </p:nvSpPr>
        <p:spPr>
          <a:xfrm>
            <a:off x="660400" y="6502400"/>
            <a:ext cx="5080000" cy="230832"/>
          </a:xfrm>
          <a:prstGeom prst="rect">
            <a:avLst/>
          </a:prstGeom>
          <a:noFill/>
        </p:spPr>
        <p:txBody>
          <a:bodyPr vert="horz" wrap="square" rtlCol="0">
            <a:spAutoFit/>
          </a:bodyPr>
          <a:lstStyle/>
          <a:p>
            <a:r>
              <a:rPr lang="da-DK" sz="900">
                <a:solidFill>
                  <a:srgbClr val="B9C9DB"/>
                </a:solidFill>
                <a:latin typeface="Aptos" panose="020B0004020202020204" pitchFamily="34" charset="0"/>
              </a:rPr>
              <a:t>KATZ ET AL.  •  CVPRW 2025</a:t>
            </a:r>
            <a:endParaRPr lang="en-US" sz="900">
              <a:solidFill>
                <a:srgbClr val="B9C9DB"/>
              </a:solidFill>
              <a:latin typeface="Aptos" panose="020B0004020202020204" pitchFamily="34" charset="0"/>
            </a:endParaRPr>
          </a:p>
        </p:txBody>
      </p:sp>
      <p:sp>
        <p:nvSpPr>
          <p:cNvPr id="20" name="TextBox 19">
            <a:extLst>
              <a:ext uri="{FF2B5EF4-FFF2-40B4-BE49-F238E27FC236}">
                <a16:creationId xmlns:a16="http://schemas.microsoft.com/office/drawing/2014/main" id="{B6CCA703-4799-4E96-90A1-372FF71CB2A6}"/>
              </a:ext>
            </a:extLst>
          </p:cNvPr>
          <p:cNvSpPr txBox="1"/>
          <p:nvPr/>
        </p:nvSpPr>
        <p:spPr>
          <a:xfrm>
            <a:off x="11010900" y="6451600"/>
            <a:ext cx="482600" cy="246221"/>
          </a:xfrm>
          <a:prstGeom prst="rect">
            <a:avLst/>
          </a:prstGeom>
          <a:noFill/>
        </p:spPr>
        <p:txBody>
          <a:bodyPr vert="horz" wrap="square" rtlCol="0">
            <a:spAutoFit/>
          </a:bodyPr>
          <a:lstStyle/>
          <a:p>
            <a:pPr algn="r"/>
            <a:r>
              <a:rPr lang="en-US" sz="1000" b="1">
                <a:solidFill>
                  <a:srgbClr val="52D6D3"/>
                </a:solidFill>
                <a:latin typeface="Aptos" panose="020B0004020202020204" pitchFamily="34" charset="0"/>
              </a:rPr>
              <a:t>12</a:t>
            </a:r>
          </a:p>
        </p:txBody>
      </p:sp>
    </p:spTree>
    <p:extLst>
      <p:ext uri="{BB962C8B-B14F-4D97-AF65-F5344CB8AC3E}">
        <p14:creationId xmlns:p14="http://schemas.microsoft.com/office/powerpoint/2010/main" val="2959588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Rezultate: o măsurare / cadru</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PSNR (dB), VSR ×4, CR = 1/16; mai mare înseamnă mai bine.</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13</a:t>
            </a:r>
            <a:endParaRPr lang="en-US" sz="1000" dirty="0"/>
          </a:p>
        </p:txBody>
      </p:sp>
      <p:sp>
        <p:nvSpPr>
          <p:cNvPr id="7" name="Shape 5"/>
          <p:cNvSpPr/>
          <p:nvPr/>
        </p:nvSpPr>
        <p:spPr>
          <a:xfrm>
            <a:off x="841248" y="1865376"/>
            <a:ext cx="2157984" cy="612648"/>
          </a:xfrm>
          <a:prstGeom prst="roundRect">
            <a:avLst>
              <a:gd name="adj" fmla="val 23881"/>
            </a:avLst>
          </a:prstGeom>
          <a:solidFill>
            <a:srgbClr val="1C304A"/>
          </a:solidFill>
          <a:ln w="10160">
            <a:solidFill>
              <a:srgbClr val="1C304A"/>
            </a:solidFill>
            <a:prstDash val="solid"/>
          </a:ln>
        </p:spPr>
        <p:txBody>
          <a:bodyPr/>
          <a:lstStyle/>
          <a:p>
            <a:endParaRPr lang="en-US"/>
          </a:p>
        </p:txBody>
      </p:sp>
      <p:sp>
        <p:nvSpPr>
          <p:cNvPr id="8" name="Text 6"/>
          <p:cNvSpPr/>
          <p:nvPr/>
        </p:nvSpPr>
        <p:spPr>
          <a:xfrm>
            <a:off x="905256" y="1975104"/>
            <a:ext cx="2029968" cy="347472"/>
          </a:xfrm>
          <a:prstGeom prst="rect">
            <a:avLst/>
          </a:prstGeom>
          <a:noFill/>
          <a:ln/>
        </p:spPr>
        <p:txBody>
          <a:bodyPr wrap="square" lIns="0" tIns="0" rIns="0" bIns="0" rtlCol="0" anchor="ctr"/>
          <a:lstStyle/>
          <a:p>
            <a:pPr marL="0" indent="0" algn="l">
              <a:buNone/>
            </a:pPr>
            <a:r>
              <a:rPr lang="en-US" sz="1700" b="1" dirty="0">
                <a:solidFill>
                  <a:srgbClr val="52D6D3"/>
                </a:solidFill>
                <a:latin typeface="Aptos" pitchFamily="34" charset="0"/>
                <a:ea typeface="Aptos" pitchFamily="34" charset="-122"/>
                <a:cs typeface="Aptos" pitchFamily="34" charset="-120"/>
              </a:rPr>
              <a:t>Model</a:t>
            </a:r>
            <a:endParaRPr lang="en-US" sz="1700" dirty="0"/>
          </a:p>
        </p:txBody>
      </p:sp>
      <p:sp>
        <p:nvSpPr>
          <p:cNvPr id="9" name="Shape 7"/>
          <p:cNvSpPr/>
          <p:nvPr/>
        </p:nvSpPr>
        <p:spPr>
          <a:xfrm>
            <a:off x="3035808" y="1865376"/>
            <a:ext cx="1901952" cy="612648"/>
          </a:xfrm>
          <a:prstGeom prst="roundRect">
            <a:avLst>
              <a:gd name="adj" fmla="val 23881"/>
            </a:avLst>
          </a:prstGeom>
          <a:solidFill>
            <a:srgbClr val="1C304A"/>
          </a:solidFill>
          <a:ln w="10160">
            <a:solidFill>
              <a:srgbClr val="1C304A"/>
            </a:solidFill>
            <a:prstDash val="solid"/>
          </a:ln>
        </p:spPr>
        <p:txBody>
          <a:bodyPr/>
          <a:lstStyle/>
          <a:p>
            <a:endParaRPr lang="en-US"/>
          </a:p>
        </p:txBody>
      </p:sp>
      <p:sp>
        <p:nvSpPr>
          <p:cNvPr id="10" name="Text 8"/>
          <p:cNvSpPr/>
          <p:nvPr/>
        </p:nvSpPr>
        <p:spPr>
          <a:xfrm>
            <a:off x="3099816" y="1975104"/>
            <a:ext cx="1773936" cy="347472"/>
          </a:xfrm>
          <a:prstGeom prst="rect">
            <a:avLst/>
          </a:prstGeom>
          <a:noFill/>
          <a:ln/>
        </p:spPr>
        <p:txBody>
          <a:bodyPr wrap="square" lIns="0" tIns="0" rIns="0" bIns="0" rtlCol="0" anchor="ctr"/>
          <a:lstStyle/>
          <a:p>
            <a:pPr marL="0" indent="0" algn="ctr">
              <a:buNone/>
            </a:pPr>
            <a:r>
              <a:rPr lang="en-US" sz="1700" b="1" dirty="0">
                <a:solidFill>
                  <a:srgbClr val="52D6D3"/>
                </a:solidFill>
                <a:latin typeface="Aptos" pitchFamily="34" charset="0"/>
                <a:ea typeface="Aptos" pitchFamily="34" charset="-122"/>
                <a:cs typeface="Aptos" pitchFamily="34" charset="-120"/>
              </a:rPr>
              <a:t>Bicubic</a:t>
            </a:r>
            <a:endParaRPr lang="en-US" sz="1700" dirty="0"/>
          </a:p>
        </p:txBody>
      </p:sp>
      <p:sp>
        <p:nvSpPr>
          <p:cNvPr id="11" name="Shape 9"/>
          <p:cNvSpPr/>
          <p:nvPr/>
        </p:nvSpPr>
        <p:spPr>
          <a:xfrm>
            <a:off x="5020056" y="1865376"/>
            <a:ext cx="1865376" cy="612648"/>
          </a:xfrm>
          <a:prstGeom prst="roundRect">
            <a:avLst>
              <a:gd name="adj" fmla="val 23881"/>
            </a:avLst>
          </a:prstGeom>
          <a:solidFill>
            <a:srgbClr val="1C304A"/>
          </a:solidFill>
          <a:ln w="10160">
            <a:solidFill>
              <a:srgbClr val="1C304A"/>
            </a:solidFill>
            <a:prstDash val="solid"/>
          </a:ln>
        </p:spPr>
        <p:txBody>
          <a:bodyPr/>
          <a:lstStyle/>
          <a:p>
            <a:endParaRPr lang="en-US"/>
          </a:p>
        </p:txBody>
      </p:sp>
      <p:sp>
        <p:nvSpPr>
          <p:cNvPr id="12" name="Text 10"/>
          <p:cNvSpPr/>
          <p:nvPr/>
        </p:nvSpPr>
        <p:spPr>
          <a:xfrm>
            <a:off x="5084064" y="1975104"/>
            <a:ext cx="1737360" cy="347472"/>
          </a:xfrm>
          <a:prstGeom prst="rect">
            <a:avLst/>
          </a:prstGeom>
          <a:noFill/>
          <a:ln/>
        </p:spPr>
        <p:txBody>
          <a:bodyPr wrap="square" lIns="0" tIns="0" rIns="0" bIns="0" rtlCol="0" anchor="ctr"/>
          <a:lstStyle/>
          <a:p>
            <a:pPr marL="0" indent="0" algn="ctr">
              <a:buNone/>
            </a:pPr>
            <a:r>
              <a:rPr lang="en-US" sz="1700" b="1" dirty="0">
                <a:solidFill>
                  <a:srgbClr val="52D6D3"/>
                </a:solidFill>
                <a:latin typeface="Aptos" pitchFamily="34" charset="0"/>
                <a:ea typeface="Aptos" pitchFamily="34" charset="-122"/>
                <a:cs typeface="Aptos" pitchFamily="34" charset="-120"/>
              </a:rPr>
              <a:t>16Sum</a:t>
            </a:r>
            <a:endParaRPr lang="en-US" sz="1700" dirty="0"/>
          </a:p>
        </p:txBody>
      </p:sp>
      <p:sp>
        <p:nvSpPr>
          <p:cNvPr id="13" name="Shape 11"/>
          <p:cNvSpPr/>
          <p:nvPr/>
        </p:nvSpPr>
        <p:spPr>
          <a:xfrm>
            <a:off x="6949440" y="1865376"/>
            <a:ext cx="1847088" cy="612648"/>
          </a:xfrm>
          <a:prstGeom prst="roundRect">
            <a:avLst>
              <a:gd name="adj" fmla="val 23881"/>
            </a:avLst>
          </a:prstGeom>
          <a:solidFill>
            <a:srgbClr val="1C304A"/>
          </a:solidFill>
          <a:ln w="10160">
            <a:solidFill>
              <a:srgbClr val="1C304A"/>
            </a:solidFill>
            <a:prstDash val="solid"/>
          </a:ln>
        </p:spPr>
        <p:txBody>
          <a:bodyPr/>
          <a:lstStyle/>
          <a:p>
            <a:endParaRPr lang="en-US"/>
          </a:p>
        </p:txBody>
      </p:sp>
      <p:sp>
        <p:nvSpPr>
          <p:cNvPr id="14" name="Text 12"/>
          <p:cNvSpPr/>
          <p:nvPr/>
        </p:nvSpPr>
        <p:spPr>
          <a:xfrm>
            <a:off x="7013448" y="1975104"/>
            <a:ext cx="1719072" cy="347472"/>
          </a:xfrm>
          <a:prstGeom prst="rect">
            <a:avLst/>
          </a:prstGeom>
          <a:noFill/>
          <a:ln/>
        </p:spPr>
        <p:txBody>
          <a:bodyPr wrap="square" lIns="0" tIns="0" rIns="0" bIns="0" rtlCol="0" anchor="ctr"/>
          <a:lstStyle/>
          <a:p>
            <a:pPr marL="0" indent="0" algn="ctr">
              <a:buNone/>
            </a:pPr>
            <a:r>
              <a:rPr lang="en-US" sz="1700" b="1" dirty="0">
                <a:solidFill>
                  <a:srgbClr val="52D6D3"/>
                </a:solidFill>
                <a:latin typeface="Aptos" pitchFamily="34" charset="0"/>
                <a:ea typeface="Aptos" pitchFamily="34" charset="-122"/>
                <a:cs typeface="Aptos" pitchFamily="34" charset="-120"/>
              </a:rPr>
              <a:t>Random</a:t>
            </a:r>
            <a:endParaRPr lang="en-US" sz="1700" dirty="0"/>
          </a:p>
        </p:txBody>
      </p:sp>
      <p:sp>
        <p:nvSpPr>
          <p:cNvPr id="15" name="Shape 13"/>
          <p:cNvSpPr/>
          <p:nvPr/>
        </p:nvSpPr>
        <p:spPr>
          <a:xfrm>
            <a:off x="8851392" y="1865376"/>
            <a:ext cx="2514600" cy="612648"/>
          </a:xfrm>
          <a:prstGeom prst="roundRect">
            <a:avLst>
              <a:gd name="adj" fmla="val 23881"/>
            </a:avLst>
          </a:prstGeom>
          <a:solidFill>
            <a:srgbClr val="1C304A"/>
          </a:solidFill>
          <a:ln w="10160">
            <a:solidFill>
              <a:srgbClr val="1C304A"/>
            </a:solidFill>
            <a:prstDash val="solid"/>
          </a:ln>
        </p:spPr>
        <p:txBody>
          <a:bodyPr/>
          <a:lstStyle/>
          <a:p>
            <a:endParaRPr lang="en-US"/>
          </a:p>
        </p:txBody>
      </p:sp>
      <p:sp>
        <p:nvSpPr>
          <p:cNvPr id="16" name="Text 14"/>
          <p:cNvSpPr/>
          <p:nvPr/>
        </p:nvSpPr>
        <p:spPr>
          <a:xfrm>
            <a:off x="8915400" y="1975104"/>
            <a:ext cx="2386584" cy="347472"/>
          </a:xfrm>
          <a:prstGeom prst="rect">
            <a:avLst/>
          </a:prstGeom>
          <a:noFill/>
          <a:ln/>
        </p:spPr>
        <p:txBody>
          <a:bodyPr wrap="square" lIns="0" tIns="0" rIns="0" bIns="0" rtlCol="0" anchor="ctr"/>
          <a:lstStyle/>
          <a:p>
            <a:pPr marL="0" indent="0" algn="ctr">
              <a:buNone/>
            </a:pPr>
            <a:r>
              <a:rPr lang="en-US" sz="1300" b="1" dirty="0">
                <a:solidFill>
                  <a:srgbClr val="52D6D3"/>
                </a:solidFill>
                <a:latin typeface="Aptos" pitchFamily="34" charset="0"/>
                <a:ea typeface="Aptos" pitchFamily="34" charset="-122"/>
                <a:cs typeface="Aptos" pitchFamily="34" charset="-120"/>
              </a:rPr>
              <a:t>Câștig Random vs 16Sum</a:t>
            </a:r>
            <a:endParaRPr lang="en-US" sz="1300" dirty="0"/>
          </a:p>
        </p:txBody>
      </p:sp>
      <p:sp>
        <p:nvSpPr>
          <p:cNvPr id="17" name="Shape 15"/>
          <p:cNvSpPr/>
          <p:nvPr/>
        </p:nvSpPr>
        <p:spPr>
          <a:xfrm>
            <a:off x="841248" y="2542032"/>
            <a:ext cx="2157984" cy="731520"/>
          </a:xfrm>
          <a:prstGeom prst="roundRect">
            <a:avLst>
              <a:gd name="adj" fmla="val 20000"/>
            </a:avLst>
          </a:prstGeom>
          <a:solidFill>
            <a:srgbClr val="17253B"/>
          </a:solidFill>
          <a:ln w="10160">
            <a:solidFill>
              <a:srgbClr val="17253B"/>
            </a:solidFill>
            <a:prstDash val="solid"/>
          </a:ln>
        </p:spPr>
        <p:txBody>
          <a:bodyPr/>
          <a:lstStyle/>
          <a:p>
            <a:endParaRPr lang="en-US"/>
          </a:p>
        </p:txBody>
      </p:sp>
      <p:sp>
        <p:nvSpPr>
          <p:cNvPr id="18" name="Text 16"/>
          <p:cNvSpPr/>
          <p:nvPr/>
        </p:nvSpPr>
        <p:spPr>
          <a:xfrm>
            <a:off x="914400" y="2715768"/>
            <a:ext cx="2011680" cy="393192"/>
          </a:xfrm>
          <a:prstGeom prst="rect">
            <a:avLst/>
          </a:prstGeom>
          <a:noFill/>
          <a:ln/>
        </p:spPr>
        <p:txBody>
          <a:bodyPr wrap="square" lIns="0" tIns="0" rIns="0" bIns="0" rtlCol="0" anchor="ctr"/>
          <a:lstStyle/>
          <a:p>
            <a:pPr marL="0" indent="0" algn="l">
              <a:buNone/>
            </a:pPr>
            <a:r>
              <a:rPr lang="en-US" sz="1900" dirty="0">
                <a:solidFill>
                  <a:srgbClr val="F4F7FB"/>
                </a:solidFill>
                <a:latin typeface="Aptos" pitchFamily="34" charset="0"/>
                <a:ea typeface="Aptos" pitchFamily="34" charset="-122"/>
                <a:cs typeface="Aptos" pitchFamily="34" charset="-120"/>
              </a:rPr>
              <a:t>BasicVSR</a:t>
            </a:r>
            <a:endParaRPr lang="en-US" sz="1900" dirty="0"/>
          </a:p>
        </p:txBody>
      </p:sp>
      <p:sp>
        <p:nvSpPr>
          <p:cNvPr id="19" name="Shape 17"/>
          <p:cNvSpPr/>
          <p:nvPr/>
        </p:nvSpPr>
        <p:spPr>
          <a:xfrm>
            <a:off x="3035808" y="2542032"/>
            <a:ext cx="1901952" cy="731520"/>
          </a:xfrm>
          <a:prstGeom prst="roundRect">
            <a:avLst>
              <a:gd name="adj" fmla="val 20000"/>
            </a:avLst>
          </a:prstGeom>
          <a:solidFill>
            <a:srgbClr val="17253B"/>
          </a:solidFill>
          <a:ln w="10160">
            <a:solidFill>
              <a:srgbClr val="17253B"/>
            </a:solidFill>
            <a:prstDash val="solid"/>
          </a:ln>
        </p:spPr>
        <p:txBody>
          <a:bodyPr/>
          <a:lstStyle/>
          <a:p>
            <a:endParaRPr lang="en-US"/>
          </a:p>
        </p:txBody>
      </p:sp>
      <p:sp>
        <p:nvSpPr>
          <p:cNvPr id="20" name="Text 18"/>
          <p:cNvSpPr/>
          <p:nvPr/>
        </p:nvSpPr>
        <p:spPr>
          <a:xfrm>
            <a:off x="3108960" y="2715768"/>
            <a:ext cx="1755648" cy="393192"/>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37,30</a:t>
            </a:r>
            <a:endParaRPr lang="en-US" sz="1900" dirty="0"/>
          </a:p>
        </p:txBody>
      </p:sp>
      <p:sp>
        <p:nvSpPr>
          <p:cNvPr id="21" name="Shape 19"/>
          <p:cNvSpPr/>
          <p:nvPr/>
        </p:nvSpPr>
        <p:spPr>
          <a:xfrm>
            <a:off x="5020056" y="2542032"/>
            <a:ext cx="1865376" cy="731520"/>
          </a:xfrm>
          <a:prstGeom prst="roundRect">
            <a:avLst>
              <a:gd name="adj" fmla="val 20000"/>
            </a:avLst>
          </a:prstGeom>
          <a:solidFill>
            <a:srgbClr val="17253B"/>
          </a:solidFill>
          <a:ln w="10160">
            <a:solidFill>
              <a:srgbClr val="17253B"/>
            </a:solidFill>
            <a:prstDash val="solid"/>
          </a:ln>
        </p:spPr>
        <p:txBody>
          <a:bodyPr/>
          <a:lstStyle/>
          <a:p>
            <a:endParaRPr lang="en-US"/>
          </a:p>
        </p:txBody>
      </p:sp>
      <p:sp>
        <p:nvSpPr>
          <p:cNvPr id="22" name="Text 20"/>
          <p:cNvSpPr/>
          <p:nvPr/>
        </p:nvSpPr>
        <p:spPr>
          <a:xfrm>
            <a:off x="5093208" y="2715768"/>
            <a:ext cx="1719072" cy="393192"/>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37,82</a:t>
            </a:r>
            <a:endParaRPr lang="en-US" sz="1900" dirty="0"/>
          </a:p>
        </p:txBody>
      </p:sp>
      <p:sp>
        <p:nvSpPr>
          <p:cNvPr id="23" name="Shape 21"/>
          <p:cNvSpPr/>
          <p:nvPr/>
        </p:nvSpPr>
        <p:spPr>
          <a:xfrm>
            <a:off x="6949440" y="2542032"/>
            <a:ext cx="1847088" cy="731520"/>
          </a:xfrm>
          <a:prstGeom prst="roundRect">
            <a:avLst>
              <a:gd name="adj" fmla="val 20000"/>
            </a:avLst>
          </a:prstGeom>
          <a:solidFill>
            <a:srgbClr val="17253B"/>
          </a:solidFill>
          <a:ln w="10160">
            <a:solidFill>
              <a:srgbClr val="17253B"/>
            </a:solidFill>
            <a:prstDash val="solid"/>
          </a:ln>
        </p:spPr>
        <p:txBody>
          <a:bodyPr/>
          <a:lstStyle/>
          <a:p>
            <a:endParaRPr lang="en-US"/>
          </a:p>
        </p:txBody>
      </p:sp>
      <p:sp>
        <p:nvSpPr>
          <p:cNvPr id="24" name="Text 22"/>
          <p:cNvSpPr/>
          <p:nvPr/>
        </p:nvSpPr>
        <p:spPr>
          <a:xfrm>
            <a:off x="7022592" y="2715768"/>
            <a:ext cx="1700784" cy="393192"/>
          </a:xfrm>
          <a:prstGeom prst="rect">
            <a:avLst/>
          </a:prstGeom>
          <a:noFill/>
          <a:ln/>
        </p:spPr>
        <p:txBody>
          <a:bodyPr wrap="square" lIns="0" tIns="0" rIns="0" bIns="0" rtlCol="0" anchor="ctr"/>
          <a:lstStyle/>
          <a:p>
            <a:pPr marL="0" indent="0" algn="ctr">
              <a:buNone/>
            </a:pPr>
            <a:r>
              <a:rPr lang="en-US" sz="1900" b="1" dirty="0">
                <a:solidFill>
                  <a:srgbClr val="80E2B0"/>
                </a:solidFill>
                <a:latin typeface="Aptos" pitchFamily="34" charset="0"/>
                <a:ea typeface="Aptos" pitchFamily="34" charset="-122"/>
                <a:cs typeface="Aptos" pitchFamily="34" charset="-120"/>
              </a:rPr>
              <a:t>39,00</a:t>
            </a:r>
            <a:endParaRPr lang="en-US" sz="1900" dirty="0"/>
          </a:p>
        </p:txBody>
      </p:sp>
      <p:sp>
        <p:nvSpPr>
          <p:cNvPr id="25" name="Shape 23"/>
          <p:cNvSpPr/>
          <p:nvPr/>
        </p:nvSpPr>
        <p:spPr>
          <a:xfrm>
            <a:off x="8851392" y="2542032"/>
            <a:ext cx="2514600" cy="731520"/>
          </a:xfrm>
          <a:prstGeom prst="roundRect">
            <a:avLst>
              <a:gd name="adj" fmla="val 20000"/>
            </a:avLst>
          </a:prstGeom>
          <a:solidFill>
            <a:srgbClr val="17253B"/>
          </a:solidFill>
          <a:ln w="10160">
            <a:solidFill>
              <a:srgbClr val="17253B"/>
            </a:solidFill>
            <a:prstDash val="solid"/>
          </a:ln>
        </p:spPr>
        <p:txBody>
          <a:bodyPr/>
          <a:lstStyle/>
          <a:p>
            <a:endParaRPr lang="en-US"/>
          </a:p>
        </p:txBody>
      </p:sp>
      <p:sp>
        <p:nvSpPr>
          <p:cNvPr id="26" name="Text 24"/>
          <p:cNvSpPr/>
          <p:nvPr/>
        </p:nvSpPr>
        <p:spPr>
          <a:xfrm>
            <a:off x="8924544" y="2715768"/>
            <a:ext cx="2368296" cy="393192"/>
          </a:xfrm>
          <a:prstGeom prst="rect">
            <a:avLst/>
          </a:prstGeom>
          <a:noFill/>
          <a:ln/>
        </p:spPr>
        <p:txBody>
          <a:bodyPr wrap="square" lIns="0" tIns="0" rIns="0" bIns="0" rtlCol="0" anchor="ctr"/>
          <a:lstStyle/>
          <a:p>
            <a:pPr marL="0" indent="0" algn="ctr">
              <a:buNone/>
            </a:pPr>
            <a:r>
              <a:rPr lang="en-US" sz="1900" b="1" dirty="0">
                <a:solidFill>
                  <a:srgbClr val="80E2B0"/>
                </a:solidFill>
                <a:latin typeface="Aptos" pitchFamily="34" charset="0"/>
                <a:ea typeface="Aptos" pitchFamily="34" charset="-122"/>
                <a:cs typeface="Aptos" pitchFamily="34" charset="-120"/>
              </a:rPr>
              <a:t>+1,18 dB</a:t>
            </a:r>
            <a:endParaRPr lang="en-US" sz="1900" dirty="0"/>
          </a:p>
        </p:txBody>
      </p:sp>
      <p:sp>
        <p:nvSpPr>
          <p:cNvPr id="27" name="Shape 25"/>
          <p:cNvSpPr/>
          <p:nvPr/>
        </p:nvSpPr>
        <p:spPr>
          <a:xfrm>
            <a:off x="841248" y="3374136"/>
            <a:ext cx="2157984" cy="731520"/>
          </a:xfrm>
          <a:prstGeom prst="roundRect">
            <a:avLst>
              <a:gd name="adj" fmla="val 20000"/>
            </a:avLst>
          </a:prstGeom>
          <a:solidFill>
            <a:srgbClr val="1C304A"/>
          </a:solidFill>
          <a:ln w="10160">
            <a:solidFill>
              <a:srgbClr val="1C304A"/>
            </a:solidFill>
            <a:prstDash val="solid"/>
          </a:ln>
        </p:spPr>
        <p:txBody>
          <a:bodyPr/>
          <a:lstStyle/>
          <a:p>
            <a:endParaRPr lang="en-US"/>
          </a:p>
        </p:txBody>
      </p:sp>
      <p:sp>
        <p:nvSpPr>
          <p:cNvPr id="28" name="Text 26"/>
          <p:cNvSpPr/>
          <p:nvPr/>
        </p:nvSpPr>
        <p:spPr>
          <a:xfrm>
            <a:off x="914400" y="3547872"/>
            <a:ext cx="2011680" cy="393192"/>
          </a:xfrm>
          <a:prstGeom prst="rect">
            <a:avLst/>
          </a:prstGeom>
          <a:noFill/>
          <a:ln/>
        </p:spPr>
        <p:txBody>
          <a:bodyPr wrap="square" lIns="0" tIns="0" rIns="0" bIns="0" rtlCol="0" anchor="ctr"/>
          <a:lstStyle/>
          <a:p>
            <a:pPr marL="0" indent="0" algn="l">
              <a:buNone/>
            </a:pPr>
            <a:r>
              <a:rPr lang="en-US" sz="1900" dirty="0">
                <a:solidFill>
                  <a:srgbClr val="F4F7FB"/>
                </a:solidFill>
                <a:latin typeface="Aptos" pitchFamily="34" charset="0"/>
                <a:ea typeface="Aptos" pitchFamily="34" charset="-122"/>
                <a:cs typeface="Aptos" pitchFamily="34" charset="-120"/>
              </a:rPr>
              <a:t>RVRT</a:t>
            </a:r>
            <a:endParaRPr lang="en-US" sz="1900" dirty="0"/>
          </a:p>
        </p:txBody>
      </p:sp>
      <p:sp>
        <p:nvSpPr>
          <p:cNvPr id="29" name="Shape 27"/>
          <p:cNvSpPr/>
          <p:nvPr/>
        </p:nvSpPr>
        <p:spPr>
          <a:xfrm>
            <a:off x="3035808" y="3374136"/>
            <a:ext cx="1901952" cy="731520"/>
          </a:xfrm>
          <a:prstGeom prst="roundRect">
            <a:avLst>
              <a:gd name="adj" fmla="val 20000"/>
            </a:avLst>
          </a:prstGeom>
          <a:solidFill>
            <a:srgbClr val="1C304A"/>
          </a:solidFill>
          <a:ln w="10160">
            <a:solidFill>
              <a:srgbClr val="1C304A"/>
            </a:solidFill>
            <a:prstDash val="solid"/>
          </a:ln>
        </p:spPr>
        <p:txBody>
          <a:bodyPr/>
          <a:lstStyle/>
          <a:p>
            <a:endParaRPr lang="en-US"/>
          </a:p>
        </p:txBody>
      </p:sp>
      <p:sp>
        <p:nvSpPr>
          <p:cNvPr id="30" name="Text 28"/>
          <p:cNvSpPr/>
          <p:nvPr/>
        </p:nvSpPr>
        <p:spPr>
          <a:xfrm>
            <a:off x="3108960" y="3547872"/>
            <a:ext cx="1755648" cy="393192"/>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38,10</a:t>
            </a:r>
            <a:endParaRPr lang="en-US" sz="1900" dirty="0"/>
          </a:p>
        </p:txBody>
      </p:sp>
      <p:sp>
        <p:nvSpPr>
          <p:cNvPr id="31" name="Shape 29"/>
          <p:cNvSpPr/>
          <p:nvPr/>
        </p:nvSpPr>
        <p:spPr>
          <a:xfrm>
            <a:off x="5020056" y="3374136"/>
            <a:ext cx="1865376" cy="731520"/>
          </a:xfrm>
          <a:prstGeom prst="roundRect">
            <a:avLst>
              <a:gd name="adj" fmla="val 20000"/>
            </a:avLst>
          </a:prstGeom>
          <a:solidFill>
            <a:srgbClr val="1C304A"/>
          </a:solidFill>
          <a:ln w="10160">
            <a:solidFill>
              <a:srgbClr val="1C304A"/>
            </a:solidFill>
            <a:prstDash val="solid"/>
          </a:ln>
        </p:spPr>
        <p:txBody>
          <a:bodyPr/>
          <a:lstStyle/>
          <a:p>
            <a:endParaRPr lang="en-US"/>
          </a:p>
        </p:txBody>
      </p:sp>
      <p:sp>
        <p:nvSpPr>
          <p:cNvPr id="32" name="Text 30"/>
          <p:cNvSpPr/>
          <p:nvPr/>
        </p:nvSpPr>
        <p:spPr>
          <a:xfrm>
            <a:off x="5093208" y="3547872"/>
            <a:ext cx="1719072" cy="393192"/>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39,07</a:t>
            </a:r>
            <a:endParaRPr lang="en-US" sz="1900" dirty="0"/>
          </a:p>
        </p:txBody>
      </p:sp>
      <p:sp>
        <p:nvSpPr>
          <p:cNvPr id="33" name="Shape 31"/>
          <p:cNvSpPr/>
          <p:nvPr/>
        </p:nvSpPr>
        <p:spPr>
          <a:xfrm>
            <a:off x="6949440" y="3374136"/>
            <a:ext cx="1847088" cy="731520"/>
          </a:xfrm>
          <a:prstGeom prst="roundRect">
            <a:avLst>
              <a:gd name="adj" fmla="val 20000"/>
            </a:avLst>
          </a:prstGeom>
          <a:solidFill>
            <a:srgbClr val="1C304A"/>
          </a:solidFill>
          <a:ln w="10160">
            <a:solidFill>
              <a:srgbClr val="1C304A"/>
            </a:solidFill>
            <a:prstDash val="solid"/>
          </a:ln>
        </p:spPr>
        <p:txBody>
          <a:bodyPr/>
          <a:lstStyle/>
          <a:p>
            <a:endParaRPr lang="en-US"/>
          </a:p>
        </p:txBody>
      </p:sp>
      <p:sp>
        <p:nvSpPr>
          <p:cNvPr id="34" name="Text 32"/>
          <p:cNvSpPr/>
          <p:nvPr/>
        </p:nvSpPr>
        <p:spPr>
          <a:xfrm>
            <a:off x="7022592" y="3547872"/>
            <a:ext cx="1700784" cy="393192"/>
          </a:xfrm>
          <a:prstGeom prst="rect">
            <a:avLst/>
          </a:prstGeom>
          <a:noFill/>
          <a:ln/>
        </p:spPr>
        <p:txBody>
          <a:bodyPr wrap="square" lIns="0" tIns="0" rIns="0" bIns="0" rtlCol="0" anchor="ctr"/>
          <a:lstStyle/>
          <a:p>
            <a:pPr marL="0" indent="0" algn="ctr">
              <a:buNone/>
            </a:pPr>
            <a:r>
              <a:rPr lang="en-US" sz="1900" b="1" dirty="0">
                <a:solidFill>
                  <a:srgbClr val="80E2B0"/>
                </a:solidFill>
                <a:latin typeface="Aptos" pitchFamily="34" charset="0"/>
                <a:ea typeface="Aptos" pitchFamily="34" charset="-122"/>
                <a:cs typeface="Aptos" pitchFamily="34" charset="-120"/>
              </a:rPr>
              <a:t>40,65</a:t>
            </a:r>
            <a:endParaRPr lang="en-US" sz="1900" dirty="0"/>
          </a:p>
        </p:txBody>
      </p:sp>
      <p:sp>
        <p:nvSpPr>
          <p:cNvPr id="35" name="Shape 33"/>
          <p:cNvSpPr/>
          <p:nvPr/>
        </p:nvSpPr>
        <p:spPr>
          <a:xfrm>
            <a:off x="8851392" y="3374136"/>
            <a:ext cx="2514600" cy="731520"/>
          </a:xfrm>
          <a:prstGeom prst="roundRect">
            <a:avLst>
              <a:gd name="adj" fmla="val 20000"/>
            </a:avLst>
          </a:prstGeom>
          <a:solidFill>
            <a:srgbClr val="1C304A"/>
          </a:solidFill>
          <a:ln w="10160">
            <a:solidFill>
              <a:srgbClr val="1C304A"/>
            </a:solidFill>
            <a:prstDash val="solid"/>
          </a:ln>
        </p:spPr>
        <p:txBody>
          <a:bodyPr/>
          <a:lstStyle/>
          <a:p>
            <a:endParaRPr lang="en-US"/>
          </a:p>
        </p:txBody>
      </p:sp>
      <p:sp>
        <p:nvSpPr>
          <p:cNvPr id="36" name="Text 34"/>
          <p:cNvSpPr/>
          <p:nvPr/>
        </p:nvSpPr>
        <p:spPr>
          <a:xfrm>
            <a:off x="8924544" y="3547872"/>
            <a:ext cx="2368296" cy="393192"/>
          </a:xfrm>
          <a:prstGeom prst="rect">
            <a:avLst/>
          </a:prstGeom>
          <a:noFill/>
          <a:ln/>
        </p:spPr>
        <p:txBody>
          <a:bodyPr wrap="square" lIns="0" tIns="0" rIns="0" bIns="0" rtlCol="0" anchor="ctr"/>
          <a:lstStyle/>
          <a:p>
            <a:pPr marL="0" indent="0" algn="ctr">
              <a:buNone/>
            </a:pPr>
            <a:r>
              <a:rPr lang="en-US" sz="1900" b="1" dirty="0">
                <a:solidFill>
                  <a:srgbClr val="80E2B0"/>
                </a:solidFill>
                <a:latin typeface="Aptos" pitchFamily="34" charset="0"/>
                <a:ea typeface="Aptos" pitchFamily="34" charset="-122"/>
                <a:cs typeface="Aptos" pitchFamily="34" charset="-120"/>
              </a:rPr>
              <a:t>+1,58 dB</a:t>
            </a:r>
            <a:endParaRPr lang="en-US" sz="1900" dirty="0"/>
          </a:p>
        </p:txBody>
      </p:sp>
      <p:sp>
        <p:nvSpPr>
          <p:cNvPr id="37" name="Shape 35"/>
          <p:cNvSpPr/>
          <p:nvPr/>
        </p:nvSpPr>
        <p:spPr>
          <a:xfrm>
            <a:off x="841248" y="4206240"/>
            <a:ext cx="2157984" cy="731520"/>
          </a:xfrm>
          <a:prstGeom prst="roundRect">
            <a:avLst>
              <a:gd name="adj" fmla="val 20000"/>
            </a:avLst>
          </a:prstGeom>
          <a:solidFill>
            <a:srgbClr val="17253B"/>
          </a:solidFill>
          <a:ln w="10160">
            <a:solidFill>
              <a:srgbClr val="17253B"/>
            </a:solidFill>
            <a:prstDash val="solid"/>
          </a:ln>
        </p:spPr>
        <p:txBody>
          <a:bodyPr/>
          <a:lstStyle/>
          <a:p>
            <a:endParaRPr lang="en-US"/>
          </a:p>
        </p:txBody>
      </p:sp>
      <p:sp>
        <p:nvSpPr>
          <p:cNvPr id="38" name="Text 36"/>
          <p:cNvSpPr/>
          <p:nvPr/>
        </p:nvSpPr>
        <p:spPr>
          <a:xfrm>
            <a:off x="914400" y="4379976"/>
            <a:ext cx="2011680" cy="393192"/>
          </a:xfrm>
          <a:prstGeom prst="rect">
            <a:avLst/>
          </a:prstGeom>
          <a:noFill/>
          <a:ln/>
        </p:spPr>
        <p:txBody>
          <a:bodyPr wrap="square" lIns="0" tIns="0" rIns="0" bIns="0" rtlCol="0" anchor="ctr"/>
          <a:lstStyle/>
          <a:p>
            <a:pPr marL="0" indent="0" algn="l">
              <a:buNone/>
            </a:pPr>
            <a:r>
              <a:rPr lang="en-US" sz="1900" dirty="0">
                <a:solidFill>
                  <a:srgbClr val="F4F7FB"/>
                </a:solidFill>
                <a:latin typeface="Aptos" pitchFamily="34" charset="0"/>
                <a:ea typeface="Aptos" pitchFamily="34" charset="-122"/>
                <a:cs typeface="Aptos" pitchFamily="34" charset="-120"/>
              </a:rPr>
              <a:t>IART</a:t>
            </a:r>
            <a:endParaRPr lang="en-US" sz="1900" dirty="0"/>
          </a:p>
        </p:txBody>
      </p:sp>
      <p:sp>
        <p:nvSpPr>
          <p:cNvPr id="39" name="Shape 37"/>
          <p:cNvSpPr/>
          <p:nvPr/>
        </p:nvSpPr>
        <p:spPr>
          <a:xfrm>
            <a:off x="3035808" y="4206240"/>
            <a:ext cx="1901952" cy="731520"/>
          </a:xfrm>
          <a:prstGeom prst="roundRect">
            <a:avLst>
              <a:gd name="adj" fmla="val 20000"/>
            </a:avLst>
          </a:prstGeom>
          <a:solidFill>
            <a:srgbClr val="17253B"/>
          </a:solidFill>
          <a:ln w="10160">
            <a:solidFill>
              <a:srgbClr val="17253B"/>
            </a:solidFill>
            <a:prstDash val="solid"/>
          </a:ln>
        </p:spPr>
        <p:txBody>
          <a:bodyPr/>
          <a:lstStyle/>
          <a:p>
            <a:endParaRPr lang="en-US"/>
          </a:p>
        </p:txBody>
      </p:sp>
      <p:sp>
        <p:nvSpPr>
          <p:cNvPr id="40" name="Text 38"/>
          <p:cNvSpPr/>
          <p:nvPr/>
        </p:nvSpPr>
        <p:spPr>
          <a:xfrm>
            <a:off x="3108960" y="4379976"/>
            <a:ext cx="1755648" cy="393192"/>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38,09</a:t>
            </a:r>
            <a:endParaRPr lang="en-US" sz="1900" dirty="0"/>
          </a:p>
        </p:txBody>
      </p:sp>
      <p:sp>
        <p:nvSpPr>
          <p:cNvPr id="41" name="Shape 39"/>
          <p:cNvSpPr/>
          <p:nvPr/>
        </p:nvSpPr>
        <p:spPr>
          <a:xfrm>
            <a:off x="5020056" y="4206240"/>
            <a:ext cx="1865376" cy="731520"/>
          </a:xfrm>
          <a:prstGeom prst="roundRect">
            <a:avLst>
              <a:gd name="adj" fmla="val 20000"/>
            </a:avLst>
          </a:prstGeom>
          <a:solidFill>
            <a:srgbClr val="17253B"/>
          </a:solidFill>
          <a:ln w="10160">
            <a:solidFill>
              <a:srgbClr val="17253B"/>
            </a:solidFill>
            <a:prstDash val="solid"/>
          </a:ln>
        </p:spPr>
        <p:txBody>
          <a:bodyPr/>
          <a:lstStyle/>
          <a:p>
            <a:endParaRPr lang="en-US"/>
          </a:p>
        </p:txBody>
      </p:sp>
      <p:sp>
        <p:nvSpPr>
          <p:cNvPr id="42" name="Text 40"/>
          <p:cNvSpPr/>
          <p:nvPr/>
        </p:nvSpPr>
        <p:spPr>
          <a:xfrm>
            <a:off x="5093208" y="4379976"/>
            <a:ext cx="1719072" cy="393192"/>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39,37</a:t>
            </a:r>
            <a:endParaRPr lang="en-US" sz="1900" dirty="0"/>
          </a:p>
        </p:txBody>
      </p:sp>
      <p:sp>
        <p:nvSpPr>
          <p:cNvPr id="43" name="Shape 41"/>
          <p:cNvSpPr/>
          <p:nvPr/>
        </p:nvSpPr>
        <p:spPr>
          <a:xfrm>
            <a:off x="6949440" y="4206240"/>
            <a:ext cx="1847088" cy="731520"/>
          </a:xfrm>
          <a:prstGeom prst="roundRect">
            <a:avLst>
              <a:gd name="adj" fmla="val 20000"/>
            </a:avLst>
          </a:prstGeom>
          <a:solidFill>
            <a:srgbClr val="17253B"/>
          </a:solidFill>
          <a:ln w="10160">
            <a:solidFill>
              <a:srgbClr val="17253B"/>
            </a:solidFill>
            <a:prstDash val="solid"/>
          </a:ln>
        </p:spPr>
        <p:txBody>
          <a:bodyPr/>
          <a:lstStyle/>
          <a:p>
            <a:endParaRPr lang="en-US"/>
          </a:p>
        </p:txBody>
      </p:sp>
      <p:sp>
        <p:nvSpPr>
          <p:cNvPr id="44" name="Text 42"/>
          <p:cNvSpPr/>
          <p:nvPr/>
        </p:nvSpPr>
        <p:spPr>
          <a:xfrm>
            <a:off x="7022592" y="4379976"/>
            <a:ext cx="1700784" cy="393192"/>
          </a:xfrm>
          <a:prstGeom prst="rect">
            <a:avLst/>
          </a:prstGeom>
          <a:noFill/>
          <a:ln/>
        </p:spPr>
        <p:txBody>
          <a:bodyPr wrap="square" lIns="0" tIns="0" rIns="0" bIns="0" rtlCol="0" anchor="ctr"/>
          <a:lstStyle/>
          <a:p>
            <a:pPr marL="0" indent="0" algn="ctr">
              <a:buNone/>
            </a:pPr>
            <a:r>
              <a:rPr lang="en-US" sz="1900" b="1" dirty="0">
                <a:solidFill>
                  <a:srgbClr val="80E2B0"/>
                </a:solidFill>
                <a:latin typeface="Aptos" pitchFamily="34" charset="0"/>
                <a:ea typeface="Aptos" pitchFamily="34" charset="-122"/>
                <a:cs typeface="Aptos" pitchFamily="34" charset="-120"/>
              </a:rPr>
              <a:t>40,99</a:t>
            </a:r>
            <a:endParaRPr lang="en-US" sz="1900" dirty="0"/>
          </a:p>
        </p:txBody>
      </p:sp>
      <p:sp>
        <p:nvSpPr>
          <p:cNvPr id="45" name="Shape 43"/>
          <p:cNvSpPr/>
          <p:nvPr/>
        </p:nvSpPr>
        <p:spPr>
          <a:xfrm>
            <a:off x="8851392" y="4206240"/>
            <a:ext cx="2514600" cy="731520"/>
          </a:xfrm>
          <a:prstGeom prst="roundRect">
            <a:avLst>
              <a:gd name="adj" fmla="val 20000"/>
            </a:avLst>
          </a:prstGeom>
          <a:solidFill>
            <a:srgbClr val="17253B"/>
          </a:solidFill>
          <a:ln w="10160">
            <a:solidFill>
              <a:srgbClr val="17253B"/>
            </a:solidFill>
            <a:prstDash val="solid"/>
          </a:ln>
        </p:spPr>
        <p:txBody>
          <a:bodyPr/>
          <a:lstStyle/>
          <a:p>
            <a:endParaRPr lang="en-US"/>
          </a:p>
        </p:txBody>
      </p:sp>
      <p:sp>
        <p:nvSpPr>
          <p:cNvPr id="46" name="Text 44"/>
          <p:cNvSpPr/>
          <p:nvPr/>
        </p:nvSpPr>
        <p:spPr>
          <a:xfrm>
            <a:off x="8924544" y="4379976"/>
            <a:ext cx="2368296" cy="393192"/>
          </a:xfrm>
          <a:prstGeom prst="rect">
            <a:avLst/>
          </a:prstGeom>
          <a:noFill/>
          <a:ln/>
        </p:spPr>
        <p:txBody>
          <a:bodyPr wrap="square" lIns="0" tIns="0" rIns="0" bIns="0" rtlCol="0" anchor="ctr"/>
          <a:lstStyle/>
          <a:p>
            <a:pPr marL="0" indent="0" algn="ctr">
              <a:buNone/>
            </a:pPr>
            <a:r>
              <a:rPr lang="en-US" sz="1900" b="1" dirty="0">
                <a:solidFill>
                  <a:srgbClr val="80E2B0"/>
                </a:solidFill>
                <a:latin typeface="Aptos" pitchFamily="34" charset="0"/>
                <a:ea typeface="Aptos" pitchFamily="34" charset="-122"/>
                <a:cs typeface="Aptos" pitchFamily="34" charset="-120"/>
              </a:rPr>
              <a:t>+1,62 dB</a:t>
            </a:r>
            <a:endParaRPr lang="en-US" sz="1900" dirty="0"/>
          </a:p>
        </p:txBody>
      </p:sp>
      <p:sp>
        <p:nvSpPr>
          <p:cNvPr id="47" name="Text 45"/>
          <p:cNvSpPr/>
          <p:nvPr/>
        </p:nvSpPr>
        <p:spPr>
          <a:xfrm>
            <a:off x="941832" y="5376672"/>
            <a:ext cx="10232136" cy="493776"/>
          </a:xfrm>
          <a:prstGeom prst="rect">
            <a:avLst/>
          </a:prstGeom>
          <a:noFill/>
          <a:ln/>
        </p:spPr>
        <p:txBody>
          <a:bodyPr wrap="square" lIns="0" tIns="0" rIns="0" bIns="0" rtlCol="0" anchor="ctr"/>
          <a:lstStyle/>
          <a:p>
            <a:pPr marL="0" indent="0" algn="ctr">
              <a:buNone/>
            </a:pPr>
            <a:r>
              <a:rPr lang="en-US" sz="2000" dirty="0">
                <a:solidFill>
                  <a:srgbClr val="F4F7FB"/>
                </a:solidFill>
                <a:latin typeface="Aptos" pitchFamily="34" charset="0"/>
                <a:ea typeface="Aptos" pitchFamily="34" charset="-122"/>
                <a:cs typeface="Aptos" pitchFamily="34" charset="-120"/>
              </a:rPr>
              <a:t>Dataset: Vimeo-90K-T   •   toate cele trei rețele câștigă folosind măști Random.</a:t>
            </a:r>
            <a:endParaRPr lang="en-US" sz="2000" dirty="0"/>
          </a:p>
        </p:txBody>
      </p:sp>
      <p:sp>
        <p:nvSpPr>
          <p:cNvPr id="48" name="Text 46"/>
          <p:cNvSpPr/>
          <p:nvPr/>
        </p:nvSpPr>
        <p:spPr>
          <a:xfrm>
            <a:off x="1005840" y="5952744"/>
            <a:ext cx="10012680" cy="310896"/>
          </a:xfrm>
          <a:prstGeom prst="rect">
            <a:avLst/>
          </a:prstGeom>
          <a:noFill/>
          <a:ln/>
        </p:spPr>
        <p:txBody>
          <a:bodyPr wrap="square" lIns="0" tIns="0" rIns="0" bIns="0" rtlCol="0" anchor="ctr"/>
          <a:lstStyle/>
          <a:p>
            <a:pPr marL="0" indent="0" algn="ctr">
              <a:buNone/>
            </a:pPr>
            <a:r>
              <a:rPr lang="en-US" sz="1300">
                <a:solidFill>
                  <a:srgbClr val="B9C9DB"/>
                </a:solidFill>
                <a:latin typeface="Aptos" pitchFamily="34" charset="0"/>
                <a:ea typeface="Aptos" pitchFamily="34" charset="-122"/>
                <a:cs typeface="Aptos" pitchFamily="34" charset="-120"/>
              </a:rPr>
              <a:t>Sursă: Katz et al., Tabelul 1. Setarea Random utilizează numai 50% din pixeli pe cadru.</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Rezultate: două măsurări / cadru</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BasicVSR, VSR ×4, CR = 1/8; date din Tabelul 2.</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14</a:t>
            </a:r>
            <a:endParaRPr lang="en-US" sz="1000" dirty="0"/>
          </a:p>
        </p:txBody>
      </p:sp>
      <p:sp>
        <p:nvSpPr>
          <p:cNvPr id="7" name="Text 5"/>
          <p:cNvSpPr/>
          <p:nvPr/>
        </p:nvSpPr>
        <p:spPr>
          <a:xfrm>
            <a:off x="877824" y="1856232"/>
            <a:ext cx="2340864" cy="393192"/>
          </a:xfrm>
          <a:prstGeom prst="rect">
            <a:avLst/>
          </a:prstGeom>
          <a:noFill/>
          <a:ln/>
        </p:spPr>
        <p:txBody>
          <a:bodyPr wrap="square" lIns="0" tIns="0" rIns="0" bIns="0" rtlCol="0" anchor="ctr"/>
          <a:lstStyle/>
          <a:p>
            <a:pPr marL="0" indent="0">
              <a:buNone/>
            </a:pPr>
            <a:r>
              <a:rPr lang="en-US" sz="1700" dirty="0">
                <a:solidFill>
                  <a:srgbClr val="F4F7FB"/>
                </a:solidFill>
                <a:latin typeface="Aptos" pitchFamily="34" charset="0"/>
                <a:ea typeface="Aptos" pitchFamily="34" charset="-122"/>
                <a:cs typeface="Aptos" pitchFamily="34" charset="-120"/>
              </a:rPr>
              <a:t>8Sum fix</a:t>
            </a:r>
            <a:endParaRPr lang="en-US" sz="1700" dirty="0"/>
          </a:p>
        </p:txBody>
      </p:sp>
      <p:sp>
        <p:nvSpPr>
          <p:cNvPr id="8" name="Shape 6"/>
          <p:cNvSpPr/>
          <p:nvPr/>
        </p:nvSpPr>
        <p:spPr>
          <a:xfrm>
            <a:off x="3346704" y="1901952"/>
            <a:ext cx="1799320" cy="384048"/>
          </a:xfrm>
          <a:prstGeom prst="roundRect">
            <a:avLst>
              <a:gd name="adj" fmla="val 38095"/>
            </a:avLst>
          </a:prstGeom>
          <a:solidFill>
            <a:srgbClr val="FF9C95"/>
          </a:solidFill>
          <a:ln w="10160">
            <a:solidFill>
              <a:srgbClr val="FF9C95"/>
            </a:solidFill>
            <a:prstDash val="solid"/>
          </a:ln>
        </p:spPr>
        <p:txBody>
          <a:bodyPr/>
          <a:lstStyle/>
          <a:p>
            <a:endParaRPr lang="en-US"/>
          </a:p>
        </p:txBody>
      </p:sp>
      <p:sp>
        <p:nvSpPr>
          <p:cNvPr id="9" name="Text 7"/>
          <p:cNvSpPr/>
          <p:nvPr/>
        </p:nvSpPr>
        <p:spPr>
          <a:xfrm>
            <a:off x="10351008" y="1810512"/>
            <a:ext cx="914400" cy="475488"/>
          </a:xfrm>
          <a:prstGeom prst="rect">
            <a:avLst/>
          </a:prstGeom>
          <a:noFill/>
          <a:ln/>
        </p:spPr>
        <p:txBody>
          <a:bodyPr wrap="square" lIns="0" tIns="0" rIns="0" bIns="0" rtlCol="0" anchor="ctr"/>
          <a:lstStyle/>
          <a:p>
            <a:pPr marL="0" indent="0" algn="r">
              <a:buNone/>
            </a:pPr>
            <a:r>
              <a:rPr lang="en-US" sz="1700" b="1" dirty="0">
                <a:solidFill>
                  <a:srgbClr val="F4F7FB"/>
                </a:solidFill>
                <a:latin typeface="Aptos" pitchFamily="34" charset="0"/>
                <a:ea typeface="Aptos" pitchFamily="34" charset="-122"/>
                <a:cs typeface="Aptos" pitchFamily="34" charset="-120"/>
              </a:rPr>
              <a:t>39,22 dB</a:t>
            </a:r>
            <a:endParaRPr lang="en-US" sz="1700" dirty="0"/>
          </a:p>
        </p:txBody>
      </p:sp>
      <p:sp>
        <p:nvSpPr>
          <p:cNvPr id="10" name="Text 8"/>
          <p:cNvSpPr/>
          <p:nvPr/>
        </p:nvSpPr>
        <p:spPr>
          <a:xfrm>
            <a:off x="877824" y="2578608"/>
            <a:ext cx="2340864" cy="393192"/>
          </a:xfrm>
          <a:prstGeom prst="rect">
            <a:avLst/>
          </a:prstGeom>
          <a:noFill/>
          <a:ln/>
        </p:spPr>
        <p:txBody>
          <a:bodyPr wrap="square" lIns="0" tIns="0" rIns="0" bIns="0" rtlCol="0" anchor="ctr"/>
          <a:lstStyle/>
          <a:p>
            <a:pPr marL="0" indent="0">
              <a:buNone/>
            </a:pPr>
            <a:r>
              <a:rPr lang="en-US" sz="1700" dirty="0">
                <a:solidFill>
                  <a:srgbClr val="F4F7FB"/>
                </a:solidFill>
                <a:latin typeface="Aptos" pitchFamily="34" charset="0"/>
                <a:ea typeface="Aptos" pitchFamily="34" charset="-122"/>
                <a:cs typeface="Aptos" pitchFamily="34" charset="-120"/>
              </a:rPr>
              <a:t>8Sum alternant</a:t>
            </a:r>
            <a:endParaRPr lang="en-US" sz="1700" dirty="0"/>
          </a:p>
        </p:txBody>
      </p:sp>
      <p:sp>
        <p:nvSpPr>
          <p:cNvPr id="11" name="Shape 9"/>
          <p:cNvSpPr/>
          <p:nvPr/>
        </p:nvSpPr>
        <p:spPr>
          <a:xfrm>
            <a:off x="3346704" y="2624328"/>
            <a:ext cx="5251143" cy="384048"/>
          </a:xfrm>
          <a:prstGeom prst="roundRect">
            <a:avLst>
              <a:gd name="adj" fmla="val 38095"/>
            </a:avLst>
          </a:prstGeom>
          <a:solidFill>
            <a:srgbClr val="52D6D3"/>
          </a:solidFill>
          <a:ln w="10160">
            <a:solidFill>
              <a:srgbClr val="52D6D3"/>
            </a:solidFill>
            <a:prstDash val="solid"/>
          </a:ln>
        </p:spPr>
        <p:txBody>
          <a:bodyPr/>
          <a:lstStyle/>
          <a:p>
            <a:endParaRPr lang="en-US"/>
          </a:p>
        </p:txBody>
      </p:sp>
      <p:sp>
        <p:nvSpPr>
          <p:cNvPr id="12" name="Text 10"/>
          <p:cNvSpPr/>
          <p:nvPr/>
        </p:nvSpPr>
        <p:spPr>
          <a:xfrm>
            <a:off x="10351008" y="2532888"/>
            <a:ext cx="914400" cy="475488"/>
          </a:xfrm>
          <a:prstGeom prst="rect">
            <a:avLst/>
          </a:prstGeom>
          <a:noFill/>
          <a:ln/>
        </p:spPr>
        <p:txBody>
          <a:bodyPr wrap="square" lIns="0" tIns="0" rIns="0" bIns="0" rtlCol="0" anchor="ctr"/>
          <a:lstStyle/>
          <a:p>
            <a:pPr marL="0" indent="0" algn="r">
              <a:buNone/>
            </a:pPr>
            <a:r>
              <a:rPr lang="en-US" sz="1700" b="1" dirty="0">
                <a:solidFill>
                  <a:srgbClr val="F4F7FB"/>
                </a:solidFill>
                <a:latin typeface="Aptos" pitchFamily="34" charset="0"/>
                <a:ea typeface="Aptos" pitchFamily="34" charset="-122"/>
                <a:cs typeface="Aptos" pitchFamily="34" charset="-120"/>
              </a:rPr>
              <a:t>40,79 dB</a:t>
            </a:r>
            <a:endParaRPr lang="en-US" sz="1700" dirty="0"/>
          </a:p>
        </p:txBody>
      </p:sp>
      <p:sp>
        <p:nvSpPr>
          <p:cNvPr id="13" name="Text 11"/>
          <p:cNvSpPr/>
          <p:nvPr/>
        </p:nvSpPr>
        <p:spPr>
          <a:xfrm>
            <a:off x="877824" y="3300984"/>
            <a:ext cx="2340864" cy="393192"/>
          </a:xfrm>
          <a:prstGeom prst="rect">
            <a:avLst/>
          </a:prstGeom>
          <a:noFill/>
          <a:ln/>
        </p:spPr>
        <p:txBody>
          <a:bodyPr wrap="square" lIns="0" tIns="0" rIns="0" bIns="0" rtlCol="0" anchor="ctr"/>
          <a:lstStyle/>
          <a:p>
            <a:pPr marL="0" indent="0">
              <a:buNone/>
            </a:pPr>
            <a:r>
              <a:rPr lang="en-US" sz="1700" dirty="0">
                <a:solidFill>
                  <a:srgbClr val="F4F7FB"/>
                </a:solidFill>
                <a:latin typeface="Aptos" pitchFamily="34" charset="0"/>
                <a:ea typeface="Aptos" pitchFamily="34" charset="-122"/>
                <a:cs typeface="Aptos" pitchFamily="34" charset="-120"/>
              </a:rPr>
              <a:t>Random dinamic</a:t>
            </a:r>
            <a:endParaRPr lang="en-US" sz="1700" dirty="0"/>
          </a:p>
        </p:txBody>
      </p:sp>
      <p:sp>
        <p:nvSpPr>
          <p:cNvPr id="14" name="Shape 12"/>
          <p:cNvSpPr/>
          <p:nvPr/>
        </p:nvSpPr>
        <p:spPr>
          <a:xfrm>
            <a:off x="3346704" y="3346704"/>
            <a:ext cx="5789030" cy="384048"/>
          </a:xfrm>
          <a:prstGeom prst="roundRect">
            <a:avLst>
              <a:gd name="adj" fmla="val 38095"/>
            </a:avLst>
          </a:prstGeom>
          <a:solidFill>
            <a:srgbClr val="52D6D3"/>
          </a:solidFill>
          <a:ln w="10160">
            <a:solidFill>
              <a:srgbClr val="52D6D3"/>
            </a:solidFill>
            <a:prstDash val="solid"/>
          </a:ln>
        </p:spPr>
        <p:txBody>
          <a:bodyPr/>
          <a:lstStyle/>
          <a:p>
            <a:endParaRPr lang="en-US"/>
          </a:p>
        </p:txBody>
      </p:sp>
      <p:sp>
        <p:nvSpPr>
          <p:cNvPr id="15" name="Text 13"/>
          <p:cNvSpPr/>
          <p:nvPr/>
        </p:nvSpPr>
        <p:spPr>
          <a:xfrm>
            <a:off x="10351008" y="3255264"/>
            <a:ext cx="914400" cy="475488"/>
          </a:xfrm>
          <a:prstGeom prst="rect">
            <a:avLst/>
          </a:prstGeom>
          <a:noFill/>
          <a:ln/>
        </p:spPr>
        <p:txBody>
          <a:bodyPr wrap="square" lIns="0" tIns="0" rIns="0" bIns="0" rtlCol="0" anchor="ctr"/>
          <a:lstStyle/>
          <a:p>
            <a:pPr marL="0" indent="0" algn="r">
              <a:buNone/>
            </a:pPr>
            <a:r>
              <a:rPr lang="en-US" sz="1700" b="1" dirty="0">
                <a:solidFill>
                  <a:srgbClr val="F4F7FB"/>
                </a:solidFill>
                <a:latin typeface="Aptos" pitchFamily="34" charset="0"/>
                <a:ea typeface="Aptos" pitchFamily="34" charset="-122"/>
                <a:cs typeface="Aptos" pitchFamily="34" charset="-120"/>
              </a:rPr>
              <a:t>41,04 dB</a:t>
            </a:r>
            <a:endParaRPr lang="en-US" sz="1700" dirty="0"/>
          </a:p>
        </p:txBody>
      </p:sp>
      <p:sp>
        <p:nvSpPr>
          <p:cNvPr id="16" name="Text 14"/>
          <p:cNvSpPr/>
          <p:nvPr/>
        </p:nvSpPr>
        <p:spPr>
          <a:xfrm>
            <a:off x="877824" y="4023360"/>
            <a:ext cx="2340864" cy="393192"/>
          </a:xfrm>
          <a:prstGeom prst="rect">
            <a:avLst/>
          </a:prstGeom>
          <a:noFill/>
          <a:ln/>
        </p:spPr>
        <p:txBody>
          <a:bodyPr wrap="square" lIns="0" tIns="0" rIns="0" bIns="0" rtlCol="0" anchor="ctr"/>
          <a:lstStyle/>
          <a:p>
            <a:pPr marL="0" indent="0">
              <a:buNone/>
            </a:pPr>
            <a:r>
              <a:rPr lang="en-US" sz="1700" dirty="0">
                <a:solidFill>
                  <a:srgbClr val="F4F7FB"/>
                </a:solidFill>
                <a:latin typeface="Aptos" pitchFamily="34" charset="0"/>
                <a:ea typeface="Aptos" pitchFamily="34" charset="-122"/>
                <a:cs typeface="Aptos" pitchFamily="34" charset="-120"/>
              </a:rPr>
              <a:t>Tetromino basic</a:t>
            </a:r>
            <a:endParaRPr lang="en-US" sz="1700" dirty="0"/>
          </a:p>
        </p:txBody>
      </p:sp>
      <p:sp>
        <p:nvSpPr>
          <p:cNvPr id="17" name="Shape 15"/>
          <p:cNvSpPr/>
          <p:nvPr/>
        </p:nvSpPr>
        <p:spPr>
          <a:xfrm>
            <a:off x="3346704" y="4069080"/>
            <a:ext cx="6668390" cy="384048"/>
          </a:xfrm>
          <a:prstGeom prst="roundRect">
            <a:avLst>
              <a:gd name="adj" fmla="val 38095"/>
            </a:avLst>
          </a:prstGeom>
          <a:solidFill>
            <a:srgbClr val="52D6D3"/>
          </a:solidFill>
          <a:ln w="10160">
            <a:solidFill>
              <a:srgbClr val="52D6D3"/>
            </a:solidFill>
            <a:prstDash val="solid"/>
          </a:ln>
        </p:spPr>
        <p:txBody>
          <a:bodyPr/>
          <a:lstStyle/>
          <a:p>
            <a:endParaRPr lang="en-US"/>
          </a:p>
        </p:txBody>
      </p:sp>
      <p:sp>
        <p:nvSpPr>
          <p:cNvPr id="18" name="Text 16"/>
          <p:cNvSpPr/>
          <p:nvPr/>
        </p:nvSpPr>
        <p:spPr>
          <a:xfrm>
            <a:off x="10351008" y="3977640"/>
            <a:ext cx="914400" cy="475488"/>
          </a:xfrm>
          <a:prstGeom prst="rect">
            <a:avLst/>
          </a:prstGeom>
          <a:noFill/>
          <a:ln/>
        </p:spPr>
        <p:txBody>
          <a:bodyPr wrap="square" lIns="0" tIns="0" rIns="0" bIns="0" rtlCol="0" anchor="ctr"/>
          <a:lstStyle/>
          <a:p>
            <a:pPr marL="0" indent="0" algn="r">
              <a:buNone/>
            </a:pPr>
            <a:r>
              <a:rPr lang="en-US" sz="1700" b="1" dirty="0">
                <a:solidFill>
                  <a:srgbClr val="F4F7FB"/>
                </a:solidFill>
                <a:latin typeface="Aptos" pitchFamily="34" charset="0"/>
                <a:ea typeface="Aptos" pitchFamily="34" charset="-122"/>
                <a:cs typeface="Aptos" pitchFamily="34" charset="-120"/>
              </a:rPr>
              <a:t>41,44 dB</a:t>
            </a:r>
            <a:endParaRPr lang="en-US" sz="1700" dirty="0"/>
          </a:p>
        </p:txBody>
      </p:sp>
      <p:sp>
        <p:nvSpPr>
          <p:cNvPr id="19" name="Text 17"/>
          <p:cNvSpPr/>
          <p:nvPr/>
        </p:nvSpPr>
        <p:spPr>
          <a:xfrm>
            <a:off x="877824" y="4745736"/>
            <a:ext cx="2340864" cy="393192"/>
          </a:xfrm>
          <a:prstGeom prst="rect">
            <a:avLst/>
          </a:prstGeom>
          <a:noFill/>
          <a:ln/>
        </p:spPr>
        <p:txBody>
          <a:bodyPr wrap="square" lIns="0" tIns="0" rIns="0" bIns="0" rtlCol="0" anchor="ctr"/>
          <a:lstStyle/>
          <a:p>
            <a:pPr marL="0" indent="0">
              <a:buNone/>
            </a:pPr>
            <a:r>
              <a:rPr lang="en-US" sz="1700" dirty="0">
                <a:solidFill>
                  <a:srgbClr val="F4F7FB"/>
                </a:solidFill>
                <a:latin typeface="Aptos" pitchFamily="34" charset="0"/>
                <a:ea typeface="Aptos" pitchFamily="34" charset="-122"/>
                <a:cs typeface="Aptos" pitchFamily="34" charset="-120"/>
              </a:rPr>
              <a:t>Tetromino extins</a:t>
            </a:r>
            <a:endParaRPr lang="en-US" sz="1700" dirty="0"/>
          </a:p>
        </p:txBody>
      </p:sp>
      <p:sp>
        <p:nvSpPr>
          <p:cNvPr id="20" name="Shape 18"/>
          <p:cNvSpPr/>
          <p:nvPr/>
        </p:nvSpPr>
        <p:spPr>
          <a:xfrm>
            <a:off x="3346704" y="4791456"/>
            <a:ext cx="6951269" cy="384048"/>
          </a:xfrm>
          <a:prstGeom prst="roundRect">
            <a:avLst>
              <a:gd name="adj" fmla="val 38095"/>
            </a:avLst>
          </a:prstGeom>
          <a:solidFill>
            <a:srgbClr val="80E2B0"/>
          </a:solidFill>
          <a:ln w="10160">
            <a:solidFill>
              <a:srgbClr val="80E2B0"/>
            </a:solidFill>
            <a:prstDash val="solid"/>
          </a:ln>
        </p:spPr>
        <p:txBody>
          <a:bodyPr/>
          <a:lstStyle/>
          <a:p>
            <a:endParaRPr lang="en-US"/>
          </a:p>
        </p:txBody>
      </p:sp>
      <p:sp>
        <p:nvSpPr>
          <p:cNvPr id="21" name="Text 19"/>
          <p:cNvSpPr/>
          <p:nvPr/>
        </p:nvSpPr>
        <p:spPr>
          <a:xfrm>
            <a:off x="10351008" y="4700016"/>
            <a:ext cx="914400" cy="475488"/>
          </a:xfrm>
          <a:prstGeom prst="rect">
            <a:avLst/>
          </a:prstGeom>
          <a:noFill/>
          <a:ln/>
        </p:spPr>
        <p:txBody>
          <a:bodyPr wrap="square" lIns="0" tIns="0" rIns="0" bIns="0" rtlCol="0" anchor="ctr"/>
          <a:lstStyle/>
          <a:p>
            <a:pPr marL="0" indent="0" algn="r">
              <a:buNone/>
            </a:pPr>
            <a:r>
              <a:rPr lang="en-US" sz="1700" b="1" dirty="0">
                <a:solidFill>
                  <a:srgbClr val="80E2B0"/>
                </a:solidFill>
                <a:latin typeface="Aptos" pitchFamily="34" charset="0"/>
                <a:ea typeface="Aptos" pitchFamily="34" charset="-122"/>
                <a:cs typeface="Aptos" pitchFamily="34" charset="-120"/>
              </a:rPr>
              <a:t>41,57 dB</a:t>
            </a:r>
            <a:endParaRPr lang="en-US" sz="1700" dirty="0"/>
          </a:p>
        </p:txBody>
      </p:sp>
      <p:sp>
        <p:nvSpPr>
          <p:cNvPr id="22" name="Shape 20"/>
          <p:cNvSpPr/>
          <p:nvPr/>
        </p:nvSpPr>
        <p:spPr>
          <a:xfrm>
            <a:off x="914400" y="5632704"/>
            <a:ext cx="10323576" cy="475488"/>
          </a:xfrm>
          <a:prstGeom prst="roundRect">
            <a:avLst>
              <a:gd name="adj" fmla="val 30769"/>
            </a:avLst>
          </a:prstGeom>
          <a:solidFill>
            <a:srgbClr val="1C304A"/>
          </a:solidFill>
          <a:ln w="10160">
            <a:solidFill>
              <a:srgbClr val="1C304A"/>
            </a:solidFill>
            <a:prstDash val="solid"/>
          </a:ln>
        </p:spPr>
        <p:txBody>
          <a:bodyPr/>
          <a:lstStyle/>
          <a:p>
            <a:endParaRPr lang="en-US"/>
          </a:p>
        </p:txBody>
      </p:sp>
      <p:sp>
        <p:nvSpPr>
          <p:cNvPr id="23" name="Text 21"/>
          <p:cNvSpPr/>
          <p:nvPr/>
        </p:nvSpPr>
        <p:spPr>
          <a:xfrm>
            <a:off x="1115568" y="5687568"/>
            <a:ext cx="9966960" cy="356616"/>
          </a:xfrm>
          <a:prstGeom prst="rect">
            <a:avLst/>
          </a:prstGeom>
          <a:noFill/>
          <a:ln/>
        </p:spPr>
        <p:txBody>
          <a:bodyPr wrap="square" lIns="0" tIns="0" rIns="0" bIns="0" rtlCol="0" anchor="ctr"/>
          <a:lstStyle/>
          <a:p>
            <a:pPr marL="0" indent="0" algn="ctr">
              <a:buNone/>
            </a:pPr>
            <a:r>
              <a:rPr lang="en-US" sz="1700" b="1" dirty="0">
                <a:solidFill>
                  <a:srgbClr val="80E2B0"/>
                </a:solidFill>
                <a:latin typeface="Aptos" pitchFamily="34" charset="0"/>
                <a:ea typeface="Aptos" pitchFamily="34" charset="-122"/>
                <a:cs typeface="Aptos" pitchFamily="34" charset="-120"/>
              </a:rPr>
              <a:t>Tetromino extins vs 8Sum fix: +2,35 dB pe Vimeo-90K-T; pe Vid4: 31,86 vs 28,98 dB.</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a:solidFill>
                  <a:srgbClr val="F4F7FB"/>
                </a:solidFill>
                <a:latin typeface="Aptos" pitchFamily="34" charset="0"/>
                <a:ea typeface="Aptos" pitchFamily="34" charset="-122"/>
                <a:cs typeface="Aptos" pitchFamily="34" charset="-120"/>
              </a:rPr>
              <a:t>Rezultatele — și ce lipsește?</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Interpretarea trebuie raportată la condițiile experimentale din articol.</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15</a:t>
            </a:r>
            <a:endParaRPr lang="en-US" sz="1000" dirty="0"/>
          </a:p>
        </p:txBody>
      </p:sp>
      <p:sp>
        <p:nvSpPr>
          <p:cNvPr id="7" name="Shape 5"/>
          <p:cNvSpPr/>
          <p:nvPr/>
        </p:nvSpPr>
        <p:spPr>
          <a:xfrm>
            <a:off x="758952" y="1645920"/>
            <a:ext cx="5166360" cy="3648456"/>
          </a:xfrm>
          <a:prstGeom prst="roundRect">
            <a:avLst>
              <a:gd name="adj" fmla="val 4010"/>
            </a:avLst>
          </a:prstGeom>
          <a:solidFill>
            <a:srgbClr val="17253B"/>
          </a:solidFill>
          <a:ln w="10160">
            <a:solidFill>
              <a:srgbClr val="17253B"/>
            </a:solidFill>
            <a:prstDash val="solid"/>
          </a:ln>
        </p:spPr>
        <p:txBody>
          <a:bodyPr/>
          <a:lstStyle/>
          <a:p>
            <a:endParaRPr lang="en-US"/>
          </a:p>
        </p:txBody>
      </p:sp>
      <p:sp>
        <p:nvSpPr>
          <p:cNvPr id="8" name="Shape 6"/>
          <p:cNvSpPr/>
          <p:nvPr/>
        </p:nvSpPr>
        <p:spPr>
          <a:xfrm>
            <a:off x="758952" y="1645920"/>
            <a:ext cx="50292" cy="3648456"/>
          </a:xfrm>
          <a:prstGeom prst="roundRect">
            <a:avLst>
              <a:gd name="adj" fmla="val 290909"/>
            </a:avLst>
          </a:prstGeom>
          <a:solidFill>
            <a:srgbClr val="80E2B0"/>
          </a:solidFill>
          <a:ln w="10160">
            <a:solidFill>
              <a:srgbClr val="80E2B0"/>
            </a:solidFill>
            <a:prstDash val="solid"/>
          </a:ln>
        </p:spPr>
        <p:txBody>
          <a:bodyPr/>
          <a:lstStyle/>
          <a:p>
            <a:endParaRPr lang="en-US"/>
          </a:p>
        </p:txBody>
      </p:sp>
      <p:sp>
        <p:nvSpPr>
          <p:cNvPr id="9" name="Text 7"/>
          <p:cNvSpPr/>
          <p:nvPr/>
        </p:nvSpPr>
        <p:spPr>
          <a:xfrm>
            <a:off x="960120" y="1801368"/>
            <a:ext cx="4782312" cy="402336"/>
          </a:xfrm>
          <a:prstGeom prst="rect">
            <a:avLst/>
          </a:prstGeom>
          <a:noFill/>
          <a:ln/>
        </p:spPr>
        <p:txBody>
          <a:bodyPr wrap="square" lIns="0" tIns="0" rIns="0" bIns="0" rtlCol="0" anchor="ctr"/>
          <a:lstStyle/>
          <a:p>
            <a:pPr marL="0" indent="0">
              <a:buNone/>
            </a:pPr>
            <a:r>
              <a:rPr lang="en-US" sz="2000" b="1">
                <a:solidFill>
                  <a:srgbClr val="80E2B0"/>
                </a:solidFill>
                <a:latin typeface="Aptos" pitchFamily="34" charset="0"/>
                <a:ea typeface="Aptos" pitchFamily="34" charset="-122"/>
                <a:cs typeface="Aptos" pitchFamily="34" charset="-120"/>
              </a:rPr>
              <a:t>Rezultate promițătoare</a:t>
            </a:r>
            <a:endParaRPr lang="en-US" sz="2000" dirty="0"/>
          </a:p>
        </p:txBody>
      </p:sp>
      <p:sp>
        <p:nvSpPr>
          <p:cNvPr id="10" name="Text 8"/>
          <p:cNvSpPr/>
          <p:nvPr/>
        </p:nvSpPr>
        <p:spPr>
          <a:xfrm>
            <a:off x="960120" y="2322576"/>
            <a:ext cx="4764024" cy="2871216"/>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 Câștiguri consecvente pe Vimeo-90K-T și Vid4.</a:t>
            </a:r>
            <a:endParaRPr lang="en-US" sz="1600" dirty="0"/>
          </a:p>
          <a:p>
            <a:pPr marL="0" indent="0">
              <a:buNone/>
            </a:pPr>
            <a:r>
              <a:rPr lang="en-US" sz="1600" dirty="0">
                <a:solidFill>
                  <a:srgbClr val="F4F7FB"/>
                </a:solidFill>
                <a:latin typeface="Aptos" pitchFamily="34" charset="0"/>
                <a:ea typeface="Aptos" pitchFamily="34" charset="-122"/>
                <a:cs typeface="Aptos" pitchFamily="34" charset="-120"/>
              </a:rPr>
              <a:t>• Cadre LR de tip imagine, compatibile cu VSR.</a:t>
            </a:r>
            <a:endParaRPr lang="en-US" sz="1600" dirty="0"/>
          </a:p>
          <a:p>
            <a:pPr marL="0" indent="0">
              <a:buNone/>
            </a:pPr>
            <a:r>
              <a:rPr lang="en-US" sz="1600" dirty="0">
                <a:solidFill>
                  <a:srgbClr val="F4F7FB"/>
                </a:solidFill>
                <a:latin typeface="Aptos" pitchFamily="34" charset="0"/>
                <a:ea typeface="Aptos" pitchFamily="34" charset="-122"/>
                <a:cs typeface="Aptos" pitchFamily="34" charset="-120"/>
              </a:rPr>
              <a:t>• Măștile complementare păstrează toți pixelii.</a:t>
            </a:r>
            <a:endParaRPr lang="en-US" sz="1600" dirty="0"/>
          </a:p>
        </p:txBody>
      </p:sp>
      <p:sp>
        <p:nvSpPr>
          <p:cNvPr id="11" name="Shape 9"/>
          <p:cNvSpPr/>
          <p:nvPr/>
        </p:nvSpPr>
        <p:spPr>
          <a:xfrm>
            <a:off x="6172200" y="1645920"/>
            <a:ext cx="5166360" cy="3648456"/>
          </a:xfrm>
          <a:prstGeom prst="roundRect">
            <a:avLst>
              <a:gd name="adj" fmla="val 4010"/>
            </a:avLst>
          </a:prstGeom>
          <a:solidFill>
            <a:srgbClr val="17253B"/>
          </a:solidFill>
          <a:ln w="10160">
            <a:solidFill>
              <a:srgbClr val="17253B"/>
            </a:solidFill>
            <a:prstDash val="solid"/>
          </a:ln>
        </p:spPr>
        <p:txBody>
          <a:bodyPr/>
          <a:lstStyle/>
          <a:p>
            <a:endParaRPr lang="en-US"/>
          </a:p>
        </p:txBody>
      </p:sp>
      <p:sp>
        <p:nvSpPr>
          <p:cNvPr id="12" name="Shape 10"/>
          <p:cNvSpPr/>
          <p:nvPr/>
        </p:nvSpPr>
        <p:spPr>
          <a:xfrm>
            <a:off x="6172200" y="1645920"/>
            <a:ext cx="50292" cy="3648456"/>
          </a:xfrm>
          <a:prstGeom prst="roundRect">
            <a:avLst>
              <a:gd name="adj" fmla="val 290909"/>
            </a:avLst>
          </a:prstGeom>
          <a:solidFill>
            <a:srgbClr val="FFC870"/>
          </a:solidFill>
          <a:ln w="10160">
            <a:solidFill>
              <a:srgbClr val="FFC870"/>
            </a:solidFill>
            <a:prstDash val="solid"/>
          </a:ln>
        </p:spPr>
        <p:txBody>
          <a:bodyPr/>
          <a:lstStyle/>
          <a:p>
            <a:endParaRPr lang="en-US"/>
          </a:p>
        </p:txBody>
      </p:sp>
      <p:sp>
        <p:nvSpPr>
          <p:cNvPr id="13" name="Text 11"/>
          <p:cNvSpPr/>
          <p:nvPr/>
        </p:nvSpPr>
        <p:spPr>
          <a:xfrm>
            <a:off x="6373368" y="1801368"/>
            <a:ext cx="4782312" cy="402336"/>
          </a:xfrm>
          <a:prstGeom prst="rect">
            <a:avLst/>
          </a:prstGeom>
          <a:noFill/>
          <a:ln/>
        </p:spPr>
        <p:txBody>
          <a:bodyPr wrap="square" lIns="0" tIns="0" rIns="0" bIns="0" rtlCol="0" anchor="ctr"/>
          <a:lstStyle/>
          <a:p>
            <a:pPr marL="0" indent="0">
              <a:buNone/>
            </a:pPr>
            <a:r>
              <a:rPr lang="en-US" sz="2000" b="1" dirty="0">
                <a:solidFill>
                  <a:srgbClr val="FFC870"/>
                </a:solidFill>
                <a:latin typeface="Aptos" pitchFamily="34" charset="0"/>
                <a:ea typeface="Aptos" pitchFamily="34" charset="-122"/>
                <a:cs typeface="Aptos" pitchFamily="34" charset="-120"/>
              </a:rPr>
              <a:t>Limite practice</a:t>
            </a:r>
            <a:endParaRPr lang="en-US" sz="2000" dirty="0"/>
          </a:p>
        </p:txBody>
      </p:sp>
      <p:sp>
        <p:nvSpPr>
          <p:cNvPr id="14" name="Text 12"/>
          <p:cNvSpPr/>
          <p:nvPr/>
        </p:nvSpPr>
        <p:spPr>
          <a:xfrm>
            <a:off x="6373368" y="2322576"/>
            <a:ext cx="4764024" cy="2871216"/>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 Senzor cu măști schimbate între cadre; nu e demonstrat un prototip.</a:t>
            </a:r>
            <a:endParaRPr lang="en-US" sz="1600" dirty="0"/>
          </a:p>
          <a:p>
            <a:pPr marL="0" indent="0">
              <a:buNone/>
            </a:pPr>
            <a:r>
              <a:rPr lang="en-US" sz="1600" dirty="0">
                <a:solidFill>
                  <a:srgbClr val="F4F7FB"/>
                </a:solidFill>
                <a:latin typeface="Aptos" pitchFamily="34" charset="0"/>
                <a:ea typeface="Aptos" pitchFamily="34" charset="-122"/>
                <a:cs typeface="Aptos" pitchFamily="34" charset="-120"/>
              </a:rPr>
              <a:t>• Două măsurări necesită mai mult hardware și trafic decât una.</a:t>
            </a:r>
            <a:endParaRPr lang="en-US" sz="1600" dirty="0"/>
          </a:p>
          <a:p>
            <a:pPr marL="0" indent="0">
              <a:buNone/>
            </a:pPr>
            <a:r>
              <a:rPr lang="en-US" sz="1600" dirty="0">
                <a:solidFill>
                  <a:srgbClr val="F4F7FB"/>
                </a:solidFill>
                <a:latin typeface="Aptos" pitchFamily="34" charset="0"/>
                <a:ea typeface="Aptos" pitchFamily="34" charset="-122"/>
                <a:cs typeface="Aptos" pitchFamily="34" charset="-120"/>
              </a:rPr>
              <a:t>• Reconstrucția depinde de asemănarea temporală și antrenare.</a:t>
            </a:r>
            <a:endParaRPr lang="en-US" sz="1600" dirty="0"/>
          </a:p>
        </p:txBody>
      </p:sp>
      <p:sp>
        <p:nvSpPr>
          <p:cNvPr id="15" name="Text 13"/>
          <p:cNvSpPr/>
          <p:nvPr/>
        </p:nvSpPr>
        <p:spPr>
          <a:xfrm>
            <a:off x="868680" y="5596128"/>
            <a:ext cx="10424160" cy="475488"/>
          </a:xfrm>
          <a:prstGeom prst="rect">
            <a:avLst/>
          </a:prstGeom>
          <a:noFill/>
          <a:ln/>
        </p:spPr>
        <p:txBody>
          <a:bodyPr wrap="square" lIns="0" tIns="0" rIns="0" bIns="0" rtlCol="0" anchor="ctr"/>
          <a:lstStyle/>
          <a:p>
            <a:pPr marL="0" indent="0" algn="ctr">
              <a:buNone/>
            </a:pPr>
            <a:r>
              <a:rPr lang="en-US" sz="1700" dirty="0">
                <a:solidFill>
                  <a:srgbClr val="B9C9DB"/>
                </a:solidFill>
                <a:latin typeface="Aptos" pitchFamily="34" charset="0"/>
                <a:ea typeface="Aptos" pitchFamily="34" charset="-122"/>
                <a:cs typeface="Aptos" pitchFamily="34" charset="-120"/>
              </a:rPr>
              <a:t>F = 7 cadre în configurațiile evaluate • antrenare pe Vimeo-90K • testare pe Vimeo-90K-T și Vid4.</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Concluzie</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Ideea de reținut în trei propoziții.</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16</a:t>
            </a:r>
            <a:endParaRPr lang="en-US" sz="1000" dirty="0"/>
          </a:p>
        </p:txBody>
      </p:sp>
      <p:sp>
        <p:nvSpPr>
          <p:cNvPr id="7" name="Shape 5"/>
          <p:cNvSpPr/>
          <p:nvPr/>
        </p:nvSpPr>
        <p:spPr>
          <a:xfrm>
            <a:off x="786384" y="1700784"/>
            <a:ext cx="10616184" cy="1161288"/>
          </a:xfrm>
          <a:prstGeom prst="roundRect">
            <a:avLst>
              <a:gd name="adj" fmla="val 12598"/>
            </a:avLst>
          </a:prstGeom>
          <a:solidFill>
            <a:srgbClr val="17253B"/>
          </a:solidFill>
          <a:ln w="10160">
            <a:solidFill>
              <a:srgbClr val="17253B"/>
            </a:solidFill>
            <a:prstDash val="solid"/>
          </a:ln>
        </p:spPr>
        <p:txBody>
          <a:bodyPr/>
          <a:lstStyle/>
          <a:p>
            <a:endParaRPr lang="en-US"/>
          </a:p>
        </p:txBody>
      </p:sp>
      <p:sp>
        <p:nvSpPr>
          <p:cNvPr id="8" name="Shape 6"/>
          <p:cNvSpPr/>
          <p:nvPr/>
        </p:nvSpPr>
        <p:spPr>
          <a:xfrm>
            <a:off x="786384" y="1700784"/>
            <a:ext cx="50292" cy="1161288"/>
          </a:xfrm>
          <a:prstGeom prst="roundRect">
            <a:avLst>
              <a:gd name="adj" fmla="val 290909"/>
            </a:avLst>
          </a:prstGeom>
          <a:solidFill>
            <a:srgbClr val="52D6D3"/>
          </a:solidFill>
          <a:ln w="10160">
            <a:solidFill>
              <a:srgbClr val="52D6D3"/>
            </a:solidFill>
            <a:prstDash val="solid"/>
          </a:ln>
        </p:spPr>
        <p:txBody>
          <a:bodyPr/>
          <a:lstStyle/>
          <a:p>
            <a:endParaRPr lang="en-US"/>
          </a:p>
        </p:txBody>
      </p:sp>
      <p:sp>
        <p:nvSpPr>
          <p:cNvPr id="9" name="Text 7"/>
          <p:cNvSpPr/>
          <p:nvPr/>
        </p:nvSpPr>
        <p:spPr>
          <a:xfrm>
            <a:off x="987552" y="1856232"/>
            <a:ext cx="10232136" cy="402336"/>
          </a:xfrm>
          <a:prstGeom prst="rect">
            <a:avLst/>
          </a:prstGeom>
          <a:noFill/>
          <a:ln/>
        </p:spPr>
        <p:txBody>
          <a:bodyPr wrap="square" lIns="0" tIns="0" rIns="0" bIns="0" rtlCol="0" anchor="ctr"/>
          <a:lstStyle/>
          <a:p>
            <a:pPr marL="0" indent="0">
              <a:buNone/>
            </a:pPr>
            <a:r>
              <a:rPr lang="en-US" sz="2000" b="1">
                <a:solidFill>
                  <a:srgbClr val="52D6D3"/>
                </a:solidFill>
                <a:latin typeface="Aptos" pitchFamily="34" charset="0"/>
                <a:ea typeface="Aptos" pitchFamily="34" charset="-122"/>
                <a:cs typeface="Aptos" pitchFamily="34" charset="-120"/>
              </a:rPr>
              <a:t>01  Proiectarea etapei de măsurare contează foarte mult</a:t>
            </a:r>
            <a:endParaRPr lang="en-US" sz="2000" dirty="0"/>
          </a:p>
        </p:txBody>
      </p:sp>
      <p:sp>
        <p:nvSpPr>
          <p:cNvPr id="10" name="Text 8"/>
          <p:cNvSpPr/>
          <p:nvPr/>
        </p:nvSpPr>
        <p:spPr>
          <a:xfrm>
            <a:off x="987552" y="2377440"/>
            <a:ext cx="10213848" cy="384048"/>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Calitatea reconstrucției depinde și de ce informație păstrează senzorul.</a:t>
            </a:r>
            <a:endParaRPr lang="en-US" sz="1600" dirty="0"/>
          </a:p>
        </p:txBody>
      </p:sp>
      <p:sp>
        <p:nvSpPr>
          <p:cNvPr id="11" name="Shape 9"/>
          <p:cNvSpPr/>
          <p:nvPr/>
        </p:nvSpPr>
        <p:spPr>
          <a:xfrm>
            <a:off x="786384" y="3063240"/>
            <a:ext cx="10616184" cy="1161288"/>
          </a:xfrm>
          <a:prstGeom prst="roundRect">
            <a:avLst>
              <a:gd name="adj" fmla="val 12598"/>
            </a:avLst>
          </a:prstGeom>
          <a:solidFill>
            <a:srgbClr val="17253B"/>
          </a:solidFill>
          <a:ln w="10160">
            <a:solidFill>
              <a:srgbClr val="17253B"/>
            </a:solidFill>
            <a:prstDash val="solid"/>
          </a:ln>
        </p:spPr>
        <p:txBody>
          <a:bodyPr/>
          <a:lstStyle/>
          <a:p>
            <a:endParaRPr lang="en-US"/>
          </a:p>
        </p:txBody>
      </p:sp>
      <p:sp>
        <p:nvSpPr>
          <p:cNvPr id="12" name="Shape 10"/>
          <p:cNvSpPr/>
          <p:nvPr/>
        </p:nvSpPr>
        <p:spPr>
          <a:xfrm>
            <a:off x="786384" y="3063240"/>
            <a:ext cx="50292" cy="1161288"/>
          </a:xfrm>
          <a:prstGeom prst="roundRect">
            <a:avLst>
              <a:gd name="adj" fmla="val 290909"/>
            </a:avLst>
          </a:prstGeom>
          <a:solidFill>
            <a:srgbClr val="80E2B0"/>
          </a:solidFill>
          <a:ln w="10160">
            <a:solidFill>
              <a:srgbClr val="80E2B0"/>
            </a:solidFill>
            <a:prstDash val="solid"/>
          </a:ln>
        </p:spPr>
        <p:txBody>
          <a:bodyPr/>
          <a:lstStyle/>
          <a:p>
            <a:endParaRPr lang="en-US"/>
          </a:p>
        </p:txBody>
      </p:sp>
      <p:sp>
        <p:nvSpPr>
          <p:cNvPr id="13" name="Text 11"/>
          <p:cNvSpPr/>
          <p:nvPr/>
        </p:nvSpPr>
        <p:spPr>
          <a:xfrm>
            <a:off x="987552" y="3218688"/>
            <a:ext cx="10232136" cy="402336"/>
          </a:xfrm>
          <a:prstGeom prst="rect">
            <a:avLst/>
          </a:prstGeom>
          <a:noFill/>
          <a:ln/>
        </p:spPr>
        <p:txBody>
          <a:bodyPr wrap="square" lIns="0" tIns="0" rIns="0" bIns="0" rtlCol="0" anchor="ctr"/>
          <a:lstStyle/>
          <a:p>
            <a:pPr marL="0" indent="0">
              <a:buNone/>
            </a:pPr>
            <a:r>
              <a:rPr lang="en-US" sz="2000" b="1">
                <a:solidFill>
                  <a:srgbClr val="80E2B0"/>
                </a:solidFill>
                <a:latin typeface="Aptos" pitchFamily="34" charset="0"/>
                <a:ea typeface="Aptos" pitchFamily="34" charset="-122"/>
                <a:cs typeface="Aptos" pitchFamily="34" charset="-120"/>
              </a:rPr>
              <a:t>02  Limitări temporale</a:t>
            </a:r>
            <a:endParaRPr lang="en-US" sz="2000" dirty="0"/>
          </a:p>
        </p:txBody>
      </p:sp>
      <p:sp>
        <p:nvSpPr>
          <p:cNvPr id="14" name="Text 12"/>
          <p:cNvSpPr/>
          <p:nvPr/>
        </p:nvSpPr>
        <p:spPr>
          <a:xfrm>
            <a:off x="987552" y="3739896"/>
            <a:ext cx="10213848" cy="384048"/>
          </a:xfrm>
          <a:prstGeom prst="rect">
            <a:avLst/>
          </a:prstGeom>
          <a:noFill/>
          <a:ln/>
        </p:spPr>
        <p:txBody>
          <a:bodyPr wrap="square" lIns="0" tIns="0" rIns="0" bIns="0" rtlCol="0" anchor="ctr"/>
          <a:lstStyle/>
          <a:p>
            <a:pPr marL="0" indent="0">
              <a:buNone/>
            </a:pPr>
            <a:r>
              <a:rPr lang="en-US" sz="1600">
                <a:solidFill>
                  <a:srgbClr val="F4F7FB"/>
                </a:solidFill>
                <a:latin typeface="Aptos" pitchFamily="34" charset="0"/>
                <a:ea typeface="Aptos" pitchFamily="34" charset="-122"/>
                <a:cs typeface="Aptos" pitchFamily="34" charset="-120"/>
              </a:rPr>
              <a:t>Măștile dinamice oferă informație complementară între cadre fără a crește timpul necesar pentru achiziție.</a:t>
            </a:r>
            <a:endParaRPr lang="en-US" sz="1600" dirty="0"/>
          </a:p>
        </p:txBody>
      </p:sp>
      <p:sp>
        <p:nvSpPr>
          <p:cNvPr id="15" name="Shape 13"/>
          <p:cNvSpPr/>
          <p:nvPr/>
        </p:nvSpPr>
        <p:spPr>
          <a:xfrm>
            <a:off x="786384" y="4434840"/>
            <a:ext cx="10616184" cy="1161288"/>
          </a:xfrm>
          <a:prstGeom prst="roundRect">
            <a:avLst>
              <a:gd name="adj" fmla="val 12598"/>
            </a:avLst>
          </a:prstGeom>
          <a:solidFill>
            <a:srgbClr val="17253B"/>
          </a:solidFill>
          <a:ln w="10160">
            <a:solidFill>
              <a:srgbClr val="17253B"/>
            </a:solidFill>
            <a:prstDash val="solid"/>
          </a:ln>
        </p:spPr>
        <p:txBody>
          <a:bodyPr/>
          <a:lstStyle/>
          <a:p>
            <a:endParaRPr lang="en-US"/>
          </a:p>
        </p:txBody>
      </p:sp>
      <p:sp>
        <p:nvSpPr>
          <p:cNvPr id="16" name="Shape 14"/>
          <p:cNvSpPr/>
          <p:nvPr/>
        </p:nvSpPr>
        <p:spPr>
          <a:xfrm>
            <a:off x="786384" y="4434840"/>
            <a:ext cx="50292" cy="1161288"/>
          </a:xfrm>
          <a:prstGeom prst="roundRect">
            <a:avLst>
              <a:gd name="adj" fmla="val 290909"/>
            </a:avLst>
          </a:prstGeom>
          <a:solidFill>
            <a:srgbClr val="FFC870"/>
          </a:solidFill>
          <a:ln w="10160">
            <a:solidFill>
              <a:srgbClr val="FFC870"/>
            </a:solidFill>
            <a:prstDash val="solid"/>
          </a:ln>
        </p:spPr>
        <p:txBody>
          <a:bodyPr/>
          <a:lstStyle/>
          <a:p>
            <a:endParaRPr lang="en-US"/>
          </a:p>
        </p:txBody>
      </p:sp>
      <p:sp>
        <p:nvSpPr>
          <p:cNvPr id="17" name="Text 15"/>
          <p:cNvSpPr/>
          <p:nvPr/>
        </p:nvSpPr>
        <p:spPr>
          <a:xfrm>
            <a:off x="987552" y="4590288"/>
            <a:ext cx="10232136" cy="402336"/>
          </a:xfrm>
          <a:prstGeom prst="rect">
            <a:avLst/>
          </a:prstGeom>
          <a:noFill/>
          <a:ln/>
        </p:spPr>
        <p:txBody>
          <a:bodyPr wrap="square" lIns="0" tIns="0" rIns="0" bIns="0" rtlCol="0" anchor="ctr"/>
          <a:lstStyle/>
          <a:p>
            <a:pPr marL="0" indent="0">
              <a:buNone/>
            </a:pPr>
            <a:r>
              <a:rPr lang="en-US" sz="2000" b="1" dirty="0">
                <a:solidFill>
                  <a:srgbClr val="FFC870"/>
                </a:solidFill>
                <a:latin typeface="Aptos" pitchFamily="34" charset="0"/>
                <a:ea typeface="Aptos" pitchFamily="34" charset="-122"/>
                <a:cs typeface="Aptos" pitchFamily="34" charset="-120"/>
              </a:rPr>
              <a:t>03  Respectă constrângerile</a:t>
            </a:r>
            <a:endParaRPr lang="en-US" sz="2000" dirty="0"/>
          </a:p>
        </p:txBody>
      </p:sp>
      <p:sp>
        <p:nvSpPr>
          <p:cNvPr id="18" name="Text 16"/>
          <p:cNvSpPr/>
          <p:nvPr/>
        </p:nvSpPr>
        <p:spPr>
          <a:xfrm>
            <a:off x="987552" y="5111496"/>
            <a:ext cx="10213848" cy="384048"/>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Măștile complementare păstrează sensibilitatea, dar dublează măsurările.</a:t>
            </a:r>
            <a:endParaRPr lang="en-US" sz="1600" dirty="0"/>
          </a:p>
        </p:txBody>
      </p:sp>
      <p:sp>
        <p:nvSpPr>
          <p:cNvPr id="19" name="Text 17"/>
          <p:cNvSpPr/>
          <p:nvPr/>
        </p:nvSpPr>
        <p:spPr>
          <a:xfrm>
            <a:off x="896112" y="5980176"/>
            <a:ext cx="10314432" cy="429768"/>
          </a:xfrm>
          <a:prstGeom prst="rect">
            <a:avLst/>
          </a:prstGeom>
          <a:noFill/>
          <a:ln/>
        </p:spPr>
        <p:txBody>
          <a:bodyPr wrap="square" lIns="0" tIns="0" rIns="0" bIns="0" rtlCol="0" anchor="ctr"/>
          <a:lstStyle/>
          <a:p>
            <a:pPr marL="0" indent="0" algn="ctr">
              <a:buNone/>
            </a:pPr>
            <a:r>
              <a:rPr lang="en-US" sz="1300" dirty="0">
                <a:solidFill>
                  <a:srgbClr val="B9C9DB"/>
                </a:solidFill>
                <a:latin typeface="Aptos" pitchFamily="34" charset="0"/>
                <a:ea typeface="Aptos" pitchFamily="34" charset="-122"/>
                <a:cs typeface="Aptos" pitchFamily="34" charset="-120"/>
              </a:rPr>
              <a:t>Referință: Katz et al., „Rethinking Compressive Sensing: A Compression Framework for Video Super-Resolution”, CVPRW 2025.</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2538</Words>
  <Application>Microsoft Office PowerPoint</Application>
  <PresentationFormat>Widescreen</PresentationFormat>
  <Paragraphs>267</Paragraphs>
  <Slides>16</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Eșantionare compresivă pentru super-rezoluția video</dc:title>
  <dc:subject>Katz et al. — Rethinking Compressive Sensing, CVPRW 2025</dc:subject>
  <dc:creator>Prezentare academică</dc:creator>
  <cp:lastModifiedBy>Bogdan I</cp:lastModifiedBy>
  <cp:revision>10</cp:revision>
  <dcterms:created xsi:type="dcterms:W3CDTF">2026-10-13T05:41:26Z</dcterms:created>
  <dcterms:modified xsi:type="dcterms:W3CDTF">2026-10-13T09:28:22Z</dcterms:modified>
</cp:coreProperties>
</file>