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F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41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aproximativ 35 de secunde. Articolul propune schimbarea modului în care senzorul comprimă video-ul, astfel încât reconstrucția ulterioară să primească informație mai utilă. Voi începe cu noțiunea de eșantionare compresivă și voi ajunge la schema propusă, apoi la rezultatele experimentale.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55 de secunde. Senzorii de telefon pot avea aproximativ 200 de megapixeli, dar rezoluția obișnuită pentru filmare este mult mai mică. Binningul adună charge din grupuri de pixeli și ajută atât sensibilitatea, cât și lățimea de bandă. Dacă însă am însumat aceiași pixeli în fiecare cadru, informația spațială fină eliminată nu mai apare în date. Ideea este să proiectăm compresia împreună cu reconstrucția.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Compressive sensing, sau eșantionarea compresivă, este ideea de a face măsurări liniare mai puține decât numărul de valori din semnal, și totuși de a-l reconstrui aproximativ dacă are structură, de exemplu este rar într-un dicționar. Litera Phi reprezintă modul în care măsurăm. Contează nu doar cât măsurăm, ci și câtă informație independentă aduc măsurările. În acest articol reconstrucția este învățată de o rețea de super-rezoluție video; nu se rezolvă explicit un program clasic de minimizare L1.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În teoria clasică luăm diverse proiecții ale aceluiași obiect. Camera trebuie însă să livreze cadre la ritmul ei, nu să citească același cadru de multe ori. Autorii înlocuiesc citirile repetate cu măsurări în cadre succesive, folosind asemănarea temporală. Nu este o identitate exactă pentru scene care se schimbă rapid; este o aproximație exploatată de modelul VSR. Acest lucru este deosebit de util pentru zone statice, unde mișcarea nu furnizează singură decalări sub-pixel.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65 de secunde. Imaginea de înaltă rezoluție este împărțită în blocuri de patru pe patru pixeli. Senzorul face sume selective în fiecare bloc. Pentru fiecare cadru avem una sau două măsurări per bloc și obținem imagini cu dimensiunile spațiale de patru ori mai mici. Apoi aceste imagini joacă rolul intrării într-un sistem standard de video super-resolution. Avantajul este că datele comprimate se pot reprezenta tot ca imagini și pot fi prelucrate de infrastructura VSR.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În cazul unei singure măsurări, binningul standard 16Sum însumează toți cei 16 pixeli din bloc. O mască aleatoare folosește doar opt, iar configurația sa se schimbă între cadre. Ambele dau o valoare per bloc per cadru: raportul de măsurări este o șaisprezecime. Masca aleatoare furnizează diversitate pentru reconstrucție, dar la nivelul unui cadru renunță la jumătate din pixeli. Fill-factor redus înseamnă sensibilitate și SNR potențial mai slabe, deci autorii propun și soluția complementară.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Fiecare pixel participă la exact una dintre cele două măsurări. Prima sumă folosește masca A, a doua folosește complementul său B; împreună reproduc 16Sum. Astfel păstrăm tot semnalul colectat, adică fill-factor sută la sută, iar perechea conține mai multe informații pentru rețea decât suma finală unică. Avem două măsurări pentru 16 pixeli, deci raportul este o optime și fluxul de date se dublează față de varianta 1 pe 16. Implementarea hardware cere suplimentar elemente de citire și conversie.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Configurația 8Sum fix corespunde unei împărțiri regulate; autorii o folosesc drept reper. Apoi alternează grupările pe coloane și rânduri. Măștile aleatoare oferă diversitate temporală. Tetromino folosește grupări în formă de T: sunt tipare cu pixeli adiacenți; în versiunea extinsă cresc posibilitățile între cadre. Testul compară nu doar neregularitatea spațială, ci și caracterul static ori dinamic al măștii.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Pentru o măsurare pe cadru, se pot folosi direct arhitecturi consacrate precum BasicVSR, RVRT și IART, cu instruire adecvată datelor de intrare. Pentru două măsurări, două imagini RGB sunt concatenate pe canale: în loc de trei sunt șase canale. BasicVSR este adaptat la intrare și ieșire; o convoluție punctuală reduce ieșirea la RGB. Secvența nu devine de două ori mai lungă. Autorii arată în ablațiile din materialul suplimentar că interpolarea biliniară inițială este suficientă.</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Aceste numere sunt PSNR, în decibeli, pe setul Vimeo-90K-T. La același raport de măsurări de o șaisprezecime, Random este mai bun decât 16Sum cu aproximativ 1,18 până la 1,62 dB, în funcție de model. Rezultatul se repetă și pe Vid4 și în ceilalți indicatori raportați, SSIM și LPIPS. Important: beneficiul reconstrucției este observat într-o simulare comparativă, însă măștile Random folosesc doar jumătate din pixeli pe cadru. Pentru păstrarea sensibilității trecem la două măsurări complementare.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Aici comparăm numai variante cu două măsurări, deci același raport, o optime, și aceeași rețea BasicVSR. 8Sum fix obține 39,22 dB pe Vimeo-90K-T, alternarea simplă ajunge la 40,79, Random dinamic la 41,04, iar Tetromino extins la 41,57 dB: un câștig de 2,35 decibeli față de 8Sum fix. Pe Vid4 avem 31,86 versus 28,98 decibeli. Tabelul arată și că Tetromino static sau Random static sunt sub versiunile dinamice, semn că variația între cadre contează.</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Rezultatele susțin ipoteza că modul de achiziție contează. Metoda are măsurări reprezentabile ca imagini și varianta complementară valorifică toți pixelii. Totuși, lucrarea evaluează experimental pe seturi de date video, nu raportează un senzor fizic complet demonstrat; măștile schimbate de la cadru la cadru cer adaptarea electronicii. Două măsurări per bloc înseamnă mai mult trafic decât una și componente de citire suplimentare. Ca orice metodă VSR, depinde de relația dintre cadre și de condițiile în care modelul a fost antrenat.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45 de secunde. Concluzia este că nu trebuie tratată achiziția ca un pas fix și reconstrucția ca singura problemă de optimizat. Eșantionarea dinamică poate păstra informație complementară de la un cadru la altul, inclusiv acolo unde mișcarea scenei nu ajută mult. Varianta cu două măști complementare elimină pierderea sensibilității asociată măștilor parțiale, în schimbul unui volum de măsurări mai mare și al unor cerințe suplimentare pentru senzor. Mulțumesc.</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4" name="Text 2"/>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01</a:t>
            </a:r>
            <a:endParaRPr lang="en-US" sz="1000" dirty="0"/>
          </a:p>
        </p:txBody>
      </p:sp>
      <p:sp>
        <p:nvSpPr>
          <p:cNvPr id="5" name="Shape 3"/>
          <p:cNvSpPr/>
          <p:nvPr/>
        </p:nvSpPr>
        <p:spPr>
          <a:xfrm>
            <a:off x="685800" y="658368"/>
            <a:ext cx="2834640" cy="338328"/>
          </a:xfrm>
          <a:prstGeom prst="roundRect">
            <a:avLst>
              <a:gd name="adj" fmla="val 32432"/>
            </a:avLst>
          </a:prstGeom>
          <a:solidFill>
            <a:srgbClr val="1C304A"/>
          </a:solidFill>
          <a:ln w="10160">
            <a:solidFill>
              <a:srgbClr val="1C304A"/>
            </a:solidFill>
            <a:prstDash val="solid"/>
          </a:ln>
        </p:spPr>
      </p:sp>
      <p:sp>
        <p:nvSpPr>
          <p:cNvPr id="6" name="Text 4"/>
          <p:cNvSpPr/>
          <p:nvPr/>
        </p:nvSpPr>
        <p:spPr>
          <a:xfrm>
            <a:off x="786384" y="676656"/>
            <a:ext cx="2633472" cy="292608"/>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PREZENTARE  •  ~12–14 MIN</a:t>
            </a:r>
            <a:endParaRPr lang="en-US" sz="1300" dirty="0"/>
          </a:p>
        </p:txBody>
      </p:sp>
      <p:sp>
        <p:nvSpPr>
          <p:cNvPr id="7" name="Text 5"/>
          <p:cNvSpPr/>
          <p:nvPr/>
        </p:nvSpPr>
        <p:spPr>
          <a:xfrm>
            <a:off x="685800" y="1426464"/>
            <a:ext cx="10881360" cy="1508760"/>
          </a:xfrm>
          <a:prstGeom prst="rect">
            <a:avLst/>
          </a:prstGeom>
          <a:noFill/>
          <a:ln/>
        </p:spPr>
        <p:txBody>
          <a:bodyPr wrap="square" lIns="0" tIns="0" rIns="0" bIns="0" rtlCol="0" anchor="ctr"/>
          <a:lstStyle/>
          <a:p>
            <a:pPr marL="0" indent="0">
              <a:buNone/>
            </a:pPr>
            <a:r>
              <a:rPr lang="en-US" sz="3900" b="1" dirty="0">
                <a:solidFill>
                  <a:srgbClr val="F4F7FB"/>
                </a:solidFill>
                <a:latin typeface="Aptos" pitchFamily="34" charset="0"/>
                <a:ea typeface="Aptos" pitchFamily="34" charset="-122"/>
                <a:cs typeface="Aptos" pitchFamily="34" charset="-120"/>
              </a:rPr>
              <a:t>Când senzorul alege</a:t>
            </a:r>
            <a:endParaRPr lang="en-US" sz="3900" dirty="0"/>
          </a:p>
          <a:p>
            <a:pPr marL="0" indent="0">
              <a:buNone/>
            </a:pPr>
            <a:r>
              <a:rPr lang="en-US" sz="3900" b="1" dirty="0">
                <a:solidFill>
                  <a:srgbClr val="F4F7FB"/>
                </a:solidFill>
                <a:latin typeface="Aptos" pitchFamily="34" charset="0"/>
                <a:ea typeface="Aptos" pitchFamily="34" charset="-122"/>
                <a:cs typeface="Aptos" pitchFamily="34" charset="-120"/>
              </a:rPr>
              <a:t>ce informație păstrează</a:t>
            </a:r>
            <a:endParaRPr lang="en-US" sz="3900" dirty="0"/>
          </a:p>
        </p:txBody>
      </p:sp>
      <p:sp>
        <p:nvSpPr>
          <p:cNvPr id="8" name="Text 6"/>
          <p:cNvSpPr/>
          <p:nvPr/>
        </p:nvSpPr>
        <p:spPr>
          <a:xfrm>
            <a:off x="713232" y="3136392"/>
            <a:ext cx="9966960" cy="548640"/>
          </a:xfrm>
          <a:prstGeom prst="rect">
            <a:avLst/>
          </a:prstGeom>
          <a:noFill/>
          <a:ln/>
        </p:spPr>
        <p:txBody>
          <a:bodyPr wrap="square" lIns="0" tIns="0" rIns="0" bIns="0" rtlCol="0" anchor="ctr"/>
          <a:lstStyle/>
          <a:p>
            <a:pPr marL="0" indent="0">
              <a:buNone/>
            </a:pPr>
            <a:r>
              <a:rPr lang="en-US" sz="2400" dirty="0">
                <a:solidFill>
                  <a:srgbClr val="52D6D3"/>
                </a:solidFill>
                <a:latin typeface="Aptos" pitchFamily="34" charset="0"/>
                <a:ea typeface="Aptos" pitchFamily="34" charset="-122"/>
                <a:cs typeface="Aptos" pitchFamily="34" charset="-120"/>
              </a:rPr>
              <a:t>Compressive sensing </a:t>
            </a:r>
            <a:r>
              <a:rPr lang="en-US" sz="2400" dirty="0" err="1">
                <a:solidFill>
                  <a:srgbClr val="52D6D3"/>
                </a:solidFill>
                <a:latin typeface="Aptos" pitchFamily="34" charset="0"/>
                <a:ea typeface="Aptos" pitchFamily="34" charset="-122"/>
                <a:cs typeface="Aptos" pitchFamily="34" charset="-120"/>
              </a:rPr>
              <a:t>pentru</a:t>
            </a:r>
            <a:r>
              <a:rPr lang="en-US" sz="2400" dirty="0">
                <a:solidFill>
                  <a:srgbClr val="52D6D3"/>
                </a:solidFill>
                <a:latin typeface="Aptos" pitchFamily="34" charset="0"/>
                <a:ea typeface="Aptos" pitchFamily="34" charset="-122"/>
                <a:cs typeface="Aptos" pitchFamily="34" charset="-120"/>
              </a:rPr>
              <a:t> super-</a:t>
            </a:r>
            <a:r>
              <a:rPr lang="en-US" sz="2400" dirty="0" err="1">
                <a:solidFill>
                  <a:srgbClr val="52D6D3"/>
                </a:solidFill>
                <a:latin typeface="Aptos" pitchFamily="34" charset="0"/>
                <a:ea typeface="Aptos" pitchFamily="34" charset="-122"/>
                <a:cs typeface="Aptos" pitchFamily="34" charset="-120"/>
              </a:rPr>
              <a:t>rezoluție</a:t>
            </a:r>
            <a:r>
              <a:rPr lang="en-US" sz="2400" dirty="0">
                <a:solidFill>
                  <a:srgbClr val="52D6D3"/>
                </a:solidFill>
                <a:latin typeface="Aptos" pitchFamily="34" charset="0"/>
                <a:ea typeface="Aptos" pitchFamily="34" charset="-122"/>
                <a:cs typeface="Aptos" pitchFamily="34" charset="-120"/>
              </a:rPr>
              <a:t> video</a:t>
            </a:r>
            <a:endParaRPr lang="en-US" sz="2400" dirty="0"/>
          </a:p>
        </p:txBody>
      </p:sp>
      <p:sp>
        <p:nvSpPr>
          <p:cNvPr id="9" name="Shape 7"/>
          <p:cNvSpPr/>
          <p:nvPr/>
        </p:nvSpPr>
        <p:spPr>
          <a:xfrm>
            <a:off x="694944" y="4096512"/>
            <a:ext cx="10789920" cy="1033272"/>
          </a:xfrm>
          <a:prstGeom prst="roundRect">
            <a:avLst>
              <a:gd name="adj" fmla="val 14159"/>
            </a:avLst>
          </a:prstGeom>
          <a:solidFill>
            <a:srgbClr val="17253B"/>
          </a:solidFill>
          <a:ln w="10160">
            <a:solidFill>
              <a:srgbClr val="17253B"/>
            </a:solidFill>
            <a:prstDash val="solid"/>
          </a:ln>
        </p:spPr>
      </p:sp>
      <p:sp>
        <p:nvSpPr>
          <p:cNvPr id="10" name="Text 8"/>
          <p:cNvSpPr/>
          <p:nvPr/>
        </p:nvSpPr>
        <p:spPr>
          <a:xfrm>
            <a:off x="950976" y="4297680"/>
            <a:ext cx="10287000" cy="27432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Ruthy Katz, Adi Teitel, Moran Mordechay, Adi Falik, Eli Bery, Maya Mayberg</a:t>
            </a:r>
            <a:endParaRPr lang="en-US" sz="1800" dirty="0"/>
          </a:p>
        </p:txBody>
      </p:sp>
      <p:sp>
        <p:nvSpPr>
          <p:cNvPr id="11" name="Text 9"/>
          <p:cNvSpPr/>
          <p:nvPr/>
        </p:nvSpPr>
        <p:spPr>
          <a:xfrm>
            <a:off x="950976" y="4645152"/>
            <a:ext cx="10241280" cy="283464"/>
          </a:xfrm>
          <a:prstGeom prst="rect">
            <a:avLst/>
          </a:prstGeom>
          <a:noFill/>
          <a:ln/>
        </p:spPr>
        <p:txBody>
          <a:bodyPr wrap="square" lIns="0" tIns="0" rIns="0" bIns="0" rtlCol="0" anchor="ctr"/>
          <a:lstStyle/>
          <a:p>
            <a:pPr marL="0" indent="0">
              <a:buNone/>
            </a:pPr>
            <a:r>
              <a:rPr lang="en-US" sz="1400" dirty="0">
                <a:solidFill>
                  <a:srgbClr val="B9C9DB"/>
                </a:solidFill>
                <a:latin typeface="Aptos" pitchFamily="34" charset="0"/>
                <a:ea typeface="Aptos" pitchFamily="34" charset="-122"/>
                <a:cs typeface="Aptos" pitchFamily="34" charset="-120"/>
              </a:rPr>
              <a:t>„Rethinking Compressive Sensing: A Compression Framework for Video Super-Resolution” • CVPR Workshops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De ce contează achiziția?</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Un senzor cu foarte mulți pixeli nu înseamnă automat un video stocat la aceeași rezoluție.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02</a:t>
            </a:r>
            <a:endParaRPr lang="en-US" sz="1000" dirty="0"/>
          </a:p>
        </p:txBody>
      </p:sp>
      <p:sp>
        <p:nvSpPr>
          <p:cNvPr id="7" name="Shape 5"/>
          <p:cNvSpPr/>
          <p:nvPr/>
        </p:nvSpPr>
        <p:spPr>
          <a:xfrm>
            <a:off x="749808" y="1627631"/>
            <a:ext cx="3447288" cy="3337560"/>
          </a:xfrm>
          <a:prstGeom prst="roundRect">
            <a:avLst>
              <a:gd name="adj" fmla="val 4384"/>
            </a:avLst>
          </a:prstGeom>
          <a:solidFill>
            <a:srgbClr val="17253B"/>
          </a:solidFill>
          <a:ln w="10160">
            <a:solidFill>
              <a:srgbClr val="17253B"/>
            </a:solidFill>
            <a:prstDash val="solid"/>
          </a:ln>
        </p:spPr>
      </p:sp>
      <p:sp>
        <p:nvSpPr>
          <p:cNvPr id="8" name="Shape 6"/>
          <p:cNvSpPr/>
          <p:nvPr/>
        </p:nvSpPr>
        <p:spPr>
          <a:xfrm>
            <a:off x="713232" y="1673352"/>
            <a:ext cx="50292" cy="3337560"/>
          </a:xfrm>
          <a:prstGeom prst="roundRect">
            <a:avLst>
              <a:gd name="adj" fmla="val 290909"/>
            </a:avLst>
          </a:prstGeom>
          <a:solidFill>
            <a:srgbClr val="52D6D3"/>
          </a:solidFill>
          <a:ln w="10160">
            <a:solidFill>
              <a:srgbClr val="52D6D3"/>
            </a:solidFill>
            <a:prstDash val="solid"/>
          </a:ln>
        </p:spPr>
      </p:sp>
      <p:sp>
        <p:nvSpPr>
          <p:cNvPr id="9" name="Text 7"/>
          <p:cNvSpPr/>
          <p:nvPr/>
        </p:nvSpPr>
        <p:spPr>
          <a:xfrm>
            <a:off x="914400" y="1828800"/>
            <a:ext cx="3063240"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Senzor</a:t>
            </a:r>
            <a:endParaRPr lang="en-US" sz="2000" dirty="0"/>
          </a:p>
        </p:txBody>
      </p:sp>
      <p:sp>
        <p:nvSpPr>
          <p:cNvPr id="10" name="Text 8"/>
          <p:cNvSpPr/>
          <p:nvPr/>
        </p:nvSpPr>
        <p:spPr>
          <a:xfrm>
            <a:off x="914400" y="2350008"/>
            <a:ext cx="3044952"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Senzori</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până</a:t>
            </a:r>
            <a:r>
              <a:rPr lang="en-US" sz="1600" dirty="0">
                <a:solidFill>
                  <a:srgbClr val="F4F7FB"/>
                </a:solidFill>
                <a:latin typeface="Aptos" pitchFamily="34" charset="0"/>
                <a:ea typeface="Aptos" pitchFamily="34" charset="-122"/>
                <a:cs typeface="Aptos" pitchFamily="34" charset="-120"/>
              </a:rPr>
              <a:t> la ~200 MP în telefoanele moderne; </a:t>
            </a:r>
            <a:r>
              <a:rPr lang="en-US" sz="1600" dirty="0" err="1">
                <a:solidFill>
                  <a:srgbClr val="F4F7FB"/>
                </a:solidFill>
                <a:latin typeface="Aptos" pitchFamily="34" charset="0"/>
                <a:ea typeface="Aptos" pitchFamily="34" charset="-122"/>
                <a:cs typeface="Aptos" pitchFamily="34" charset="-120"/>
              </a:rPr>
              <a:t>volum</a:t>
            </a:r>
            <a:r>
              <a:rPr lang="en-US" sz="1600" dirty="0">
                <a:solidFill>
                  <a:srgbClr val="F4F7FB"/>
                </a:solidFill>
                <a:latin typeface="Aptos" pitchFamily="34" charset="0"/>
                <a:ea typeface="Aptos" pitchFamily="34" charset="-122"/>
                <a:cs typeface="Aptos" pitchFamily="34" charset="-120"/>
              </a:rPr>
              <a:t> potential </a:t>
            </a:r>
            <a:r>
              <a:rPr lang="en-US" sz="1600" dirty="0" err="1">
                <a:solidFill>
                  <a:srgbClr val="F4F7FB"/>
                </a:solidFill>
                <a:latin typeface="Aptos" pitchFamily="34" charset="0"/>
                <a:ea typeface="Aptos" pitchFamily="34" charset="-122"/>
                <a:cs typeface="Aptos" pitchFamily="34" charset="-120"/>
              </a:rPr>
              <a:t>enorm</a:t>
            </a:r>
            <a:r>
              <a:rPr lang="en-US" sz="1600" dirty="0">
                <a:solidFill>
                  <a:srgbClr val="F4F7FB"/>
                </a:solidFill>
                <a:latin typeface="Aptos" pitchFamily="34" charset="0"/>
                <a:ea typeface="Aptos" pitchFamily="34" charset="-122"/>
                <a:cs typeface="Aptos" pitchFamily="34" charset="-120"/>
              </a:rPr>
              <a:t> de date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achizitie</a:t>
            </a:r>
            <a:r>
              <a:rPr lang="en-US" sz="1600" dirty="0">
                <a:solidFill>
                  <a:srgbClr val="F4F7FB"/>
                </a:solidFill>
                <a:latin typeface="Aptos" pitchFamily="34" charset="0"/>
                <a:ea typeface="Aptos" pitchFamily="34" charset="-122"/>
                <a:cs typeface="Aptos" pitchFamily="34" charset="-120"/>
              </a:rPr>
              <a:t>.</a:t>
            </a:r>
            <a:endParaRPr lang="en-US" sz="1600" dirty="0"/>
          </a:p>
        </p:txBody>
      </p:sp>
      <p:sp>
        <p:nvSpPr>
          <p:cNvPr id="11" name="Shape 9"/>
          <p:cNvSpPr/>
          <p:nvPr/>
        </p:nvSpPr>
        <p:spPr>
          <a:xfrm>
            <a:off x="4379976" y="1673352"/>
            <a:ext cx="3438144" cy="3337560"/>
          </a:xfrm>
          <a:prstGeom prst="roundRect">
            <a:avLst>
              <a:gd name="adj" fmla="val 4384"/>
            </a:avLst>
          </a:prstGeom>
          <a:solidFill>
            <a:srgbClr val="17253B"/>
          </a:solidFill>
          <a:ln w="10160">
            <a:solidFill>
              <a:srgbClr val="17253B"/>
            </a:solidFill>
            <a:prstDash val="solid"/>
          </a:ln>
        </p:spPr>
      </p:sp>
      <p:sp>
        <p:nvSpPr>
          <p:cNvPr id="12" name="Shape 10"/>
          <p:cNvSpPr/>
          <p:nvPr/>
        </p:nvSpPr>
        <p:spPr>
          <a:xfrm>
            <a:off x="4379976" y="1673352"/>
            <a:ext cx="50292" cy="3337560"/>
          </a:xfrm>
          <a:prstGeom prst="roundRect">
            <a:avLst>
              <a:gd name="adj" fmla="val 290909"/>
            </a:avLst>
          </a:prstGeom>
          <a:solidFill>
            <a:srgbClr val="FFC870"/>
          </a:solidFill>
          <a:ln w="10160">
            <a:solidFill>
              <a:srgbClr val="FFC870"/>
            </a:solidFill>
            <a:prstDash val="solid"/>
          </a:ln>
        </p:spPr>
      </p:sp>
      <p:sp>
        <p:nvSpPr>
          <p:cNvPr id="13" name="Text 11"/>
          <p:cNvSpPr/>
          <p:nvPr/>
        </p:nvSpPr>
        <p:spPr>
          <a:xfrm>
            <a:off x="4581144" y="1828800"/>
            <a:ext cx="305409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Compresie pe senzor</a:t>
            </a:r>
            <a:endParaRPr lang="en-US" sz="2000" dirty="0"/>
          </a:p>
        </p:txBody>
      </p:sp>
      <p:sp>
        <p:nvSpPr>
          <p:cNvPr id="14" name="Text 12"/>
          <p:cNvSpPr/>
          <p:nvPr/>
        </p:nvSpPr>
        <p:spPr>
          <a:xfrm>
            <a:off x="4581144" y="2350008"/>
            <a:ext cx="3035808" cy="256032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Daca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avem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senzor</a:t>
            </a:r>
            <a:r>
              <a:rPr lang="en-US" sz="1600" dirty="0">
                <a:solidFill>
                  <a:srgbClr val="F4F7FB"/>
                </a:solidFill>
                <a:latin typeface="Aptos" pitchFamily="34" charset="0"/>
                <a:ea typeface="Aptos" pitchFamily="34" charset="-122"/>
                <a:cs typeface="Aptos" pitchFamily="34" charset="-120"/>
              </a:rPr>
              <a:t> de 200 MP care </a:t>
            </a:r>
            <a:r>
              <a:rPr lang="en-US" sz="1600" dirty="0" err="1">
                <a:solidFill>
                  <a:srgbClr val="F4F7FB"/>
                </a:solidFill>
                <a:latin typeface="Aptos" pitchFamily="34" charset="0"/>
                <a:ea typeface="Aptos" pitchFamily="34" charset="-122"/>
                <a:cs typeface="Aptos" pitchFamily="34" charset="-120"/>
              </a:rPr>
              <a:t>este</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rolul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compresiei</a:t>
            </a:r>
            <a:r>
              <a:rPr lang="en-US" sz="1600" dirty="0">
                <a:solidFill>
                  <a:srgbClr val="F4F7FB"/>
                </a:solidFill>
                <a:latin typeface="Aptos" pitchFamily="34" charset="0"/>
                <a:ea typeface="Aptos" pitchFamily="34" charset="-122"/>
                <a:cs typeface="Aptos" pitchFamily="34" charset="-120"/>
              </a:rPr>
              <a:t>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achizitie</a:t>
            </a:r>
            <a:r>
              <a:rPr lang="en-US" sz="1600" dirty="0">
                <a:solidFill>
                  <a:srgbClr val="F4F7FB"/>
                </a:solidFill>
                <a:latin typeface="Aptos" pitchFamily="34" charset="0"/>
                <a:ea typeface="Aptos" pitchFamily="34" charset="-122"/>
                <a:cs typeface="Aptos" pitchFamily="34" charset="-120"/>
              </a:rPr>
              <a:t> de date ? </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a:solidFill>
                  <a:srgbClr val="F4F7FB"/>
                </a:solidFill>
                <a:latin typeface="Aptos" pitchFamily="34" charset="0"/>
                <a:ea typeface="Aptos" pitchFamily="34" charset="-122"/>
                <a:cs typeface="Aptos" pitchFamily="34" charset="-120"/>
              </a:rPr>
              <a:t>Pixel binning: </a:t>
            </a:r>
            <a:r>
              <a:rPr lang="en-US" sz="1600" dirty="0" err="1">
                <a:solidFill>
                  <a:srgbClr val="F4F7FB"/>
                </a:solidFill>
                <a:latin typeface="Aptos" pitchFamily="34" charset="0"/>
                <a:ea typeface="Aptos" pitchFamily="34" charset="-122"/>
                <a:cs typeface="Aptos" pitchFamily="34" charset="-120"/>
              </a:rPr>
              <a:t>mai</a:t>
            </a:r>
            <a:r>
              <a:rPr lang="en-US" sz="1600" dirty="0">
                <a:solidFill>
                  <a:srgbClr val="F4F7FB"/>
                </a:solidFill>
                <a:latin typeface="Aptos" pitchFamily="34" charset="0"/>
                <a:ea typeface="Aptos" pitchFamily="34" charset="-122"/>
                <a:cs typeface="Aptos" pitchFamily="34" charset="-120"/>
              </a:rPr>
              <a:t> multi </a:t>
            </a:r>
            <a:r>
              <a:rPr lang="en-US" sz="1600" dirty="0" err="1">
                <a:solidFill>
                  <a:srgbClr val="F4F7FB"/>
                </a:solidFill>
                <a:latin typeface="Aptos" pitchFamily="34" charset="0"/>
                <a:ea typeface="Aptos" pitchFamily="34" charset="-122"/>
                <a:cs typeface="Aptos" pitchFamily="34" charset="-120"/>
              </a:rPr>
              <a:t>pixeli</a:t>
            </a:r>
            <a:r>
              <a:rPr lang="en-US" sz="1600" dirty="0">
                <a:solidFill>
                  <a:srgbClr val="F4F7FB"/>
                </a:solidFill>
                <a:latin typeface="Aptos" pitchFamily="34" charset="0"/>
                <a:ea typeface="Aptos" pitchFamily="34" charset="-122"/>
                <a:cs typeface="Aptos" pitchFamily="34" charset="-120"/>
              </a:rPr>
              <a:t> sunt </a:t>
            </a:r>
            <a:r>
              <a:rPr lang="en-US" sz="1600" dirty="0" err="1">
                <a:solidFill>
                  <a:srgbClr val="F4F7FB"/>
                </a:solidFill>
                <a:latin typeface="Aptos" pitchFamily="34" charset="0"/>
                <a:ea typeface="Aptos" pitchFamily="34" charset="-122"/>
                <a:cs typeface="Aptos" pitchFamily="34" charset="-120"/>
              </a:rPr>
              <a:t>combinati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intr-unul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singur</a:t>
            </a:r>
            <a:r>
              <a:rPr lang="en-US" sz="1600" dirty="0">
                <a:solidFill>
                  <a:srgbClr val="F4F7FB"/>
                </a:solidFill>
                <a:latin typeface="Aptos" pitchFamily="34" charset="0"/>
                <a:ea typeface="Aptos" pitchFamily="34" charset="-122"/>
                <a:cs typeface="Aptos" pitchFamily="34" charset="-120"/>
              </a:rPr>
              <a:t>, SNR </a:t>
            </a:r>
            <a:r>
              <a:rPr lang="en-US" sz="1600" dirty="0" err="1">
                <a:solidFill>
                  <a:srgbClr val="F4F7FB"/>
                </a:solidFill>
                <a:latin typeface="Aptos" pitchFamily="34" charset="0"/>
                <a:ea typeface="Aptos" pitchFamily="34" charset="-122"/>
                <a:cs typeface="Aptos" pitchFamily="34" charset="-120"/>
              </a:rPr>
              <a:t>imbunatatit</a:t>
            </a:r>
            <a:r>
              <a:rPr lang="en-US" sz="1600" dirty="0">
                <a:solidFill>
                  <a:srgbClr val="F4F7FB"/>
                </a:solidFill>
                <a:latin typeface="Aptos" pitchFamily="34" charset="0"/>
                <a:ea typeface="Aptos" pitchFamily="34" charset="-122"/>
                <a:cs typeface="Aptos" pitchFamily="34" charset="-120"/>
              </a:rPr>
              <a:t> + </a:t>
            </a:r>
            <a:r>
              <a:rPr lang="en-US" sz="1600" dirty="0" err="1">
                <a:solidFill>
                  <a:srgbClr val="F4F7FB"/>
                </a:solidFill>
                <a:latin typeface="Aptos" pitchFamily="34" charset="0"/>
                <a:ea typeface="Aptos" pitchFamily="34" charset="-122"/>
                <a:cs typeface="Aptos" pitchFamily="34" charset="-120"/>
              </a:rPr>
              <a:t>performanta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mai</a:t>
            </a:r>
            <a:r>
              <a:rPr lang="en-US" sz="1600" dirty="0">
                <a:solidFill>
                  <a:srgbClr val="F4F7FB"/>
                </a:solidFill>
                <a:latin typeface="Aptos" pitchFamily="34" charset="0"/>
                <a:ea typeface="Aptos" pitchFamily="34" charset="-122"/>
                <a:cs typeface="Aptos" pitchFamily="34" charset="-120"/>
              </a:rPr>
              <a:t> buna in </a:t>
            </a:r>
            <a:r>
              <a:rPr lang="en-US" sz="1600" dirty="0" err="1">
                <a:solidFill>
                  <a:srgbClr val="F4F7FB"/>
                </a:solidFill>
                <a:latin typeface="Aptos" pitchFamily="34" charset="0"/>
                <a:ea typeface="Aptos" pitchFamily="34" charset="-122"/>
                <a:cs typeface="Aptos" pitchFamily="34" charset="-120"/>
              </a:rPr>
              <a:t>luminozitate</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scazuta</a:t>
            </a:r>
            <a:endParaRPr lang="en-US" sz="1600" dirty="0"/>
          </a:p>
        </p:txBody>
      </p:sp>
      <p:sp>
        <p:nvSpPr>
          <p:cNvPr id="15" name="Shape 13"/>
          <p:cNvSpPr/>
          <p:nvPr/>
        </p:nvSpPr>
        <p:spPr>
          <a:xfrm>
            <a:off x="8046720" y="1673352"/>
            <a:ext cx="3429000" cy="3337560"/>
          </a:xfrm>
          <a:prstGeom prst="roundRect">
            <a:avLst>
              <a:gd name="adj" fmla="val 4384"/>
            </a:avLst>
          </a:prstGeom>
          <a:solidFill>
            <a:srgbClr val="17253B"/>
          </a:solidFill>
          <a:ln w="10160">
            <a:solidFill>
              <a:srgbClr val="17253B"/>
            </a:solidFill>
            <a:prstDash val="solid"/>
          </a:ln>
        </p:spPr>
      </p:sp>
      <p:sp>
        <p:nvSpPr>
          <p:cNvPr id="16" name="Shape 14"/>
          <p:cNvSpPr/>
          <p:nvPr/>
        </p:nvSpPr>
        <p:spPr>
          <a:xfrm>
            <a:off x="8046720" y="1673352"/>
            <a:ext cx="50292" cy="3337560"/>
          </a:xfrm>
          <a:prstGeom prst="roundRect">
            <a:avLst>
              <a:gd name="adj" fmla="val 290909"/>
            </a:avLst>
          </a:prstGeom>
          <a:solidFill>
            <a:srgbClr val="80E2B0"/>
          </a:solidFill>
          <a:ln w="10160">
            <a:solidFill>
              <a:srgbClr val="80E2B0"/>
            </a:solidFill>
            <a:prstDash val="solid"/>
          </a:ln>
        </p:spPr>
      </p:sp>
      <p:sp>
        <p:nvSpPr>
          <p:cNvPr id="17" name="Text 15"/>
          <p:cNvSpPr/>
          <p:nvPr/>
        </p:nvSpPr>
        <p:spPr>
          <a:xfrm>
            <a:off x="8247888" y="1828800"/>
            <a:ext cx="304495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Video rezultat</a:t>
            </a:r>
            <a:endParaRPr lang="en-US" sz="2000" dirty="0"/>
          </a:p>
        </p:txBody>
      </p:sp>
      <p:sp>
        <p:nvSpPr>
          <p:cNvPr id="18" name="Text 16"/>
          <p:cNvSpPr/>
          <p:nvPr/>
        </p:nvSpPr>
        <p:spPr>
          <a:xfrm>
            <a:off x="8247888" y="2350008"/>
            <a:ext cx="3026664"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Incercam</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recuperam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semnal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comprimat</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printr</a:t>
            </a:r>
            <a:r>
              <a:rPr lang="en-US" sz="1600" dirty="0">
                <a:solidFill>
                  <a:srgbClr val="F4F7FB"/>
                </a:solidFill>
                <a:latin typeface="Aptos" pitchFamily="34" charset="0"/>
                <a:ea typeface="Aptos" pitchFamily="34" charset="-122"/>
                <a:cs typeface="Aptos" pitchFamily="34" charset="-120"/>
              </a:rPr>
              <a:t>-un </a:t>
            </a:r>
            <a:r>
              <a:rPr lang="en-US" sz="1600" dirty="0" err="1">
                <a:solidFill>
                  <a:srgbClr val="F4F7FB"/>
                </a:solidFill>
                <a:latin typeface="Aptos" pitchFamily="34" charset="0"/>
                <a:ea typeface="Aptos" pitchFamily="34" charset="-122"/>
                <a:cs typeface="Aptos" pitchFamily="34" charset="-120"/>
              </a:rPr>
              <a:t>algoritm</a:t>
            </a:r>
            <a:r>
              <a:rPr lang="en-US" sz="1600" dirty="0">
                <a:solidFill>
                  <a:srgbClr val="F4F7FB"/>
                </a:solidFill>
                <a:latin typeface="Aptos" pitchFamily="34" charset="0"/>
                <a:ea typeface="Aptos" pitchFamily="34" charset="-122"/>
                <a:cs typeface="Aptos" pitchFamily="34" charset="-120"/>
              </a:rPr>
              <a:t> de super-</a:t>
            </a:r>
            <a:r>
              <a:rPr lang="en-US" sz="1600" dirty="0" err="1">
                <a:solidFill>
                  <a:srgbClr val="F4F7FB"/>
                </a:solidFill>
                <a:latin typeface="Aptos" pitchFamily="34" charset="0"/>
                <a:ea typeface="Aptos" pitchFamily="34" charset="-122"/>
                <a:cs typeface="Aptos" pitchFamily="34" charset="-120"/>
              </a:rPr>
              <a:t>rezoluție</a:t>
            </a:r>
            <a:r>
              <a:rPr lang="en-US" sz="1600" dirty="0">
                <a:solidFill>
                  <a:srgbClr val="F4F7FB"/>
                </a:solidFill>
                <a:latin typeface="Aptos" pitchFamily="34" charset="0"/>
                <a:ea typeface="Aptos" pitchFamily="34" charset="-122"/>
                <a:cs typeface="Aptos" pitchFamily="34" charset="-120"/>
              </a:rPr>
              <a:t>.</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err="1">
                <a:solidFill>
                  <a:srgbClr val="F4F7FB"/>
                </a:solidFill>
                <a:latin typeface="Aptos" pitchFamily="34" charset="0"/>
                <a:ea typeface="Aptos" pitchFamily="34" charset="-122"/>
                <a:cs typeface="Aptos" pitchFamily="34" charset="-120"/>
              </a:rPr>
              <a:t>Dificultati</a:t>
            </a:r>
            <a:r>
              <a:rPr lang="en-US" sz="1600" dirty="0">
                <a:solidFill>
                  <a:srgbClr val="F4F7FB"/>
                </a:solidFill>
                <a:latin typeface="Aptos" pitchFamily="34" charset="0"/>
                <a:ea typeface="Aptos" pitchFamily="34" charset="-122"/>
                <a:cs typeface="Aptos" pitchFamily="34" charset="-120"/>
              </a:rPr>
              <a:t> : </a:t>
            </a:r>
            <a:r>
              <a:rPr lang="en-US" sz="1600" dirty="0" err="1">
                <a:solidFill>
                  <a:srgbClr val="F4F7FB"/>
                </a:solidFill>
                <a:latin typeface="Aptos" pitchFamily="34" charset="0"/>
                <a:ea typeface="Aptos" pitchFamily="34" charset="-122"/>
                <a:cs typeface="Aptos" pitchFamily="34" charset="-120"/>
              </a:rPr>
              <a:t>prin</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intermediul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binningului</a:t>
            </a:r>
            <a:r>
              <a:rPr lang="en-US" sz="1600" dirty="0">
                <a:solidFill>
                  <a:srgbClr val="F4F7FB"/>
                </a:solidFill>
                <a:latin typeface="Aptos" pitchFamily="34" charset="0"/>
                <a:ea typeface="Aptos" pitchFamily="34" charset="-122"/>
                <a:cs typeface="Aptos" pitchFamily="34" charset="-120"/>
              </a:rPr>
              <a:t> se poate pierde ireversibil informație.</a:t>
            </a:r>
            <a:endParaRPr lang="en-US" sz="1600" dirty="0"/>
          </a:p>
        </p:txBody>
      </p:sp>
      <p:sp>
        <p:nvSpPr>
          <p:cNvPr id="19" name="Text 17"/>
          <p:cNvSpPr/>
          <p:nvPr/>
        </p:nvSpPr>
        <p:spPr>
          <a:xfrm>
            <a:off x="923544" y="5440680"/>
            <a:ext cx="10424160" cy="502920"/>
          </a:xfrm>
          <a:prstGeom prst="rect">
            <a:avLst/>
          </a:prstGeom>
          <a:noFill/>
          <a:ln/>
        </p:spPr>
        <p:txBody>
          <a:bodyPr wrap="square" lIns="0" tIns="0" rIns="0" bIns="0" rtlCol="0" anchor="ctr"/>
          <a:lstStyle/>
          <a:p>
            <a:pPr marL="0" indent="0" algn="ctr">
              <a:buNone/>
            </a:pPr>
            <a:r>
              <a:rPr lang="en-US" sz="2200" b="1" dirty="0">
                <a:solidFill>
                  <a:srgbClr val="F4F7FB"/>
                </a:solidFill>
                <a:latin typeface="Aptos" pitchFamily="34" charset="0"/>
                <a:ea typeface="Aptos" pitchFamily="34" charset="-122"/>
                <a:cs typeface="Aptos" pitchFamily="34" charset="-120"/>
              </a:rPr>
              <a:t>Întrebarea articolului: putem comprima mai inteligent, fără a crește rezoluția fluxului video?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Introducere: ce este compressive sensing?</a:t>
            </a:r>
            <a:endParaRPr lang="en-US" sz="30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03</a:t>
            </a:r>
            <a:endParaRPr lang="en-US" sz="1000" dirty="0"/>
          </a:p>
        </p:txBody>
      </p:sp>
      <p:sp>
        <p:nvSpPr>
          <p:cNvPr id="7" name="Shape 5"/>
          <p:cNvSpPr/>
          <p:nvPr/>
        </p:nvSpPr>
        <p:spPr>
          <a:xfrm>
            <a:off x="758952" y="1549907"/>
            <a:ext cx="10671048" cy="1257299"/>
          </a:xfrm>
          <a:prstGeom prst="roundRect">
            <a:avLst>
              <a:gd name="adj" fmla="val 14286"/>
            </a:avLst>
          </a:prstGeom>
          <a:solidFill>
            <a:srgbClr val="1C304A"/>
          </a:solidFill>
          <a:ln w="10160">
            <a:solidFill>
              <a:srgbClr val="1C304A"/>
            </a:solidFill>
            <a:prstDash val="solid"/>
          </a:ln>
        </p:spPr>
        <p:txBody>
          <a:bodyPr/>
          <a:lstStyle/>
          <a:p>
            <a:endParaRPr lang="en-US" dirty="0"/>
          </a:p>
        </p:txBody>
      </p:sp>
      <p:sp>
        <p:nvSpPr>
          <p:cNvPr id="8" name="Text 6"/>
          <p:cNvSpPr/>
          <p:nvPr/>
        </p:nvSpPr>
        <p:spPr>
          <a:xfrm>
            <a:off x="1051560" y="1929384"/>
            <a:ext cx="3566160" cy="530352"/>
          </a:xfrm>
          <a:prstGeom prst="rect">
            <a:avLst/>
          </a:prstGeom>
          <a:noFill/>
          <a:ln/>
        </p:spPr>
        <p:txBody>
          <a:bodyPr wrap="square" lIns="0" tIns="0" rIns="0" bIns="0" rtlCol="0" anchor="ctr"/>
          <a:lstStyle/>
          <a:p>
            <a:pPr marL="0" indent="0">
              <a:buNone/>
            </a:pPr>
            <a:r>
              <a:rPr lang="en-US" sz="3700" b="1" dirty="0">
                <a:solidFill>
                  <a:srgbClr val="52D6D3"/>
                </a:solidFill>
                <a:latin typeface="Aptos" pitchFamily="34" charset="0"/>
                <a:ea typeface="Aptos" pitchFamily="34" charset="-122"/>
                <a:cs typeface="Aptos" pitchFamily="34" charset="-120"/>
              </a:rPr>
              <a:t>Ax = b</a:t>
            </a:r>
          </a:p>
          <a:p>
            <a:r>
              <a:rPr lang="en-US" sz="3700" b="1" dirty="0">
                <a:solidFill>
                  <a:srgbClr val="52D6D3"/>
                </a:solidFill>
                <a:latin typeface="Aptos" pitchFamily="34" charset="0"/>
              </a:rPr>
              <a:t>A = </a:t>
            </a:r>
            <a:r>
              <a:rPr lang="el-GR" sz="4000" b="1" dirty="0">
                <a:solidFill>
                  <a:srgbClr val="0DAFB3"/>
                </a:solidFill>
              </a:rPr>
              <a:t>θ</a:t>
            </a:r>
            <a:r>
              <a:rPr lang="en-US" sz="4000" dirty="0">
                <a:solidFill>
                  <a:srgbClr val="0DAFB3"/>
                </a:solidFill>
                <a:latin typeface="Aptos" pitchFamily="34" charset="0"/>
                <a:ea typeface="Aptos" pitchFamily="34" charset="-122"/>
                <a:cs typeface="Aptos" pitchFamily="34" charset="-120"/>
              </a:rPr>
              <a:t>Ψ</a:t>
            </a:r>
            <a:endParaRPr lang="en-US" sz="3700" dirty="0">
              <a:solidFill>
                <a:srgbClr val="0DAFB3"/>
              </a:solidFill>
            </a:endParaRPr>
          </a:p>
        </p:txBody>
      </p:sp>
      <p:sp>
        <p:nvSpPr>
          <p:cNvPr id="9" name="Text 7"/>
          <p:cNvSpPr/>
          <p:nvPr/>
        </p:nvSpPr>
        <p:spPr>
          <a:xfrm>
            <a:off x="3217333" y="1668781"/>
            <a:ext cx="7094728" cy="1051560"/>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x: </a:t>
            </a:r>
            <a:r>
              <a:rPr lang="en-US" sz="1700" dirty="0" err="1">
                <a:solidFill>
                  <a:srgbClr val="F4F7FB"/>
                </a:solidFill>
                <a:latin typeface="Aptos" pitchFamily="34" charset="0"/>
                <a:ea typeface="Aptos" pitchFamily="34" charset="-122"/>
                <a:cs typeface="Aptos" pitchFamily="34" charset="-120"/>
              </a:rPr>
              <a:t>semnalul</a:t>
            </a:r>
            <a:r>
              <a:rPr lang="en-US" sz="1700" dirty="0">
                <a:solidFill>
                  <a:srgbClr val="F4F7FB"/>
                </a:solidFill>
                <a:latin typeface="Aptos" pitchFamily="34" charset="0"/>
                <a:ea typeface="Aptos" pitchFamily="34" charset="-122"/>
                <a:cs typeface="Aptos" pitchFamily="34" charset="-120"/>
              </a:rPr>
              <a:t> original  •  b: </a:t>
            </a:r>
            <a:r>
              <a:rPr lang="en-US" sz="1700" dirty="0" err="1">
                <a:solidFill>
                  <a:srgbClr val="F4F7FB"/>
                </a:solidFill>
                <a:latin typeface="Aptos" pitchFamily="34" charset="0"/>
                <a:ea typeface="Aptos" pitchFamily="34" charset="-122"/>
                <a:cs typeface="Aptos" pitchFamily="34" charset="-120"/>
              </a:rPr>
              <a:t>masuratori</a:t>
            </a:r>
            <a:r>
              <a:rPr lang="en-US" sz="1700" dirty="0">
                <a:solidFill>
                  <a:srgbClr val="F4F7FB"/>
                </a:solidFill>
                <a:latin typeface="Aptos" pitchFamily="34" charset="0"/>
                <a:ea typeface="Aptos" pitchFamily="34" charset="-122"/>
                <a:cs typeface="Aptos" pitchFamily="34" charset="-120"/>
              </a:rPr>
              <a:t>  •  A: </a:t>
            </a:r>
            <a:r>
              <a:rPr lang="en-US" sz="1700" dirty="0" err="1">
                <a:solidFill>
                  <a:srgbClr val="F4F7FB"/>
                </a:solidFill>
                <a:latin typeface="Aptos" pitchFamily="34" charset="0"/>
                <a:ea typeface="Aptos" pitchFamily="34" charset="-122"/>
                <a:cs typeface="Aptos" pitchFamily="34" charset="-120"/>
              </a:rPr>
              <a:t>matrice</a:t>
            </a:r>
            <a:r>
              <a:rPr lang="en-US" sz="1700" dirty="0">
                <a:solidFill>
                  <a:srgbClr val="F4F7FB"/>
                </a:solidFill>
                <a:latin typeface="Aptos" pitchFamily="34" charset="0"/>
                <a:ea typeface="Aptos" pitchFamily="34" charset="-122"/>
                <a:cs typeface="Aptos" pitchFamily="34" charset="-120"/>
              </a:rPr>
              <a:t> de </a:t>
            </a:r>
            <a:r>
              <a:rPr lang="en-US" sz="1700" dirty="0" err="1">
                <a:solidFill>
                  <a:srgbClr val="F4F7FB"/>
                </a:solidFill>
                <a:latin typeface="Aptos" pitchFamily="34" charset="0"/>
                <a:ea typeface="Aptos" pitchFamily="34" charset="-122"/>
                <a:cs typeface="Aptos" pitchFamily="34" charset="-120"/>
              </a:rPr>
              <a:t>masurare</a:t>
            </a:r>
            <a:r>
              <a:rPr lang="en-US" sz="1700" dirty="0">
                <a:solidFill>
                  <a:srgbClr val="F4F7FB"/>
                </a:solidFill>
                <a:latin typeface="Aptos" pitchFamily="34" charset="0"/>
                <a:ea typeface="Aptos" pitchFamily="34" charset="-122"/>
                <a:cs typeface="Aptos" pitchFamily="34" charset="-120"/>
              </a:rPr>
              <a:t> (</a:t>
            </a:r>
            <a:r>
              <a:rPr lang="en-US" sz="1700" dirty="0" err="1">
                <a:solidFill>
                  <a:srgbClr val="F4F7FB"/>
                </a:solidFill>
                <a:latin typeface="Aptos" pitchFamily="34" charset="0"/>
                <a:ea typeface="Aptos" pitchFamily="34" charset="-122"/>
                <a:cs typeface="Aptos" pitchFamily="34" charset="-120"/>
              </a:rPr>
              <a:t>dictionar</a:t>
            </a:r>
            <a:r>
              <a:rPr lang="en-US" sz="1700" dirty="0">
                <a:solidFill>
                  <a:srgbClr val="F4F7FB"/>
                </a:solidFill>
                <a:latin typeface="Aptos" pitchFamily="34" charset="0"/>
                <a:ea typeface="Aptos" pitchFamily="34" charset="-122"/>
                <a:cs typeface="Aptos" pitchFamily="34" charset="-120"/>
              </a:rPr>
              <a:t>)</a:t>
            </a:r>
          </a:p>
          <a:p>
            <a:pPr marL="0" indent="0">
              <a:buNone/>
            </a:pPr>
            <a:endParaRPr lang="en-US" sz="1700" dirty="0">
              <a:solidFill>
                <a:srgbClr val="F4F7FB"/>
              </a:solidFill>
              <a:latin typeface="Aptos" pitchFamily="34" charset="0"/>
              <a:ea typeface="Aptos" pitchFamily="34" charset="-122"/>
              <a:cs typeface="Aptos" pitchFamily="34" charset="-120"/>
            </a:endParaRPr>
          </a:p>
          <a:p>
            <a:r>
              <a:rPr lang="el-GR" dirty="0">
                <a:solidFill>
                  <a:schemeClr val="bg1"/>
                </a:solidFill>
              </a:rPr>
              <a:t>θ</a:t>
            </a:r>
            <a:r>
              <a:rPr lang="en-US" dirty="0">
                <a:solidFill>
                  <a:schemeClr val="bg1"/>
                </a:solidFill>
              </a:rPr>
              <a:t>: </a:t>
            </a:r>
            <a:r>
              <a:rPr lang="en-US" dirty="0" err="1">
                <a:solidFill>
                  <a:schemeClr val="bg1"/>
                </a:solidFill>
              </a:rPr>
              <a:t>matrice</a:t>
            </a:r>
            <a:r>
              <a:rPr lang="en-US" dirty="0">
                <a:solidFill>
                  <a:schemeClr val="bg1"/>
                </a:solidFill>
              </a:rPr>
              <a:t> </a:t>
            </a:r>
            <a:r>
              <a:rPr lang="en-US" dirty="0" err="1">
                <a:solidFill>
                  <a:schemeClr val="bg1"/>
                </a:solidFill>
              </a:rPr>
              <a:t>aleatoare</a:t>
            </a:r>
            <a:r>
              <a:rPr lang="en-US" dirty="0">
                <a:solidFill>
                  <a:schemeClr val="bg1"/>
                </a:solidFill>
              </a:rPr>
              <a:t> </a:t>
            </a:r>
            <a:r>
              <a:rPr lang="en-US" sz="1700" dirty="0">
                <a:solidFill>
                  <a:srgbClr val="F4F7FB"/>
                </a:solidFill>
                <a:latin typeface="Aptos" pitchFamily="34" charset="0"/>
                <a:ea typeface="Aptos" pitchFamily="34" charset="-122"/>
                <a:cs typeface="Aptos" pitchFamily="34" charset="-120"/>
              </a:rPr>
              <a:t>• </a:t>
            </a:r>
            <a:r>
              <a:rPr lang="en-US" dirty="0">
                <a:solidFill>
                  <a:schemeClr val="bg1"/>
                </a:solidFill>
                <a:latin typeface="Aptos" pitchFamily="34" charset="0"/>
                <a:ea typeface="Aptos" pitchFamily="34" charset="-122"/>
                <a:cs typeface="Aptos" pitchFamily="34" charset="-120"/>
              </a:rPr>
              <a:t>Ψ: </a:t>
            </a:r>
            <a:r>
              <a:rPr lang="en-US" dirty="0" err="1">
                <a:solidFill>
                  <a:schemeClr val="bg1"/>
                </a:solidFill>
                <a:latin typeface="Aptos" pitchFamily="34" charset="0"/>
                <a:ea typeface="Aptos" pitchFamily="34" charset="-122"/>
                <a:cs typeface="Aptos" pitchFamily="34" charset="-120"/>
              </a:rPr>
              <a:t>baza</a:t>
            </a:r>
            <a:r>
              <a:rPr lang="en-US" dirty="0">
                <a:solidFill>
                  <a:schemeClr val="bg1"/>
                </a:solidFill>
                <a:latin typeface="Aptos" pitchFamily="34" charset="0"/>
                <a:ea typeface="Aptos" pitchFamily="34" charset="-122"/>
                <a:cs typeface="Aptos" pitchFamily="34" charset="-120"/>
              </a:rPr>
              <a:t> DCT, wavelet, </a:t>
            </a:r>
            <a:r>
              <a:rPr lang="en-US" dirty="0" err="1">
                <a:solidFill>
                  <a:schemeClr val="bg1"/>
                </a:solidFill>
                <a:latin typeface="Aptos" pitchFamily="34" charset="0"/>
                <a:ea typeface="Aptos" pitchFamily="34" charset="-122"/>
                <a:cs typeface="Aptos" pitchFamily="34" charset="-120"/>
              </a:rPr>
              <a:t>etc</a:t>
            </a:r>
            <a:endParaRPr lang="en-US" sz="1700" dirty="0">
              <a:solidFill>
                <a:schemeClr val="bg1"/>
              </a:solidFill>
            </a:endParaRPr>
          </a:p>
        </p:txBody>
      </p:sp>
      <p:sp>
        <p:nvSpPr>
          <p:cNvPr id="10" name="Shape 8"/>
          <p:cNvSpPr/>
          <p:nvPr/>
        </p:nvSpPr>
        <p:spPr>
          <a:xfrm>
            <a:off x="1005840" y="3310128"/>
            <a:ext cx="82296" cy="82296"/>
          </a:xfrm>
          <a:prstGeom prst="roundRect">
            <a:avLst>
              <a:gd name="adj" fmla="val 177778"/>
            </a:avLst>
          </a:prstGeom>
          <a:solidFill>
            <a:srgbClr val="52D6D3"/>
          </a:solidFill>
          <a:ln w="10160">
            <a:solidFill>
              <a:srgbClr val="52D6D3"/>
            </a:solidFill>
            <a:prstDash val="solid"/>
          </a:ln>
        </p:spPr>
      </p:sp>
      <p:sp>
        <p:nvSpPr>
          <p:cNvPr id="11" name="Text 9"/>
          <p:cNvSpPr/>
          <p:nvPr/>
        </p:nvSpPr>
        <p:spPr>
          <a:xfrm>
            <a:off x="1234440" y="3104388"/>
            <a:ext cx="10012680" cy="804672"/>
          </a:xfrm>
          <a:prstGeom prst="rect">
            <a:avLst/>
          </a:prstGeom>
          <a:noFill/>
          <a:ln/>
        </p:spPr>
        <p:txBody>
          <a:bodyPr wrap="square" lIns="0" tIns="0" rIns="0" bIns="0" rtlCol="0" anchor="ctr"/>
          <a:lstStyle/>
          <a:p>
            <a:pPr marL="0" indent="0">
              <a:buNone/>
            </a:pPr>
            <a:r>
              <a:rPr lang="en-US" sz="2100" dirty="0">
                <a:solidFill>
                  <a:srgbClr val="F4F7FB"/>
                </a:solidFill>
                <a:latin typeface="Aptos" pitchFamily="34" charset="0"/>
                <a:ea typeface="Aptos" pitchFamily="34" charset="-122"/>
                <a:cs typeface="Aptos" pitchFamily="34" charset="-120"/>
              </a:rPr>
              <a:t>Dacă x este rar sau compresibil într-o bază Ψ, îl putem aproxima din M &lt; N măsurători.</a:t>
            </a:r>
            <a:endParaRPr lang="en-US" sz="2100" dirty="0"/>
          </a:p>
        </p:txBody>
      </p:sp>
      <p:sp>
        <p:nvSpPr>
          <p:cNvPr id="12" name="Shape 10"/>
          <p:cNvSpPr/>
          <p:nvPr/>
        </p:nvSpPr>
        <p:spPr>
          <a:xfrm>
            <a:off x="1005840" y="4169664"/>
            <a:ext cx="82296" cy="82296"/>
          </a:xfrm>
          <a:prstGeom prst="roundRect">
            <a:avLst>
              <a:gd name="adj" fmla="val 177778"/>
            </a:avLst>
          </a:prstGeom>
          <a:solidFill>
            <a:srgbClr val="52D6D3"/>
          </a:solidFill>
          <a:ln w="10160">
            <a:solidFill>
              <a:srgbClr val="52D6D3"/>
            </a:solidFill>
            <a:prstDash val="solid"/>
          </a:ln>
        </p:spPr>
      </p:sp>
      <p:sp>
        <p:nvSpPr>
          <p:cNvPr id="13" name="Text 11"/>
          <p:cNvSpPr/>
          <p:nvPr/>
        </p:nvSpPr>
        <p:spPr>
          <a:xfrm>
            <a:off x="1234440" y="3995928"/>
            <a:ext cx="10012680" cy="804672"/>
          </a:xfrm>
          <a:prstGeom prst="rect">
            <a:avLst/>
          </a:prstGeom>
          <a:noFill/>
          <a:ln/>
        </p:spPr>
        <p:txBody>
          <a:bodyPr wrap="square" lIns="0" tIns="0" rIns="0" bIns="0" rtlCol="0" anchor="ctr"/>
          <a:lstStyle/>
          <a:p>
            <a:pPr marL="0" indent="0">
              <a:buNone/>
            </a:pPr>
            <a:r>
              <a:rPr lang="en-US" sz="2100" dirty="0" err="1">
                <a:solidFill>
                  <a:srgbClr val="F4F7FB"/>
                </a:solidFill>
                <a:latin typeface="Aptos" pitchFamily="34" charset="0"/>
                <a:ea typeface="Aptos" pitchFamily="34" charset="-122"/>
                <a:cs typeface="Aptos" pitchFamily="34" charset="-120"/>
              </a:rPr>
              <a:t>Esantioanele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masurate</a:t>
            </a:r>
            <a:r>
              <a:rPr lang="en-US" sz="2100" dirty="0">
                <a:solidFill>
                  <a:srgbClr val="F4F7FB"/>
                </a:solidFill>
                <a:latin typeface="Aptos" pitchFamily="34" charset="0"/>
                <a:ea typeface="Aptos" pitchFamily="34" charset="-122"/>
                <a:cs typeface="Aptos" pitchFamily="34" charset="-120"/>
              </a:rPr>
              <a:t> trebuie </a:t>
            </a:r>
            <a:r>
              <a:rPr lang="en-US" sz="2100" dirty="0" err="1">
                <a:solidFill>
                  <a:srgbClr val="F4F7FB"/>
                </a:solidFill>
                <a:latin typeface="Aptos" pitchFamily="34" charset="0"/>
                <a:ea typeface="Aptos" pitchFamily="34" charset="-122"/>
                <a:cs typeface="Aptos" pitchFamily="34" charset="-120"/>
              </a:rPr>
              <a:t>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reprezinte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informație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diversă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apoi</a:t>
            </a:r>
            <a:r>
              <a:rPr lang="en-US" sz="2100" dirty="0">
                <a:solidFill>
                  <a:srgbClr val="F4F7FB"/>
                </a:solidFill>
                <a:latin typeface="Aptos" pitchFamily="34" charset="0"/>
                <a:ea typeface="Aptos" pitchFamily="34" charset="-122"/>
                <a:cs typeface="Aptos" pitchFamily="34" charset="-120"/>
              </a:rPr>
              <a:t> un algoritm </a:t>
            </a:r>
            <a:r>
              <a:rPr lang="en-US" sz="2100" dirty="0" err="1">
                <a:solidFill>
                  <a:srgbClr val="F4F7FB"/>
                </a:solidFill>
                <a:latin typeface="Aptos" pitchFamily="34" charset="0"/>
                <a:ea typeface="Aptos" pitchFamily="34" charset="-122"/>
                <a:cs typeface="Aptos" pitchFamily="34" charset="-120"/>
              </a:rPr>
              <a:t>reconstruiește</a:t>
            </a:r>
            <a:r>
              <a:rPr lang="en-US" sz="2100" dirty="0">
                <a:solidFill>
                  <a:srgbClr val="F4F7FB"/>
                </a:solidFill>
                <a:latin typeface="Aptos" pitchFamily="34" charset="0"/>
                <a:ea typeface="Aptos" pitchFamily="34" charset="-122"/>
                <a:cs typeface="Aptos" pitchFamily="34" charset="-120"/>
              </a:rPr>
              <a:t> x’</a:t>
            </a:r>
            <a:endParaRPr lang="en-US" sz="2100" dirty="0"/>
          </a:p>
        </p:txBody>
      </p:sp>
      <p:sp>
        <p:nvSpPr>
          <p:cNvPr id="14" name="Shape 12"/>
          <p:cNvSpPr/>
          <p:nvPr/>
        </p:nvSpPr>
        <p:spPr>
          <a:xfrm>
            <a:off x="1005840" y="5029200"/>
            <a:ext cx="82296" cy="82296"/>
          </a:xfrm>
          <a:prstGeom prst="roundRect">
            <a:avLst>
              <a:gd name="adj" fmla="val 177778"/>
            </a:avLst>
          </a:prstGeom>
          <a:solidFill>
            <a:srgbClr val="52D6D3"/>
          </a:solidFill>
          <a:ln w="10160">
            <a:solidFill>
              <a:srgbClr val="52D6D3"/>
            </a:solidFill>
            <a:prstDash val="solid"/>
          </a:ln>
        </p:spPr>
      </p:sp>
      <p:sp>
        <p:nvSpPr>
          <p:cNvPr id="15" name="Text 13"/>
          <p:cNvSpPr/>
          <p:nvPr/>
        </p:nvSpPr>
        <p:spPr>
          <a:xfrm>
            <a:off x="1234440" y="4855464"/>
            <a:ext cx="10012680" cy="804672"/>
          </a:xfrm>
          <a:prstGeom prst="rect">
            <a:avLst/>
          </a:prstGeom>
          <a:noFill/>
          <a:ln/>
        </p:spPr>
        <p:txBody>
          <a:bodyPr wrap="square" lIns="0" tIns="0" rIns="0" bIns="0" rtlCol="0" anchor="ctr"/>
          <a:lstStyle/>
          <a:p>
            <a:r>
              <a:rPr lang="en-US" sz="2100" dirty="0" err="1">
                <a:solidFill>
                  <a:srgbClr val="F4F7FB"/>
                </a:solidFill>
                <a:latin typeface="Aptos" pitchFamily="34" charset="0"/>
                <a:ea typeface="Aptos" pitchFamily="34" charset="-122"/>
                <a:cs typeface="Aptos" pitchFamily="34" charset="-120"/>
              </a:rPr>
              <a:t>Sistem</a:t>
            </a:r>
            <a:r>
              <a:rPr lang="en-US" sz="2100" dirty="0">
                <a:solidFill>
                  <a:srgbClr val="F4F7FB"/>
                </a:solidFill>
                <a:latin typeface="Aptos" pitchFamily="34" charset="0"/>
                <a:ea typeface="Aptos" pitchFamily="34" charset="-122"/>
                <a:cs typeface="Aptos" pitchFamily="34" charset="-120"/>
              </a:rPr>
              <a:t> de </a:t>
            </a:r>
            <a:r>
              <a:rPr lang="en-US" sz="2100" dirty="0" err="1">
                <a:solidFill>
                  <a:srgbClr val="F4F7FB"/>
                </a:solidFill>
                <a:latin typeface="Aptos" pitchFamily="34" charset="0"/>
                <a:ea typeface="Aptos" pitchFamily="34" charset="-122"/>
                <a:cs typeface="Aptos" pitchFamily="34" charset="-120"/>
              </a:rPr>
              <a:t>ecuatii</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subdeterminat</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infinitate</a:t>
            </a:r>
            <a:r>
              <a:rPr lang="en-US" sz="2100" dirty="0">
                <a:solidFill>
                  <a:srgbClr val="F4F7FB"/>
                </a:solidFill>
                <a:latin typeface="Aptos" pitchFamily="34" charset="0"/>
                <a:ea typeface="Aptos" pitchFamily="34" charset="-122"/>
                <a:cs typeface="Aptos" pitchFamily="34" charset="-120"/>
              </a:rPr>
              <a:t> de </a:t>
            </a:r>
            <a:r>
              <a:rPr lang="en-US" sz="2100" dirty="0" err="1">
                <a:solidFill>
                  <a:srgbClr val="F4F7FB"/>
                </a:solidFill>
                <a:latin typeface="Aptos" pitchFamily="34" charset="0"/>
                <a:ea typeface="Aptos" pitchFamily="34" charset="-122"/>
                <a:cs typeface="Aptos" pitchFamily="34" charset="-120"/>
              </a:rPr>
              <a:t>solutii</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optimizam</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pentru</a:t>
            </a:r>
            <a:r>
              <a:rPr lang="en-US" sz="2100" dirty="0">
                <a:solidFill>
                  <a:srgbClr val="F4F7FB"/>
                </a:solidFill>
                <a:latin typeface="Aptos" pitchFamily="34" charset="0"/>
                <a:ea typeface="Aptos" pitchFamily="34" charset="-122"/>
                <a:cs typeface="Aptos" pitchFamily="34" charset="-120"/>
              </a:rPr>
              <a:t> un </a:t>
            </a:r>
            <a:r>
              <a:rPr lang="en-US" sz="2100" dirty="0" err="1">
                <a:solidFill>
                  <a:srgbClr val="F4F7FB"/>
                </a:solidFill>
                <a:latin typeface="Aptos" pitchFamily="34" charset="0"/>
                <a:ea typeface="Aptos" pitchFamily="34" charset="-122"/>
                <a:cs typeface="Aptos" pitchFamily="34" charset="-120"/>
              </a:rPr>
              <a:t>numar</a:t>
            </a:r>
            <a:r>
              <a:rPr lang="en-US" sz="2100" dirty="0">
                <a:solidFill>
                  <a:srgbClr val="F4F7FB"/>
                </a:solidFill>
                <a:latin typeface="Aptos" pitchFamily="34" charset="0"/>
                <a:ea typeface="Aptos" pitchFamily="34" charset="-122"/>
                <a:cs typeface="Aptos" pitchFamily="34" charset="-120"/>
              </a:rPr>
              <a:t> minim de </a:t>
            </a:r>
            <a:r>
              <a:rPr lang="en-US" sz="2100" dirty="0" err="1">
                <a:solidFill>
                  <a:schemeClr val="bg1"/>
                </a:solidFill>
                <a:ea typeface="Aptos" pitchFamily="34" charset="-122"/>
                <a:cs typeface="Aptos" pitchFamily="34" charset="-120"/>
              </a:rPr>
              <a:t>elemente</a:t>
            </a:r>
            <a:r>
              <a:rPr lang="en-US" sz="2100" dirty="0">
                <a:solidFill>
                  <a:schemeClr val="bg1"/>
                </a:solidFill>
                <a:ea typeface="Aptos" pitchFamily="34" charset="-122"/>
                <a:cs typeface="Aptos" pitchFamily="34" charset="-120"/>
              </a:rPr>
              <a:t> </a:t>
            </a:r>
            <a:r>
              <a:rPr lang="en-US" sz="2100" b="1" dirty="0">
                <a:solidFill>
                  <a:schemeClr val="bg1"/>
                </a:solidFill>
              </a:rPr>
              <a:t>≠ 0 </a:t>
            </a:r>
            <a:r>
              <a:rPr lang="en-US" sz="2100" dirty="0">
                <a:solidFill>
                  <a:srgbClr val="F4F7FB"/>
                </a:solidFill>
                <a:latin typeface="Aptos" pitchFamily="34" charset="0"/>
                <a:ea typeface="Aptos" pitchFamily="34" charset="-122"/>
                <a:cs typeface="Aptos" pitchFamily="34" charset="-120"/>
              </a:rPr>
              <a:t>in x’</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CS </a:t>
            </a:r>
            <a:r>
              <a:rPr lang="en-US" sz="3000" b="1" dirty="0" err="1">
                <a:solidFill>
                  <a:srgbClr val="F4F7FB"/>
                </a:solidFill>
                <a:latin typeface="Aptos" pitchFamily="34" charset="0"/>
                <a:ea typeface="Aptos" pitchFamily="34" charset="-122"/>
                <a:cs typeface="Aptos" pitchFamily="34" charset="-120"/>
              </a:rPr>
              <a:t>clasic</a:t>
            </a:r>
            <a:r>
              <a:rPr lang="en-US" sz="3000" b="1" dirty="0">
                <a:solidFill>
                  <a:srgbClr val="F4F7FB"/>
                </a:solidFill>
                <a:latin typeface="Aptos" pitchFamily="34" charset="0"/>
                <a:ea typeface="Aptos" pitchFamily="34" charset="-122"/>
                <a:cs typeface="Aptos" pitchFamily="34" charset="-120"/>
              </a:rPr>
              <a:t> vs </a:t>
            </a:r>
            <a:r>
              <a:rPr lang="en-US" sz="3000" b="1" dirty="0" err="1">
                <a:solidFill>
                  <a:srgbClr val="F4F7FB"/>
                </a:solidFill>
                <a:latin typeface="Aptos" pitchFamily="34" charset="0"/>
                <a:ea typeface="Aptos" pitchFamily="34" charset="-122"/>
                <a:cs typeface="Aptos" pitchFamily="34" charset="-120"/>
              </a:rPr>
              <a:t>solutia</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propusa</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pentru</a:t>
            </a:r>
            <a:r>
              <a:rPr lang="en-US" sz="3000" b="1" dirty="0">
                <a:solidFill>
                  <a:srgbClr val="F4F7FB"/>
                </a:solidFill>
                <a:latin typeface="Aptos" pitchFamily="34" charset="0"/>
                <a:ea typeface="Aptos" pitchFamily="34" charset="-122"/>
                <a:cs typeface="Aptos" pitchFamily="34" charset="-120"/>
              </a:rPr>
              <a:t>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Schimbarea-cheie: măști diferite pe cadre consecutive.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04</a:t>
            </a:r>
            <a:endParaRPr lang="en-US" sz="1000" dirty="0"/>
          </a:p>
        </p:txBody>
      </p:sp>
      <p:sp>
        <p:nvSpPr>
          <p:cNvPr id="7" name="Shape 5"/>
          <p:cNvSpPr/>
          <p:nvPr/>
        </p:nvSpPr>
        <p:spPr>
          <a:xfrm>
            <a:off x="749808" y="1719072"/>
            <a:ext cx="5093208" cy="3611880"/>
          </a:xfrm>
          <a:prstGeom prst="roundRect">
            <a:avLst>
              <a:gd name="adj" fmla="val 4051"/>
            </a:avLst>
          </a:prstGeom>
          <a:solidFill>
            <a:srgbClr val="17253B"/>
          </a:solidFill>
          <a:ln w="10160">
            <a:solidFill>
              <a:srgbClr val="17253B"/>
            </a:solidFill>
            <a:prstDash val="solid"/>
          </a:ln>
        </p:spPr>
      </p:sp>
      <p:sp>
        <p:nvSpPr>
          <p:cNvPr id="8" name="Shape 6"/>
          <p:cNvSpPr/>
          <p:nvPr/>
        </p:nvSpPr>
        <p:spPr>
          <a:xfrm>
            <a:off x="749808" y="1719072"/>
            <a:ext cx="50292" cy="3611880"/>
          </a:xfrm>
          <a:prstGeom prst="roundRect">
            <a:avLst>
              <a:gd name="adj" fmla="val 290909"/>
            </a:avLst>
          </a:prstGeom>
          <a:solidFill>
            <a:srgbClr val="FFC870"/>
          </a:solidFill>
          <a:ln w="10160">
            <a:solidFill>
              <a:srgbClr val="FFC870"/>
            </a:solidFill>
            <a:prstDash val="solid"/>
          </a:ln>
        </p:spPr>
      </p:sp>
      <p:sp>
        <p:nvSpPr>
          <p:cNvPr id="9" name="Text 7"/>
          <p:cNvSpPr/>
          <p:nvPr/>
        </p:nvSpPr>
        <p:spPr>
          <a:xfrm>
            <a:off x="950976" y="1874520"/>
            <a:ext cx="4709160"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CS clasic</a:t>
            </a:r>
            <a:endParaRPr lang="en-US" sz="2000" dirty="0"/>
          </a:p>
        </p:txBody>
      </p:sp>
      <p:sp>
        <p:nvSpPr>
          <p:cNvPr id="10" name="Text 8"/>
          <p:cNvSpPr/>
          <p:nvPr/>
        </p:nvSpPr>
        <p:spPr>
          <a:xfrm>
            <a:off x="950976" y="2395728"/>
            <a:ext cx="4690872"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Mai multe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aleatoare</a:t>
            </a:r>
            <a:r>
              <a:rPr lang="en-US" sz="1600" dirty="0">
                <a:solidFill>
                  <a:srgbClr val="F4F7FB"/>
                </a:solidFill>
                <a:latin typeface="Aptos" pitchFamily="34" charset="0"/>
                <a:ea typeface="Aptos" pitchFamily="34" charset="-122"/>
                <a:cs typeface="Aptos" pitchFamily="34" charset="-120"/>
              </a:rPr>
              <a:t> ale aceluiași semnal static.</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Într-un senzor video, recitirea repetată a aceluiași cadru ar costa timp și ar reduce rata de cadre.</a:t>
            </a:r>
            <a:endParaRPr lang="en-US" sz="1600" dirty="0"/>
          </a:p>
        </p:txBody>
      </p:sp>
      <p:sp>
        <p:nvSpPr>
          <p:cNvPr id="11" name="Shape 9"/>
          <p:cNvSpPr/>
          <p:nvPr/>
        </p:nvSpPr>
        <p:spPr>
          <a:xfrm>
            <a:off x="6117336" y="1719072"/>
            <a:ext cx="5312664" cy="3611880"/>
          </a:xfrm>
          <a:prstGeom prst="roundRect">
            <a:avLst>
              <a:gd name="adj" fmla="val 4051"/>
            </a:avLst>
          </a:prstGeom>
          <a:solidFill>
            <a:srgbClr val="17253B"/>
          </a:solidFill>
          <a:ln w="10160">
            <a:solidFill>
              <a:srgbClr val="17253B"/>
            </a:solidFill>
            <a:prstDash val="solid"/>
          </a:ln>
        </p:spPr>
      </p:sp>
      <p:sp>
        <p:nvSpPr>
          <p:cNvPr id="12" name="Shape 10"/>
          <p:cNvSpPr/>
          <p:nvPr/>
        </p:nvSpPr>
        <p:spPr>
          <a:xfrm>
            <a:off x="6117336" y="1719072"/>
            <a:ext cx="50292" cy="3611880"/>
          </a:xfrm>
          <a:prstGeom prst="roundRect">
            <a:avLst>
              <a:gd name="adj" fmla="val 290909"/>
            </a:avLst>
          </a:prstGeom>
          <a:solidFill>
            <a:srgbClr val="52D6D3"/>
          </a:solidFill>
          <a:ln w="10160">
            <a:solidFill>
              <a:srgbClr val="52D6D3"/>
            </a:solidFill>
            <a:prstDash val="solid"/>
          </a:ln>
        </p:spPr>
      </p:sp>
      <p:sp>
        <p:nvSpPr>
          <p:cNvPr id="13" name="Text 11"/>
          <p:cNvSpPr/>
          <p:nvPr/>
        </p:nvSpPr>
        <p:spPr>
          <a:xfrm>
            <a:off x="6318504" y="1874520"/>
            <a:ext cx="492861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Propunerea Katz et al.</a:t>
            </a:r>
            <a:endParaRPr lang="en-US" sz="2000" dirty="0"/>
          </a:p>
        </p:txBody>
      </p:sp>
      <p:sp>
        <p:nvSpPr>
          <p:cNvPr id="14" name="Text 12"/>
          <p:cNvSpPr/>
          <p:nvPr/>
        </p:nvSpPr>
        <p:spPr>
          <a:xfrm>
            <a:off x="6318504" y="2395728"/>
            <a:ext cx="4910328"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Fiecare cadru este măsurat cu o mască; măștile se schimbă între cadre.</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Cadrele apropiate sunt asemănătoare, iar diferențele mici pot fi tratate aproximativ drept zgomot.</a:t>
            </a:r>
            <a:endParaRPr lang="en-US" sz="1600" dirty="0"/>
          </a:p>
        </p:txBody>
      </p:sp>
      <p:sp>
        <p:nvSpPr>
          <p:cNvPr id="15" name="Text 13"/>
          <p:cNvSpPr/>
          <p:nvPr/>
        </p:nvSpPr>
        <p:spPr>
          <a:xfrm>
            <a:off x="996696" y="5559552"/>
            <a:ext cx="10241280" cy="512064"/>
          </a:xfrm>
          <a:prstGeom prst="rect">
            <a:avLst/>
          </a:prstGeom>
          <a:noFill/>
          <a:ln/>
        </p:spPr>
        <p:txBody>
          <a:bodyPr wrap="square" lIns="0" tIns="0" rIns="0" bIns="0" rtlCol="0" anchor="ctr"/>
          <a:lstStyle/>
          <a:p>
            <a:pPr marL="0" indent="0" algn="ctr">
              <a:buNone/>
            </a:pPr>
            <a:r>
              <a:rPr lang="en-US" sz="2100" b="1" dirty="0">
                <a:solidFill>
                  <a:srgbClr val="80E2B0"/>
                </a:solidFill>
                <a:latin typeface="Aptos" pitchFamily="34" charset="0"/>
                <a:ea typeface="Aptos" pitchFamily="34" charset="-122"/>
                <a:cs typeface="Aptos" pitchFamily="34" charset="-120"/>
              </a:rPr>
              <a:t>Rezultatul: informație sub-pixel complementară chiar și în zone cu puțină mișcare.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Fluxul</a:t>
            </a:r>
            <a:r>
              <a:rPr lang="en-US" sz="3000" b="1" dirty="0">
                <a:solidFill>
                  <a:srgbClr val="F4F7FB"/>
                </a:solidFill>
                <a:latin typeface="Aptos" pitchFamily="34" charset="0"/>
                <a:ea typeface="Aptos" pitchFamily="34" charset="-122"/>
                <a:cs typeface="Aptos" pitchFamily="34" charset="-120"/>
              </a:rPr>
              <a:t> propus: comprimare → reconstrucție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Blocuri 4 × 4, măști binare și reconstrucție VSR ×4.</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05</a:t>
            </a:r>
            <a:endParaRPr lang="en-US" sz="1000" dirty="0"/>
          </a:p>
        </p:txBody>
      </p:sp>
      <p:sp>
        <p:nvSpPr>
          <p:cNvPr id="7" name="Shape 5"/>
          <p:cNvSpPr/>
          <p:nvPr/>
        </p:nvSpPr>
        <p:spPr>
          <a:xfrm>
            <a:off x="740664" y="1975104"/>
            <a:ext cx="1993392" cy="2340864"/>
          </a:xfrm>
          <a:prstGeom prst="roundRect">
            <a:avLst>
              <a:gd name="adj" fmla="val 7339"/>
            </a:avLst>
          </a:prstGeom>
          <a:solidFill>
            <a:srgbClr val="17253B"/>
          </a:solidFill>
          <a:ln w="10160">
            <a:solidFill>
              <a:srgbClr val="17253B"/>
            </a:solidFill>
            <a:prstDash val="solid"/>
          </a:ln>
        </p:spPr>
      </p:sp>
      <p:sp>
        <p:nvSpPr>
          <p:cNvPr id="8" name="Text 6"/>
          <p:cNvSpPr/>
          <p:nvPr/>
        </p:nvSpPr>
        <p:spPr>
          <a:xfrm>
            <a:off x="877824" y="2221992"/>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HR</a:t>
            </a:r>
            <a:endParaRPr lang="en-US" sz="2000" dirty="0"/>
          </a:p>
        </p:txBody>
      </p:sp>
      <p:sp>
        <p:nvSpPr>
          <p:cNvPr id="9" name="Text 7"/>
          <p:cNvSpPr/>
          <p:nvPr/>
        </p:nvSpPr>
        <p:spPr>
          <a:xfrm>
            <a:off x="896112" y="3063240"/>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7 cadre RGB</a:t>
            </a:r>
            <a:endParaRPr lang="en-US" sz="1600" dirty="0"/>
          </a:p>
        </p:txBody>
      </p:sp>
      <p:sp>
        <p:nvSpPr>
          <p:cNvPr id="10" name="Shape 8"/>
          <p:cNvSpPr/>
          <p:nvPr/>
        </p:nvSpPr>
        <p:spPr>
          <a:xfrm>
            <a:off x="2779776" y="2935224"/>
            <a:ext cx="274320" cy="384048"/>
          </a:xfrm>
          <a:prstGeom prst="chevron">
            <a:avLst/>
          </a:prstGeom>
          <a:solidFill>
            <a:srgbClr val="52D6D3"/>
          </a:solidFill>
          <a:ln w="12700">
            <a:solidFill>
              <a:srgbClr val="52D6D3"/>
            </a:solidFill>
            <a:prstDash val="solid"/>
          </a:ln>
        </p:spPr>
      </p:sp>
      <p:sp>
        <p:nvSpPr>
          <p:cNvPr id="11" name="Shape 9"/>
          <p:cNvSpPr/>
          <p:nvPr/>
        </p:nvSpPr>
        <p:spPr>
          <a:xfrm>
            <a:off x="3072384" y="1975104"/>
            <a:ext cx="1993392" cy="2340864"/>
          </a:xfrm>
          <a:prstGeom prst="roundRect">
            <a:avLst>
              <a:gd name="adj" fmla="val 7339"/>
            </a:avLst>
          </a:prstGeom>
          <a:solidFill>
            <a:srgbClr val="1C304A"/>
          </a:solidFill>
          <a:ln w="10160">
            <a:solidFill>
              <a:srgbClr val="1C304A"/>
            </a:solidFill>
            <a:prstDash val="solid"/>
          </a:ln>
        </p:spPr>
      </p:sp>
      <p:sp>
        <p:nvSpPr>
          <p:cNvPr id="12" name="Text 10"/>
          <p:cNvSpPr/>
          <p:nvPr/>
        </p:nvSpPr>
        <p:spPr>
          <a:xfrm>
            <a:off x="3209544" y="2221992"/>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Blocuri 4 × 4</a:t>
            </a:r>
            <a:endParaRPr lang="en-US" sz="2000" dirty="0"/>
          </a:p>
        </p:txBody>
      </p:sp>
      <p:sp>
        <p:nvSpPr>
          <p:cNvPr id="13" name="Text 11"/>
          <p:cNvSpPr/>
          <p:nvPr/>
        </p:nvSpPr>
        <p:spPr>
          <a:xfrm>
            <a:off x="3227832" y="3063240"/>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16 pixeli / bloc</a:t>
            </a:r>
            <a:endParaRPr lang="en-US" sz="1600" dirty="0"/>
          </a:p>
        </p:txBody>
      </p:sp>
      <p:sp>
        <p:nvSpPr>
          <p:cNvPr id="14" name="Shape 12"/>
          <p:cNvSpPr/>
          <p:nvPr/>
        </p:nvSpPr>
        <p:spPr>
          <a:xfrm>
            <a:off x="5111496" y="2935224"/>
            <a:ext cx="274320" cy="384048"/>
          </a:xfrm>
          <a:prstGeom prst="chevron">
            <a:avLst/>
          </a:prstGeom>
          <a:solidFill>
            <a:srgbClr val="52D6D3"/>
          </a:solidFill>
          <a:ln w="12700">
            <a:solidFill>
              <a:srgbClr val="52D6D3"/>
            </a:solidFill>
            <a:prstDash val="solid"/>
          </a:ln>
        </p:spPr>
      </p:sp>
      <p:sp>
        <p:nvSpPr>
          <p:cNvPr id="15" name="Shape 13"/>
          <p:cNvSpPr/>
          <p:nvPr/>
        </p:nvSpPr>
        <p:spPr>
          <a:xfrm>
            <a:off x="5404104" y="1975104"/>
            <a:ext cx="1993392" cy="2340864"/>
          </a:xfrm>
          <a:prstGeom prst="roundRect">
            <a:avLst>
              <a:gd name="adj" fmla="val 7339"/>
            </a:avLst>
          </a:prstGeom>
          <a:solidFill>
            <a:srgbClr val="17253B"/>
          </a:solidFill>
          <a:ln w="10160">
            <a:solidFill>
              <a:srgbClr val="17253B"/>
            </a:solidFill>
            <a:prstDash val="solid"/>
          </a:ln>
        </p:spPr>
      </p:sp>
      <p:sp>
        <p:nvSpPr>
          <p:cNvPr id="16" name="Text 14"/>
          <p:cNvSpPr/>
          <p:nvPr/>
        </p:nvSpPr>
        <p:spPr>
          <a:xfrm>
            <a:off x="5541264" y="2221992"/>
            <a:ext cx="1719072" cy="521208"/>
          </a:xfrm>
          <a:prstGeom prst="rect">
            <a:avLst/>
          </a:prstGeom>
          <a:noFill/>
          <a:ln/>
        </p:spPr>
        <p:txBody>
          <a:bodyPr wrap="square" lIns="0" tIns="0" rIns="0" bIns="0" rtlCol="0" anchor="ctr"/>
          <a:lstStyle/>
          <a:p>
            <a:pPr marL="0" indent="0" algn="ctr">
              <a:buNone/>
            </a:pPr>
            <a:r>
              <a:rPr lang="en-US" sz="2000" b="1" dirty="0">
                <a:solidFill>
                  <a:srgbClr val="FFC870"/>
                </a:solidFill>
                <a:latin typeface="Aptos" pitchFamily="34" charset="0"/>
                <a:ea typeface="Aptos" pitchFamily="34" charset="-122"/>
                <a:cs typeface="Aptos" pitchFamily="34" charset="-120"/>
              </a:rPr>
              <a:t>Măști dinamice</a:t>
            </a:r>
            <a:endParaRPr lang="en-US" sz="2000" dirty="0"/>
          </a:p>
        </p:txBody>
      </p:sp>
      <p:sp>
        <p:nvSpPr>
          <p:cNvPr id="17" name="Text 15"/>
          <p:cNvSpPr/>
          <p:nvPr/>
        </p:nvSpPr>
        <p:spPr>
          <a:xfrm>
            <a:off x="5559552" y="3063240"/>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 sau 2 măsurări / cadru</a:t>
            </a:r>
            <a:endParaRPr lang="en-US" sz="1600" dirty="0"/>
          </a:p>
        </p:txBody>
      </p:sp>
      <p:sp>
        <p:nvSpPr>
          <p:cNvPr id="18" name="Shape 16"/>
          <p:cNvSpPr/>
          <p:nvPr/>
        </p:nvSpPr>
        <p:spPr>
          <a:xfrm>
            <a:off x="7443216" y="2935224"/>
            <a:ext cx="274320" cy="384048"/>
          </a:xfrm>
          <a:prstGeom prst="chevron">
            <a:avLst/>
          </a:prstGeom>
          <a:solidFill>
            <a:srgbClr val="52D6D3"/>
          </a:solidFill>
          <a:ln w="12700">
            <a:solidFill>
              <a:srgbClr val="52D6D3"/>
            </a:solidFill>
            <a:prstDash val="solid"/>
          </a:ln>
        </p:spPr>
      </p:sp>
      <p:sp>
        <p:nvSpPr>
          <p:cNvPr id="19" name="Shape 17"/>
          <p:cNvSpPr/>
          <p:nvPr/>
        </p:nvSpPr>
        <p:spPr>
          <a:xfrm>
            <a:off x="7735824" y="1975104"/>
            <a:ext cx="1993392" cy="2340864"/>
          </a:xfrm>
          <a:prstGeom prst="roundRect">
            <a:avLst>
              <a:gd name="adj" fmla="val 7339"/>
            </a:avLst>
          </a:prstGeom>
          <a:solidFill>
            <a:srgbClr val="1C304A"/>
          </a:solidFill>
          <a:ln w="10160">
            <a:solidFill>
              <a:srgbClr val="1C304A"/>
            </a:solidFill>
            <a:prstDash val="solid"/>
          </a:ln>
        </p:spPr>
      </p:sp>
      <p:sp>
        <p:nvSpPr>
          <p:cNvPr id="20" name="Text 18"/>
          <p:cNvSpPr/>
          <p:nvPr/>
        </p:nvSpPr>
        <p:spPr>
          <a:xfrm>
            <a:off x="7872984" y="2221992"/>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LR</a:t>
            </a:r>
            <a:endParaRPr lang="en-US" sz="2000" dirty="0"/>
          </a:p>
        </p:txBody>
      </p:sp>
      <p:sp>
        <p:nvSpPr>
          <p:cNvPr id="21" name="Text 19"/>
          <p:cNvSpPr/>
          <p:nvPr/>
        </p:nvSpPr>
        <p:spPr>
          <a:xfrm>
            <a:off x="7891272" y="3063240"/>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 sau 2 imagini ×4 mai mici</a:t>
            </a:r>
            <a:endParaRPr lang="en-US" sz="1600" dirty="0"/>
          </a:p>
        </p:txBody>
      </p:sp>
      <p:sp>
        <p:nvSpPr>
          <p:cNvPr id="22" name="Shape 20"/>
          <p:cNvSpPr/>
          <p:nvPr/>
        </p:nvSpPr>
        <p:spPr>
          <a:xfrm>
            <a:off x="9774936" y="2935224"/>
            <a:ext cx="274320" cy="384048"/>
          </a:xfrm>
          <a:prstGeom prst="chevron">
            <a:avLst/>
          </a:prstGeom>
          <a:solidFill>
            <a:srgbClr val="52D6D3"/>
          </a:solidFill>
          <a:ln w="12700">
            <a:solidFill>
              <a:srgbClr val="52D6D3"/>
            </a:solidFill>
            <a:prstDash val="solid"/>
          </a:ln>
        </p:spPr>
      </p:sp>
      <p:sp>
        <p:nvSpPr>
          <p:cNvPr id="23" name="Shape 21"/>
          <p:cNvSpPr/>
          <p:nvPr/>
        </p:nvSpPr>
        <p:spPr>
          <a:xfrm>
            <a:off x="10067544" y="1975104"/>
            <a:ext cx="1993392" cy="2340864"/>
          </a:xfrm>
          <a:prstGeom prst="roundRect">
            <a:avLst>
              <a:gd name="adj" fmla="val 7339"/>
            </a:avLst>
          </a:prstGeom>
          <a:solidFill>
            <a:srgbClr val="17253B"/>
          </a:solidFill>
          <a:ln w="10160">
            <a:solidFill>
              <a:srgbClr val="17253B"/>
            </a:solidFill>
            <a:prstDash val="solid"/>
          </a:ln>
        </p:spPr>
      </p:sp>
      <p:sp>
        <p:nvSpPr>
          <p:cNvPr id="24" name="Text 22"/>
          <p:cNvSpPr/>
          <p:nvPr/>
        </p:nvSpPr>
        <p:spPr>
          <a:xfrm>
            <a:off x="10204704" y="2221992"/>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Rețea VSR</a:t>
            </a:r>
            <a:endParaRPr lang="en-US" sz="2000" dirty="0"/>
          </a:p>
        </p:txBody>
      </p:sp>
      <p:sp>
        <p:nvSpPr>
          <p:cNvPr id="25" name="Text 23"/>
          <p:cNvSpPr/>
          <p:nvPr/>
        </p:nvSpPr>
        <p:spPr>
          <a:xfrm>
            <a:off x="10222992" y="3063240"/>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cadre HR estimate</a:t>
            </a:r>
            <a:endParaRPr lang="en-US" sz="1600" dirty="0"/>
          </a:p>
        </p:txBody>
      </p:sp>
      <p:sp>
        <p:nvSpPr>
          <p:cNvPr id="26" name="Shape 24"/>
          <p:cNvSpPr/>
          <p:nvPr/>
        </p:nvSpPr>
        <p:spPr>
          <a:xfrm>
            <a:off x="932688" y="4974336"/>
            <a:ext cx="10296144" cy="676656"/>
          </a:xfrm>
          <a:prstGeom prst="roundRect">
            <a:avLst>
              <a:gd name="adj" fmla="val 21622"/>
            </a:avLst>
          </a:prstGeom>
          <a:solidFill>
            <a:srgbClr val="1C304A"/>
          </a:solidFill>
          <a:ln w="10160">
            <a:solidFill>
              <a:srgbClr val="1C304A"/>
            </a:solidFill>
            <a:prstDash val="solid"/>
          </a:ln>
        </p:spPr>
      </p:sp>
      <p:sp>
        <p:nvSpPr>
          <p:cNvPr id="27" name="Text 25"/>
          <p:cNvSpPr/>
          <p:nvPr/>
        </p:nvSpPr>
        <p:spPr>
          <a:xfrm>
            <a:off x="1207008" y="5102352"/>
            <a:ext cx="9756648" cy="3931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Compresia se face la achiziție; măsurările rezultate rămân organizate ca imagini.</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A: o măsurare pe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Comparație la buget identic: 1 valoare / 16 pixeli / cadru → CR = 1/16.</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06</a:t>
            </a:r>
            <a:endParaRPr lang="en-US" sz="1000" dirty="0"/>
          </a:p>
        </p:txBody>
      </p:sp>
      <p:sp>
        <p:nvSpPr>
          <p:cNvPr id="7" name="Text 5"/>
          <p:cNvSpPr/>
          <p:nvPr/>
        </p:nvSpPr>
        <p:spPr>
          <a:xfrm>
            <a:off x="841248" y="1719072"/>
            <a:ext cx="4754880" cy="411480"/>
          </a:xfrm>
          <a:prstGeom prst="rect">
            <a:avLst/>
          </a:prstGeom>
          <a:noFill/>
          <a:ln/>
        </p:spPr>
        <p:txBody>
          <a:bodyPr wrap="square" lIns="0" tIns="0" rIns="0" bIns="0" rtlCol="0" anchor="ctr"/>
          <a:lstStyle/>
          <a:p>
            <a:pPr marL="0" indent="0">
              <a:buNone/>
            </a:pPr>
            <a:r>
              <a:rPr lang="en-US" sz="2100" b="1" dirty="0">
                <a:solidFill>
                  <a:srgbClr val="FFC870"/>
                </a:solidFill>
                <a:latin typeface="Aptos" pitchFamily="34" charset="0"/>
                <a:ea typeface="Aptos" pitchFamily="34" charset="-122"/>
                <a:cs typeface="Aptos" pitchFamily="34" charset="-120"/>
              </a:rPr>
              <a:t>16Sum: aceeași mască în fiecare cadru</a:t>
            </a:r>
            <a:endParaRPr lang="en-US" sz="2100" dirty="0"/>
          </a:p>
        </p:txBody>
      </p:sp>
      <p:sp>
        <p:nvSpPr>
          <p:cNvPr id="8" name="Text 6"/>
          <p:cNvSpPr/>
          <p:nvPr/>
        </p:nvSpPr>
        <p:spPr>
          <a:xfrm>
            <a:off x="6126480" y="1719072"/>
            <a:ext cx="5120640" cy="411480"/>
          </a:xfrm>
          <a:prstGeom prst="rect">
            <a:avLst/>
          </a:prstGeom>
          <a:noFill/>
          <a:ln/>
        </p:spPr>
        <p:txBody>
          <a:bodyPr wrap="square" lIns="0" tIns="0" rIns="0" bIns="0" rtlCol="0" anchor="ctr"/>
          <a:lstStyle/>
          <a:p>
            <a:pPr marL="0" indent="0">
              <a:buNone/>
            </a:pPr>
            <a:r>
              <a:rPr lang="en-US" sz="2100" b="1" dirty="0">
                <a:solidFill>
                  <a:srgbClr val="52D6D3"/>
                </a:solidFill>
                <a:latin typeface="Aptos" pitchFamily="34" charset="0"/>
                <a:ea typeface="Aptos" pitchFamily="34" charset="-122"/>
                <a:cs typeface="Aptos" pitchFamily="34" charset="-120"/>
              </a:rPr>
              <a:t>Random: 8 pixeli selectați, mască variabilă</a:t>
            </a:r>
            <a:endParaRPr lang="en-US" sz="2100" dirty="0"/>
          </a:p>
        </p:txBody>
      </p:sp>
      <p:sp>
        <p:nvSpPr>
          <p:cNvPr id="9" name="Shape 7"/>
          <p:cNvSpPr/>
          <p:nvPr/>
        </p:nvSpPr>
        <p:spPr>
          <a:xfrm>
            <a:off x="1572768" y="2359152"/>
            <a:ext cx="532181" cy="532181"/>
          </a:xfrm>
          <a:prstGeom prst="roundRect">
            <a:avLst>
              <a:gd name="adj" fmla="val 3436"/>
            </a:avLst>
          </a:prstGeom>
          <a:solidFill>
            <a:srgbClr val="FFC870"/>
          </a:solidFill>
          <a:ln w="10160">
            <a:solidFill>
              <a:srgbClr val="FFC870"/>
            </a:solidFill>
            <a:prstDash val="solid"/>
          </a:ln>
        </p:spPr>
      </p:sp>
      <p:sp>
        <p:nvSpPr>
          <p:cNvPr id="10" name="Shape 8"/>
          <p:cNvSpPr/>
          <p:nvPr/>
        </p:nvSpPr>
        <p:spPr>
          <a:xfrm>
            <a:off x="2126894" y="2359152"/>
            <a:ext cx="532181" cy="532181"/>
          </a:xfrm>
          <a:prstGeom prst="roundRect">
            <a:avLst>
              <a:gd name="adj" fmla="val 3436"/>
            </a:avLst>
          </a:prstGeom>
          <a:solidFill>
            <a:srgbClr val="FFC870"/>
          </a:solidFill>
          <a:ln w="10160">
            <a:solidFill>
              <a:srgbClr val="FFC870"/>
            </a:solidFill>
            <a:prstDash val="solid"/>
          </a:ln>
        </p:spPr>
      </p:sp>
      <p:sp>
        <p:nvSpPr>
          <p:cNvPr id="11" name="Shape 9"/>
          <p:cNvSpPr/>
          <p:nvPr/>
        </p:nvSpPr>
        <p:spPr>
          <a:xfrm>
            <a:off x="2681021" y="2359152"/>
            <a:ext cx="532181" cy="532181"/>
          </a:xfrm>
          <a:prstGeom prst="roundRect">
            <a:avLst>
              <a:gd name="adj" fmla="val 3436"/>
            </a:avLst>
          </a:prstGeom>
          <a:solidFill>
            <a:srgbClr val="FFC870"/>
          </a:solidFill>
          <a:ln w="10160">
            <a:solidFill>
              <a:srgbClr val="FFC870"/>
            </a:solidFill>
            <a:prstDash val="solid"/>
          </a:ln>
        </p:spPr>
      </p:sp>
      <p:sp>
        <p:nvSpPr>
          <p:cNvPr id="12" name="Shape 10"/>
          <p:cNvSpPr/>
          <p:nvPr/>
        </p:nvSpPr>
        <p:spPr>
          <a:xfrm>
            <a:off x="3235147" y="2359152"/>
            <a:ext cx="532181" cy="532181"/>
          </a:xfrm>
          <a:prstGeom prst="roundRect">
            <a:avLst>
              <a:gd name="adj" fmla="val 3436"/>
            </a:avLst>
          </a:prstGeom>
          <a:solidFill>
            <a:srgbClr val="FFC870"/>
          </a:solidFill>
          <a:ln w="10160">
            <a:solidFill>
              <a:srgbClr val="FFC870"/>
            </a:solidFill>
            <a:prstDash val="solid"/>
          </a:ln>
        </p:spPr>
      </p:sp>
      <p:sp>
        <p:nvSpPr>
          <p:cNvPr id="13" name="Shape 11"/>
          <p:cNvSpPr/>
          <p:nvPr/>
        </p:nvSpPr>
        <p:spPr>
          <a:xfrm>
            <a:off x="1572768" y="2913278"/>
            <a:ext cx="532181" cy="532181"/>
          </a:xfrm>
          <a:prstGeom prst="roundRect">
            <a:avLst>
              <a:gd name="adj" fmla="val 3436"/>
            </a:avLst>
          </a:prstGeom>
          <a:solidFill>
            <a:srgbClr val="FFC870"/>
          </a:solidFill>
          <a:ln w="10160">
            <a:solidFill>
              <a:srgbClr val="FFC870"/>
            </a:solidFill>
            <a:prstDash val="solid"/>
          </a:ln>
        </p:spPr>
      </p:sp>
      <p:sp>
        <p:nvSpPr>
          <p:cNvPr id="14" name="Shape 12"/>
          <p:cNvSpPr/>
          <p:nvPr/>
        </p:nvSpPr>
        <p:spPr>
          <a:xfrm>
            <a:off x="2126894" y="2913278"/>
            <a:ext cx="532181" cy="532181"/>
          </a:xfrm>
          <a:prstGeom prst="roundRect">
            <a:avLst>
              <a:gd name="adj" fmla="val 3436"/>
            </a:avLst>
          </a:prstGeom>
          <a:solidFill>
            <a:srgbClr val="FFC870"/>
          </a:solidFill>
          <a:ln w="10160">
            <a:solidFill>
              <a:srgbClr val="FFC870"/>
            </a:solidFill>
            <a:prstDash val="solid"/>
          </a:ln>
        </p:spPr>
      </p:sp>
      <p:sp>
        <p:nvSpPr>
          <p:cNvPr id="15" name="Shape 13"/>
          <p:cNvSpPr/>
          <p:nvPr/>
        </p:nvSpPr>
        <p:spPr>
          <a:xfrm>
            <a:off x="2681021" y="2913278"/>
            <a:ext cx="532181" cy="532181"/>
          </a:xfrm>
          <a:prstGeom prst="roundRect">
            <a:avLst>
              <a:gd name="adj" fmla="val 3436"/>
            </a:avLst>
          </a:prstGeom>
          <a:solidFill>
            <a:srgbClr val="FFC870"/>
          </a:solidFill>
          <a:ln w="10160">
            <a:solidFill>
              <a:srgbClr val="FFC870"/>
            </a:solidFill>
            <a:prstDash val="solid"/>
          </a:ln>
        </p:spPr>
      </p:sp>
      <p:sp>
        <p:nvSpPr>
          <p:cNvPr id="16" name="Shape 14"/>
          <p:cNvSpPr/>
          <p:nvPr/>
        </p:nvSpPr>
        <p:spPr>
          <a:xfrm>
            <a:off x="3235147" y="2913278"/>
            <a:ext cx="532181" cy="532181"/>
          </a:xfrm>
          <a:prstGeom prst="roundRect">
            <a:avLst>
              <a:gd name="adj" fmla="val 3436"/>
            </a:avLst>
          </a:prstGeom>
          <a:solidFill>
            <a:srgbClr val="FFC870"/>
          </a:solidFill>
          <a:ln w="10160">
            <a:solidFill>
              <a:srgbClr val="FFC870"/>
            </a:solidFill>
            <a:prstDash val="solid"/>
          </a:ln>
        </p:spPr>
      </p:sp>
      <p:sp>
        <p:nvSpPr>
          <p:cNvPr id="17" name="Shape 15"/>
          <p:cNvSpPr/>
          <p:nvPr/>
        </p:nvSpPr>
        <p:spPr>
          <a:xfrm>
            <a:off x="1572768" y="3467405"/>
            <a:ext cx="532181" cy="532181"/>
          </a:xfrm>
          <a:prstGeom prst="roundRect">
            <a:avLst>
              <a:gd name="adj" fmla="val 3436"/>
            </a:avLst>
          </a:prstGeom>
          <a:solidFill>
            <a:srgbClr val="FFC870"/>
          </a:solidFill>
          <a:ln w="10160">
            <a:solidFill>
              <a:srgbClr val="FFC870"/>
            </a:solidFill>
            <a:prstDash val="solid"/>
          </a:ln>
        </p:spPr>
      </p:sp>
      <p:sp>
        <p:nvSpPr>
          <p:cNvPr id="18" name="Shape 16"/>
          <p:cNvSpPr/>
          <p:nvPr/>
        </p:nvSpPr>
        <p:spPr>
          <a:xfrm>
            <a:off x="2126894" y="3467405"/>
            <a:ext cx="532181" cy="532181"/>
          </a:xfrm>
          <a:prstGeom prst="roundRect">
            <a:avLst>
              <a:gd name="adj" fmla="val 3436"/>
            </a:avLst>
          </a:prstGeom>
          <a:solidFill>
            <a:srgbClr val="FFC870"/>
          </a:solidFill>
          <a:ln w="10160">
            <a:solidFill>
              <a:srgbClr val="FFC870"/>
            </a:solidFill>
            <a:prstDash val="solid"/>
          </a:ln>
        </p:spPr>
      </p:sp>
      <p:sp>
        <p:nvSpPr>
          <p:cNvPr id="19" name="Shape 17"/>
          <p:cNvSpPr/>
          <p:nvPr/>
        </p:nvSpPr>
        <p:spPr>
          <a:xfrm>
            <a:off x="2681021" y="3467405"/>
            <a:ext cx="532181" cy="532181"/>
          </a:xfrm>
          <a:prstGeom prst="roundRect">
            <a:avLst>
              <a:gd name="adj" fmla="val 3436"/>
            </a:avLst>
          </a:prstGeom>
          <a:solidFill>
            <a:srgbClr val="FFC870"/>
          </a:solidFill>
          <a:ln w="10160">
            <a:solidFill>
              <a:srgbClr val="FFC870"/>
            </a:solidFill>
            <a:prstDash val="solid"/>
          </a:ln>
        </p:spPr>
      </p:sp>
      <p:sp>
        <p:nvSpPr>
          <p:cNvPr id="20" name="Shape 18"/>
          <p:cNvSpPr/>
          <p:nvPr/>
        </p:nvSpPr>
        <p:spPr>
          <a:xfrm>
            <a:off x="3235147" y="3467405"/>
            <a:ext cx="532181" cy="532181"/>
          </a:xfrm>
          <a:prstGeom prst="roundRect">
            <a:avLst>
              <a:gd name="adj" fmla="val 3436"/>
            </a:avLst>
          </a:prstGeom>
          <a:solidFill>
            <a:srgbClr val="FFC870"/>
          </a:solidFill>
          <a:ln w="10160">
            <a:solidFill>
              <a:srgbClr val="FFC870"/>
            </a:solidFill>
            <a:prstDash val="solid"/>
          </a:ln>
        </p:spPr>
      </p:sp>
      <p:sp>
        <p:nvSpPr>
          <p:cNvPr id="21" name="Shape 19"/>
          <p:cNvSpPr/>
          <p:nvPr/>
        </p:nvSpPr>
        <p:spPr>
          <a:xfrm>
            <a:off x="1572768" y="4021531"/>
            <a:ext cx="532181" cy="532181"/>
          </a:xfrm>
          <a:prstGeom prst="roundRect">
            <a:avLst>
              <a:gd name="adj" fmla="val 3436"/>
            </a:avLst>
          </a:prstGeom>
          <a:solidFill>
            <a:srgbClr val="FFC870"/>
          </a:solidFill>
          <a:ln w="10160">
            <a:solidFill>
              <a:srgbClr val="FFC870"/>
            </a:solidFill>
            <a:prstDash val="solid"/>
          </a:ln>
        </p:spPr>
      </p:sp>
      <p:sp>
        <p:nvSpPr>
          <p:cNvPr id="22" name="Shape 20"/>
          <p:cNvSpPr/>
          <p:nvPr/>
        </p:nvSpPr>
        <p:spPr>
          <a:xfrm>
            <a:off x="2126894" y="4021531"/>
            <a:ext cx="532181" cy="532181"/>
          </a:xfrm>
          <a:prstGeom prst="roundRect">
            <a:avLst>
              <a:gd name="adj" fmla="val 3436"/>
            </a:avLst>
          </a:prstGeom>
          <a:solidFill>
            <a:srgbClr val="FFC870"/>
          </a:solidFill>
          <a:ln w="10160">
            <a:solidFill>
              <a:srgbClr val="FFC870"/>
            </a:solidFill>
            <a:prstDash val="solid"/>
          </a:ln>
        </p:spPr>
      </p:sp>
      <p:sp>
        <p:nvSpPr>
          <p:cNvPr id="23" name="Shape 21"/>
          <p:cNvSpPr/>
          <p:nvPr/>
        </p:nvSpPr>
        <p:spPr>
          <a:xfrm>
            <a:off x="2681021" y="4021531"/>
            <a:ext cx="532181" cy="532181"/>
          </a:xfrm>
          <a:prstGeom prst="roundRect">
            <a:avLst>
              <a:gd name="adj" fmla="val 3436"/>
            </a:avLst>
          </a:prstGeom>
          <a:solidFill>
            <a:srgbClr val="FFC870"/>
          </a:solidFill>
          <a:ln w="10160">
            <a:solidFill>
              <a:srgbClr val="FFC870"/>
            </a:solidFill>
            <a:prstDash val="solid"/>
          </a:ln>
        </p:spPr>
      </p:sp>
      <p:sp>
        <p:nvSpPr>
          <p:cNvPr id="24" name="Shape 22"/>
          <p:cNvSpPr/>
          <p:nvPr/>
        </p:nvSpPr>
        <p:spPr>
          <a:xfrm>
            <a:off x="3235147" y="4021531"/>
            <a:ext cx="532181" cy="532181"/>
          </a:xfrm>
          <a:prstGeom prst="roundRect">
            <a:avLst>
              <a:gd name="adj" fmla="val 3436"/>
            </a:avLst>
          </a:prstGeom>
          <a:solidFill>
            <a:srgbClr val="FFC870"/>
          </a:solidFill>
          <a:ln w="10160">
            <a:solidFill>
              <a:srgbClr val="FFC870"/>
            </a:solidFill>
            <a:prstDash val="solid"/>
          </a:ln>
        </p:spPr>
      </p:sp>
      <p:sp>
        <p:nvSpPr>
          <p:cNvPr id="25" name="Shape 23"/>
          <p:cNvSpPr/>
          <p:nvPr/>
        </p:nvSpPr>
        <p:spPr>
          <a:xfrm>
            <a:off x="7104888" y="2359152"/>
            <a:ext cx="532181" cy="532181"/>
          </a:xfrm>
          <a:prstGeom prst="roundRect">
            <a:avLst>
              <a:gd name="adj" fmla="val 3436"/>
            </a:avLst>
          </a:prstGeom>
          <a:solidFill>
            <a:srgbClr val="52D6D3"/>
          </a:solidFill>
          <a:ln w="10160">
            <a:solidFill>
              <a:srgbClr val="52D6D3"/>
            </a:solidFill>
            <a:prstDash val="solid"/>
          </a:ln>
        </p:spPr>
      </p:sp>
      <p:sp>
        <p:nvSpPr>
          <p:cNvPr id="26" name="Shape 24"/>
          <p:cNvSpPr/>
          <p:nvPr/>
        </p:nvSpPr>
        <p:spPr>
          <a:xfrm>
            <a:off x="7659014" y="2359152"/>
            <a:ext cx="532181" cy="532181"/>
          </a:xfrm>
          <a:prstGeom prst="roundRect">
            <a:avLst>
              <a:gd name="adj" fmla="val 3436"/>
            </a:avLst>
          </a:prstGeom>
          <a:solidFill>
            <a:srgbClr val="1C304A"/>
          </a:solidFill>
          <a:ln w="10160">
            <a:solidFill>
              <a:srgbClr val="34475D"/>
            </a:solidFill>
            <a:prstDash val="solid"/>
          </a:ln>
        </p:spPr>
      </p:sp>
      <p:sp>
        <p:nvSpPr>
          <p:cNvPr id="27" name="Shape 25"/>
          <p:cNvSpPr/>
          <p:nvPr/>
        </p:nvSpPr>
        <p:spPr>
          <a:xfrm>
            <a:off x="8213141" y="2359152"/>
            <a:ext cx="532181" cy="532181"/>
          </a:xfrm>
          <a:prstGeom prst="roundRect">
            <a:avLst>
              <a:gd name="adj" fmla="val 3436"/>
            </a:avLst>
          </a:prstGeom>
          <a:solidFill>
            <a:srgbClr val="52D6D3"/>
          </a:solidFill>
          <a:ln w="10160">
            <a:solidFill>
              <a:srgbClr val="52D6D3"/>
            </a:solidFill>
            <a:prstDash val="solid"/>
          </a:ln>
        </p:spPr>
      </p:sp>
      <p:sp>
        <p:nvSpPr>
          <p:cNvPr id="28" name="Shape 26"/>
          <p:cNvSpPr/>
          <p:nvPr/>
        </p:nvSpPr>
        <p:spPr>
          <a:xfrm>
            <a:off x="8767267" y="2359152"/>
            <a:ext cx="532181" cy="532181"/>
          </a:xfrm>
          <a:prstGeom prst="roundRect">
            <a:avLst>
              <a:gd name="adj" fmla="val 3436"/>
            </a:avLst>
          </a:prstGeom>
          <a:solidFill>
            <a:srgbClr val="1C304A"/>
          </a:solidFill>
          <a:ln w="10160">
            <a:solidFill>
              <a:srgbClr val="34475D"/>
            </a:solidFill>
            <a:prstDash val="solid"/>
          </a:ln>
        </p:spPr>
      </p:sp>
      <p:sp>
        <p:nvSpPr>
          <p:cNvPr id="29" name="Shape 27"/>
          <p:cNvSpPr/>
          <p:nvPr/>
        </p:nvSpPr>
        <p:spPr>
          <a:xfrm>
            <a:off x="7104888" y="2913278"/>
            <a:ext cx="532181" cy="532181"/>
          </a:xfrm>
          <a:prstGeom prst="roundRect">
            <a:avLst>
              <a:gd name="adj" fmla="val 3436"/>
            </a:avLst>
          </a:prstGeom>
          <a:solidFill>
            <a:srgbClr val="52D6D3"/>
          </a:solidFill>
          <a:ln w="10160">
            <a:solidFill>
              <a:srgbClr val="52D6D3"/>
            </a:solidFill>
            <a:prstDash val="solid"/>
          </a:ln>
        </p:spPr>
      </p:sp>
      <p:sp>
        <p:nvSpPr>
          <p:cNvPr id="30" name="Shape 28"/>
          <p:cNvSpPr/>
          <p:nvPr/>
        </p:nvSpPr>
        <p:spPr>
          <a:xfrm>
            <a:off x="7659014" y="2913278"/>
            <a:ext cx="532181" cy="532181"/>
          </a:xfrm>
          <a:prstGeom prst="roundRect">
            <a:avLst>
              <a:gd name="adj" fmla="val 3436"/>
            </a:avLst>
          </a:prstGeom>
          <a:solidFill>
            <a:srgbClr val="52D6D3"/>
          </a:solidFill>
          <a:ln w="10160">
            <a:solidFill>
              <a:srgbClr val="52D6D3"/>
            </a:solidFill>
            <a:prstDash val="solid"/>
          </a:ln>
        </p:spPr>
      </p:sp>
      <p:sp>
        <p:nvSpPr>
          <p:cNvPr id="31" name="Shape 29"/>
          <p:cNvSpPr/>
          <p:nvPr/>
        </p:nvSpPr>
        <p:spPr>
          <a:xfrm>
            <a:off x="8213141" y="2913278"/>
            <a:ext cx="532181" cy="532181"/>
          </a:xfrm>
          <a:prstGeom prst="roundRect">
            <a:avLst>
              <a:gd name="adj" fmla="val 3436"/>
            </a:avLst>
          </a:prstGeom>
          <a:solidFill>
            <a:srgbClr val="1C304A"/>
          </a:solidFill>
          <a:ln w="10160">
            <a:solidFill>
              <a:srgbClr val="34475D"/>
            </a:solidFill>
            <a:prstDash val="solid"/>
          </a:ln>
        </p:spPr>
      </p:sp>
      <p:sp>
        <p:nvSpPr>
          <p:cNvPr id="32" name="Shape 30"/>
          <p:cNvSpPr/>
          <p:nvPr/>
        </p:nvSpPr>
        <p:spPr>
          <a:xfrm>
            <a:off x="8767267" y="2913278"/>
            <a:ext cx="532181" cy="532181"/>
          </a:xfrm>
          <a:prstGeom prst="roundRect">
            <a:avLst>
              <a:gd name="adj" fmla="val 3436"/>
            </a:avLst>
          </a:prstGeom>
          <a:solidFill>
            <a:srgbClr val="1C304A"/>
          </a:solidFill>
          <a:ln w="10160">
            <a:solidFill>
              <a:srgbClr val="34475D"/>
            </a:solidFill>
            <a:prstDash val="solid"/>
          </a:ln>
        </p:spPr>
      </p:sp>
      <p:sp>
        <p:nvSpPr>
          <p:cNvPr id="33" name="Shape 31"/>
          <p:cNvSpPr/>
          <p:nvPr/>
        </p:nvSpPr>
        <p:spPr>
          <a:xfrm>
            <a:off x="7104888" y="3467405"/>
            <a:ext cx="532181" cy="532181"/>
          </a:xfrm>
          <a:prstGeom prst="roundRect">
            <a:avLst>
              <a:gd name="adj" fmla="val 3436"/>
            </a:avLst>
          </a:prstGeom>
          <a:solidFill>
            <a:srgbClr val="1C304A"/>
          </a:solidFill>
          <a:ln w="10160">
            <a:solidFill>
              <a:srgbClr val="34475D"/>
            </a:solidFill>
            <a:prstDash val="solid"/>
          </a:ln>
        </p:spPr>
      </p:sp>
      <p:sp>
        <p:nvSpPr>
          <p:cNvPr id="34" name="Shape 32"/>
          <p:cNvSpPr/>
          <p:nvPr/>
        </p:nvSpPr>
        <p:spPr>
          <a:xfrm>
            <a:off x="7659014" y="3467405"/>
            <a:ext cx="532181" cy="532181"/>
          </a:xfrm>
          <a:prstGeom prst="roundRect">
            <a:avLst>
              <a:gd name="adj" fmla="val 3436"/>
            </a:avLst>
          </a:prstGeom>
          <a:solidFill>
            <a:srgbClr val="52D6D3"/>
          </a:solidFill>
          <a:ln w="10160">
            <a:solidFill>
              <a:srgbClr val="52D6D3"/>
            </a:solidFill>
            <a:prstDash val="solid"/>
          </a:ln>
        </p:spPr>
      </p:sp>
      <p:sp>
        <p:nvSpPr>
          <p:cNvPr id="35" name="Shape 33"/>
          <p:cNvSpPr/>
          <p:nvPr/>
        </p:nvSpPr>
        <p:spPr>
          <a:xfrm>
            <a:off x="8213141" y="3467405"/>
            <a:ext cx="532181" cy="532181"/>
          </a:xfrm>
          <a:prstGeom prst="roundRect">
            <a:avLst>
              <a:gd name="adj" fmla="val 3436"/>
            </a:avLst>
          </a:prstGeom>
          <a:solidFill>
            <a:srgbClr val="1C304A"/>
          </a:solidFill>
          <a:ln w="10160">
            <a:solidFill>
              <a:srgbClr val="34475D"/>
            </a:solidFill>
            <a:prstDash val="solid"/>
          </a:ln>
        </p:spPr>
      </p:sp>
      <p:sp>
        <p:nvSpPr>
          <p:cNvPr id="36" name="Shape 34"/>
          <p:cNvSpPr/>
          <p:nvPr/>
        </p:nvSpPr>
        <p:spPr>
          <a:xfrm>
            <a:off x="8767267" y="3467405"/>
            <a:ext cx="532181" cy="532181"/>
          </a:xfrm>
          <a:prstGeom prst="roundRect">
            <a:avLst>
              <a:gd name="adj" fmla="val 3436"/>
            </a:avLst>
          </a:prstGeom>
          <a:solidFill>
            <a:srgbClr val="52D6D3"/>
          </a:solidFill>
          <a:ln w="10160">
            <a:solidFill>
              <a:srgbClr val="52D6D3"/>
            </a:solidFill>
            <a:prstDash val="solid"/>
          </a:ln>
        </p:spPr>
      </p:sp>
      <p:sp>
        <p:nvSpPr>
          <p:cNvPr id="37" name="Shape 35"/>
          <p:cNvSpPr/>
          <p:nvPr/>
        </p:nvSpPr>
        <p:spPr>
          <a:xfrm>
            <a:off x="7104888" y="4021531"/>
            <a:ext cx="532181" cy="532181"/>
          </a:xfrm>
          <a:prstGeom prst="roundRect">
            <a:avLst>
              <a:gd name="adj" fmla="val 3436"/>
            </a:avLst>
          </a:prstGeom>
          <a:solidFill>
            <a:srgbClr val="52D6D3"/>
          </a:solidFill>
          <a:ln w="10160">
            <a:solidFill>
              <a:srgbClr val="52D6D3"/>
            </a:solidFill>
            <a:prstDash val="solid"/>
          </a:ln>
        </p:spPr>
      </p:sp>
      <p:sp>
        <p:nvSpPr>
          <p:cNvPr id="38" name="Shape 36"/>
          <p:cNvSpPr/>
          <p:nvPr/>
        </p:nvSpPr>
        <p:spPr>
          <a:xfrm>
            <a:off x="7659014" y="4021531"/>
            <a:ext cx="532181" cy="532181"/>
          </a:xfrm>
          <a:prstGeom prst="roundRect">
            <a:avLst>
              <a:gd name="adj" fmla="val 3436"/>
            </a:avLst>
          </a:prstGeom>
          <a:solidFill>
            <a:srgbClr val="1C304A"/>
          </a:solidFill>
          <a:ln w="10160">
            <a:solidFill>
              <a:srgbClr val="34475D"/>
            </a:solidFill>
            <a:prstDash val="solid"/>
          </a:ln>
        </p:spPr>
      </p:sp>
      <p:sp>
        <p:nvSpPr>
          <p:cNvPr id="39" name="Shape 37"/>
          <p:cNvSpPr/>
          <p:nvPr/>
        </p:nvSpPr>
        <p:spPr>
          <a:xfrm>
            <a:off x="8213141" y="4021531"/>
            <a:ext cx="532181" cy="532181"/>
          </a:xfrm>
          <a:prstGeom prst="roundRect">
            <a:avLst>
              <a:gd name="adj" fmla="val 3436"/>
            </a:avLst>
          </a:prstGeom>
          <a:solidFill>
            <a:srgbClr val="1C304A"/>
          </a:solidFill>
          <a:ln w="10160">
            <a:solidFill>
              <a:srgbClr val="34475D"/>
            </a:solidFill>
            <a:prstDash val="solid"/>
          </a:ln>
        </p:spPr>
      </p:sp>
      <p:sp>
        <p:nvSpPr>
          <p:cNvPr id="40" name="Shape 38"/>
          <p:cNvSpPr/>
          <p:nvPr/>
        </p:nvSpPr>
        <p:spPr>
          <a:xfrm>
            <a:off x="8767267" y="4021531"/>
            <a:ext cx="532181" cy="532181"/>
          </a:xfrm>
          <a:prstGeom prst="roundRect">
            <a:avLst>
              <a:gd name="adj" fmla="val 3436"/>
            </a:avLst>
          </a:prstGeom>
          <a:solidFill>
            <a:srgbClr val="52D6D3"/>
          </a:solidFill>
          <a:ln w="10160">
            <a:solidFill>
              <a:srgbClr val="52D6D3"/>
            </a:solidFill>
            <a:prstDash val="solid"/>
          </a:ln>
        </p:spPr>
      </p:sp>
      <p:sp>
        <p:nvSpPr>
          <p:cNvPr id="41" name="Shape 39"/>
          <p:cNvSpPr/>
          <p:nvPr/>
        </p:nvSpPr>
        <p:spPr>
          <a:xfrm>
            <a:off x="1197864" y="4800600"/>
            <a:ext cx="2971800" cy="338328"/>
          </a:xfrm>
          <a:prstGeom prst="roundRect">
            <a:avLst>
              <a:gd name="adj" fmla="val 32432"/>
            </a:avLst>
          </a:prstGeom>
          <a:solidFill>
            <a:srgbClr val="1C304A"/>
          </a:solidFill>
          <a:ln w="10160">
            <a:solidFill>
              <a:srgbClr val="1C304A"/>
            </a:solidFill>
            <a:prstDash val="solid"/>
          </a:ln>
        </p:spPr>
      </p:sp>
      <p:sp>
        <p:nvSpPr>
          <p:cNvPr id="42" name="Text 40"/>
          <p:cNvSpPr/>
          <p:nvPr/>
        </p:nvSpPr>
        <p:spPr>
          <a:xfrm>
            <a:off x="1298448" y="4818888"/>
            <a:ext cx="2770632" cy="292608"/>
          </a:xfrm>
          <a:prstGeom prst="rect">
            <a:avLst/>
          </a:prstGeom>
          <a:noFill/>
          <a:ln/>
        </p:spPr>
        <p:txBody>
          <a:bodyPr wrap="square" lIns="0" tIns="0" rIns="0" bIns="0" rtlCol="0" anchor="ctr"/>
          <a:lstStyle/>
          <a:p>
            <a:pPr marL="0" indent="0" algn="ctr">
              <a:buNone/>
            </a:pPr>
            <a:r>
              <a:rPr lang="en-US" sz="1300" b="1" dirty="0">
                <a:solidFill>
                  <a:srgbClr val="FFC870"/>
                </a:solidFill>
                <a:latin typeface="Aptos" pitchFamily="34" charset="0"/>
                <a:ea typeface="Aptos" pitchFamily="34" charset="-122"/>
                <a:cs typeface="Aptos" pitchFamily="34" charset="-120"/>
              </a:rPr>
              <a:t>100% pixeli folosiți</a:t>
            </a:r>
            <a:endParaRPr lang="en-US" sz="1300" dirty="0"/>
          </a:p>
        </p:txBody>
      </p:sp>
      <p:sp>
        <p:nvSpPr>
          <p:cNvPr id="43" name="Shape 41"/>
          <p:cNvSpPr/>
          <p:nvPr/>
        </p:nvSpPr>
        <p:spPr>
          <a:xfrm>
            <a:off x="6675120" y="4800600"/>
            <a:ext cx="2990088" cy="338328"/>
          </a:xfrm>
          <a:prstGeom prst="roundRect">
            <a:avLst>
              <a:gd name="adj" fmla="val 32432"/>
            </a:avLst>
          </a:prstGeom>
          <a:solidFill>
            <a:srgbClr val="1C304A"/>
          </a:solidFill>
          <a:ln w="10160">
            <a:solidFill>
              <a:srgbClr val="1C304A"/>
            </a:solidFill>
            <a:prstDash val="solid"/>
          </a:ln>
        </p:spPr>
      </p:sp>
      <p:sp>
        <p:nvSpPr>
          <p:cNvPr id="44" name="Text 42"/>
          <p:cNvSpPr/>
          <p:nvPr/>
        </p:nvSpPr>
        <p:spPr>
          <a:xfrm>
            <a:off x="6775704" y="4818888"/>
            <a:ext cx="2788920" cy="292608"/>
          </a:xfrm>
          <a:prstGeom prst="rect">
            <a:avLst/>
          </a:prstGeom>
          <a:noFill/>
          <a:ln/>
        </p:spPr>
        <p:txBody>
          <a:bodyPr wrap="square" lIns="0" tIns="0" rIns="0" bIns="0" rtlCol="0" anchor="ctr"/>
          <a:lstStyle/>
          <a:p>
            <a:pPr marL="0" indent="0" algn="ctr">
              <a:buNone/>
            </a:pPr>
            <a:r>
              <a:rPr lang="en-US" sz="1300" b="1" dirty="0">
                <a:solidFill>
                  <a:srgbClr val="FF9C95"/>
                </a:solidFill>
                <a:latin typeface="Aptos" pitchFamily="34" charset="0"/>
                <a:ea typeface="Aptos" pitchFamily="34" charset="-122"/>
                <a:cs typeface="Aptos" pitchFamily="34" charset="-120"/>
              </a:rPr>
              <a:t>50% fill-factor</a:t>
            </a:r>
            <a:endParaRPr lang="en-US" sz="1300" dirty="0"/>
          </a:p>
        </p:txBody>
      </p:sp>
      <p:sp>
        <p:nvSpPr>
          <p:cNvPr id="45" name="Text 43"/>
          <p:cNvSpPr/>
          <p:nvPr/>
        </p:nvSpPr>
        <p:spPr>
          <a:xfrm>
            <a:off x="923544" y="5632704"/>
            <a:ext cx="10241280"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Avantaj: diversitate temporală. Cost: scade cantitatea de lumină folosită într-un cadru.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B: două măsurări complementare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sume diferite în același bloc: A + B acoperă toți cei 16 pixeli.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07</a:t>
            </a:r>
            <a:endParaRPr lang="en-US" sz="1000" dirty="0"/>
          </a:p>
        </p:txBody>
      </p:sp>
      <p:sp>
        <p:nvSpPr>
          <p:cNvPr id="7" name="Shape 5"/>
          <p:cNvSpPr/>
          <p:nvPr/>
        </p:nvSpPr>
        <p:spPr>
          <a:xfrm>
            <a:off x="996696" y="2258568"/>
            <a:ext cx="486461" cy="486461"/>
          </a:xfrm>
          <a:prstGeom prst="roundRect">
            <a:avLst>
              <a:gd name="adj" fmla="val 3759"/>
            </a:avLst>
          </a:prstGeom>
          <a:solidFill>
            <a:srgbClr val="52D6D3"/>
          </a:solidFill>
          <a:ln w="10160">
            <a:solidFill>
              <a:srgbClr val="52D6D3"/>
            </a:solidFill>
            <a:prstDash val="solid"/>
          </a:ln>
        </p:spPr>
      </p:sp>
      <p:sp>
        <p:nvSpPr>
          <p:cNvPr id="8" name="Shape 6"/>
          <p:cNvSpPr/>
          <p:nvPr/>
        </p:nvSpPr>
        <p:spPr>
          <a:xfrm>
            <a:off x="1505102" y="2258568"/>
            <a:ext cx="486461" cy="486461"/>
          </a:xfrm>
          <a:prstGeom prst="roundRect">
            <a:avLst>
              <a:gd name="adj" fmla="val 3759"/>
            </a:avLst>
          </a:prstGeom>
          <a:solidFill>
            <a:srgbClr val="52D6D3"/>
          </a:solidFill>
          <a:ln w="10160">
            <a:solidFill>
              <a:srgbClr val="52D6D3"/>
            </a:solidFill>
            <a:prstDash val="solid"/>
          </a:ln>
        </p:spPr>
      </p:sp>
      <p:sp>
        <p:nvSpPr>
          <p:cNvPr id="9" name="Shape 7"/>
          <p:cNvSpPr/>
          <p:nvPr/>
        </p:nvSpPr>
        <p:spPr>
          <a:xfrm>
            <a:off x="2013509" y="2258568"/>
            <a:ext cx="486461" cy="486461"/>
          </a:xfrm>
          <a:prstGeom prst="roundRect">
            <a:avLst>
              <a:gd name="adj" fmla="val 3759"/>
            </a:avLst>
          </a:prstGeom>
          <a:solidFill>
            <a:srgbClr val="1C304A"/>
          </a:solidFill>
          <a:ln w="10160">
            <a:solidFill>
              <a:srgbClr val="34475D"/>
            </a:solidFill>
            <a:prstDash val="solid"/>
          </a:ln>
        </p:spPr>
      </p:sp>
      <p:sp>
        <p:nvSpPr>
          <p:cNvPr id="10" name="Shape 8"/>
          <p:cNvSpPr/>
          <p:nvPr/>
        </p:nvSpPr>
        <p:spPr>
          <a:xfrm>
            <a:off x="2521915" y="2258568"/>
            <a:ext cx="486461" cy="486461"/>
          </a:xfrm>
          <a:prstGeom prst="roundRect">
            <a:avLst>
              <a:gd name="adj" fmla="val 3759"/>
            </a:avLst>
          </a:prstGeom>
          <a:solidFill>
            <a:srgbClr val="1C304A"/>
          </a:solidFill>
          <a:ln w="10160">
            <a:solidFill>
              <a:srgbClr val="34475D"/>
            </a:solidFill>
            <a:prstDash val="solid"/>
          </a:ln>
        </p:spPr>
      </p:sp>
      <p:sp>
        <p:nvSpPr>
          <p:cNvPr id="11" name="Shape 9"/>
          <p:cNvSpPr/>
          <p:nvPr/>
        </p:nvSpPr>
        <p:spPr>
          <a:xfrm>
            <a:off x="996696" y="2766974"/>
            <a:ext cx="486461" cy="486461"/>
          </a:xfrm>
          <a:prstGeom prst="roundRect">
            <a:avLst>
              <a:gd name="adj" fmla="val 3759"/>
            </a:avLst>
          </a:prstGeom>
          <a:solidFill>
            <a:srgbClr val="52D6D3"/>
          </a:solidFill>
          <a:ln w="10160">
            <a:solidFill>
              <a:srgbClr val="52D6D3"/>
            </a:solidFill>
            <a:prstDash val="solid"/>
          </a:ln>
        </p:spPr>
      </p:sp>
      <p:sp>
        <p:nvSpPr>
          <p:cNvPr id="12" name="Shape 10"/>
          <p:cNvSpPr/>
          <p:nvPr/>
        </p:nvSpPr>
        <p:spPr>
          <a:xfrm>
            <a:off x="1505102" y="2766974"/>
            <a:ext cx="486461" cy="486461"/>
          </a:xfrm>
          <a:prstGeom prst="roundRect">
            <a:avLst>
              <a:gd name="adj" fmla="val 3759"/>
            </a:avLst>
          </a:prstGeom>
          <a:solidFill>
            <a:srgbClr val="52D6D3"/>
          </a:solidFill>
          <a:ln w="10160">
            <a:solidFill>
              <a:srgbClr val="52D6D3"/>
            </a:solidFill>
            <a:prstDash val="solid"/>
          </a:ln>
        </p:spPr>
      </p:sp>
      <p:sp>
        <p:nvSpPr>
          <p:cNvPr id="13" name="Shape 11"/>
          <p:cNvSpPr/>
          <p:nvPr/>
        </p:nvSpPr>
        <p:spPr>
          <a:xfrm>
            <a:off x="2013509" y="2766974"/>
            <a:ext cx="486461" cy="486461"/>
          </a:xfrm>
          <a:prstGeom prst="roundRect">
            <a:avLst>
              <a:gd name="adj" fmla="val 3759"/>
            </a:avLst>
          </a:prstGeom>
          <a:solidFill>
            <a:srgbClr val="1C304A"/>
          </a:solidFill>
          <a:ln w="10160">
            <a:solidFill>
              <a:srgbClr val="34475D"/>
            </a:solidFill>
            <a:prstDash val="solid"/>
          </a:ln>
        </p:spPr>
      </p:sp>
      <p:sp>
        <p:nvSpPr>
          <p:cNvPr id="14" name="Shape 12"/>
          <p:cNvSpPr/>
          <p:nvPr/>
        </p:nvSpPr>
        <p:spPr>
          <a:xfrm>
            <a:off x="2521915" y="2766974"/>
            <a:ext cx="486461" cy="486461"/>
          </a:xfrm>
          <a:prstGeom prst="roundRect">
            <a:avLst>
              <a:gd name="adj" fmla="val 3759"/>
            </a:avLst>
          </a:prstGeom>
          <a:solidFill>
            <a:srgbClr val="1C304A"/>
          </a:solidFill>
          <a:ln w="10160">
            <a:solidFill>
              <a:srgbClr val="34475D"/>
            </a:solidFill>
            <a:prstDash val="solid"/>
          </a:ln>
        </p:spPr>
      </p:sp>
      <p:sp>
        <p:nvSpPr>
          <p:cNvPr id="15" name="Shape 13"/>
          <p:cNvSpPr/>
          <p:nvPr/>
        </p:nvSpPr>
        <p:spPr>
          <a:xfrm>
            <a:off x="996696" y="3275381"/>
            <a:ext cx="486461" cy="486461"/>
          </a:xfrm>
          <a:prstGeom prst="roundRect">
            <a:avLst>
              <a:gd name="adj" fmla="val 3759"/>
            </a:avLst>
          </a:prstGeom>
          <a:solidFill>
            <a:srgbClr val="52D6D3"/>
          </a:solidFill>
          <a:ln w="10160">
            <a:solidFill>
              <a:srgbClr val="52D6D3"/>
            </a:solidFill>
            <a:prstDash val="solid"/>
          </a:ln>
        </p:spPr>
      </p:sp>
      <p:sp>
        <p:nvSpPr>
          <p:cNvPr id="16" name="Shape 14"/>
          <p:cNvSpPr/>
          <p:nvPr/>
        </p:nvSpPr>
        <p:spPr>
          <a:xfrm>
            <a:off x="1505102" y="3275381"/>
            <a:ext cx="486461" cy="486461"/>
          </a:xfrm>
          <a:prstGeom prst="roundRect">
            <a:avLst>
              <a:gd name="adj" fmla="val 3759"/>
            </a:avLst>
          </a:prstGeom>
          <a:solidFill>
            <a:srgbClr val="52D6D3"/>
          </a:solidFill>
          <a:ln w="10160">
            <a:solidFill>
              <a:srgbClr val="52D6D3"/>
            </a:solidFill>
            <a:prstDash val="solid"/>
          </a:ln>
        </p:spPr>
      </p:sp>
      <p:sp>
        <p:nvSpPr>
          <p:cNvPr id="17" name="Shape 15"/>
          <p:cNvSpPr/>
          <p:nvPr/>
        </p:nvSpPr>
        <p:spPr>
          <a:xfrm>
            <a:off x="2013509" y="3275381"/>
            <a:ext cx="486461" cy="486461"/>
          </a:xfrm>
          <a:prstGeom prst="roundRect">
            <a:avLst>
              <a:gd name="adj" fmla="val 3759"/>
            </a:avLst>
          </a:prstGeom>
          <a:solidFill>
            <a:srgbClr val="1C304A"/>
          </a:solidFill>
          <a:ln w="10160">
            <a:solidFill>
              <a:srgbClr val="34475D"/>
            </a:solidFill>
            <a:prstDash val="solid"/>
          </a:ln>
        </p:spPr>
      </p:sp>
      <p:sp>
        <p:nvSpPr>
          <p:cNvPr id="18" name="Shape 16"/>
          <p:cNvSpPr/>
          <p:nvPr/>
        </p:nvSpPr>
        <p:spPr>
          <a:xfrm>
            <a:off x="2521915" y="3275381"/>
            <a:ext cx="486461" cy="486461"/>
          </a:xfrm>
          <a:prstGeom prst="roundRect">
            <a:avLst>
              <a:gd name="adj" fmla="val 3759"/>
            </a:avLst>
          </a:prstGeom>
          <a:solidFill>
            <a:srgbClr val="1C304A"/>
          </a:solidFill>
          <a:ln w="10160">
            <a:solidFill>
              <a:srgbClr val="34475D"/>
            </a:solidFill>
            <a:prstDash val="solid"/>
          </a:ln>
        </p:spPr>
      </p:sp>
      <p:sp>
        <p:nvSpPr>
          <p:cNvPr id="19" name="Shape 17"/>
          <p:cNvSpPr/>
          <p:nvPr/>
        </p:nvSpPr>
        <p:spPr>
          <a:xfrm>
            <a:off x="996696" y="3783787"/>
            <a:ext cx="486461" cy="486461"/>
          </a:xfrm>
          <a:prstGeom prst="roundRect">
            <a:avLst>
              <a:gd name="adj" fmla="val 3759"/>
            </a:avLst>
          </a:prstGeom>
          <a:solidFill>
            <a:srgbClr val="52D6D3"/>
          </a:solidFill>
          <a:ln w="10160">
            <a:solidFill>
              <a:srgbClr val="52D6D3"/>
            </a:solidFill>
            <a:prstDash val="solid"/>
          </a:ln>
        </p:spPr>
      </p:sp>
      <p:sp>
        <p:nvSpPr>
          <p:cNvPr id="20" name="Shape 18"/>
          <p:cNvSpPr/>
          <p:nvPr/>
        </p:nvSpPr>
        <p:spPr>
          <a:xfrm>
            <a:off x="1505102" y="3783787"/>
            <a:ext cx="486461" cy="486461"/>
          </a:xfrm>
          <a:prstGeom prst="roundRect">
            <a:avLst>
              <a:gd name="adj" fmla="val 3759"/>
            </a:avLst>
          </a:prstGeom>
          <a:solidFill>
            <a:srgbClr val="52D6D3"/>
          </a:solidFill>
          <a:ln w="10160">
            <a:solidFill>
              <a:srgbClr val="52D6D3"/>
            </a:solidFill>
            <a:prstDash val="solid"/>
          </a:ln>
        </p:spPr>
      </p:sp>
      <p:sp>
        <p:nvSpPr>
          <p:cNvPr id="21" name="Shape 19"/>
          <p:cNvSpPr/>
          <p:nvPr/>
        </p:nvSpPr>
        <p:spPr>
          <a:xfrm>
            <a:off x="2013509" y="3783787"/>
            <a:ext cx="486461" cy="486461"/>
          </a:xfrm>
          <a:prstGeom prst="roundRect">
            <a:avLst>
              <a:gd name="adj" fmla="val 3759"/>
            </a:avLst>
          </a:prstGeom>
          <a:solidFill>
            <a:srgbClr val="1C304A"/>
          </a:solidFill>
          <a:ln w="10160">
            <a:solidFill>
              <a:srgbClr val="34475D"/>
            </a:solidFill>
            <a:prstDash val="solid"/>
          </a:ln>
        </p:spPr>
      </p:sp>
      <p:sp>
        <p:nvSpPr>
          <p:cNvPr id="22" name="Shape 20"/>
          <p:cNvSpPr/>
          <p:nvPr/>
        </p:nvSpPr>
        <p:spPr>
          <a:xfrm>
            <a:off x="2521915" y="3783787"/>
            <a:ext cx="486461" cy="486461"/>
          </a:xfrm>
          <a:prstGeom prst="roundRect">
            <a:avLst>
              <a:gd name="adj" fmla="val 3759"/>
            </a:avLst>
          </a:prstGeom>
          <a:solidFill>
            <a:srgbClr val="1C304A"/>
          </a:solidFill>
          <a:ln w="10160">
            <a:solidFill>
              <a:srgbClr val="34475D"/>
            </a:solidFill>
            <a:prstDash val="solid"/>
          </a:ln>
        </p:spPr>
      </p:sp>
      <p:sp>
        <p:nvSpPr>
          <p:cNvPr id="23" name="Text 21"/>
          <p:cNvSpPr/>
          <p:nvPr/>
        </p:nvSpPr>
        <p:spPr>
          <a:xfrm>
            <a:off x="3246120"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24" name="Shape 22"/>
          <p:cNvSpPr/>
          <p:nvPr/>
        </p:nvSpPr>
        <p:spPr>
          <a:xfrm>
            <a:off x="3986784" y="2258568"/>
            <a:ext cx="486461" cy="486461"/>
          </a:xfrm>
          <a:prstGeom prst="roundRect">
            <a:avLst>
              <a:gd name="adj" fmla="val 3759"/>
            </a:avLst>
          </a:prstGeom>
          <a:solidFill>
            <a:srgbClr val="1C304A"/>
          </a:solidFill>
          <a:ln w="10160">
            <a:solidFill>
              <a:srgbClr val="34475D"/>
            </a:solidFill>
            <a:prstDash val="solid"/>
          </a:ln>
        </p:spPr>
      </p:sp>
      <p:sp>
        <p:nvSpPr>
          <p:cNvPr id="25" name="Shape 23"/>
          <p:cNvSpPr/>
          <p:nvPr/>
        </p:nvSpPr>
        <p:spPr>
          <a:xfrm>
            <a:off x="4495190" y="2258568"/>
            <a:ext cx="486461" cy="486461"/>
          </a:xfrm>
          <a:prstGeom prst="roundRect">
            <a:avLst>
              <a:gd name="adj" fmla="val 3759"/>
            </a:avLst>
          </a:prstGeom>
          <a:solidFill>
            <a:srgbClr val="1C304A"/>
          </a:solidFill>
          <a:ln w="10160">
            <a:solidFill>
              <a:srgbClr val="34475D"/>
            </a:solidFill>
            <a:prstDash val="solid"/>
          </a:ln>
        </p:spPr>
      </p:sp>
      <p:sp>
        <p:nvSpPr>
          <p:cNvPr id="26" name="Shape 24"/>
          <p:cNvSpPr/>
          <p:nvPr/>
        </p:nvSpPr>
        <p:spPr>
          <a:xfrm>
            <a:off x="5003597" y="2258568"/>
            <a:ext cx="486461" cy="486461"/>
          </a:xfrm>
          <a:prstGeom prst="roundRect">
            <a:avLst>
              <a:gd name="adj" fmla="val 3759"/>
            </a:avLst>
          </a:prstGeom>
          <a:solidFill>
            <a:srgbClr val="FFC870"/>
          </a:solidFill>
          <a:ln w="10160">
            <a:solidFill>
              <a:srgbClr val="FFC870"/>
            </a:solidFill>
            <a:prstDash val="solid"/>
          </a:ln>
        </p:spPr>
      </p:sp>
      <p:sp>
        <p:nvSpPr>
          <p:cNvPr id="27" name="Shape 25"/>
          <p:cNvSpPr/>
          <p:nvPr/>
        </p:nvSpPr>
        <p:spPr>
          <a:xfrm>
            <a:off x="5512003" y="2258568"/>
            <a:ext cx="486461" cy="486461"/>
          </a:xfrm>
          <a:prstGeom prst="roundRect">
            <a:avLst>
              <a:gd name="adj" fmla="val 3759"/>
            </a:avLst>
          </a:prstGeom>
          <a:solidFill>
            <a:srgbClr val="FFC870"/>
          </a:solidFill>
          <a:ln w="10160">
            <a:solidFill>
              <a:srgbClr val="FFC870"/>
            </a:solidFill>
            <a:prstDash val="solid"/>
          </a:ln>
        </p:spPr>
      </p:sp>
      <p:sp>
        <p:nvSpPr>
          <p:cNvPr id="28" name="Shape 26"/>
          <p:cNvSpPr/>
          <p:nvPr/>
        </p:nvSpPr>
        <p:spPr>
          <a:xfrm>
            <a:off x="3986784" y="2766974"/>
            <a:ext cx="486461" cy="486461"/>
          </a:xfrm>
          <a:prstGeom prst="roundRect">
            <a:avLst>
              <a:gd name="adj" fmla="val 3759"/>
            </a:avLst>
          </a:prstGeom>
          <a:solidFill>
            <a:srgbClr val="1C304A"/>
          </a:solidFill>
          <a:ln w="10160">
            <a:solidFill>
              <a:srgbClr val="34475D"/>
            </a:solidFill>
            <a:prstDash val="solid"/>
          </a:ln>
        </p:spPr>
      </p:sp>
      <p:sp>
        <p:nvSpPr>
          <p:cNvPr id="29" name="Shape 27"/>
          <p:cNvSpPr/>
          <p:nvPr/>
        </p:nvSpPr>
        <p:spPr>
          <a:xfrm>
            <a:off x="4495190" y="2766974"/>
            <a:ext cx="486461" cy="486461"/>
          </a:xfrm>
          <a:prstGeom prst="roundRect">
            <a:avLst>
              <a:gd name="adj" fmla="val 3759"/>
            </a:avLst>
          </a:prstGeom>
          <a:solidFill>
            <a:srgbClr val="1C304A"/>
          </a:solidFill>
          <a:ln w="10160">
            <a:solidFill>
              <a:srgbClr val="34475D"/>
            </a:solidFill>
            <a:prstDash val="solid"/>
          </a:ln>
        </p:spPr>
      </p:sp>
      <p:sp>
        <p:nvSpPr>
          <p:cNvPr id="30" name="Shape 28"/>
          <p:cNvSpPr/>
          <p:nvPr/>
        </p:nvSpPr>
        <p:spPr>
          <a:xfrm>
            <a:off x="5003597" y="2766974"/>
            <a:ext cx="486461" cy="486461"/>
          </a:xfrm>
          <a:prstGeom prst="roundRect">
            <a:avLst>
              <a:gd name="adj" fmla="val 3759"/>
            </a:avLst>
          </a:prstGeom>
          <a:solidFill>
            <a:srgbClr val="FFC870"/>
          </a:solidFill>
          <a:ln w="10160">
            <a:solidFill>
              <a:srgbClr val="FFC870"/>
            </a:solidFill>
            <a:prstDash val="solid"/>
          </a:ln>
        </p:spPr>
      </p:sp>
      <p:sp>
        <p:nvSpPr>
          <p:cNvPr id="31" name="Shape 29"/>
          <p:cNvSpPr/>
          <p:nvPr/>
        </p:nvSpPr>
        <p:spPr>
          <a:xfrm>
            <a:off x="5512003" y="2766974"/>
            <a:ext cx="486461" cy="486461"/>
          </a:xfrm>
          <a:prstGeom prst="roundRect">
            <a:avLst>
              <a:gd name="adj" fmla="val 3759"/>
            </a:avLst>
          </a:prstGeom>
          <a:solidFill>
            <a:srgbClr val="FFC870"/>
          </a:solidFill>
          <a:ln w="10160">
            <a:solidFill>
              <a:srgbClr val="FFC870"/>
            </a:solidFill>
            <a:prstDash val="solid"/>
          </a:ln>
        </p:spPr>
      </p:sp>
      <p:sp>
        <p:nvSpPr>
          <p:cNvPr id="32" name="Shape 30"/>
          <p:cNvSpPr/>
          <p:nvPr/>
        </p:nvSpPr>
        <p:spPr>
          <a:xfrm>
            <a:off x="3986784" y="3275381"/>
            <a:ext cx="486461" cy="486461"/>
          </a:xfrm>
          <a:prstGeom prst="roundRect">
            <a:avLst>
              <a:gd name="adj" fmla="val 3759"/>
            </a:avLst>
          </a:prstGeom>
          <a:solidFill>
            <a:srgbClr val="1C304A"/>
          </a:solidFill>
          <a:ln w="10160">
            <a:solidFill>
              <a:srgbClr val="34475D"/>
            </a:solidFill>
            <a:prstDash val="solid"/>
          </a:ln>
        </p:spPr>
      </p:sp>
      <p:sp>
        <p:nvSpPr>
          <p:cNvPr id="33" name="Shape 31"/>
          <p:cNvSpPr/>
          <p:nvPr/>
        </p:nvSpPr>
        <p:spPr>
          <a:xfrm>
            <a:off x="4495190" y="3275381"/>
            <a:ext cx="486461" cy="486461"/>
          </a:xfrm>
          <a:prstGeom prst="roundRect">
            <a:avLst>
              <a:gd name="adj" fmla="val 3759"/>
            </a:avLst>
          </a:prstGeom>
          <a:solidFill>
            <a:srgbClr val="1C304A"/>
          </a:solidFill>
          <a:ln w="10160">
            <a:solidFill>
              <a:srgbClr val="34475D"/>
            </a:solidFill>
            <a:prstDash val="solid"/>
          </a:ln>
        </p:spPr>
      </p:sp>
      <p:sp>
        <p:nvSpPr>
          <p:cNvPr id="34" name="Shape 32"/>
          <p:cNvSpPr/>
          <p:nvPr/>
        </p:nvSpPr>
        <p:spPr>
          <a:xfrm>
            <a:off x="5003597" y="3275381"/>
            <a:ext cx="486461" cy="486461"/>
          </a:xfrm>
          <a:prstGeom prst="roundRect">
            <a:avLst>
              <a:gd name="adj" fmla="val 3759"/>
            </a:avLst>
          </a:prstGeom>
          <a:solidFill>
            <a:srgbClr val="FFC870"/>
          </a:solidFill>
          <a:ln w="10160">
            <a:solidFill>
              <a:srgbClr val="FFC870"/>
            </a:solidFill>
            <a:prstDash val="solid"/>
          </a:ln>
        </p:spPr>
      </p:sp>
      <p:sp>
        <p:nvSpPr>
          <p:cNvPr id="35" name="Shape 33"/>
          <p:cNvSpPr/>
          <p:nvPr/>
        </p:nvSpPr>
        <p:spPr>
          <a:xfrm>
            <a:off x="5512003" y="3275381"/>
            <a:ext cx="486461" cy="486461"/>
          </a:xfrm>
          <a:prstGeom prst="roundRect">
            <a:avLst>
              <a:gd name="adj" fmla="val 3759"/>
            </a:avLst>
          </a:prstGeom>
          <a:solidFill>
            <a:srgbClr val="FFC870"/>
          </a:solidFill>
          <a:ln w="10160">
            <a:solidFill>
              <a:srgbClr val="FFC870"/>
            </a:solidFill>
            <a:prstDash val="solid"/>
          </a:ln>
        </p:spPr>
      </p:sp>
      <p:sp>
        <p:nvSpPr>
          <p:cNvPr id="36" name="Shape 34"/>
          <p:cNvSpPr/>
          <p:nvPr/>
        </p:nvSpPr>
        <p:spPr>
          <a:xfrm>
            <a:off x="3986784" y="3783787"/>
            <a:ext cx="486461" cy="486461"/>
          </a:xfrm>
          <a:prstGeom prst="roundRect">
            <a:avLst>
              <a:gd name="adj" fmla="val 3759"/>
            </a:avLst>
          </a:prstGeom>
          <a:solidFill>
            <a:srgbClr val="1C304A"/>
          </a:solidFill>
          <a:ln w="10160">
            <a:solidFill>
              <a:srgbClr val="34475D"/>
            </a:solidFill>
            <a:prstDash val="solid"/>
          </a:ln>
        </p:spPr>
      </p:sp>
      <p:sp>
        <p:nvSpPr>
          <p:cNvPr id="37" name="Shape 35"/>
          <p:cNvSpPr/>
          <p:nvPr/>
        </p:nvSpPr>
        <p:spPr>
          <a:xfrm>
            <a:off x="4495190" y="3783787"/>
            <a:ext cx="486461" cy="486461"/>
          </a:xfrm>
          <a:prstGeom prst="roundRect">
            <a:avLst>
              <a:gd name="adj" fmla="val 3759"/>
            </a:avLst>
          </a:prstGeom>
          <a:solidFill>
            <a:srgbClr val="1C304A"/>
          </a:solidFill>
          <a:ln w="10160">
            <a:solidFill>
              <a:srgbClr val="34475D"/>
            </a:solidFill>
            <a:prstDash val="solid"/>
          </a:ln>
        </p:spPr>
      </p:sp>
      <p:sp>
        <p:nvSpPr>
          <p:cNvPr id="38" name="Shape 36"/>
          <p:cNvSpPr/>
          <p:nvPr/>
        </p:nvSpPr>
        <p:spPr>
          <a:xfrm>
            <a:off x="5003597" y="3783787"/>
            <a:ext cx="486461" cy="486461"/>
          </a:xfrm>
          <a:prstGeom prst="roundRect">
            <a:avLst>
              <a:gd name="adj" fmla="val 3759"/>
            </a:avLst>
          </a:prstGeom>
          <a:solidFill>
            <a:srgbClr val="FFC870"/>
          </a:solidFill>
          <a:ln w="10160">
            <a:solidFill>
              <a:srgbClr val="FFC870"/>
            </a:solidFill>
            <a:prstDash val="solid"/>
          </a:ln>
        </p:spPr>
      </p:sp>
      <p:sp>
        <p:nvSpPr>
          <p:cNvPr id="39" name="Shape 37"/>
          <p:cNvSpPr/>
          <p:nvPr/>
        </p:nvSpPr>
        <p:spPr>
          <a:xfrm>
            <a:off x="5512003" y="3783787"/>
            <a:ext cx="486461" cy="486461"/>
          </a:xfrm>
          <a:prstGeom prst="roundRect">
            <a:avLst>
              <a:gd name="adj" fmla="val 3759"/>
            </a:avLst>
          </a:prstGeom>
          <a:solidFill>
            <a:srgbClr val="FFC870"/>
          </a:solidFill>
          <a:ln w="10160">
            <a:solidFill>
              <a:srgbClr val="FFC870"/>
            </a:solidFill>
            <a:prstDash val="solid"/>
          </a:ln>
        </p:spPr>
      </p:sp>
      <p:sp>
        <p:nvSpPr>
          <p:cNvPr id="40" name="Text 38"/>
          <p:cNvSpPr/>
          <p:nvPr/>
        </p:nvSpPr>
        <p:spPr>
          <a:xfrm>
            <a:off x="6163056"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41" name="Shape 39"/>
          <p:cNvSpPr/>
          <p:nvPr/>
        </p:nvSpPr>
        <p:spPr>
          <a:xfrm>
            <a:off x="6885432" y="2258568"/>
            <a:ext cx="486461" cy="486461"/>
          </a:xfrm>
          <a:prstGeom prst="roundRect">
            <a:avLst>
              <a:gd name="adj" fmla="val 3759"/>
            </a:avLst>
          </a:prstGeom>
          <a:solidFill>
            <a:srgbClr val="80E2B0"/>
          </a:solidFill>
          <a:ln w="10160">
            <a:solidFill>
              <a:srgbClr val="80E2B0"/>
            </a:solidFill>
            <a:prstDash val="solid"/>
          </a:ln>
        </p:spPr>
      </p:sp>
      <p:sp>
        <p:nvSpPr>
          <p:cNvPr id="42" name="Shape 40"/>
          <p:cNvSpPr/>
          <p:nvPr/>
        </p:nvSpPr>
        <p:spPr>
          <a:xfrm>
            <a:off x="7393838" y="2258568"/>
            <a:ext cx="486461" cy="486461"/>
          </a:xfrm>
          <a:prstGeom prst="roundRect">
            <a:avLst>
              <a:gd name="adj" fmla="val 3759"/>
            </a:avLst>
          </a:prstGeom>
          <a:solidFill>
            <a:srgbClr val="80E2B0"/>
          </a:solidFill>
          <a:ln w="10160">
            <a:solidFill>
              <a:srgbClr val="80E2B0"/>
            </a:solidFill>
            <a:prstDash val="solid"/>
          </a:ln>
        </p:spPr>
      </p:sp>
      <p:sp>
        <p:nvSpPr>
          <p:cNvPr id="43" name="Shape 41"/>
          <p:cNvSpPr/>
          <p:nvPr/>
        </p:nvSpPr>
        <p:spPr>
          <a:xfrm>
            <a:off x="7902245" y="2258568"/>
            <a:ext cx="486461" cy="486461"/>
          </a:xfrm>
          <a:prstGeom prst="roundRect">
            <a:avLst>
              <a:gd name="adj" fmla="val 3759"/>
            </a:avLst>
          </a:prstGeom>
          <a:solidFill>
            <a:srgbClr val="80E2B0"/>
          </a:solidFill>
          <a:ln w="10160">
            <a:solidFill>
              <a:srgbClr val="80E2B0"/>
            </a:solidFill>
            <a:prstDash val="solid"/>
          </a:ln>
        </p:spPr>
      </p:sp>
      <p:sp>
        <p:nvSpPr>
          <p:cNvPr id="44" name="Shape 42"/>
          <p:cNvSpPr/>
          <p:nvPr/>
        </p:nvSpPr>
        <p:spPr>
          <a:xfrm>
            <a:off x="8410651" y="2258568"/>
            <a:ext cx="486461" cy="486461"/>
          </a:xfrm>
          <a:prstGeom prst="roundRect">
            <a:avLst>
              <a:gd name="adj" fmla="val 3759"/>
            </a:avLst>
          </a:prstGeom>
          <a:solidFill>
            <a:srgbClr val="80E2B0"/>
          </a:solidFill>
          <a:ln w="10160">
            <a:solidFill>
              <a:srgbClr val="80E2B0"/>
            </a:solidFill>
            <a:prstDash val="solid"/>
          </a:ln>
        </p:spPr>
      </p:sp>
      <p:sp>
        <p:nvSpPr>
          <p:cNvPr id="45" name="Shape 43"/>
          <p:cNvSpPr/>
          <p:nvPr/>
        </p:nvSpPr>
        <p:spPr>
          <a:xfrm>
            <a:off x="6885432" y="2766974"/>
            <a:ext cx="486461" cy="486461"/>
          </a:xfrm>
          <a:prstGeom prst="roundRect">
            <a:avLst>
              <a:gd name="adj" fmla="val 3759"/>
            </a:avLst>
          </a:prstGeom>
          <a:solidFill>
            <a:srgbClr val="80E2B0"/>
          </a:solidFill>
          <a:ln w="10160">
            <a:solidFill>
              <a:srgbClr val="80E2B0"/>
            </a:solidFill>
            <a:prstDash val="solid"/>
          </a:ln>
        </p:spPr>
      </p:sp>
      <p:sp>
        <p:nvSpPr>
          <p:cNvPr id="46" name="Shape 44"/>
          <p:cNvSpPr/>
          <p:nvPr/>
        </p:nvSpPr>
        <p:spPr>
          <a:xfrm>
            <a:off x="7393838" y="2766974"/>
            <a:ext cx="486461" cy="486461"/>
          </a:xfrm>
          <a:prstGeom prst="roundRect">
            <a:avLst>
              <a:gd name="adj" fmla="val 3759"/>
            </a:avLst>
          </a:prstGeom>
          <a:solidFill>
            <a:srgbClr val="80E2B0"/>
          </a:solidFill>
          <a:ln w="10160">
            <a:solidFill>
              <a:srgbClr val="80E2B0"/>
            </a:solidFill>
            <a:prstDash val="solid"/>
          </a:ln>
        </p:spPr>
      </p:sp>
      <p:sp>
        <p:nvSpPr>
          <p:cNvPr id="47" name="Shape 45"/>
          <p:cNvSpPr/>
          <p:nvPr/>
        </p:nvSpPr>
        <p:spPr>
          <a:xfrm>
            <a:off x="7902245" y="2766974"/>
            <a:ext cx="486461" cy="486461"/>
          </a:xfrm>
          <a:prstGeom prst="roundRect">
            <a:avLst>
              <a:gd name="adj" fmla="val 3759"/>
            </a:avLst>
          </a:prstGeom>
          <a:solidFill>
            <a:srgbClr val="80E2B0"/>
          </a:solidFill>
          <a:ln w="10160">
            <a:solidFill>
              <a:srgbClr val="80E2B0"/>
            </a:solidFill>
            <a:prstDash val="solid"/>
          </a:ln>
        </p:spPr>
      </p:sp>
      <p:sp>
        <p:nvSpPr>
          <p:cNvPr id="48" name="Shape 46"/>
          <p:cNvSpPr/>
          <p:nvPr/>
        </p:nvSpPr>
        <p:spPr>
          <a:xfrm>
            <a:off x="8410651" y="2766974"/>
            <a:ext cx="486461" cy="486461"/>
          </a:xfrm>
          <a:prstGeom prst="roundRect">
            <a:avLst>
              <a:gd name="adj" fmla="val 3759"/>
            </a:avLst>
          </a:prstGeom>
          <a:solidFill>
            <a:srgbClr val="80E2B0"/>
          </a:solidFill>
          <a:ln w="10160">
            <a:solidFill>
              <a:srgbClr val="80E2B0"/>
            </a:solidFill>
            <a:prstDash val="solid"/>
          </a:ln>
        </p:spPr>
      </p:sp>
      <p:sp>
        <p:nvSpPr>
          <p:cNvPr id="49" name="Shape 47"/>
          <p:cNvSpPr/>
          <p:nvPr/>
        </p:nvSpPr>
        <p:spPr>
          <a:xfrm>
            <a:off x="6885432" y="3275381"/>
            <a:ext cx="486461" cy="486461"/>
          </a:xfrm>
          <a:prstGeom prst="roundRect">
            <a:avLst>
              <a:gd name="adj" fmla="val 3759"/>
            </a:avLst>
          </a:prstGeom>
          <a:solidFill>
            <a:srgbClr val="80E2B0"/>
          </a:solidFill>
          <a:ln w="10160">
            <a:solidFill>
              <a:srgbClr val="80E2B0"/>
            </a:solidFill>
            <a:prstDash val="solid"/>
          </a:ln>
        </p:spPr>
      </p:sp>
      <p:sp>
        <p:nvSpPr>
          <p:cNvPr id="50" name="Shape 48"/>
          <p:cNvSpPr/>
          <p:nvPr/>
        </p:nvSpPr>
        <p:spPr>
          <a:xfrm>
            <a:off x="7393838" y="3275381"/>
            <a:ext cx="486461" cy="486461"/>
          </a:xfrm>
          <a:prstGeom prst="roundRect">
            <a:avLst>
              <a:gd name="adj" fmla="val 3759"/>
            </a:avLst>
          </a:prstGeom>
          <a:solidFill>
            <a:srgbClr val="80E2B0"/>
          </a:solidFill>
          <a:ln w="10160">
            <a:solidFill>
              <a:srgbClr val="80E2B0"/>
            </a:solidFill>
            <a:prstDash val="solid"/>
          </a:ln>
        </p:spPr>
      </p:sp>
      <p:sp>
        <p:nvSpPr>
          <p:cNvPr id="51" name="Shape 49"/>
          <p:cNvSpPr/>
          <p:nvPr/>
        </p:nvSpPr>
        <p:spPr>
          <a:xfrm>
            <a:off x="7902245" y="3275381"/>
            <a:ext cx="486461" cy="486461"/>
          </a:xfrm>
          <a:prstGeom prst="roundRect">
            <a:avLst>
              <a:gd name="adj" fmla="val 3759"/>
            </a:avLst>
          </a:prstGeom>
          <a:solidFill>
            <a:srgbClr val="80E2B0"/>
          </a:solidFill>
          <a:ln w="10160">
            <a:solidFill>
              <a:srgbClr val="80E2B0"/>
            </a:solidFill>
            <a:prstDash val="solid"/>
          </a:ln>
        </p:spPr>
      </p:sp>
      <p:sp>
        <p:nvSpPr>
          <p:cNvPr id="52" name="Shape 50"/>
          <p:cNvSpPr/>
          <p:nvPr/>
        </p:nvSpPr>
        <p:spPr>
          <a:xfrm>
            <a:off x="8410651" y="3275381"/>
            <a:ext cx="486461" cy="486461"/>
          </a:xfrm>
          <a:prstGeom prst="roundRect">
            <a:avLst>
              <a:gd name="adj" fmla="val 3759"/>
            </a:avLst>
          </a:prstGeom>
          <a:solidFill>
            <a:srgbClr val="80E2B0"/>
          </a:solidFill>
          <a:ln w="10160">
            <a:solidFill>
              <a:srgbClr val="80E2B0"/>
            </a:solidFill>
            <a:prstDash val="solid"/>
          </a:ln>
        </p:spPr>
      </p:sp>
      <p:sp>
        <p:nvSpPr>
          <p:cNvPr id="53" name="Shape 51"/>
          <p:cNvSpPr/>
          <p:nvPr/>
        </p:nvSpPr>
        <p:spPr>
          <a:xfrm>
            <a:off x="6885432" y="3783787"/>
            <a:ext cx="486461" cy="486461"/>
          </a:xfrm>
          <a:prstGeom prst="roundRect">
            <a:avLst>
              <a:gd name="adj" fmla="val 3759"/>
            </a:avLst>
          </a:prstGeom>
          <a:solidFill>
            <a:srgbClr val="80E2B0"/>
          </a:solidFill>
          <a:ln w="10160">
            <a:solidFill>
              <a:srgbClr val="80E2B0"/>
            </a:solidFill>
            <a:prstDash val="solid"/>
          </a:ln>
        </p:spPr>
      </p:sp>
      <p:sp>
        <p:nvSpPr>
          <p:cNvPr id="54" name="Shape 52"/>
          <p:cNvSpPr/>
          <p:nvPr/>
        </p:nvSpPr>
        <p:spPr>
          <a:xfrm>
            <a:off x="7393838" y="3783787"/>
            <a:ext cx="486461" cy="486461"/>
          </a:xfrm>
          <a:prstGeom prst="roundRect">
            <a:avLst>
              <a:gd name="adj" fmla="val 3759"/>
            </a:avLst>
          </a:prstGeom>
          <a:solidFill>
            <a:srgbClr val="80E2B0"/>
          </a:solidFill>
          <a:ln w="10160">
            <a:solidFill>
              <a:srgbClr val="80E2B0"/>
            </a:solidFill>
            <a:prstDash val="solid"/>
          </a:ln>
        </p:spPr>
      </p:sp>
      <p:sp>
        <p:nvSpPr>
          <p:cNvPr id="55" name="Shape 53"/>
          <p:cNvSpPr/>
          <p:nvPr/>
        </p:nvSpPr>
        <p:spPr>
          <a:xfrm>
            <a:off x="7902245" y="3783787"/>
            <a:ext cx="486461" cy="486461"/>
          </a:xfrm>
          <a:prstGeom prst="roundRect">
            <a:avLst>
              <a:gd name="adj" fmla="val 3759"/>
            </a:avLst>
          </a:prstGeom>
          <a:solidFill>
            <a:srgbClr val="80E2B0"/>
          </a:solidFill>
          <a:ln w="10160">
            <a:solidFill>
              <a:srgbClr val="80E2B0"/>
            </a:solidFill>
            <a:prstDash val="solid"/>
          </a:ln>
        </p:spPr>
      </p:sp>
      <p:sp>
        <p:nvSpPr>
          <p:cNvPr id="56" name="Shape 54"/>
          <p:cNvSpPr/>
          <p:nvPr/>
        </p:nvSpPr>
        <p:spPr>
          <a:xfrm>
            <a:off x="8410651" y="3783787"/>
            <a:ext cx="486461" cy="486461"/>
          </a:xfrm>
          <a:prstGeom prst="roundRect">
            <a:avLst>
              <a:gd name="adj" fmla="val 3759"/>
            </a:avLst>
          </a:prstGeom>
          <a:solidFill>
            <a:srgbClr val="80E2B0"/>
          </a:solidFill>
          <a:ln w="10160">
            <a:solidFill>
              <a:srgbClr val="80E2B0"/>
            </a:solidFill>
            <a:prstDash val="solid"/>
          </a:ln>
        </p:spPr>
      </p:sp>
      <p:sp>
        <p:nvSpPr>
          <p:cNvPr id="57" name="Text 55"/>
          <p:cNvSpPr/>
          <p:nvPr/>
        </p:nvSpPr>
        <p:spPr>
          <a:xfrm>
            <a:off x="1225296" y="4462272"/>
            <a:ext cx="1645920" cy="365760"/>
          </a:xfrm>
          <a:prstGeom prst="rect">
            <a:avLst/>
          </a:prstGeom>
          <a:noFill/>
          <a:ln/>
        </p:spPr>
        <p:txBody>
          <a:bodyPr wrap="square" lIns="0" tIns="0" rIns="0" bIns="0" rtlCol="0" anchor="ctr"/>
          <a:lstStyle/>
          <a:p>
            <a:pPr marL="0" indent="0" algn="ctr">
              <a:buNone/>
            </a:pPr>
            <a:r>
              <a:rPr lang="en-US" sz="1600" dirty="0">
                <a:solidFill>
                  <a:srgbClr val="52D6D3"/>
                </a:solidFill>
                <a:latin typeface="Aptos" pitchFamily="34" charset="0"/>
                <a:ea typeface="Aptos" pitchFamily="34" charset="-122"/>
                <a:cs typeface="Aptos" pitchFamily="34" charset="-120"/>
              </a:rPr>
              <a:t>masca A</a:t>
            </a:r>
            <a:endParaRPr lang="en-US" sz="1600" dirty="0"/>
          </a:p>
        </p:txBody>
      </p:sp>
      <p:sp>
        <p:nvSpPr>
          <p:cNvPr id="58" name="Text 56"/>
          <p:cNvSpPr/>
          <p:nvPr/>
        </p:nvSpPr>
        <p:spPr>
          <a:xfrm>
            <a:off x="4178808" y="4462272"/>
            <a:ext cx="1737360" cy="365760"/>
          </a:xfrm>
          <a:prstGeom prst="rect">
            <a:avLst/>
          </a:prstGeom>
          <a:noFill/>
          <a:ln/>
        </p:spPr>
        <p:txBody>
          <a:bodyPr wrap="square" lIns="0" tIns="0" rIns="0" bIns="0" rtlCol="0" anchor="ctr"/>
          <a:lstStyle/>
          <a:p>
            <a:pPr marL="0" indent="0" algn="ctr">
              <a:buNone/>
            </a:pPr>
            <a:r>
              <a:rPr lang="en-US" sz="1600" dirty="0">
                <a:solidFill>
                  <a:srgbClr val="FFC870"/>
                </a:solidFill>
                <a:latin typeface="Aptos" pitchFamily="34" charset="0"/>
                <a:ea typeface="Aptos" pitchFamily="34" charset="-122"/>
                <a:cs typeface="Aptos" pitchFamily="34" charset="-120"/>
              </a:rPr>
              <a:t>complementul B</a:t>
            </a:r>
            <a:endParaRPr lang="en-US" sz="1600" dirty="0"/>
          </a:p>
        </p:txBody>
      </p:sp>
      <p:sp>
        <p:nvSpPr>
          <p:cNvPr id="59" name="Text 57"/>
          <p:cNvSpPr/>
          <p:nvPr/>
        </p:nvSpPr>
        <p:spPr>
          <a:xfrm>
            <a:off x="7059168" y="4462272"/>
            <a:ext cx="1682496" cy="365760"/>
          </a:xfrm>
          <a:prstGeom prst="rect">
            <a:avLst/>
          </a:prstGeom>
          <a:noFill/>
          <a:ln/>
        </p:spPr>
        <p:txBody>
          <a:bodyPr wrap="square" lIns="0" tIns="0" rIns="0" bIns="0" rtlCol="0" anchor="ctr"/>
          <a:lstStyle/>
          <a:p>
            <a:pPr marL="0" indent="0" algn="ctr">
              <a:buNone/>
            </a:pPr>
            <a:r>
              <a:rPr lang="en-US" sz="1600" dirty="0">
                <a:solidFill>
                  <a:srgbClr val="80E2B0"/>
                </a:solidFill>
                <a:latin typeface="Aptos" pitchFamily="34" charset="0"/>
                <a:ea typeface="Aptos" pitchFamily="34" charset="-122"/>
                <a:cs typeface="Aptos" pitchFamily="34" charset="-120"/>
              </a:rPr>
              <a:t>toți pixelii</a:t>
            </a:r>
            <a:endParaRPr lang="en-US" sz="1600" dirty="0"/>
          </a:p>
        </p:txBody>
      </p:sp>
      <p:sp>
        <p:nvSpPr>
          <p:cNvPr id="60" name="Shape 58"/>
          <p:cNvSpPr/>
          <p:nvPr/>
        </p:nvSpPr>
        <p:spPr>
          <a:xfrm>
            <a:off x="9290304" y="2221992"/>
            <a:ext cx="2093976" cy="2606040"/>
          </a:xfrm>
          <a:prstGeom prst="roundRect">
            <a:avLst>
              <a:gd name="adj" fmla="val 6987"/>
            </a:avLst>
          </a:prstGeom>
          <a:solidFill>
            <a:srgbClr val="17253B"/>
          </a:solidFill>
          <a:ln w="10160">
            <a:solidFill>
              <a:srgbClr val="17253B"/>
            </a:solidFill>
            <a:prstDash val="solid"/>
          </a:ln>
        </p:spPr>
      </p:sp>
      <p:sp>
        <p:nvSpPr>
          <p:cNvPr id="61" name="Shape 59"/>
          <p:cNvSpPr/>
          <p:nvPr/>
        </p:nvSpPr>
        <p:spPr>
          <a:xfrm>
            <a:off x="9290304" y="2221992"/>
            <a:ext cx="50292" cy="2606040"/>
          </a:xfrm>
          <a:prstGeom prst="roundRect">
            <a:avLst>
              <a:gd name="adj" fmla="val 290909"/>
            </a:avLst>
          </a:prstGeom>
          <a:solidFill>
            <a:srgbClr val="80E2B0"/>
          </a:solidFill>
          <a:ln w="10160">
            <a:solidFill>
              <a:srgbClr val="80E2B0"/>
            </a:solidFill>
            <a:prstDash val="solid"/>
          </a:ln>
        </p:spPr>
      </p:sp>
      <p:sp>
        <p:nvSpPr>
          <p:cNvPr id="62" name="Text 60"/>
          <p:cNvSpPr/>
          <p:nvPr/>
        </p:nvSpPr>
        <p:spPr>
          <a:xfrm>
            <a:off x="9491472" y="2377440"/>
            <a:ext cx="1709928"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CR = 1/8</a:t>
            </a:r>
            <a:endParaRPr lang="en-US" sz="2000" dirty="0"/>
          </a:p>
        </p:txBody>
      </p:sp>
      <p:sp>
        <p:nvSpPr>
          <p:cNvPr id="63" name="Text 61"/>
          <p:cNvSpPr/>
          <p:nvPr/>
        </p:nvSpPr>
        <p:spPr>
          <a:xfrm>
            <a:off x="9491472" y="2898648"/>
            <a:ext cx="1691640" cy="182880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2 valori pentru fiecare bloc 4 × 4, per cadru.</a:t>
            </a:r>
            <a:endParaRPr lang="en-US" sz="1600" dirty="0"/>
          </a:p>
        </p:txBody>
      </p:sp>
      <p:sp>
        <p:nvSpPr>
          <p:cNvPr id="64" name="Text 62"/>
          <p:cNvSpPr/>
          <p:nvPr/>
        </p:nvSpPr>
        <p:spPr>
          <a:xfrm>
            <a:off x="932688" y="5358384"/>
            <a:ext cx="10277856" cy="6217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Fill-factor 100% • suma A+B reproduce 16Sum • este nevoie de două căi de citire.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măști se compară?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măsurări pe cadru; toate folosesc perechi complementare.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08</a:t>
            </a:r>
            <a:endParaRPr lang="en-US" sz="1000" dirty="0"/>
          </a:p>
        </p:txBody>
      </p:sp>
      <p:sp>
        <p:nvSpPr>
          <p:cNvPr id="7" name="Shape 5"/>
          <p:cNvSpPr/>
          <p:nvPr/>
        </p:nvSpPr>
        <p:spPr>
          <a:xfrm>
            <a:off x="832104" y="1691640"/>
            <a:ext cx="10533888" cy="822960"/>
          </a:xfrm>
          <a:prstGeom prst="roundRect">
            <a:avLst>
              <a:gd name="adj" fmla="val 17778"/>
            </a:avLst>
          </a:prstGeom>
          <a:solidFill>
            <a:srgbClr val="17253B"/>
          </a:solidFill>
          <a:ln w="10160">
            <a:solidFill>
              <a:srgbClr val="17253B"/>
            </a:solidFill>
            <a:prstDash val="solid"/>
          </a:ln>
        </p:spPr>
      </p:sp>
      <p:sp>
        <p:nvSpPr>
          <p:cNvPr id="8" name="Shape 6"/>
          <p:cNvSpPr/>
          <p:nvPr/>
        </p:nvSpPr>
        <p:spPr>
          <a:xfrm>
            <a:off x="932688" y="1810512"/>
            <a:ext cx="82296" cy="594360"/>
          </a:xfrm>
          <a:prstGeom prst="roundRect">
            <a:avLst>
              <a:gd name="adj" fmla="val 177778"/>
            </a:avLst>
          </a:prstGeom>
          <a:solidFill>
            <a:srgbClr val="FF9C95"/>
          </a:solidFill>
          <a:ln w="10160">
            <a:solidFill>
              <a:srgbClr val="FF9C95"/>
            </a:solidFill>
            <a:prstDash val="solid"/>
          </a:ln>
        </p:spPr>
      </p:sp>
      <p:sp>
        <p:nvSpPr>
          <p:cNvPr id="9" name="Text 7"/>
          <p:cNvSpPr/>
          <p:nvPr/>
        </p:nvSpPr>
        <p:spPr>
          <a:xfrm>
            <a:off x="1207008" y="1847088"/>
            <a:ext cx="3108960" cy="457200"/>
          </a:xfrm>
          <a:prstGeom prst="rect">
            <a:avLst/>
          </a:prstGeom>
          <a:noFill/>
          <a:ln/>
        </p:spPr>
        <p:txBody>
          <a:bodyPr wrap="square" lIns="0" tIns="0" rIns="0" bIns="0" rtlCol="0" anchor="ctr"/>
          <a:lstStyle/>
          <a:p>
            <a:pPr marL="0" indent="0">
              <a:buNone/>
            </a:pPr>
            <a:r>
              <a:rPr lang="en-US" sz="2200" b="1" dirty="0">
                <a:solidFill>
                  <a:srgbClr val="FF9C95"/>
                </a:solidFill>
                <a:latin typeface="Aptos" pitchFamily="34" charset="0"/>
                <a:ea typeface="Aptos" pitchFamily="34" charset="-122"/>
                <a:cs typeface="Aptos" pitchFamily="34" charset="-120"/>
              </a:rPr>
              <a:t>8Sum fix</a:t>
            </a:r>
            <a:endParaRPr lang="en-US" sz="2200" dirty="0"/>
          </a:p>
        </p:txBody>
      </p:sp>
      <p:sp>
        <p:nvSpPr>
          <p:cNvPr id="10" name="Text 8"/>
          <p:cNvSpPr/>
          <p:nvPr/>
        </p:nvSpPr>
        <p:spPr>
          <a:xfrm>
            <a:off x="4325112" y="1847088"/>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dreptunghiuri, fără variație</a:t>
            </a:r>
            <a:endParaRPr lang="en-US" sz="1800" dirty="0"/>
          </a:p>
        </p:txBody>
      </p:sp>
      <p:sp>
        <p:nvSpPr>
          <p:cNvPr id="11" name="Shape 9"/>
          <p:cNvSpPr/>
          <p:nvPr/>
        </p:nvSpPr>
        <p:spPr>
          <a:xfrm>
            <a:off x="832104" y="2715768"/>
            <a:ext cx="10533888" cy="822960"/>
          </a:xfrm>
          <a:prstGeom prst="roundRect">
            <a:avLst>
              <a:gd name="adj" fmla="val 17778"/>
            </a:avLst>
          </a:prstGeom>
          <a:solidFill>
            <a:srgbClr val="1C304A"/>
          </a:solidFill>
          <a:ln w="10160">
            <a:solidFill>
              <a:srgbClr val="1C304A"/>
            </a:solidFill>
            <a:prstDash val="solid"/>
          </a:ln>
        </p:spPr>
      </p:sp>
      <p:sp>
        <p:nvSpPr>
          <p:cNvPr id="12" name="Shape 10"/>
          <p:cNvSpPr/>
          <p:nvPr/>
        </p:nvSpPr>
        <p:spPr>
          <a:xfrm>
            <a:off x="932688" y="2834640"/>
            <a:ext cx="82296" cy="594360"/>
          </a:xfrm>
          <a:prstGeom prst="roundRect">
            <a:avLst>
              <a:gd name="adj" fmla="val 177778"/>
            </a:avLst>
          </a:prstGeom>
          <a:solidFill>
            <a:srgbClr val="FFC870"/>
          </a:solidFill>
          <a:ln w="10160">
            <a:solidFill>
              <a:srgbClr val="FFC870"/>
            </a:solidFill>
            <a:prstDash val="solid"/>
          </a:ln>
        </p:spPr>
      </p:sp>
      <p:sp>
        <p:nvSpPr>
          <p:cNvPr id="13" name="Text 11"/>
          <p:cNvSpPr/>
          <p:nvPr/>
        </p:nvSpPr>
        <p:spPr>
          <a:xfrm>
            <a:off x="1207008" y="2871216"/>
            <a:ext cx="3108960" cy="457200"/>
          </a:xfrm>
          <a:prstGeom prst="rect">
            <a:avLst/>
          </a:prstGeom>
          <a:noFill/>
          <a:ln/>
        </p:spPr>
        <p:txBody>
          <a:bodyPr wrap="square" lIns="0" tIns="0" rIns="0" bIns="0" rtlCol="0" anchor="ctr"/>
          <a:lstStyle/>
          <a:p>
            <a:pPr marL="0" indent="0">
              <a:buNone/>
            </a:pPr>
            <a:r>
              <a:rPr lang="en-US" sz="2200" b="1" dirty="0">
                <a:solidFill>
                  <a:srgbClr val="FFC870"/>
                </a:solidFill>
                <a:latin typeface="Aptos" pitchFamily="34" charset="0"/>
                <a:ea typeface="Aptos" pitchFamily="34" charset="-122"/>
                <a:cs typeface="Aptos" pitchFamily="34" charset="-120"/>
              </a:rPr>
              <a:t>8Sum alternant</a:t>
            </a:r>
            <a:endParaRPr lang="en-US" sz="2200" dirty="0"/>
          </a:p>
        </p:txBody>
      </p:sp>
      <p:sp>
        <p:nvSpPr>
          <p:cNvPr id="14" name="Text 12"/>
          <p:cNvSpPr/>
          <p:nvPr/>
        </p:nvSpPr>
        <p:spPr>
          <a:xfrm>
            <a:off x="4325112" y="2871216"/>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coloane ↔ rânduri</a:t>
            </a:r>
            <a:endParaRPr lang="en-US" sz="1800" dirty="0"/>
          </a:p>
        </p:txBody>
      </p:sp>
      <p:sp>
        <p:nvSpPr>
          <p:cNvPr id="15" name="Shape 13"/>
          <p:cNvSpPr/>
          <p:nvPr/>
        </p:nvSpPr>
        <p:spPr>
          <a:xfrm>
            <a:off x="832104" y="3739896"/>
            <a:ext cx="10533888" cy="822960"/>
          </a:xfrm>
          <a:prstGeom prst="roundRect">
            <a:avLst>
              <a:gd name="adj" fmla="val 17778"/>
            </a:avLst>
          </a:prstGeom>
          <a:solidFill>
            <a:srgbClr val="17253B"/>
          </a:solidFill>
          <a:ln w="10160">
            <a:solidFill>
              <a:srgbClr val="17253B"/>
            </a:solidFill>
            <a:prstDash val="solid"/>
          </a:ln>
        </p:spPr>
      </p:sp>
      <p:sp>
        <p:nvSpPr>
          <p:cNvPr id="16" name="Shape 14"/>
          <p:cNvSpPr/>
          <p:nvPr/>
        </p:nvSpPr>
        <p:spPr>
          <a:xfrm>
            <a:off x="932688" y="3858768"/>
            <a:ext cx="82296" cy="594360"/>
          </a:xfrm>
          <a:prstGeom prst="roundRect">
            <a:avLst>
              <a:gd name="adj" fmla="val 177778"/>
            </a:avLst>
          </a:prstGeom>
          <a:solidFill>
            <a:srgbClr val="52D6D3"/>
          </a:solidFill>
          <a:ln w="10160">
            <a:solidFill>
              <a:srgbClr val="52D6D3"/>
            </a:solidFill>
            <a:prstDash val="solid"/>
          </a:ln>
        </p:spPr>
      </p:sp>
      <p:sp>
        <p:nvSpPr>
          <p:cNvPr id="17" name="Text 15"/>
          <p:cNvSpPr/>
          <p:nvPr/>
        </p:nvSpPr>
        <p:spPr>
          <a:xfrm>
            <a:off x="1207008" y="3895344"/>
            <a:ext cx="3108960" cy="457200"/>
          </a:xfrm>
          <a:prstGeom prst="rect">
            <a:avLst/>
          </a:prstGeom>
          <a:noFill/>
          <a:ln/>
        </p:spPr>
        <p:txBody>
          <a:bodyPr wrap="square" lIns="0" tIns="0" rIns="0" bIns="0" rtlCol="0" anchor="ctr"/>
          <a:lstStyle/>
          <a:p>
            <a:pPr marL="0" indent="0">
              <a:buNone/>
            </a:pPr>
            <a:r>
              <a:rPr lang="en-US" sz="2200" b="1" dirty="0">
                <a:solidFill>
                  <a:srgbClr val="52D6D3"/>
                </a:solidFill>
                <a:latin typeface="Aptos" pitchFamily="34" charset="0"/>
                <a:ea typeface="Aptos" pitchFamily="34" charset="-122"/>
                <a:cs typeface="Aptos" pitchFamily="34" charset="-120"/>
              </a:rPr>
              <a:t>Random</a:t>
            </a:r>
            <a:endParaRPr lang="en-US" sz="2200" dirty="0"/>
          </a:p>
        </p:txBody>
      </p:sp>
      <p:sp>
        <p:nvSpPr>
          <p:cNvPr id="18" name="Text 16"/>
          <p:cNvSpPr/>
          <p:nvPr/>
        </p:nvSpPr>
        <p:spPr>
          <a:xfrm>
            <a:off x="4325112" y="3895344"/>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măști binare variabile</a:t>
            </a:r>
            <a:endParaRPr lang="en-US" sz="1800" dirty="0"/>
          </a:p>
        </p:txBody>
      </p:sp>
      <p:sp>
        <p:nvSpPr>
          <p:cNvPr id="19" name="Shape 17"/>
          <p:cNvSpPr/>
          <p:nvPr/>
        </p:nvSpPr>
        <p:spPr>
          <a:xfrm>
            <a:off x="832104" y="4764024"/>
            <a:ext cx="10533888" cy="822960"/>
          </a:xfrm>
          <a:prstGeom prst="roundRect">
            <a:avLst>
              <a:gd name="adj" fmla="val 17778"/>
            </a:avLst>
          </a:prstGeom>
          <a:solidFill>
            <a:srgbClr val="1C304A"/>
          </a:solidFill>
          <a:ln w="10160">
            <a:solidFill>
              <a:srgbClr val="1C304A"/>
            </a:solidFill>
            <a:prstDash val="solid"/>
          </a:ln>
        </p:spPr>
      </p:sp>
      <p:sp>
        <p:nvSpPr>
          <p:cNvPr id="20" name="Shape 18"/>
          <p:cNvSpPr/>
          <p:nvPr/>
        </p:nvSpPr>
        <p:spPr>
          <a:xfrm>
            <a:off x="932688" y="4882896"/>
            <a:ext cx="82296" cy="594360"/>
          </a:xfrm>
          <a:prstGeom prst="roundRect">
            <a:avLst>
              <a:gd name="adj" fmla="val 177778"/>
            </a:avLst>
          </a:prstGeom>
          <a:solidFill>
            <a:srgbClr val="80E2B0"/>
          </a:solidFill>
          <a:ln w="10160">
            <a:solidFill>
              <a:srgbClr val="80E2B0"/>
            </a:solidFill>
            <a:prstDash val="solid"/>
          </a:ln>
        </p:spPr>
      </p:sp>
      <p:sp>
        <p:nvSpPr>
          <p:cNvPr id="21" name="Text 19"/>
          <p:cNvSpPr/>
          <p:nvPr/>
        </p:nvSpPr>
        <p:spPr>
          <a:xfrm>
            <a:off x="1207008" y="4919472"/>
            <a:ext cx="3108960" cy="457200"/>
          </a:xfrm>
          <a:prstGeom prst="rect">
            <a:avLst/>
          </a:prstGeom>
          <a:noFill/>
          <a:ln/>
        </p:spPr>
        <p:txBody>
          <a:bodyPr wrap="square" lIns="0" tIns="0" rIns="0" bIns="0" rtlCol="0" anchor="ctr"/>
          <a:lstStyle/>
          <a:p>
            <a:pPr marL="0" indent="0">
              <a:buNone/>
            </a:pPr>
            <a:r>
              <a:rPr lang="en-US" sz="2200" b="1" dirty="0">
                <a:solidFill>
                  <a:srgbClr val="80E2B0"/>
                </a:solidFill>
                <a:latin typeface="Aptos" pitchFamily="34" charset="0"/>
                <a:ea typeface="Aptos" pitchFamily="34" charset="-122"/>
                <a:cs typeface="Aptos" pitchFamily="34" charset="-120"/>
              </a:rPr>
              <a:t>Tetromino</a:t>
            </a:r>
            <a:endParaRPr lang="en-US" sz="2200" dirty="0"/>
          </a:p>
        </p:txBody>
      </p:sp>
      <p:sp>
        <p:nvSpPr>
          <p:cNvPr id="22" name="Text 20"/>
          <p:cNvSpPr/>
          <p:nvPr/>
        </p:nvSpPr>
        <p:spPr>
          <a:xfrm>
            <a:off x="4325112" y="4919472"/>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forme T; varianta extinsă diversifică tiparele</a:t>
            </a:r>
            <a:endParaRPr lang="en-US" sz="1800" dirty="0"/>
          </a:p>
        </p:txBody>
      </p:sp>
      <p:sp>
        <p:nvSpPr>
          <p:cNvPr id="23" name="Text 21"/>
          <p:cNvSpPr/>
          <p:nvPr/>
        </p:nvSpPr>
        <p:spPr>
          <a:xfrm>
            <a:off x="1060704" y="6007608"/>
            <a:ext cx="10076688" cy="365760"/>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Ipoteză: schimbarea tiparelor între cadre oferă măsurări mai informative.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Reconstrucția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Se reutilizează rețele VSR; nu e nevoie de un solutor CS clasic.</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09</a:t>
            </a:r>
            <a:endParaRPr lang="en-US" sz="1000" dirty="0"/>
          </a:p>
        </p:txBody>
      </p:sp>
      <p:sp>
        <p:nvSpPr>
          <p:cNvPr id="7" name="Shape 5"/>
          <p:cNvSpPr/>
          <p:nvPr/>
        </p:nvSpPr>
        <p:spPr>
          <a:xfrm>
            <a:off x="768096" y="1691640"/>
            <a:ext cx="5029200" cy="3282696"/>
          </a:xfrm>
          <a:prstGeom prst="roundRect">
            <a:avLst>
              <a:gd name="adj" fmla="val 4457"/>
            </a:avLst>
          </a:prstGeom>
          <a:solidFill>
            <a:srgbClr val="17253B"/>
          </a:solidFill>
          <a:ln w="10160">
            <a:solidFill>
              <a:srgbClr val="17253B"/>
            </a:solidFill>
            <a:prstDash val="solid"/>
          </a:ln>
        </p:spPr>
      </p:sp>
      <p:sp>
        <p:nvSpPr>
          <p:cNvPr id="8" name="Shape 6"/>
          <p:cNvSpPr/>
          <p:nvPr/>
        </p:nvSpPr>
        <p:spPr>
          <a:xfrm>
            <a:off x="768096" y="1691640"/>
            <a:ext cx="50292" cy="3282696"/>
          </a:xfrm>
          <a:prstGeom prst="roundRect">
            <a:avLst>
              <a:gd name="adj" fmla="val 290909"/>
            </a:avLst>
          </a:prstGeom>
          <a:solidFill>
            <a:srgbClr val="52D6D3"/>
          </a:solidFill>
          <a:ln w="10160">
            <a:solidFill>
              <a:srgbClr val="52D6D3"/>
            </a:solidFill>
            <a:prstDash val="solid"/>
          </a:ln>
        </p:spPr>
      </p:sp>
      <p:sp>
        <p:nvSpPr>
          <p:cNvPr id="9" name="Text 7"/>
          <p:cNvSpPr/>
          <p:nvPr/>
        </p:nvSpPr>
        <p:spPr>
          <a:xfrm>
            <a:off x="969264" y="1847088"/>
            <a:ext cx="4645152"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1 măsurare / cadru</a:t>
            </a:r>
            <a:endParaRPr lang="en-US" sz="2000" dirty="0"/>
          </a:p>
        </p:txBody>
      </p:sp>
      <p:sp>
        <p:nvSpPr>
          <p:cNvPr id="10" name="Text 8"/>
          <p:cNvSpPr/>
          <p:nvPr/>
        </p:nvSpPr>
        <p:spPr>
          <a:xfrm>
            <a:off x="969264" y="2368296"/>
            <a:ext cx="462686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Imaginea LR intră în BasicVSR, RVRT sau IART. Modelele sunt antrenate pentru fiecare tip de eșantionare.</a:t>
            </a:r>
            <a:endParaRPr lang="en-US" sz="1600" dirty="0"/>
          </a:p>
        </p:txBody>
      </p:sp>
      <p:sp>
        <p:nvSpPr>
          <p:cNvPr id="11" name="Shape 9"/>
          <p:cNvSpPr/>
          <p:nvPr/>
        </p:nvSpPr>
        <p:spPr>
          <a:xfrm>
            <a:off x="6035040" y="1691640"/>
            <a:ext cx="5349240" cy="3282696"/>
          </a:xfrm>
          <a:prstGeom prst="roundRect">
            <a:avLst>
              <a:gd name="adj" fmla="val 4457"/>
            </a:avLst>
          </a:prstGeom>
          <a:solidFill>
            <a:srgbClr val="17253B"/>
          </a:solidFill>
          <a:ln w="10160">
            <a:solidFill>
              <a:srgbClr val="17253B"/>
            </a:solidFill>
            <a:prstDash val="solid"/>
          </a:ln>
        </p:spPr>
      </p:sp>
      <p:sp>
        <p:nvSpPr>
          <p:cNvPr id="12" name="Shape 10"/>
          <p:cNvSpPr/>
          <p:nvPr/>
        </p:nvSpPr>
        <p:spPr>
          <a:xfrm>
            <a:off x="6035040" y="1691640"/>
            <a:ext cx="50292" cy="3282696"/>
          </a:xfrm>
          <a:prstGeom prst="roundRect">
            <a:avLst>
              <a:gd name="adj" fmla="val 290909"/>
            </a:avLst>
          </a:prstGeom>
          <a:solidFill>
            <a:srgbClr val="80E2B0"/>
          </a:solidFill>
          <a:ln w="10160">
            <a:solidFill>
              <a:srgbClr val="80E2B0"/>
            </a:solidFill>
            <a:prstDash val="solid"/>
          </a:ln>
        </p:spPr>
      </p:sp>
      <p:sp>
        <p:nvSpPr>
          <p:cNvPr id="13" name="Text 11"/>
          <p:cNvSpPr/>
          <p:nvPr/>
        </p:nvSpPr>
        <p:spPr>
          <a:xfrm>
            <a:off x="6236208" y="1847088"/>
            <a:ext cx="496519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2 măsurări / cadru</a:t>
            </a:r>
            <a:endParaRPr lang="en-US" sz="2000" dirty="0"/>
          </a:p>
        </p:txBody>
      </p:sp>
      <p:sp>
        <p:nvSpPr>
          <p:cNvPr id="14" name="Text 12"/>
          <p:cNvSpPr/>
          <p:nvPr/>
        </p:nvSpPr>
        <p:spPr>
          <a:xfrm>
            <a:off x="6236208" y="2368296"/>
            <a:ext cx="494690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Cele două imagini RGB se concatenează: intrare cu 6 canale. Se adaptează prima/ultima parte a BasicVSR; convoluția 1×1 produce RGB.</a:t>
            </a:r>
            <a:endParaRPr lang="en-US" sz="1600" dirty="0"/>
          </a:p>
        </p:txBody>
      </p:sp>
      <p:sp>
        <p:nvSpPr>
          <p:cNvPr id="15" name="Shape 13"/>
          <p:cNvSpPr/>
          <p:nvPr/>
        </p:nvSpPr>
        <p:spPr>
          <a:xfrm>
            <a:off x="1115568" y="5239512"/>
            <a:ext cx="9948672" cy="685800"/>
          </a:xfrm>
          <a:prstGeom prst="roundRect">
            <a:avLst>
              <a:gd name="adj" fmla="val 21333"/>
            </a:avLst>
          </a:prstGeom>
          <a:solidFill>
            <a:srgbClr val="1C304A"/>
          </a:solidFill>
          <a:ln w="10160">
            <a:solidFill>
              <a:srgbClr val="1C304A"/>
            </a:solidFill>
            <a:prstDash val="solid"/>
          </a:ln>
        </p:spPr>
      </p:sp>
      <p:sp>
        <p:nvSpPr>
          <p:cNvPr id="16" name="Text 14"/>
          <p:cNvSpPr/>
          <p:nvPr/>
        </p:nvSpPr>
        <p:spPr>
          <a:xfrm>
            <a:off x="1325880" y="5404104"/>
            <a:ext cx="9509760" cy="356616"/>
          </a:xfrm>
          <a:prstGeom prst="rect">
            <a:avLst/>
          </a:prstGeom>
          <a:noFill/>
          <a:ln/>
        </p:spPr>
        <p:txBody>
          <a:bodyPr wrap="square" lIns="0" tIns="0" rIns="0" bIns="0" rtlCol="0" anchor="ctr"/>
          <a:lstStyle/>
          <a:p>
            <a:pPr marL="0" indent="0" algn="ctr">
              <a:buNone/>
            </a:pPr>
            <a:r>
              <a:rPr lang="en-US" sz="1800" dirty="0">
                <a:solidFill>
                  <a:srgbClr val="FFC870"/>
                </a:solidFill>
                <a:latin typeface="Aptos" pitchFamily="34" charset="0"/>
                <a:ea typeface="Aptos" pitchFamily="34" charset="-122"/>
                <a:cs typeface="Aptos" pitchFamily="34" charset="-120"/>
              </a:rPr>
              <a:t>Interpolarea biliniară inițială este suficientă conform ablațiilor raportate.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o măsurare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PSNR (dB), VSR ×4, CR = 1/16; mai mare înseamnă mai bine.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10</a:t>
            </a:r>
            <a:endParaRPr lang="en-US" sz="1000" dirty="0"/>
          </a:p>
        </p:txBody>
      </p:sp>
      <p:sp>
        <p:nvSpPr>
          <p:cNvPr id="7" name="Shape 5"/>
          <p:cNvSpPr/>
          <p:nvPr/>
        </p:nvSpPr>
        <p:spPr>
          <a:xfrm>
            <a:off x="841248" y="1865376"/>
            <a:ext cx="2157984" cy="612648"/>
          </a:xfrm>
          <a:prstGeom prst="roundRect">
            <a:avLst>
              <a:gd name="adj" fmla="val 23881"/>
            </a:avLst>
          </a:prstGeom>
          <a:solidFill>
            <a:srgbClr val="1C304A"/>
          </a:solidFill>
          <a:ln w="10160">
            <a:solidFill>
              <a:srgbClr val="1C304A"/>
            </a:solidFill>
            <a:prstDash val="solid"/>
          </a:ln>
        </p:spPr>
      </p:sp>
      <p:sp>
        <p:nvSpPr>
          <p:cNvPr id="8" name="Text 6"/>
          <p:cNvSpPr/>
          <p:nvPr/>
        </p:nvSpPr>
        <p:spPr>
          <a:xfrm>
            <a:off x="905256" y="1975104"/>
            <a:ext cx="2029968" cy="347472"/>
          </a:xfrm>
          <a:prstGeom prst="rect">
            <a:avLst/>
          </a:prstGeom>
          <a:noFill/>
          <a:ln/>
        </p:spPr>
        <p:txBody>
          <a:bodyPr wrap="square" lIns="0" tIns="0" rIns="0" bIns="0" rtlCol="0" anchor="ctr"/>
          <a:lstStyle/>
          <a:p>
            <a:pPr marL="0" indent="0" algn="l">
              <a:buNone/>
            </a:pPr>
            <a:r>
              <a:rPr lang="en-US" sz="1700" b="1" dirty="0">
                <a:solidFill>
                  <a:srgbClr val="52D6D3"/>
                </a:solidFill>
                <a:latin typeface="Aptos" pitchFamily="34" charset="0"/>
                <a:ea typeface="Aptos" pitchFamily="34" charset="-122"/>
                <a:cs typeface="Aptos" pitchFamily="34" charset="-120"/>
              </a:rPr>
              <a:t>Model</a:t>
            </a:r>
            <a:endParaRPr lang="en-US" sz="1700" dirty="0"/>
          </a:p>
        </p:txBody>
      </p:sp>
      <p:sp>
        <p:nvSpPr>
          <p:cNvPr id="9" name="Shape 7"/>
          <p:cNvSpPr/>
          <p:nvPr/>
        </p:nvSpPr>
        <p:spPr>
          <a:xfrm>
            <a:off x="3035808" y="1865376"/>
            <a:ext cx="1901952" cy="612648"/>
          </a:xfrm>
          <a:prstGeom prst="roundRect">
            <a:avLst>
              <a:gd name="adj" fmla="val 23881"/>
            </a:avLst>
          </a:prstGeom>
          <a:solidFill>
            <a:srgbClr val="1C304A"/>
          </a:solidFill>
          <a:ln w="10160">
            <a:solidFill>
              <a:srgbClr val="1C304A"/>
            </a:solidFill>
            <a:prstDash val="solid"/>
          </a:ln>
        </p:spPr>
      </p:sp>
      <p:sp>
        <p:nvSpPr>
          <p:cNvPr id="10" name="Text 8"/>
          <p:cNvSpPr/>
          <p:nvPr/>
        </p:nvSpPr>
        <p:spPr>
          <a:xfrm>
            <a:off x="3099816" y="1975104"/>
            <a:ext cx="1773936"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Bicubic</a:t>
            </a:r>
            <a:endParaRPr lang="en-US" sz="1700" dirty="0"/>
          </a:p>
        </p:txBody>
      </p:sp>
      <p:sp>
        <p:nvSpPr>
          <p:cNvPr id="11" name="Shape 9"/>
          <p:cNvSpPr/>
          <p:nvPr/>
        </p:nvSpPr>
        <p:spPr>
          <a:xfrm>
            <a:off x="5020056" y="1865376"/>
            <a:ext cx="1865376" cy="612648"/>
          </a:xfrm>
          <a:prstGeom prst="roundRect">
            <a:avLst>
              <a:gd name="adj" fmla="val 23881"/>
            </a:avLst>
          </a:prstGeom>
          <a:solidFill>
            <a:srgbClr val="1C304A"/>
          </a:solidFill>
          <a:ln w="10160">
            <a:solidFill>
              <a:srgbClr val="1C304A"/>
            </a:solidFill>
            <a:prstDash val="solid"/>
          </a:ln>
        </p:spPr>
      </p:sp>
      <p:sp>
        <p:nvSpPr>
          <p:cNvPr id="12" name="Text 10"/>
          <p:cNvSpPr/>
          <p:nvPr/>
        </p:nvSpPr>
        <p:spPr>
          <a:xfrm>
            <a:off x="5084064" y="1975104"/>
            <a:ext cx="1737360"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16Sum</a:t>
            </a:r>
            <a:endParaRPr lang="en-US" sz="1700" dirty="0"/>
          </a:p>
        </p:txBody>
      </p:sp>
      <p:sp>
        <p:nvSpPr>
          <p:cNvPr id="13" name="Shape 11"/>
          <p:cNvSpPr/>
          <p:nvPr/>
        </p:nvSpPr>
        <p:spPr>
          <a:xfrm>
            <a:off x="6949440" y="1865376"/>
            <a:ext cx="1847088" cy="612648"/>
          </a:xfrm>
          <a:prstGeom prst="roundRect">
            <a:avLst>
              <a:gd name="adj" fmla="val 23881"/>
            </a:avLst>
          </a:prstGeom>
          <a:solidFill>
            <a:srgbClr val="1C304A"/>
          </a:solidFill>
          <a:ln w="10160">
            <a:solidFill>
              <a:srgbClr val="1C304A"/>
            </a:solidFill>
            <a:prstDash val="solid"/>
          </a:ln>
        </p:spPr>
      </p:sp>
      <p:sp>
        <p:nvSpPr>
          <p:cNvPr id="14" name="Text 12"/>
          <p:cNvSpPr/>
          <p:nvPr/>
        </p:nvSpPr>
        <p:spPr>
          <a:xfrm>
            <a:off x="7013448" y="1975104"/>
            <a:ext cx="1719072"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Random</a:t>
            </a:r>
            <a:endParaRPr lang="en-US" sz="1700" dirty="0"/>
          </a:p>
        </p:txBody>
      </p:sp>
      <p:sp>
        <p:nvSpPr>
          <p:cNvPr id="15" name="Shape 13"/>
          <p:cNvSpPr/>
          <p:nvPr/>
        </p:nvSpPr>
        <p:spPr>
          <a:xfrm>
            <a:off x="8851392" y="1865376"/>
            <a:ext cx="2514600" cy="612648"/>
          </a:xfrm>
          <a:prstGeom prst="roundRect">
            <a:avLst>
              <a:gd name="adj" fmla="val 23881"/>
            </a:avLst>
          </a:prstGeom>
          <a:solidFill>
            <a:srgbClr val="1C304A"/>
          </a:solidFill>
          <a:ln w="10160">
            <a:solidFill>
              <a:srgbClr val="1C304A"/>
            </a:solidFill>
            <a:prstDash val="solid"/>
          </a:ln>
        </p:spPr>
      </p:sp>
      <p:sp>
        <p:nvSpPr>
          <p:cNvPr id="16" name="Text 14"/>
          <p:cNvSpPr/>
          <p:nvPr/>
        </p:nvSpPr>
        <p:spPr>
          <a:xfrm>
            <a:off x="8915400" y="1975104"/>
            <a:ext cx="2386584" cy="347472"/>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Câștig Random vs 16Sum</a:t>
            </a:r>
            <a:endParaRPr lang="en-US" sz="1300" dirty="0"/>
          </a:p>
        </p:txBody>
      </p:sp>
      <p:sp>
        <p:nvSpPr>
          <p:cNvPr id="17" name="Shape 15"/>
          <p:cNvSpPr/>
          <p:nvPr/>
        </p:nvSpPr>
        <p:spPr>
          <a:xfrm>
            <a:off x="841248" y="2542032"/>
            <a:ext cx="2157984" cy="731520"/>
          </a:xfrm>
          <a:prstGeom prst="roundRect">
            <a:avLst>
              <a:gd name="adj" fmla="val 20000"/>
            </a:avLst>
          </a:prstGeom>
          <a:solidFill>
            <a:srgbClr val="17253B"/>
          </a:solidFill>
          <a:ln w="10160">
            <a:solidFill>
              <a:srgbClr val="17253B"/>
            </a:solidFill>
            <a:prstDash val="solid"/>
          </a:ln>
        </p:spPr>
      </p:sp>
      <p:sp>
        <p:nvSpPr>
          <p:cNvPr id="18" name="Text 16"/>
          <p:cNvSpPr/>
          <p:nvPr/>
        </p:nvSpPr>
        <p:spPr>
          <a:xfrm>
            <a:off x="914400" y="2715768"/>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BasicVSR</a:t>
            </a:r>
            <a:endParaRPr lang="en-US" sz="1900" dirty="0"/>
          </a:p>
        </p:txBody>
      </p:sp>
      <p:sp>
        <p:nvSpPr>
          <p:cNvPr id="19" name="Shape 17"/>
          <p:cNvSpPr/>
          <p:nvPr/>
        </p:nvSpPr>
        <p:spPr>
          <a:xfrm>
            <a:off x="3035808" y="2542032"/>
            <a:ext cx="1901952" cy="731520"/>
          </a:xfrm>
          <a:prstGeom prst="roundRect">
            <a:avLst>
              <a:gd name="adj" fmla="val 20000"/>
            </a:avLst>
          </a:prstGeom>
          <a:solidFill>
            <a:srgbClr val="17253B"/>
          </a:solidFill>
          <a:ln w="10160">
            <a:solidFill>
              <a:srgbClr val="17253B"/>
            </a:solidFill>
            <a:prstDash val="solid"/>
          </a:ln>
        </p:spPr>
      </p:sp>
      <p:sp>
        <p:nvSpPr>
          <p:cNvPr id="20" name="Text 18"/>
          <p:cNvSpPr/>
          <p:nvPr/>
        </p:nvSpPr>
        <p:spPr>
          <a:xfrm>
            <a:off x="3108960" y="2715768"/>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37,30</a:t>
            </a:r>
            <a:endParaRPr lang="en-US" sz="1900" dirty="0"/>
          </a:p>
        </p:txBody>
      </p:sp>
      <p:sp>
        <p:nvSpPr>
          <p:cNvPr id="21" name="Shape 19"/>
          <p:cNvSpPr/>
          <p:nvPr/>
        </p:nvSpPr>
        <p:spPr>
          <a:xfrm>
            <a:off x="5020056" y="2542032"/>
            <a:ext cx="1865376" cy="731520"/>
          </a:xfrm>
          <a:prstGeom prst="roundRect">
            <a:avLst>
              <a:gd name="adj" fmla="val 20000"/>
            </a:avLst>
          </a:prstGeom>
          <a:solidFill>
            <a:srgbClr val="17253B"/>
          </a:solidFill>
          <a:ln w="10160">
            <a:solidFill>
              <a:srgbClr val="17253B"/>
            </a:solidFill>
            <a:prstDash val="solid"/>
          </a:ln>
        </p:spPr>
      </p:sp>
      <p:sp>
        <p:nvSpPr>
          <p:cNvPr id="22" name="Text 20"/>
          <p:cNvSpPr/>
          <p:nvPr/>
        </p:nvSpPr>
        <p:spPr>
          <a:xfrm>
            <a:off x="5093208" y="2715768"/>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37,82</a:t>
            </a:r>
            <a:endParaRPr lang="en-US" sz="1900" dirty="0"/>
          </a:p>
        </p:txBody>
      </p:sp>
      <p:sp>
        <p:nvSpPr>
          <p:cNvPr id="23" name="Shape 21"/>
          <p:cNvSpPr/>
          <p:nvPr/>
        </p:nvSpPr>
        <p:spPr>
          <a:xfrm>
            <a:off x="6949440" y="2542032"/>
            <a:ext cx="1847088" cy="731520"/>
          </a:xfrm>
          <a:prstGeom prst="roundRect">
            <a:avLst>
              <a:gd name="adj" fmla="val 20000"/>
            </a:avLst>
          </a:prstGeom>
          <a:solidFill>
            <a:srgbClr val="17253B"/>
          </a:solidFill>
          <a:ln w="10160">
            <a:solidFill>
              <a:srgbClr val="17253B"/>
            </a:solidFill>
            <a:prstDash val="solid"/>
          </a:ln>
        </p:spPr>
      </p:sp>
      <p:sp>
        <p:nvSpPr>
          <p:cNvPr id="24" name="Text 22"/>
          <p:cNvSpPr/>
          <p:nvPr/>
        </p:nvSpPr>
        <p:spPr>
          <a:xfrm>
            <a:off x="7022592" y="2715768"/>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39,00</a:t>
            </a:r>
            <a:endParaRPr lang="en-US" sz="1900" dirty="0"/>
          </a:p>
        </p:txBody>
      </p:sp>
      <p:sp>
        <p:nvSpPr>
          <p:cNvPr id="25" name="Shape 23"/>
          <p:cNvSpPr/>
          <p:nvPr/>
        </p:nvSpPr>
        <p:spPr>
          <a:xfrm>
            <a:off x="8851392" y="2542032"/>
            <a:ext cx="2514600" cy="731520"/>
          </a:xfrm>
          <a:prstGeom prst="roundRect">
            <a:avLst>
              <a:gd name="adj" fmla="val 20000"/>
            </a:avLst>
          </a:prstGeom>
          <a:solidFill>
            <a:srgbClr val="17253B"/>
          </a:solidFill>
          <a:ln w="10160">
            <a:solidFill>
              <a:srgbClr val="17253B"/>
            </a:solidFill>
            <a:prstDash val="solid"/>
          </a:ln>
        </p:spPr>
      </p:sp>
      <p:sp>
        <p:nvSpPr>
          <p:cNvPr id="26" name="Text 24"/>
          <p:cNvSpPr/>
          <p:nvPr/>
        </p:nvSpPr>
        <p:spPr>
          <a:xfrm>
            <a:off x="8924544" y="2715768"/>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+1,18 dB</a:t>
            </a:r>
            <a:endParaRPr lang="en-US" sz="1900" dirty="0"/>
          </a:p>
        </p:txBody>
      </p:sp>
      <p:sp>
        <p:nvSpPr>
          <p:cNvPr id="27" name="Shape 25"/>
          <p:cNvSpPr/>
          <p:nvPr/>
        </p:nvSpPr>
        <p:spPr>
          <a:xfrm>
            <a:off x="841248" y="3374136"/>
            <a:ext cx="2157984" cy="731520"/>
          </a:xfrm>
          <a:prstGeom prst="roundRect">
            <a:avLst>
              <a:gd name="adj" fmla="val 20000"/>
            </a:avLst>
          </a:prstGeom>
          <a:solidFill>
            <a:srgbClr val="1C304A"/>
          </a:solidFill>
          <a:ln w="10160">
            <a:solidFill>
              <a:srgbClr val="1C304A"/>
            </a:solidFill>
            <a:prstDash val="solid"/>
          </a:ln>
        </p:spPr>
      </p:sp>
      <p:sp>
        <p:nvSpPr>
          <p:cNvPr id="28" name="Text 26"/>
          <p:cNvSpPr/>
          <p:nvPr/>
        </p:nvSpPr>
        <p:spPr>
          <a:xfrm>
            <a:off x="914400" y="3547872"/>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RVRT</a:t>
            </a:r>
            <a:endParaRPr lang="en-US" sz="1900" dirty="0"/>
          </a:p>
        </p:txBody>
      </p:sp>
      <p:sp>
        <p:nvSpPr>
          <p:cNvPr id="29" name="Shape 27"/>
          <p:cNvSpPr/>
          <p:nvPr/>
        </p:nvSpPr>
        <p:spPr>
          <a:xfrm>
            <a:off x="3035808" y="3374136"/>
            <a:ext cx="1901952" cy="731520"/>
          </a:xfrm>
          <a:prstGeom prst="roundRect">
            <a:avLst>
              <a:gd name="adj" fmla="val 20000"/>
            </a:avLst>
          </a:prstGeom>
          <a:solidFill>
            <a:srgbClr val="1C304A"/>
          </a:solidFill>
          <a:ln w="10160">
            <a:solidFill>
              <a:srgbClr val="1C304A"/>
            </a:solidFill>
            <a:prstDash val="solid"/>
          </a:ln>
        </p:spPr>
      </p:sp>
      <p:sp>
        <p:nvSpPr>
          <p:cNvPr id="30" name="Text 28"/>
          <p:cNvSpPr/>
          <p:nvPr/>
        </p:nvSpPr>
        <p:spPr>
          <a:xfrm>
            <a:off x="3108960" y="3547872"/>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38,10</a:t>
            </a:r>
            <a:endParaRPr lang="en-US" sz="1900" dirty="0"/>
          </a:p>
        </p:txBody>
      </p:sp>
      <p:sp>
        <p:nvSpPr>
          <p:cNvPr id="31" name="Shape 29"/>
          <p:cNvSpPr/>
          <p:nvPr/>
        </p:nvSpPr>
        <p:spPr>
          <a:xfrm>
            <a:off x="5020056" y="3374136"/>
            <a:ext cx="1865376" cy="731520"/>
          </a:xfrm>
          <a:prstGeom prst="roundRect">
            <a:avLst>
              <a:gd name="adj" fmla="val 20000"/>
            </a:avLst>
          </a:prstGeom>
          <a:solidFill>
            <a:srgbClr val="1C304A"/>
          </a:solidFill>
          <a:ln w="10160">
            <a:solidFill>
              <a:srgbClr val="1C304A"/>
            </a:solidFill>
            <a:prstDash val="solid"/>
          </a:ln>
        </p:spPr>
      </p:sp>
      <p:sp>
        <p:nvSpPr>
          <p:cNvPr id="32" name="Text 30"/>
          <p:cNvSpPr/>
          <p:nvPr/>
        </p:nvSpPr>
        <p:spPr>
          <a:xfrm>
            <a:off x="5093208" y="3547872"/>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39,07</a:t>
            </a:r>
            <a:endParaRPr lang="en-US" sz="1900" dirty="0"/>
          </a:p>
        </p:txBody>
      </p:sp>
      <p:sp>
        <p:nvSpPr>
          <p:cNvPr id="33" name="Shape 31"/>
          <p:cNvSpPr/>
          <p:nvPr/>
        </p:nvSpPr>
        <p:spPr>
          <a:xfrm>
            <a:off x="6949440" y="3374136"/>
            <a:ext cx="1847088" cy="731520"/>
          </a:xfrm>
          <a:prstGeom prst="roundRect">
            <a:avLst>
              <a:gd name="adj" fmla="val 20000"/>
            </a:avLst>
          </a:prstGeom>
          <a:solidFill>
            <a:srgbClr val="1C304A"/>
          </a:solidFill>
          <a:ln w="10160">
            <a:solidFill>
              <a:srgbClr val="1C304A"/>
            </a:solidFill>
            <a:prstDash val="solid"/>
          </a:ln>
        </p:spPr>
      </p:sp>
      <p:sp>
        <p:nvSpPr>
          <p:cNvPr id="34" name="Text 32"/>
          <p:cNvSpPr/>
          <p:nvPr/>
        </p:nvSpPr>
        <p:spPr>
          <a:xfrm>
            <a:off x="7022592" y="3547872"/>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40,65</a:t>
            </a:r>
            <a:endParaRPr lang="en-US" sz="1900" dirty="0"/>
          </a:p>
        </p:txBody>
      </p:sp>
      <p:sp>
        <p:nvSpPr>
          <p:cNvPr id="35" name="Shape 33"/>
          <p:cNvSpPr/>
          <p:nvPr/>
        </p:nvSpPr>
        <p:spPr>
          <a:xfrm>
            <a:off x="8851392" y="3374136"/>
            <a:ext cx="2514600" cy="731520"/>
          </a:xfrm>
          <a:prstGeom prst="roundRect">
            <a:avLst>
              <a:gd name="adj" fmla="val 20000"/>
            </a:avLst>
          </a:prstGeom>
          <a:solidFill>
            <a:srgbClr val="1C304A"/>
          </a:solidFill>
          <a:ln w="10160">
            <a:solidFill>
              <a:srgbClr val="1C304A"/>
            </a:solidFill>
            <a:prstDash val="solid"/>
          </a:ln>
        </p:spPr>
      </p:sp>
      <p:sp>
        <p:nvSpPr>
          <p:cNvPr id="36" name="Text 34"/>
          <p:cNvSpPr/>
          <p:nvPr/>
        </p:nvSpPr>
        <p:spPr>
          <a:xfrm>
            <a:off x="8924544" y="3547872"/>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+1,58 dB</a:t>
            </a:r>
            <a:endParaRPr lang="en-US" sz="1900" dirty="0"/>
          </a:p>
        </p:txBody>
      </p:sp>
      <p:sp>
        <p:nvSpPr>
          <p:cNvPr id="37" name="Shape 35"/>
          <p:cNvSpPr/>
          <p:nvPr/>
        </p:nvSpPr>
        <p:spPr>
          <a:xfrm>
            <a:off x="841248" y="4206240"/>
            <a:ext cx="2157984" cy="731520"/>
          </a:xfrm>
          <a:prstGeom prst="roundRect">
            <a:avLst>
              <a:gd name="adj" fmla="val 20000"/>
            </a:avLst>
          </a:prstGeom>
          <a:solidFill>
            <a:srgbClr val="17253B"/>
          </a:solidFill>
          <a:ln w="10160">
            <a:solidFill>
              <a:srgbClr val="17253B"/>
            </a:solidFill>
            <a:prstDash val="solid"/>
          </a:ln>
        </p:spPr>
      </p:sp>
      <p:sp>
        <p:nvSpPr>
          <p:cNvPr id="38" name="Text 36"/>
          <p:cNvSpPr/>
          <p:nvPr/>
        </p:nvSpPr>
        <p:spPr>
          <a:xfrm>
            <a:off x="914400" y="4379976"/>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IART</a:t>
            </a:r>
            <a:endParaRPr lang="en-US" sz="1900" dirty="0"/>
          </a:p>
        </p:txBody>
      </p:sp>
      <p:sp>
        <p:nvSpPr>
          <p:cNvPr id="39" name="Shape 37"/>
          <p:cNvSpPr/>
          <p:nvPr/>
        </p:nvSpPr>
        <p:spPr>
          <a:xfrm>
            <a:off x="3035808" y="4206240"/>
            <a:ext cx="1901952" cy="731520"/>
          </a:xfrm>
          <a:prstGeom prst="roundRect">
            <a:avLst>
              <a:gd name="adj" fmla="val 20000"/>
            </a:avLst>
          </a:prstGeom>
          <a:solidFill>
            <a:srgbClr val="17253B"/>
          </a:solidFill>
          <a:ln w="10160">
            <a:solidFill>
              <a:srgbClr val="17253B"/>
            </a:solidFill>
            <a:prstDash val="solid"/>
          </a:ln>
        </p:spPr>
      </p:sp>
      <p:sp>
        <p:nvSpPr>
          <p:cNvPr id="40" name="Text 38"/>
          <p:cNvSpPr/>
          <p:nvPr/>
        </p:nvSpPr>
        <p:spPr>
          <a:xfrm>
            <a:off x="3108960" y="4379976"/>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38,09</a:t>
            </a:r>
            <a:endParaRPr lang="en-US" sz="1900" dirty="0"/>
          </a:p>
        </p:txBody>
      </p:sp>
      <p:sp>
        <p:nvSpPr>
          <p:cNvPr id="41" name="Shape 39"/>
          <p:cNvSpPr/>
          <p:nvPr/>
        </p:nvSpPr>
        <p:spPr>
          <a:xfrm>
            <a:off x="5020056" y="4206240"/>
            <a:ext cx="1865376" cy="731520"/>
          </a:xfrm>
          <a:prstGeom prst="roundRect">
            <a:avLst>
              <a:gd name="adj" fmla="val 20000"/>
            </a:avLst>
          </a:prstGeom>
          <a:solidFill>
            <a:srgbClr val="17253B"/>
          </a:solidFill>
          <a:ln w="10160">
            <a:solidFill>
              <a:srgbClr val="17253B"/>
            </a:solidFill>
            <a:prstDash val="solid"/>
          </a:ln>
        </p:spPr>
      </p:sp>
      <p:sp>
        <p:nvSpPr>
          <p:cNvPr id="42" name="Text 40"/>
          <p:cNvSpPr/>
          <p:nvPr/>
        </p:nvSpPr>
        <p:spPr>
          <a:xfrm>
            <a:off x="5093208" y="4379976"/>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39,37</a:t>
            </a:r>
            <a:endParaRPr lang="en-US" sz="1900" dirty="0"/>
          </a:p>
        </p:txBody>
      </p:sp>
      <p:sp>
        <p:nvSpPr>
          <p:cNvPr id="43" name="Shape 41"/>
          <p:cNvSpPr/>
          <p:nvPr/>
        </p:nvSpPr>
        <p:spPr>
          <a:xfrm>
            <a:off x="6949440" y="4206240"/>
            <a:ext cx="1847088" cy="731520"/>
          </a:xfrm>
          <a:prstGeom prst="roundRect">
            <a:avLst>
              <a:gd name="adj" fmla="val 20000"/>
            </a:avLst>
          </a:prstGeom>
          <a:solidFill>
            <a:srgbClr val="17253B"/>
          </a:solidFill>
          <a:ln w="10160">
            <a:solidFill>
              <a:srgbClr val="17253B"/>
            </a:solidFill>
            <a:prstDash val="solid"/>
          </a:ln>
        </p:spPr>
      </p:sp>
      <p:sp>
        <p:nvSpPr>
          <p:cNvPr id="44" name="Text 42"/>
          <p:cNvSpPr/>
          <p:nvPr/>
        </p:nvSpPr>
        <p:spPr>
          <a:xfrm>
            <a:off x="7022592" y="4379976"/>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40,99</a:t>
            </a:r>
            <a:endParaRPr lang="en-US" sz="1900" dirty="0"/>
          </a:p>
        </p:txBody>
      </p:sp>
      <p:sp>
        <p:nvSpPr>
          <p:cNvPr id="45" name="Shape 43"/>
          <p:cNvSpPr/>
          <p:nvPr/>
        </p:nvSpPr>
        <p:spPr>
          <a:xfrm>
            <a:off x="8851392" y="4206240"/>
            <a:ext cx="2514600" cy="731520"/>
          </a:xfrm>
          <a:prstGeom prst="roundRect">
            <a:avLst>
              <a:gd name="adj" fmla="val 20000"/>
            </a:avLst>
          </a:prstGeom>
          <a:solidFill>
            <a:srgbClr val="17253B"/>
          </a:solidFill>
          <a:ln w="10160">
            <a:solidFill>
              <a:srgbClr val="17253B"/>
            </a:solidFill>
            <a:prstDash val="solid"/>
          </a:ln>
        </p:spPr>
      </p:sp>
      <p:sp>
        <p:nvSpPr>
          <p:cNvPr id="46" name="Text 44"/>
          <p:cNvSpPr/>
          <p:nvPr/>
        </p:nvSpPr>
        <p:spPr>
          <a:xfrm>
            <a:off x="8924544" y="4379976"/>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+1,62 dB</a:t>
            </a:r>
            <a:endParaRPr lang="en-US" sz="1900" dirty="0"/>
          </a:p>
        </p:txBody>
      </p:sp>
      <p:sp>
        <p:nvSpPr>
          <p:cNvPr id="47" name="Text 45"/>
          <p:cNvSpPr/>
          <p:nvPr/>
        </p:nvSpPr>
        <p:spPr>
          <a:xfrm>
            <a:off x="941832" y="5376672"/>
            <a:ext cx="10232136"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Dataset: Vimeo-90K-T   •   toate cele trei rețele câștigă folosind măști Random.</a:t>
            </a:r>
            <a:endParaRPr lang="en-US" sz="2000" dirty="0"/>
          </a:p>
        </p:txBody>
      </p:sp>
      <p:sp>
        <p:nvSpPr>
          <p:cNvPr id="48" name="Text 46"/>
          <p:cNvSpPr/>
          <p:nvPr/>
        </p:nvSpPr>
        <p:spPr>
          <a:xfrm>
            <a:off x="1005840" y="5952744"/>
            <a:ext cx="10012680" cy="310896"/>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Sursă: Katz et al., Tabelul 1. Setarea Random utilizează numai 50% din pixeli per cadru.</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două măsurări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BasicVSR, VSR ×4, CR = 1/8; date din Tabelul 2.</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11</a:t>
            </a:r>
            <a:endParaRPr lang="en-US" sz="1000" dirty="0"/>
          </a:p>
        </p:txBody>
      </p:sp>
      <p:sp>
        <p:nvSpPr>
          <p:cNvPr id="7" name="Text 5"/>
          <p:cNvSpPr/>
          <p:nvPr/>
        </p:nvSpPr>
        <p:spPr>
          <a:xfrm>
            <a:off x="877824" y="1856232"/>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fix</a:t>
            </a:r>
            <a:endParaRPr lang="en-US" sz="1700" dirty="0"/>
          </a:p>
        </p:txBody>
      </p:sp>
      <p:sp>
        <p:nvSpPr>
          <p:cNvPr id="8" name="Shape 6"/>
          <p:cNvSpPr/>
          <p:nvPr/>
        </p:nvSpPr>
        <p:spPr>
          <a:xfrm>
            <a:off x="3346704" y="1901952"/>
            <a:ext cx="1799320" cy="384048"/>
          </a:xfrm>
          <a:prstGeom prst="roundRect">
            <a:avLst>
              <a:gd name="adj" fmla="val 38095"/>
            </a:avLst>
          </a:prstGeom>
          <a:solidFill>
            <a:srgbClr val="FF9C95"/>
          </a:solidFill>
          <a:ln w="10160">
            <a:solidFill>
              <a:srgbClr val="FF9C95"/>
            </a:solidFill>
            <a:prstDash val="solid"/>
          </a:ln>
        </p:spPr>
      </p:sp>
      <p:sp>
        <p:nvSpPr>
          <p:cNvPr id="9" name="Text 7"/>
          <p:cNvSpPr/>
          <p:nvPr/>
        </p:nvSpPr>
        <p:spPr>
          <a:xfrm>
            <a:off x="10351008" y="1810512"/>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39,22 dB</a:t>
            </a:r>
            <a:endParaRPr lang="en-US" sz="1700" dirty="0"/>
          </a:p>
        </p:txBody>
      </p:sp>
      <p:sp>
        <p:nvSpPr>
          <p:cNvPr id="10" name="Text 8"/>
          <p:cNvSpPr/>
          <p:nvPr/>
        </p:nvSpPr>
        <p:spPr>
          <a:xfrm>
            <a:off x="877824" y="2578608"/>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alternant</a:t>
            </a:r>
            <a:endParaRPr lang="en-US" sz="1700" dirty="0"/>
          </a:p>
        </p:txBody>
      </p:sp>
      <p:sp>
        <p:nvSpPr>
          <p:cNvPr id="11" name="Shape 9"/>
          <p:cNvSpPr/>
          <p:nvPr/>
        </p:nvSpPr>
        <p:spPr>
          <a:xfrm>
            <a:off x="3346704" y="2624328"/>
            <a:ext cx="5251143" cy="384048"/>
          </a:xfrm>
          <a:prstGeom prst="roundRect">
            <a:avLst>
              <a:gd name="adj" fmla="val 38095"/>
            </a:avLst>
          </a:prstGeom>
          <a:solidFill>
            <a:srgbClr val="52D6D3"/>
          </a:solidFill>
          <a:ln w="10160">
            <a:solidFill>
              <a:srgbClr val="52D6D3"/>
            </a:solidFill>
            <a:prstDash val="solid"/>
          </a:ln>
        </p:spPr>
      </p:sp>
      <p:sp>
        <p:nvSpPr>
          <p:cNvPr id="12" name="Text 10"/>
          <p:cNvSpPr/>
          <p:nvPr/>
        </p:nvSpPr>
        <p:spPr>
          <a:xfrm>
            <a:off x="10351008" y="2532888"/>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40,79 dB</a:t>
            </a:r>
            <a:endParaRPr lang="en-US" sz="1700" dirty="0"/>
          </a:p>
        </p:txBody>
      </p:sp>
      <p:sp>
        <p:nvSpPr>
          <p:cNvPr id="13" name="Text 11"/>
          <p:cNvSpPr/>
          <p:nvPr/>
        </p:nvSpPr>
        <p:spPr>
          <a:xfrm>
            <a:off x="877824" y="3300984"/>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Random dinamic</a:t>
            </a:r>
            <a:endParaRPr lang="en-US" sz="1700" dirty="0"/>
          </a:p>
        </p:txBody>
      </p:sp>
      <p:sp>
        <p:nvSpPr>
          <p:cNvPr id="14" name="Shape 12"/>
          <p:cNvSpPr/>
          <p:nvPr/>
        </p:nvSpPr>
        <p:spPr>
          <a:xfrm>
            <a:off x="3346704" y="3346704"/>
            <a:ext cx="5789030" cy="384048"/>
          </a:xfrm>
          <a:prstGeom prst="roundRect">
            <a:avLst>
              <a:gd name="adj" fmla="val 38095"/>
            </a:avLst>
          </a:prstGeom>
          <a:solidFill>
            <a:srgbClr val="52D6D3"/>
          </a:solidFill>
          <a:ln w="10160">
            <a:solidFill>
              <a:srgbClr val="52D6D3"/>
            </a:solidFill>
            <a:prstDash val="solid"/>
          </a:ln>
        </p:spPr>
      </p:sp>
      <p:sp>
        <p:nvSpPr>
          <p:cNvPr id="15" name="Text 13"/>
          <p:cNvSpPr/>
          <p:nvPr/>
        </p:nvSpPr>
        <p:spPr>
          <a:xfrm>
            <a:off x="10351008" y="3255264"/>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41,04 dB</a:t>
            </a:r>
            <a:endParaRPr lang="en-US" sz="1700" dirty="0"/>
          </a:p>
        </p:txBody>
      </p:sp>
      <p:sp>
        <p:nvSpPr>
          <p:cNvPr id="16" name="Text 14"/>
          <p:cNvSpPr/>
          <p:nvPr/>
        </p:nvSpPr>
        <p:spPr>
          <a:xfrm>
            <a:off x="877824" y="4023360"/>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basic</a:t>
            </a:r>
            <a:endParaRPr lang="en-US" sz="1700" dirty="0"/>
          </a:p>
        </p:txBody>
      </p:sp>
      <p:sp>
        <p:nvSpPr>
          <p:cNvPr id="17" name="Shape 15"/>
          <p:cNvSpPr/>
          <p:nvPr/>
        </p:nvSpPr>
        <p:spPr>
          <a:xfrm>
            <a:off x="3346704" y="4069080"/>
            <a:ext cx="6668390" cy="384048"/>
          </a:xfrm>
          <a:prstGeom prst="roundRect">
            <a:avLst>
              <a:gd name="adj" fmla="val 38095"/>
            </a:avLst>
          </a:prstGeom>
          <a:solidFill>
            <a:srgbClr val="52D6D3"/>
          </a:solidFill>
          <a:ln w="10160">
            <a:solidFill>
              <a:srgbClr val="52D6D3"/>
            </a:solidFill>
            <a:prstDash val="solid"/>
          </a:ln>
        </p:spPr>
      </p:sp>
      <p:sp>
        <p:nvSpPr>
          <p:cNvPr id="18" name="Text 16"/>
          <p:cNvSpPr/>
          <p:nvPr/>
        </p:nvSpPr>
        <p:spPr>
          <a:xfrm>
            <a:off x="10351008" y="3977640"/>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41,44 dB</a:t>
            </a:r>
            <a:endParaRPr lang="en-US" sz="1700" dirty="0"/>
          </a:p>
        </p:txBody>
      </p:sp>
      <p:sp>
        <p:nvSpPr>
          <p:cNvPr id="19" name="Text 17"/>
          <p:cNvSpPr/>
          <p:nvPr/>
        </p:nvSpPr>
        <p:spPr>
          <a:xfrm>
            <a:off x="877824" y="4745736"/>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extins</a:t>
            </a:r>
            <a:endParaRPr lang="en-US" sz="1700" dirty="0"/>
          </a:p>
        </p:txBody>
      </p:sp>
      <p:sp>
        <p:nvSpPr>
          <p:cNvPr id="20" name="Shape 18"/>
          <p:cNvSpPr/>
          <p:nvPr/>
        </p:nvSpPr>
        <p:spPr>
          <a:xfrm>
            <a:off x="3346704" y="4791456"/>
            <a:ext cx="6951269" cy="384048"/>
          </a:xfrm>
          <a:prstGeom prst="roundRect">
            <a:avLst>
              <a:gd name="adj" fmla="val 38095"/>
            </a:avLst>
          </a:prstGeom>
          <a:solidFill>
            <a:srgbClr val="80E2B0"/>
          </a:solidFill>
          <a:ln w="10160">
            <a:solidFill>
              <a:srgbClr val="80E2B0"/>
            </a:solidFill>
            <a:prstDash val="solid"/>
          </a:ln>
        </p:spPr>
      </p:sp>
      <p:sp>
        <p:nvSpPr>
          <p:cNvPr id="21" name="Text 19"/>
          <p:cNvSpPr/>
          <p:nvPr/>
        </p:nvSpPr>
        <p:spPr>
          <a:xfrm>
            <a:off x="10351008" y="4700016"/>
            <a:ext cx="914400" cy="475488"/>
          </a:xfrm>
          <a:prstGeom prst="rect">
            <a:avLst/>
          </a:prstGeom>
          <a:noFill/>
          <a:ln/>
        </p:spPr>
        <p:txBody>
          <a:bodyPr wrap="square" lIns="0" tIns="0" rIns="0" bIns="0" rtlCol="0" anchor="ctr"/>
          <a:lstStyle/>
          <a:p>
            <a:pPr marL="0" indent="0" algn="r">
              <a:buNone/>
            </a:pPr>
            <a:r>
              <a:rPr lang="en-US" sz="1700" b="1" dirty="0">
                <a:solidFill>
                  <a:srgbClr val="80E2B0"/>
                </a:solidFill>
                <a:latin typeface="Aptos" pitchFamily="34" charset="0"/>
                <a:ea typeface="Aptos" pitchFamily="34" charset="-122"/>
                <a:cs typeface="Aptos" pitchFamily="34" charset="-120"/>
              </a:rPr>
              <a:t>41,57 dB</a:t>
            </a:r>
            <a:endParaRPr lang="en-US" sz="1700" dirty="0"/>
          </a:p>
        </p:txBody>
      </p:sp>
      <p:sp>
        <p:nvSpPr>
          <p:cNvPr id="22" name="Shape 20"/>
          <p:cNvSpPr/>
          <p:nvPr/>
        </p:nvSpPr>
        <p:spPr>
          <a:xfrm>
            <a:off x="914400" y="5632704"/>
            <a:ext cx="10323576" cy="475488"/>
          </a:xfrm>
          <a:prstGeom prst="roundRect">
            <a:avLst>
              <a:gd name="adj" fmla="val 30769"/>
            </a:avLst>
          </a:prstGeom>
          <a:solidFill>
            <a:srgbClr val="1C304A"/>
          </a:solidFill>
          <a:ln w="10160">
            <a:solidFill>
              <a:srgbClr val="1C304A"/>
            </a:solidFill>
            <a:prstDash val="solid"/>
          </a:ln>
        </p:spPr>
      </p:sp>
      <p:sp>
        <p:nvSpPr>
          <p:cNvPr id="23" name="Text 21"/>
          <p:cNvSpPr/>
          <p:nvPr/>
        </p:nvSpPr>
        <p:spPr>
          <a:xfrm>
            <a:off x="1115568" y="5687568"/>
            <a:ext cx="9966960" cy="356616"/>
          </a:xfrm>
          <a:prstGeom prst="rect">
            <a:avLst/>
          </a:prstGeom>
          <a:noFill/>
          <a:ln/>
        </p:spPr>
        <p:txBody>
          <a:bodyPr wrap="square" lIns="0" tIns="0" rIns="0" bIns="0" rtlCol="0" anchor="ctr"/>
          <a:lstStyle/>
          <a:p>
            <a:pPr marL="0" indent="0" algn="ctr">
              <a:buNone/>
            </a:pPr>
            <a:r>
              <a:rPr lang="en-US" sz="1700" b="1" dirty="0">
                <a:solidFill>
                  <a:srgbClr val="80E2B0"/>
                </a:solidFill>
                <a:latin typeface="Aptos" pitchFamily="34" charset="0"/>
                <a:ea typeface="Aptos" pitchFamily="34" charset="-122"/>
                <a:cs typeface="Aptos" pitchFamily="34" charset="-120"/>
              </a:rPr>
              <a:t>Tetromino extins vs 8Sum fix: +2,35 dB pe Vimeo-90K-T; pe Vid4: 31,86 vs 28,98 dB.</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înseamnă rezultatele — și ce lipsește?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Interpretarea trebuie raportată la condițiile experimentale din articol.</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12</a:t>
            </a:r>
            <a:endParaRPr lang="en-US" sz="1000" dirty="0"/>
          </a:p>
        </p:txBody>
      </p:sp>
      <p:sp>
        <p:nvSpPr>
          <p:cNvPr id="7" name="Shape 5"/>
          <p:cNvSpPr/>
          <p:nvPr/>
        </p:nvSpPr>
        <p:spPr>
          <a:xfrm>
            <a:off x="758952" y="1645920"/>
            <a:ext cx="5166360" cy="3648456"/>
          </a:xfrm>
          <a:prstGeom prst="roundRect">
            <a:avLst>
              <a:gd name="adj" fmla="val 4010"/>
            </a:avLst>
          </a:prstGeom>
          <a:solidFill>
            <a:srgbClr val="17253B"/>
          </a:solidFill>
          <a:ln w="10160">
            <a:solidFill>
              <a:srgbClr val="17253B"/>
            </a:solidFill>
            <a:prstDash val="solid"/>
          </a:ln>
        </p:spPr>
      </p:sp>
      <p:sp>
        <p:nvSpPr>
          <p:cNvPr id="8" name="Shape 6"/>
          <p:cNvSpPr/>
          <p:nvPr/>
        </p:nvSpPr>
        <p:spPr>
          <a:xfrm>
            <a:off x="758952" y="1645920"/>
            <a:ext cx="50292" cy="3648456"/>
          </a:xfrm>
          <a:prstGeom prst="roundRect">
            <a:avLst>
              <a:gd name="adj" fmla="val 290909"/>
            </a:avLst>
          </a:prstGeom>
          <a:solidFill>
            <a:srgbClr val="80E2B0"/>
          </a:solidFill>
          <a:ln w="10160">
            <a:solidFill>
              <a:srgbClr val="80E2B0"/>
            </a:solidFill>
            <a:prstDash val="solid"/>
          </a:ln>
        </p:spPr>
      </p:sp>
      <p:sp>
        <p:nvSpPr>
          <p:cNvPr id="9" name="Text 7"/>
          <p:cNvSpPr/>
          <p:nvPr/>
        </p:nvSpPr>
        <p:spPr>
          <a:xfrm>
            <a:off x="960120" y="1801368"/>
            <a:ext cx="478231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Puncte tari</a:t>
            </a:r>
            <a:endParaRPr lang="en-US" sz="2000" dirty="0"/>
          </a:p>
        </p:txBody>
      </p:sp>
      <p:sp>
        <p:nvSpPr>
          <p:cNvPr id="10" name="Text 8"/>
          <p:cNvSpPr/>
          <p:nvPr/>
        </p:nvSpPr>
        <p:spPr>
          <a:xfrm>
            <a:off x="960120"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Câștiguri consecvente pe Vimeo-90K-T și Vid4.</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Cadre LR de tip imagine, compatibile cu VSR.</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Măștile complementare păstrează toți pixelii.</a:t>
            </a:r>
            <a:endParaRPr lang="en-US" sz="1600" dirty="0"/>
          </a:p>
        </p:txBody>
      </p:sp>
      <p:sp>
        <p:nvSpPr>
          <p:cNvPr id="11" name="Shape 9"/>
          <p:cNvSpPr/>
          <p:nvPr/>
        </p:nvSpPr>
        <p:spPr>
          <a:xfrm>
            <a:off x="6172200" y="1645920"/>
            <a:ext cx="5166360" cy="3648456"/>
          </a:xfrm>
          <a:prstGeom prst="roundRect">
            <a:avLst>
              <a:gd name="adj" fmla="val 4010"/>
            </a:avLst>
          </a:prstGeom>
          <a:solidFill>
            <a:srgbClr val="17253B"/>
          </a:solidFill>
          <a:ln w="10160">
            <a:solidFill>
              <a:srgbClr val="17253B"/>
            </a:solidFill>
            <a:prstDash val="solid"/>
          </a:ln>
        </p:spPr>
      </p:sp>
      <p:sp>
        <p:nvSpPr>
          <p:cNvPr id="12" name="Shape 10"/>
          <p:cNvSpPr/>
          <p:nvPr/>
        </p:nvSpPr>
        <p:spPr>
          <a:xfrm>
            <a:off x="6172200" y="1645920"/>
            <a:ext cx="50292" cy="3648456"/>
          </a:xfrm>
          <a:prstGeom prst="roundRect">
            <a:avLst>
              <a:gd name="adj" fmla="val 290909"/>
            </a:avLst>
          </a:prstGeom>
          <a:solidFill>
            <a:srgbClr val="FFC870"/>
          </a:solidFill>
          <a:ln w="10160">
            <a:solidFill>
              <a:srgbClr val="FFC870"/>
            </a:solidFill>
            <a:prstDash val="solid"/>
          </a:ln>
        </p:spPr>
      </p:sp>
      <p:sp>
        <p:nvSpPr>
          <p:cNvPr id="13" name="Text 11"/>
          <p:cNvSpPr/>
          <p:nvPr/>
        </p:nvSpPr>
        <p:spPr>
          <a:xfrm>
            <a:off x="6373368" y="1801368"/>
            <a:ext cx="4782312"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Limite practice</a:t>
            </a:r>
            <a:endParaRPr lang="en-US" sz="2000" dirty="0"/>
          </a:p>
        </p:txBody>
      </p:sp>
      <p:sp>
        <p:nvSpPr>
          <p:cNvPr id="14" name="Text 12"/>
          <p:cNvSpPr/>
          <p:nvPr/>
        </p:nvSpPr>
        <p:spPr>
          <a:xfrm>
            <a:off x="6373368"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Senzor cu măști schimbate între cadre; nu e demonstrat un prototip.</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Două măsurări necesită mai mult hardware și trafic decât una.</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Reconstrucția depinde de asemănarea temporală și antrenare.</a:t>
            </a:r>
            <a:endParaRPr lang="en-US" sz="1600" dirty="0"/>
          </a:p>
        </p:txBody>
      </p:sp>
      <p:sp>
        <p:nvSpPr>
          <p:cNvPr id="15" name="Text 13"/>
          <p:cNvSpPr/>
          <p:nvPr/>
        </p:nvSpPr>
        <p:spPr>
          <a:xfrm>
            <a:off x="868680" y="5596128"/>
            <a:ext cx="10424160" cy="475488"/>
          </a:xfrm>
          <a:prstGeom prst="rect">
            <a:avLst/>
          </a:prstGeom>
          <a:noFill/>
          <a:ln/>
        </p:spPr>
        <p:txBody>
          <a:bodyPr wrap="square" lIns="0" tIns="0" rIns="0" bIns="0" rtlCol="0" anchor="ctr"/>
          <a:lstStyle/>
          <a:p>
            <a:pPr marL="0" indent="0" algn="ctr">
              <a:buNone/>
            </a:pPr>
            <a:r>
              <a:rPr lang="en-US" sz="1700" dirty="0">
                <a:solidFill>
                  <a:srgbClr val="B9C9DB"/>
                </a:solidFill>
                <a:latin typeface="Aptos" pitchFamily="34" charset="0"/>
                <a:ea typeface="Aptos" pitchFamily="34" charset="-122"/>
                <a:cs typeface="Aptos" pitchFamily="34" charset="-120"/>
              </a:rPr>
              <a:t>F = 7 cadre în configurațiile evaluate • antrenare pe Vimeo-90K • testare pe Vimeo-90K-T și Vid4.</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Concluzie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Ideea de reținut în trei propoziții.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dirty="0">
                <a:solidFill>
                  <a:srgbClr val="52D6D3"/>
                </a:solidFill>
                <a:latin typeface="Aptos" pitchFamily="34" charset="0"/>
                <a:ea typeface="Aptos" pitchFamily="34" charset="-122"/>
                <a:cs typeface="Aptos" pitchFamily="34" charset="-120"/>
              </a:rPr>
              <a:t>13</a:t>
            </a:r>
            <a:endParaRPr lang="en-US" sz="1000" dirty="0"/>
          </a:p>
        </p:txBody>
      </p:sp>
      <p:sp>
        <p:nvSpPr>
          <p:cNvPr id="7" name="Shape 5"/>
          <p:cNvSpPr/>
          <p:nvPr/>
        </p:nvSpPr>
        <p:spPr>
          <a:xfrm>
            <a:off x="786384" y="1700784"/>
            <a:ext cx="10616184" cy="1161288"/>
          </a:xfrm>
          <a:prstGeom prst="roundRect">
            <a:avLst>
              <a:gd name="adj" fmla="val 12598"/>
            </a:avLst>
          </a:prstGeom>
          <a:solidFill>
            <a:srgbClr val="17253B"/>
          </a:solidFill>
          <a:ln w="10160">
            <a:solidFill>
              <a:srgbClr val="17253B"/>
            </a:solidFill>
            <a:prstDash val="solid"/>
          </a:ln>
        </p:spPr>
      </p:sp>
      <p:sp>
        <p:nvSpPr>
          <p:cNvPr id="8" name="Shape 6"/>
          <p:cNvSpPr/>
          <p:nvPr/>
        </p:nvSpPr>
        <p:spPr>
          <a:xfrm>
            <a:off x="786384" y="1700784"/>
            <a:ext cx="50292" cy="1161288"/>
          </a:xfrm>
          <a:prstGeom prst="roundRect">
            <a:avLst>
              <a:gd name="adj" fmla="val 290909"/>
            </a:avLst>
          </a:prstGeom>
          <a:solidFill>
            <a:srgbClr val="52D6D3"/>
          </a:solidFill>
          <a:ln w="10160">
            <a:solidFill>
              <a:srgbClr val="52D6D3"/>
            </a:solidFill>
            <a:prstDash val="solid"/>
          </a:ln>
        </p:spPr>
      </p:sp>
      <p:sp>
        <p:nvSpPr>
          <p:cNvPr id="9" name="Text 7"/>
          <p:cNvSpPr/>
          <p:nvPr/>
        </p:nvSpPr>
        <p:spPr>
          <a:xfrm>
            <a:off x="987552" y="1856232"/>
            <a:ext cx="1023213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01  Proiectează măsurarea</a:t>
            </a:r>
            <a:endParaRPr lang="en-US" sz="2000" dirty="0"/>
          </a:p>
        </p:txBody>
      </p:sp>
      <p:sp>
        <p:nvSpPr>
          <p:cNvPr id="10" name="Text 8"/>
          <p:cNvSpPr/>
          <p:nvPr/>
        </p:nvSpPr>
        <p:spPr>
          <a:xfrm>
            <a:off x="987552" y="2377440"/>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Calitatea reconstrucției depinde și de ce informație păstrează senzorul.</a:t>
            </a:r>
            <a:endParaRPr lang="en-US" sz="1600" dirty="0"/>
          </a:p>
        </p:txBody>
      </p:sp>
      <p:sp>
        <p:nvSpPr>
          <p:cNvPr id="11" name="Shape 9"/>
          <p:cNvSpPr/>
          <p:nvPr/>
        </p:nvSpPr>
        <p:spPr>
          <a:xfrm>
            <a:off x="786384" y="3063240"/>
            <a:ext cx="10616184" cy="1161288"/>
          </a:xfrm>
          <a:prstGeom prst="roundRect">
            <a:avLst>
              <a:gd name="adj" fmla="val 12598"/>
            </a:avLst>
          </a:prstGeom>
          <a:solidFill>
            <a:srgbClr val="17253B"/>
          </a:solidFill>
          <a:ln w="10160">
            <a:solidFill>
              <a:srgbClr val="17253B"/>
            </a:solidFill>
            <a:prstDash val="solid"/>
          </a:ln>
        </p:spPr>
      </p:sp>
      <p:sp>
        <p:nvSpPr>
          <p:cNvPr id="12" name="Shape 10"/>
          <p:cNvSpPr/>
          <p:nvPr/>
        </p:nvSpPr>
        <p:spPr>
          <a:xfrm>
            <a:off x="786384" y="3063240"/>
            <a:ext cx="50292" cy="1161288"/>
          </a:xfrm>
          <a:prstGeom prst="roundRect">
            <a:avLst>
              <a:gd name="adj" fmla="val 290909"/>
            </a:avLst>
          </a:prstGeom>
          <a:solidFill>
            <a:srgbClr val="80E2B0"/>
          </a:solidFill>
          <a:ln w="10160">
            <a:solidFill>
              <a:srgbClr val="80E2B0"/>
            </a:solidFill>
            <a:prstDash val="solid"/>
          </a:ln>
        </p:spPr>
      </p:sp>
      <p:sp>
        <p:nvSpPr>
          <p:cNvPr id="13" name="Text 11"/>
          <p:cNvSpPr/>
          <p:nvPr/>
        </p:nvSpPr>
        <p:spPr>
          <a:xfrm>
            <a:off x="987552" y="3218688"/>
            <a:ext cx="10232136"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02  Folosește timpul</a:t>
            </a:r>
            <a:endParaRPr lang="en-US" sz="2000" dirty="0"/>
          </a:p>
        </p:txBody>
      </p:sp>
      <p:sp>
        <p:nvSpPr>
          <p:cNvPr id="14" name="Text 12"/>
          <p:cNvSpPr/>
          <p:nvPr/>
        </p:nvSpPr>
        <p:spPr>
          <a:xfrm>
            <a:off x="987552" y="37398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dinamice oferă informație complementară între cadre.</a:t>
            </a:r>
            <a:endParaRPr lang="en-US" sz="1600" dirty="0"/>
          </a:p>
        </p:txBody>
      </p:sp>
      <p:sp>
        <p:nvSpPr>
          <p:cNvPr id="15" name="Shape 13"/>
          <p:cNvSpPr/>
          <p:nvPr/>
        </p:nvSpPr>
        <p:spPr>
          <a:xfrm>
            <a:off x="786384" y="4434840"/>
            <a:ext cx="10616184" cy="1161288"/>
          </a:xfrm>
          <a:prstGeom prst="roundRect">
            <a:avLst>
              <a:gd name="adj" fmla="val 12598"/>
            </a:avLst>
          </a:prstGeom>
          <a:solidFill>
            <a:srgbClr val="17253B"/>
          </a:solidFill>
          <a:ln w="10160">
            <a:solidFill>
              <a:srgbClr val="17253B"/>
            </a:solidFill>
            <a:prstDash val="solid"/>
          </a:ln>
        </p:spPr>
      </p:sp>
      <p:sp>
        <p:nvSpPr>
          <p:cNvPr id="16" name="Shape 14"/>
          <p:cNvSpPr/>
          <p:nvPr/>
        </p:nvSpPr>
        <p:spPr>
          <a:xfrm>
            <a:off x="786384" y="4434840"/>
            <a:ext cx="50292" cy="1161288"/>
          </a:xfrm>
          <a:prstGeom prst="roundRect">
            <a:avLst>
              <a:gd name="adj" fmla="val 290909"/>
            </a:avLst>
          </a:prstGeom>
          <a:solidFill>
            <a:srgbClr val="FFC870"/>
          </a:solidFill>
          <a:ln w="10160">
            <a:solidFill>
              <a:srgbClr val="FFC870"/>
            </a:solidFill>
            <a:prstDash val="solid"/>
          </a:ln>
        </p:spPr>
      </p:sp>
      <p:sp>
        <p:nvSpPr>
          <p:cNvPr id="17" name="Text 15"/>
          <p:cNvSpPr/>
          <p:nvPr/>
        </p:nvSpPr>
        <p:spPr>
          <a:xfrm>
            <a:off x="987552" y="4590288"/>
            <a:ext cx="1023213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03  Respectă constrângerile</a:t>
            </a:r>
            <a:endParaRPr lang="en-US" sz="2000" dirty="0"/>
          </a:p>
        </p:txBody>
      </p:sp>
      <p:sp>
        <p:nvSpPr>
          <p:cNvPr id="18" name="Text 16"/>
          <p:cNvSpPr/>
          <p:nvPr/>
        </p:nvSpPr>
        <p:spPr>
          <a:xfrm>
            <a:off x="987552" y="51114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complementare păstrează sensibilitatea, dar dublează măsurările.</a:t>
            </a:r>
            <a:endParaRPr lang="en-US" sz="1600" dirty="0"/>
          </a:p>
        </p:txBody>
      </p:sp>
      <p:sp>
        <p:nvSpPr>
          <p:cNvPr id="19" name="Text 17"/>
          <p:cNvSpPr/>
          <p:nvPr/>
        </p:nvSpPr>
        <p:spPr>
          <a:xfrm>
            <a:off x="896112" y="5980176"/>
            <a:ext cx="10314432" cy="429768"/>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Referință: Katz et al., „Rethinking Compressive Sensing: A Compression Framework for Video Super-Resolution”, CVPRW 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2192</Words>
  <Application>Microsoft Office PowerPoint</Application>
  <PresentationFormat>Widescreen</PresentationFormat>
  <Paragraphs>196</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Eșantionare compresivă pentru super-rezoluția video</dc:title>
  <dc:subject>Katz et al. — Rethinking Compressive Sensing, CVPRW 2025</dc:subject>
  <dc:creator>Prezentare academică</dc:creator>
  <cp:lastModifiedBy>Bogdan I</cp:lastModifiedBy>
  <cp:revision>2</cp:revision>
  <dcterms:created xsi:type="dcterms:W3CDTF">2026-10-13T05:41:26Z</dcterms:created>
  <dcterms:modified xsi:type="dcterms:W3CDTF">2026-10-13T06:16:42Z</dcterms:modified>
</cp:coreProperties>
</file>